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498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カスミPOS  システム全体構成図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493776" y="1188720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 (PRD) / 検証 (STG) / 開発 (DEV)  |  外部アクセス・USMH閉域網・Luvinaチーム  |  ap-northeast-1 (東京)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8288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Kasumi POS  |  AWS システム全体構成図  |  CONFIDENTIAL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109728" y="1417320"/>
            <a:ext cx="1719072" cy="4937760"/>
          </a:xfrm>
          <a:prstGeom prst="rect">
            <a:avLst/>
          </a:prstGeom>
          <a:solidFill>
            <a:srgbClr val="FFF0F0"/>
          </a:solidFill>
          <a:ln w="19050">
            <a:solidFill>
              <a:srgbClr val="D023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09728" y="1417320"/>
            <a:ext cx="1719072" cy="201168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4" name="Text 9"/>
          <p:cNvSpPr/>
          <p:nvPr/>
        </p:nvSpPr>
        <p:spPr>
          <a:xfrm>
            <a:off x="182880" y="144475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外部アクセス / USMH閉域網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182880" y="1691640"/>
            <a:ext cx="15727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37744" y="172821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237744" y="19110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マルエツ チャージ端末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 443/8443</a:t>
            </a:r>
            <a:endParaRPr lang="en-US" sz="680" dirty="0"/>
          </a:p>
        </p:txBody>
      </p:sp>
      <p:sp>
        <p:nvSpPr>
          <p:cNvPr id="18" name="Shape 13"/>
          <p:cNvSpPr/>
          <p:nvPr/>
        </p:nvSpPr>
        <p:spPr>
          <a:xfrm>
            <a:off x="182880" y="2423160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37744" y="245973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マルエツ (チャージ)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237744" y="2642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店舗チャージ端末</a:t>
            </a:r>
            <a:endParaRPr lang="en-US" sz="680" dirty="0"/>
          </a:p>
        </p:txBody>
      </p:sp>
      <p:sp>
        <p:nvSpPr>
          <p:cNvPr id="21" name="Shape 16"/>
          <p:cNvSpPr/>
          <p:nvPr/>
        </p:nvSpPr>
        <p:spPr>
          <a:xfrm>
            <a:off x="182880" y="3044952"/>
            <a:ext cx="15727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37744" y="308152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237744" y="32644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 (OC系)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VINX/SHARP (SG/SH系)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10.156.96.0/24</a:t>
            </a:r>
            <a:endParaRPr lang="en-US" sz="680" dirty="0"/>
          </a:p>
        </p:txBody>
      </p:sp>
      <p:sp>
        <p:nvSpPr>
          <p:cNvPr id="24" name="Shape 19"/>
          <p:cNvSpPr/>
          <p:nvPr/>
        </p:nvSpPr>
        <p:spPr>
          <a:xfrm>
            <a:off x="182880" y="3941064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37744" y="3977640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 本部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237744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ignicapos.com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stg.ignicapos.com</a:t>
            </a:r>
            <a:endParaRPr lang="en-US" sz="680" dirty="0"/>
          </a:p>
        </p:txBody>
      </p:sp>
      <p:sp>
        <p:nvSpPr>
          <p:cNvPr id="27" name="Shape 22"/>
          <p:cNvSpPr/>
          <p:nvPr/>
        </p:nvSpPr>
        <p:spPr>
          <a:xfrm>
            <a:off x="182880" y="4654296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37744" y="4690872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NTT DATA CDS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237744" y="4873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棚札 FTP送信先</a:t>
            </a:r>
            <a:endParaRPr lang="en-US" sz="680" dirty="0"/>
          </a:p>
        </p:txBody>
      </p:sp>
      <p:sp>
        <p:nvSpPr>
          <p:cNvPr id="30" name="Shape 25"/>
          <p:cNvSpPr/>
          <p:nvPr/>
        </p:nvSpPr>
        <p:spPr>
          <a:xfrm>
            <a:off x="182880" y="5276088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7744" y="5312664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AFSオーソリ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237744" y="5495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ギフトカード認証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192.168.60.10:1501</a:t>
            </a:r>
            <a:endParaRPr lang="en-US" sz="680" dirty="0"/>
          </a:p>
        </p:txBody>
      </p:sp>
      <p:sp>
        <p:nvSpPr>
          <p:cNvPr id="33" name="Shape 28"/>
          <p:cNvSpPr/>
          <p:nvPr/>
        </p:nvSpPr>
        <p:spPr>
          <a:xfrm>
            <a:off x="8065008" y="1417320"/>
            <a:ext cx="1728216" cy="4937760"/>
          </a:xfrm>
          <a:prstGeom prst="rect">
            <a:avLst/>
          </a:prstGeom>
          <a:solidFill>
            <a:srgbClr val="F5F0FF"/>
          </a:solidFill>
          <a:ln w="19050">
            <a:solidFill>
              <a:srgbClr val="8866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065008" y="1417320"/>
            <a:ext cx="1728216" cy="201168"/>
          </a:xfrm>
          <a:prstGeom prst="rect">
            <a:avLst/>
          </a:prstGeom>
          <a:solidFill>
            <a:srgbClr val="6644AA"/>
          </a:solidFill>
          <a:ln/>
        </p:spPr>
      </p:sp>
      <p:sp>
        <p:nvSpPr>
          <p:cNvPr id="35" name="Text 30"/>
          <p:cNvSpPr/>
          <p:nvPr/>
        </p:nvSpPr>
        <p:spPr>
          <a:xfrm>
            <a:off x="8138160" y="144475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/ 開発チーム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8138160" y="1691640"/>
            <a:ext cx="15819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193024" y="172821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オフィス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8193024" y="1911096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TP-Link ER605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14.224.146.153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Site-to-Site VPN</a:t>
            </a:r>
            <a:endParaRPr lang="en-US" sz="680" dirty="0"/>
          </a:p>
        </p:txBody>
      </p:sp>
      <p:sp>
        <p:nvSpPr>
          <p:cNvPr id="39" name="Shape 34"/>
          <p:cNvSpPr/>
          <p:nvPr/>
        </p:nvSpPr>
        <p:spPr>
          <a:xfrm>
            <a:off x="8138160" y="2404872"/>
            <a:ext cx="1581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193024" y="2441448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個人PC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8193024" y="2624328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Client VPN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OpenVPN UDP1194</a:t>
            </a:r>
            <a:endParaRPr lang="en-US" sz="680" dirty="0"/>
          </a:p>
        </p:txBody>
      </p:sp>
      <p:sp>
        <p:nvSpPr>
          <p:cNvPr id="42" name="Shape 37"/>
          <p:cNvSpPr/>
          <p:nvPr/>
        </p:nvSpPr>
        <p:spPr>
          <a:xfrm>
            <a:off x="8138160" y="2999232"/>
            <a:ext cx="1581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193024" y="3035808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GitLab Runner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8193024" y="3218688"/>
            <a:ext cx="1472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pos-runner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10.226.51.115</a:t>
            </a:r>
            <a:endParaRPr lang="en-US" sz="680" dirty="0"/>
          </a:p>
        </p:txBody>
      </p:sp>
      <p:sp>
        <p:nvSpPr>
          <p:cNvPr id="45" name="Shape 40"/>
          <p:cNvSpPr/>
          <p:nvPr/>
        </p:nvSpPr>
        <p:spPr>
          <a:xfrm>
            <a:off x="8138160" y="3685032"/>
            <a:ext cx="15819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193024" y="3721608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CloudShell / IAM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8193024" y="390448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kiyohara user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各アカウント調査</a:t>
            </a:r>
            <a:endParaRPr lang="en-US" sz="680" dirty="0"/>
          </a:p>
        </p:txBody>
      </p:sp>
      <p:sp>
        <p:nvSpPr>
          <p:cNvPr id="48" name="Shape 43"/>
          <p:cNvSpPr/>
          <p:nvPr/>
        </p:nvSpPr>
        <p:spPr>
          <a:xfrm>
            <a:off x="8138160" y="4306824"/>
            <a:ext cx="15819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193024" y="4343400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8193024" y="452628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kasumi_pos-server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ドキュメント管理</a:t>
            </a:r>
            <a:endParaRPr lang="en-US" sz="680" dirty="0"/>
          </a:p>
        </p:txBody>
      </p:sp>
      <p:sp>
        <p:nvSpPr>
          <p:cNvPr id="51" name="Shape 46"/>
          <p:cNvSpPr/>
          <p:nvPr/>
        </p:nvSpPr>
        <p:spPr>
          <a:xfrm>
            <a:off x="8138160" y="4928616"/>
            <a:ext cx="1581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193024" y="4965192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Gateway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8193024" y="5148072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57.182.174.110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NTT DATA CDS</a:t>
            </a:r>
            <a:endParaRPr lang="en-US" sz="680" dirty="0"/>
          </a:p>
        </p:txBody>
      </p:sp>
      <p:sp>
        <p:nvSpPr>
          <p:cNvPr id="54" name="Shape 49"/>
          <p:cNvSpPr/>
          <p:nvPr/>
        </p:nvSpPr>
        <p:spPr>
          <a:xfrm>
            <a:off x="8138160" y="5522976"/>
            <a:ext cx="15819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193024" y="5559552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Client VPN EP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8193024" y="574243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PRD: 10.238.x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STG: 10.239.x</a:t>
            </a:r>
            <a:endParaRPr lang="en-US" sz="680" dirty="0"/>
          </a:p>
        </p:txBody>
      </p:sp>
      <p:sp>
        <p:nvSpPr>
          <p:cNvPr id="57" name="Shape 52"/>
          <p:cNvSpPr/>
          <p:nvPr/>
        </p:nvSpPr>
        <p:spPr>
          <a:xfrm>
            <a:off x="1920240" y="1417320"/>
            <a:ext cx="6053328" cy="4937760"/>
          </a:xfrm>
          <a:prstGeom prst="rect">
            <a:avLst/>
          </a:prstGeom>
          <a:solidFill>
            <a:srgbClr val="EBF5FF"/>
          </a:solidFill>
          <a:ln w="19050">
            <a:solidFill>
              <a:srgbClr val="4488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3"/>
          <p:cNvSpPr/>
          <p:nvPr/>
        </p:nvSpPr>
        <p:spPr>
          <a:xfrm>
            <a:off x="1920240" y="1417320"/>
            <a:ext cx="6053328" cy="201168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59" name="Text 54"/>
          <p:cNvSpPr/>
          <p:nvPr/>
        </p:nvSpPr>
        <p:spPr>
          <a:xfrm>
            <a:off x="1993392" y="1444752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Cloud  (ap-northeast-1 / 東京)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2011680" y="1691640"/>
            <a:ext cx="1865376" cy="4572000"/>
          </a:xfrm>
          <a:prstGeom prst="rect">
            <a:avLst/>
          </a:prstGeom>
          <a:solidFill>
            <a:srgbClr val="F0FFF0"/>
          </a:solidFill>
          <a:ln w="19050">
            <a:solidFill>
              <a:srgbClr val="44AA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6"/>
          <p:cNvSpPr/>
          <p:nvPr/>
        </p:nvSpPr>
        <p:spPr>
          <a:xfrm>
            <a:off x="2011680" y="1691640"/>
            <a:ext cx="1865376" cy="201168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62" name="Text 57"/>
          <p:cNvSpPr/>
          <p:nvPr/>
        </p:nvSpPr>
        <p:spPr>
          <a:xfrm>
            <a:off x="2084832" y="171907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 332802448674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(10.238.0.0/16)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3968496" y="1691640"/>
            <a:ext cx="1865376" cy="4572000"/>
          </a:xfrm>
          <a:prstGeom prst="rect">
            <a:avLst/>
          </a:prstGeom>
          <a:solidFill>
            <a:srgbClr val="EBF5FF"/>
          </a:solidFill>
          <a:ln w="19050">
            <a:solidFill>
              <a:srgbClr val="4488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59"/>
          <p:cNvSpPr/>
          <p:nvPr/>
        </p:nvSpPr>
        <p:spPr>
          <a:xfrm>
            <a:off x="3968496" y="1691640"/>
            <a:ext cx="1865376" cy="201168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65" name="Text 60"/>
          <p:cNvSpPr/>
          <p:nvPr/>
        </p:nvSpPr>
        <p:spPr>
          <a:xfrm>
            <a:off x="4041648" y="171907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  750735758916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(10.239.0.0/16)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>
            <a:off x="5925312" y="1691640"/>
            <a:ext cx="1865376" cy="4572000"/>
          </a:xfrm>
          <a:prstGeom prst="rect">
            <a:avLst/>
          </a:prstGeom>
          <a:solidFill>
            <a:srgbClr val="FFF5EB"/>
          </a:solidFill>
          <a:ln w="19050">
            <a:solidFill>
              <a:srgbClr val="E8A0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2"/>
          <p:cNvSpPr/>
          <p:nvPr/>
        </p:nvSpPr>
        <p:spPr>
          <a:xfrm>
            <a:off x="5925312" y="1691640"/>
            <a:ext cx="1865376" cy="201168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68" name="Text 63"/>
          <p:cNvSpPr/>
          <p:nvPr/>
        </p:nvSpPr>
        <p:spPr>
          <a:xfrm>
            <a:off x="5998464" y="171907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  891376952870</a:t>
            </a:r>
            <a:endParaRPr lang="en-US" sz="800" dirty="0"/>
          </a:p>
        </p:txBody>
      </p:sp>
      <p:sp>
        <p:nvSpPr>
          <p:cNvPr id="69" name="Shape 64"/>
          <p:cNvSpPr/>
          <p:nvPr/>
        </p:nvSpPr>
        <p:spPr>
          <a:xfrm>
            <a:off x="2084832" y="1965960"/>
            <a:ext cx="17190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2139696" y="2002536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(internet-facing)</a:t>
            </a:r>
            <a:endParaRPr lang="en-US" sz="750" dirty="0"/>
          </a:p>
        </p:txBody>
      </p:sp>
      <p:sp>
        <p:nvSpPr>
          <p:cNvPr id="71" name="Text 66"/>
          <p:cNvSpPr/>
          <p:nvPr/>
        </p:nvSpPr>
        <p:spPr>
          <a:xfrm>
            <a:off x="2139696" y="218541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ignicapos.com / 443</a:t>
            </a:r>
            <a:endParaRPr lang="en-US" sz="680" dirty="0"/>
          </a:p>
        </p:txBody>
      </p:sp>
      <p:sp>
        <p:nvSpPr>
          <p:cNvPr id="72" name="Shape 67"/>
          <p:cNvSpPr/>
          <p:nvPr/>
        </p:nvSpPr>
        <p:spPr>
          <a:xfrm>
            <a:off x="2084832" y="2514600"/>
            <a:ext cx="17190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2139696" y="2551176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Bastion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2139696" y="273405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10.238.2.39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t3.xlarge</a:t>
            </a:r>
            <a:endParaRPr lang="en-US" sz="680" dirty="0"/>
          </a:p>
        </p:txBody>
      </p:sp>
      <p:sp>
        <p:nvSpPr>
          <p:cNvPr id="75" name="Shape 70"/>
          <p:cNvSpPr/>
          <p:nvPr/>
        </p:nvSpPr>
        <p:spPr>
          <a:xfrm>
            <a:off x="2084832" y="3063240"/>
            <a:ext cx="17190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2139696" y="3099816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GiftCard</a:t>
            </a:r>
            <a:endParaRPr lang="en-US" sz="750" dirty="0"/>
          </a:p>
        </p:txBody>
      </p:sp>
      <p:sp>
        <p:nvSpPr>
          <p:cNvPr id="77" name="Text 72"/>
          <p:cNvSpPr/>
          <p:nvPr/>
        </p:nvSpPr>
        <p:spPr>
          <a:xfrm>
            <a:off x="2139696" y="32826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10.238.2.198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t2.large</a:t>
            </a:r>
            <a:endParaRPr lang="en-US" sz="680" dirty="0"/>
          </a:p>
        </p:txBody>
      </p:sp>
      <p:sp>
        <p:nvSpPr>
          <p:cNvPr id="78" name="Shape 73"/>
          <p:cNvSpPr/>
          <p:nvPr/>
        </p:nvSpPr>
        <p:spPr>
          <a:xfrm>
            <a:off x="2084832" y="3611880"/>
            <a:ext cx="17190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2139696" y="3648456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 8.0</a:t>
            </a:r>
            <a:endParaRPr lang="en-US" sz="750" dirty="0"/>
          </a:p>
        </p:txBody>
      </p:sp>
      <p:sp>
        <p:nvSpPr>
          <p:cNvPr id="80" name="Text 75"/>
          <p:cNvSpPr/>
          <p:nvPr/>
        </p:nvSpPr>
        <p:spPr>
          <a:xfrm>
            <a:off x="2139696" y="38313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db.r5.2xlarge</a:t>
            </a:r>
            <a:endParaRPr lang="en-US" sz="680" dirty="0"/>
          </a:p>
        </p:txBody>
      </p:sp>
      <p:sp>
        <p:nvSpPr>
          <p:cNvPr id="81" name="Shape 76"/>
          <p:cNvSpPr/>
          <p:nvPr/>
        </p:nvSpPr>
        <p:spPr>
          <a:xfrm>
            <a:off x="2084832" y="4160520"/>
            <a:ext cx="171907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2139696" y="4197096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(21関数)</a:t>
            </a:r>
            <a:endParaRPr lang="en-US" sz="750" dirty="0"/>
          </a:p>
        </p:txBody>
      </p:sp>
      <p:sp>
        <p:nvSpPr>
          <p:cNvPr id="83" name="Text 78"/>
          <p:cNvSpPr/>
          <p:nvPr/>
        </p:nvSpPr>
        <p:spPr>
          <a:xfrm>
            <a:off x="2139696" y="4379976"/>
            <a:ext cx="16093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Java17 / Python</a:t>
            </a:r>
            <a:endParaRPr lang="en-US" sz="680" dirty="0"/>
          </a:p>
        </p:txBody>
      </p:sp>
      <p:sp>
        <p:nvSpPr>
          <p:cNvPr id="84" name="Shape 79"/>
          <p:cNvSpPr/>
          <p:nvPr/>
        </p:nvSpPr>
        <p:spPr>
          <a:xfrm>
            <a:off x="2084832" y="4636008"/>
            <a:ext cx="171907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2139696" y="4672584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Family(3)</a:t>
            </a:r>
            <a:endParaRPr lang="en-US" sz="750" dirty="0"/>
          </a:p>
        </p:txBody>
      </p:sp>
      <p:sp>
        <p:nvSpPr>
          <p:cNvPr id="86" name="Text 81"/>
          <p:cNvSpPr/>
          <p:nvPr/>
        </p:nvSpPr>
        <p:spPr>
          <a:xfrm>
            <a:off x="2139696" y="4855464"/>
            <a:ext cx="16093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 / SG / SH</a:t>
            </a:r>
            <a:endParaRPr lang="en-US" sz="680" dirty="0"/>
          </a:p>
        </p:txBody>
      </p:sp>
      <p:sp>
        <p:nvSpPr>
          <p:cNvPr id="87" name="Shape 82"/>
          <p:cNvSpPr/>
          <p:nvPr/>
        </p:nvSpPr>
        <p:spPr>
          <a:xfrm>
            <a:off x="2084832" y="5111496"/>
            <a:ext cx="171907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88" name="Text 83"/>
          <p:cNvSpPr/>
          <p:nvPr/>
        </p:nvSpPr>
        <p:spPr>
          <a:xfrm>
            <a:off x="2139696" y="5148072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/ StepFunctions</a:t>
            </a:r>
            <a:endParaRPr lang="en-US" sz="750" dirty="0"/>
          </a:p>
        </p:txBody>
      </p:sp>
      <p:sp>
        <p:nvSpPr>
          <p:cNvPr id="89" name="Text 84"/>
          <p:cNvSpPr/>
          <p:nvPr/>
        </p:nvSpPr>
        <p:spPr>
          <a:xfrm>
            <a:off x="2139696" y="5330952"/>
            <a:ext cx="16093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prd-ignica-ksm</a:t>
            </a:r>
            <a:endParaRPr lang="en-US" sz="680" dirty="0"/>
          </a:p>
        </p:txBody>
      </p:sp>
      <p:sp>
        <p:nvSpPr>
          <p:cNvPr id="90" name="Shape 85"/>
          <p:cNvSpPr/>
          <p:nvPr/>
        </p:nvSpPr>
        <p:spPr>
          <a:xfrm>
            <a:off x="2084832" y="5586984"/>
            <a:ext cx="17190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2139696" y="5623560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Direct Connect 100M</a:t>
            </a:r>
            <a:endParaRPr lang="en-US" sz="750" dirty="0"/>
          </a:p>
        </p:txBody>
      </p:sp>
      <p:sp>
        <p:nvSpPr>
          <p:cNvPr id="92" name="Text 87"/>
          <p:cNvSpPr/>
          <p:nvPr/>
        </p:nvSpPr>
        <p:spPr>
          <a:xfrm>
            <a:off x="2139696" y="5806440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USMH SmartVPN</a:t>
            </a:r>
            <a:endParaRPr lang="en-US" sz="680" dirty="0"/>
          </a:p>
        </p:txBody>
      </p:sp>
      <p:sp>
        <p:nvSpPr>
          <p:cNvPr id="93" name="Shape 88"/>
          <p:cNvSpPr/>
          <p:nvPr/>
        </p:nvSpPr>
        <p:spPr>
          <a:xfrm>
            <a:off x="4041648" y="1965960"/>
            <a:ext cx="1719072" cy="475488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94" name="Text 89"/>
          <p:cNvSpPr/>
          <p:nvPr/>
        </p:nvSpPr>
        <p:spPr>
          <a:xfrm>
            <a:off x="4096512" y="2002536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(internet-facing)</a:t>
            </a:r>
            <a:endParaRPr lang="en-US" sz="750" dirty="0"/>
          </a:p>
        </p:txBody>
      </p:sp>
      <p:sp>
        <p:nvSpPr>
          <p:cNvPr id="95" name="Text 90"/>
          <p:cNvSpPr/>
          <p:nvPr/>
        </p:nvSpPr>
        <p:spPr>
          <a:xfrm>
            <a:off x="4096512" y="218541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stg.ignicapos.com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API も公開中</a:t>
            </a:r>
            <a:endParaRPr lang="en-US" sz="680" dirty="0"/>
          </a:p>
        </p:txBody>
      </p:sp>
      <p:sp>
        <p:nvSpPr>
          <p:cNvPr id="96" name="Shape 91"/>
          <p:cNvSpPr/>
          <p:nvPr/>
        </p:nvSpPr>
        <p:spPr>
          <a:xfrm>
            <a:off x="4041648" y="2514600"/>
            <a:ext cx="17190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97" name="Text 92"/>
          <p:cNvSpPr/>
          <p:nvPr/>
        </p:nvSpPr>
        <p:spPr>
          <a:xfrm>
            <a:off x="4096512" y="2551176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STG Web</a:t>
            </a:r>
            <a:endParaRPr lang="en-US" sz="750" dirty="0"/>
          </a:p>
        </p:txBody>
      </p:sp>
      <p:sp>
        <p:nvSpPr>
          <p:cNvPr id="98" name="Text 93"/>
          <p:cNvSpPr/>
          <p:nvPr/>
        </p:nvSpPr>
        <p:spPr>
          <a:xfrm>
            <a:off x="4096512" y="273405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web-fe/web-be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10.239.2.4</a:t>
            </a:r>
            <a:endParaRPr lang="en-US" sz="680" dirty="0"/>
          </a:p>
        </p:txBody>
      </p:sp>
      <p:sp>
        <p:nvSpPr>
          <p:cNvPr id="99" name="Shape 94"/>
          <p:cNvSpPr/>
          <p:nvPr/>
        </p:nvSpPr>
        <p:spPr>
          <a:xfrm>
            <a:off x="4041648" y="3063240"/>
            <a:ext cx="17190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00" name="Text 95"/>
          <p:cNvSpPr/>
          <p:nvPr/>
        </p:nvSpPr>
        <p:spPr>
          <a:xfrm>
            <a:off x="4096512" y="3099816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 8.0</a:t>
            </a:r>
            <a:endParaRPr lang="en-US" sz="750" dirty="0"/>
          </a:p>
        </p:txBody>
      </p:sp>
      <p:sp>
        <p:nvSpPr>
          <p:cNvPr id="101" name="Text 96"/>
          <p:cNvSpPr/>
          <p:nvPr/>
        </p:nvSpPr>
        <p:spPr>
          <a:xfrm>
            <a:off x="4096512" y="32826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db.r5.2xlarge</a:t>
            </a:r>
            <a:endParaRPr lang="en-US" sz="680" dirty="0"/>
          </a:p>
        </p:txBody>
      </p:sp>
      <p:sp>
        <p:nvSpPr>
          <p:cNvPr id="102" name="Shape 97"/>
          <p:cNvSpPr/>
          <p:nvPr/>
        </p:nvSpPr>
        <p:spPr>
          <a:xfrm>
            <a:off x="4041648" y="3611880"/>
            <a:ext cx="171907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4096512" y="3648456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</a:t>
            </a:r>
            <a:endParaRPr lang="en-US" sz="750" dirty="0"/>
          </a:p>
        </p:txBody>
      </p:sp>
      <p:sp>
        <p:nvSpPr>
          <p:cNvPr id="104" name="Text 99"/>
          <p:cNvSpPr/>
          <p:nvPr/>
        </p:nvSpPr>
        <p:spPr>
          <a:xfrm>
            <a:off x="4096512" y="3831336"/>
            <a:ext cx="16093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OC/SG/SH系</a:t>
            </a:r>
            <a:endParaRPr lang="en-US" sz="680" dirty="0"/>
          </a:p>
        </p:txBody>
      </p:sp>
      <p:sp>
        <p:nvSpPr>
          <p:cNvPr id="105" name="Shape 100"/>
          <p:cNvSpPr/>
          <p:nvPr/>
        </p:nvSpPr>
        <p:spPr>
          <a:xfrm>
            <a:off x="4041648" y="4087368"/>
            <a:ext cx="171907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4096512" y="4123944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</a:t>
            </a:r>
            <a:endParaRPr lang="en-US" sz="750" dirty="0"/>
          </a:p>
        </p:txBody>
      </p:sp>
      <p:sp>
        <p:nvSpPr>
          <p:cNvPr id="107" name="Text 102"/>
          <p:cNvSpPr/>
          <p:nvPr/>
        </p:nvSpPr>
        <p:spPr>
          <a:xfrm>
            <a:off x="4096512" y="4306824"/>
            <a:ext cx="16093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 / SG / SH</a:t>
            </a:r>
            <a:endParaRPr lang="en-US" sz="680" dirty="0"/>
          </a:p>
        </p:txBody>
      </p:sp>
      <p:sp>
        <p:nvSpPr>
          <p:cNvPr id="108" name="Shape 103"/>
          <p:cNvSpPr/>
          <p:nvPr/>
        </p:nvSpPr>
        <p:spPr>
          <a:xfrm>
            <a:off x="4041648" y="4562856"/>
            <a:ext cx="1719072" cy="475488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09" name="Text 104"/>
          <p:cNvSpPr/>
          <p:nvPr/>
        </p:nvSpPr>
        <p:spPr>
          <a:xfrm>
            <a:off x="4096512" y="4599432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IPSec VPN</a:t>
            </a:r>
            <a:endParaRPr lang="en-US" sz="750" dirty="0"/>
          </a:p>
        </p:txBody>
      </p:sp>
      <p:sp>
        <p:nvSpPr>
          <p:cNvPr id="110" name="Text 105"/>
          <p:cNvSpPr/>
          <p:nvPr/>
        </p:nvSpPr>
        <p:spPr>
          <a:xfrm>
            <a:off x="4096512" y="478231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PRD VPC間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リスクあり</a:t>
            </a:r>
            <a:endParaRPr lang="en-US" sz="680" dirty="0"/>
          </a:p>
        </p:txBody>
      </p:sp>
      <p:sp>
        <p:nvSpPr>
          <p:cNvPr id="111" name="Shape 106"/>
          <p:cNvSpPr/>
          <p:nvPr/>
        </p:nvSpPr>
        <p:spPr>
          <a:xfrm>
            <a:off x="4041648" y="5111496"/>
            <a:ext cx="1719072" cy="475488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12" name="Text 107"/>
          <p:cNvSpPr/>
          <p:nvPr/>
        </p:nvSpPr>
        <p:spPr>
          <a:xfrm>
            <a:off x="4096512" y="5148072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web-be SG</a:t>
            </a:r>
            <a:endParaRPr lang="en-US" sz="750" dirty="0"/>
          </a:p>
        </p:txBody>
      </p:sp>
      <p:sp>
        <p:nvSpPr>
          <p:cNvPr id="113" name="Text 108"/>
          <p:cNvSpPr/>
          <p:nvPr/>
        </p:nvSpPr>
        <p:spPr>
          <a:xfrm>
            <a:off x="4096512" y="533095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全開放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 0.0.0.0/0</a:t>
            </a:r>
            <a:endParaRPr lang="en-US" sz="680" dirty="0"/>
          </a:p>
        </p:txBody>
      </p:sp>
      <p:sp>
        <p:nvSpPr>
          <p:cNvPr id="114" name="Shape 109"/>
          <p:cNvSpPr/>
          <p:nvPr/>
        </p:nvSpPr>
        <p:spPr>
          <a:xfrm>
            <a:off x="4041648" y="5660136"/>
            <a:ext cx="171907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4096512" y="5696712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Client VPN</a:t>
            </a:r>
            <a:endParaRPr lang="en-US" sz="750" dirty="0"/>
          </a:p>
        </p:txBody>
      </p:sp>
      <p:sp>
        <p:nvSpPr>
          <p:cNvPr id="116" name="Text 111"/>
          <p:cNvSpPr/>
          <p:nvPr/>
        </p:nvSpPr>
        <p:spPr>
          <a:xfrm>
            <a:off x="4096512" y="5879592"/>
            <a:ext cx="16093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OpenVPN UDP1194</a:t>
            </a:r>
            <a:endParaRPr lang="en-US" sz="680" dirty="0"/>
          </a:p>
        </p:txBody>
      </p:sp>
      <p:sp>
        <p:nvSpPr>
          <p:cNvPr id="117" name="Shape 112"/>
          <p:cNvSpPr/>
          <p:nvPr/>
        </p:nvSpPr>
        <p:spPr>
          <a:xfrm>
            <a:off x="5980176" y="1929384"/>
            <a:ext cx="1755648" cy="2670048"/>
          </a:xfrm>
          <a:prstGeom prst="rect">
            <a:avLst/>
          </a:prstGeom>
          <a:solidFill>
            <a:srgbClr val="FFFDE7"/>
          </a:solidFill>
          <a:ln w="12700">
            <a:solidFill>
              <a:srgbClr val="E8A040"/>
            </a:solidFill>
            <a:prstDash val="sysDash"/>
          </a:ln>
        </p:spPr>
      </p:sp>
      <p:sp>
        <p:nvSpPr>
          <p:cNvPr id="118" name="Text 113"/>
          <p:cNvSpPr/>
          <p:nvPr/>
        </p:nvSpPr>
        <p:spPr>
          <a:xfrm>
            <a:off x="5998464" y="193852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posspk-vpc  10.226.51.0/24</a:t>
            </a:r>
            <a:endParaRPr lang="en-US" sz="550" dirty="0"/>
          </a:p>
        </p:txBody>
      </p:sp>
      <p:sp>
        <p:nvSpPr>
          <p:cNvPr id="119" name="Shape 114"/>
          <p:cNvSpPr/>
          <p:nvPr/>
        </p:nvSpPr>
        <p:spPr>
          <a:xfrm>
            <a:off x="5998464" y="2093976"/>
            <a:ext cx="17190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C080"/>
            </a:solidFill>
            <a:prstDash val="solid"/>
          </a:ln>
        </p:spPr>
      </p:sp>
      <p:sp>
        <p:nvSpPr>
          <p:cNvPr id="120" name="Text 115"/>
          <p:cNvSpPr/>
          <p:nvPr/>
        </p:nvSpPr>
        <p:spPr>
          <a:xfrm>
            <a:off x="6053328" y="2130552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(internet-facing)</a:t>
            </a:r>
            <a:endParaRPr lang="en-US" sz="750" dirty="0"/>
          </a:p>
        </p:txBody>
      </p:sp>
      <p:sp>
        <p:nvSpPr>
          <p:cNvPr id="121" name="Text 116"/>
          <p:cNvSpPr/>
          <p:nvPr/>
        </p:nvSpPr>
        <p:spPr>
          <a:xfrm>
            <a:off x="6053328" y="23134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ksm-posspk-alb-api-be</a:t>
            </a:r>
            <a:endParaRPr lang="en-US" sz="680" dirty="0"/>
          </a:p>
        </p:txBody>
      </p:sp>
      <p:sp>
        <p:nvSpPr>
          <p:cNvPr id="122" name="Shape 117"/>
          <p:cNvSpPr/>
          <p:nvPr/>
        </p:nvSpPr>
        <p:spPr>
          <a:xfrm>
            <a:off x="5998464" y="2596896"/>
            <a:ext cx="17190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C080"/>
            </a:solidFill>
            <a:prstDash val="solid"/>
          </a:ln>
        </p:spPr>
      </p:sp>
      <p:sp>
        <p:nvSpPr>
          <p:cNvPr id="123" name="Text 118"/>
          <p:cNvSpPr/>
          <p:nvPr/>
        </p:nvSpPr>
        <p:spPr>
          <a:xfrm>
            <a:off x="6053328" y="2633472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チャージAPI</a:t>
            </a:r>
            <a:endParaRPr lang="en-US" sz="750" dirty="0"/>
          </a:p>
        </p:txBody>
      </p:sp>
      <p:sp>
        <p:nvSpPr>
          <p:cNvPr id="124" name="Text 119"/>
          <p:cNvSpPr/>
          <p:nvPr/>
        </p:nvSpPr>
        <p:spPr>
          <a:xfrm>
            <a:off x="6053328" y="28163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10.226.51.86 ✅</a:t>
            </a:r>
            <a:endParaRPr lang="en-US" sz="680" dirty="0"/>
          </a:p>
        </p:txBody>
      </p:sp>
      <p:sp>
        <p:nvSpPr>
          <p:cNvPr id="125" name="Shape 120"/>
          <p:cNvSpPr/>
          <p:nvPr/>
        </p:nvSpPr>
        <p:spPr>
          <a:xfrm>
            <a:off x="5998464" y="3099816"/>
            <a:ext cx="17190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C080"/>
            </a:solidFill>
            <a:prstDash val="solid"/>
          </a:ln>
        </p:spPr>
      </p:sp>
      <p:sp>
        <p:nvSpPr>
          <p:cNvPr id="126" name="Text 121"/>
          <p:cNvSpPr/>
          <p:nvPr/>
        </p:nvSpPr>
        <p:spPr>
          <a:xfrm>
            <a:off x="6053328" y="3136392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750" dirty="0"/>
          </a:p>
        </p:txBody>
      </p:sp>
      <p:sp>
        <p:nvSpPr>
          <p:cNvPr id="127" name="Text 122"/>
          <p:cNvSpPr/>
          <p:nvPr/>
        </p:nvSpPr>
        <p:spPr>
          <a:xfrm>
            <a:off x="6053328" y="331927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posspk-db-instance-1</a:t>
            </a:r>
            <a:endParaRPr lang="en-US" sz="680" dirty="0"/>
          </a:p>
        </p:txBody>
      </p:sp>
      <p:sp>
        <p:nvSpPr>
          <p:cNvPr id="128" name="Shape 123"/>
          <p:cNvSpPr/>
          <p:nvPr/>
        </p:nvSpPr>
        <p:spPr>
          <a:xfrm>
            <a:off x="5998464" y="3557016"/>
            <a:ext cx="1719072" cy="475488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29" name="Text 124"/>
          <p:cNvSpPr/>
          <p:nvPr/>
        </p:nvSpPr>
        <p:spPr>
          <a:xfrm>
            <a:off x="6053328" y="3593592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SGセキュリティ問題</a:t>
            </a:r>
            <a:endParaRPr lang="en-US" sz="750" dirty="0"/>
          </a:p>
        </p:txBody>
      </p:sp>
      <p:sp>
        <p:nvSpPr>
          <p:cNvPr id="130" name="Text 125"/>
          <p:cNvSpPr/>
          <p:nvPr/>
        </p:nvSpPr>
        <p:spPr>
          <a:xfrm>
            <a:off x="6053328" y="377647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ec2-rds-1: 全開放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web-be: 8080全開放</a:t>
            </a:r>
            <a:endParaRPr lang="en-US" sz="680" dirty="0"/>
          </a:p>
        </p:txBody>
      </p:sp>
      <p:sp>
        <p:nvSpPr>
          <p:cNvPr id="131" name="Shape 126"/>
          <p:cNvSpPr/>
          <p:nvPr/>
        </p:nvSpPr>
        <p:spPr>
          <a:xfrm>
            <a:off x="5980176" y="4663440"/>
            <a:ext cx="1755648" cy="1508760"/>
          </a:xfrm>
          <a:prstGeom prst="rect">
            <a:avLst/>
          </a:prstGeom>
          <a:solidFill>
            <a:srgbClr val="EBF5FF"/>
          </a:solidFill>
          <a:ln w="12700">
            <a:solidFill>
              <a:srgbClr val="4488CC"/>
            </a:solidFill>
            <a:prstDash val="sysDash"/>
          </a:ln>
        </p:spPr>
      </p:sp>
      <p:sp>
        <p:nvSpPr>
          <p:cNvPr id="132" name="Text 127"/>
          <p:cNvSpPr/>
          <p:nvPr/>
        </p:nvSpPr>
        <p:spPr>
          <a:xfrm>
            <a:off x="5998464" y="4672584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pos-dev-vpc  10.226.50.0/24</a:t>
            </a:r>
            <a:endParaRPr lang="en-US" sz="550" dirty="0"/>
          </a:p>
        </p:txBody>
      </p:sp>
      <p:sp>
        <p:nvSpPr>
          <p:cNvPr id="133" name="Shape 128"/>
          <p:cNvSpPr/>
          <p:nvPr/>
        </p:nvSpPr>
        <p:spPr>
          <a:xfrm>
            <a:off x="5998464" y="4837176"/>
            <a:ext cx="17190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34" name="Text 129"/>
          <p:cNvSpPr/>
          <p:nvPr/>
        </p:nvSpPr>
        <p:spPr>
          <a:xfrm>
            <a:off x="6053328" y="4873752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pos-dev各種</a:t>
            </a:r>
            <a:endParaRPr lang="en-US" sz="750" dirty="0"/>
          </a:p>
        </p:txBody>
      </p:sp>
      <p:sp>
        <p:nvSpPr>
          <p:cNvPr id="135" name="Text 130"/>
          <p:cNvSpPr/>
          <p:nvPr/>
        </p:nvSpPr>
        <p:spPr>
          <a:xfrm>
            <a:off x="6053328" y="505663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GIFT/棚札 開発DB</a:t>
            </a:r>
            <a:endParaRPr lang="en-US" sz="680" dirty="0"/>
          </a:p>
        </p:txBody>
      </p:sp>
      <p:sp>
        <p:nvSpPr>
          <p:cNvPr id="136" name="Shape 131"/>
          <p:cNvSpPr/>
          <p:nvPr/>
        </p:nvSpPr>
        <p:spPr>
          <a:xfrm>
            <a:off x="5998464" y="5376672"/>
            <a:ext cx="1719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37" name="Text 132"/>
          <p:cNvSpPr/>
          <p:nvPr/>
        </p:nvSpPr>
        <p:spPr>
          <a:xfrm>
            <a:off x="6053328" y="5413248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VPC分離（接続なし）</a:t>
            </a:r>
            <a:endParaRPr lang="en-US" sz="750" dirty="0"/>
          </a:p>
        </p:txBody>
      </p:sp>
      <p:sp>
        <p:nvSpPr>
          <p:cNvPr id="138" name="Text 133"/>
          <p:cNvSpPr/>
          <p:nvPr/>
        </p:nvSpPr>
        <p:spPr>
          <a:xfrm>
            <a:off x="6053328" y="55961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posspk↔pos-dev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ピアリングなし</a:t>
            </a:r>
            <a:endParaRPr lang="en-US" sz="680" dirty="0"/>
          </a:p>
        </p:txBody>
      </p:sp>
      <p:sp>
        <p:nvSpPr>
          <p:cNvPr id="139" name="Shape 134"/>
          <p:cNvSpPr/>
          <p:nvPr/>
        </p:nvSpPr>
        <p:spPr>
          <a:xfrm>
            <a:off x="1828800" y="2688336"/>
            <a:ext cx="4169664" cy="-374904"/>
          </a:xfrm>
          <a:prstGeom prst="line">
            <a:avLst/>
          </a:prstGeom>
          <a:noFill/>
          <a:ln w="19050">
            <a:solidFill>
              <a:srgbClr val="E53935"/>
            </a:solidFill>
            <a:prstDash val="solid"/>
            <a:tailEnd type="arrow"/>
          </a:ln>
        </p:spPr>
      </p:sp>
      <p:sp>
        <p:nvSpPr>
          <p:cNvPr id="140" name="Text 135"/>
          <p:cNvSpPr/>
          <p:nvPr/>
        </p:nvSpPr>
        <p:spPr>
          <a:xfrm>
            <a:off x="3639312" y="2400300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539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550" dirty="0"/>
          </a:p>
        </p:txBody>
      </p:sp>
      <p:sp>
        <p:nvSpPr>
          <p:cNvPr id="141" name="Shape 136"/>
          <p:cNvSpPr/>
          <p:nvPr/>
        </p:nvSpPr>
        <p:spPr>
          <a:xfrm>
            <a:off x="1828800" y="3447288"/>
            <a:ext cx="182880" cy="2331720"/>
          </a:xfrm>
          <a:prstGeom prst="line">
            <a:avLst/>
          </a:prstGeom>
          <a:noFill/>
          <a:ln w="19050">
            <a:solidFill>
              <a:srgbClr val="CC8844"/>
            </a:solidFill>
            <a:prstDash val="solid"/>
            <a:tailEnd type="arrow"/>
          </a:ln>
        </p:spPr>
      </p:sp>
      <p:sp>
        <p:nvSpPr>
          <p:cNvPr id="142" name="Text 137"/>
          <p:cNvSpPr/>
          <p:nvPr/>
        </p:nvSpPr>
        <p:spPr>
          <a:xfrm>
            <a:off x="1645920" y="4512564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DC/VPN</a:t>
            </a:r>
            <a:endParaRPr lang="en-US" sz="550" dirty="0"/>
          </a:p>
        </p:txBody>
      </p:sp>
      <p:sp>
        <p:nvSpPr>
          <p:cNvPr id="143" name="Shape 138"/>
          <p:cNvSpPr/>
          <p:nvPr/>
        </p:nvSpPr>
        <p:spPr>
          <a:xfrm>
            <a:off x="1828800" y="3685032"/>
            <a:ext cx="182880" cy="-384048"/>
          </a:xfrm>
          <a:prstGeom prst="line">
            <a:avLst/>
          </a:prstGeom>
          <a:noFill/>
          <a:ln w="19050">
            <a:solidFill>
              <a:srgbClr val="CC8844"/>
            </a:solidFill>
            <a:prstDash val="solid"/>
            <a:tailEnd type="arrow"/>
          </a:ln>
        </p:spPr>
      </p:sp>
      <p:sp>
        <p:nvSpPr>
          <p:cNvPr id="144" name="Text 139"/>
          <p:cNvSpPr/>
          <p:nvPr/>
        </p:nvSpPr>
        <p:spPr>
          <a:xfrm>
            <a:off x="1645920" y="3392424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10.156.x</a:t>
            </a:r>
            <a:endParaRPr lang="en-US" sz="550" dirty="0"/>
          </a:p>
        </p:txBody>
      </p:sp>
      <p:sp>
        <p:nvSpPr>
          <p:cNvPr id="145" name="Shape 140"/>
          <p:cNvSpPr/>
          <p:nvPr/>
        </p:nvSpPr>
        <p:spPr>
          <a:xfrm>
            <a:off x="1828800" y="4251960"/>
            <a:ext cx="182880" cy="-2048256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146" name="Text 141"/>
          <p:cNvSpPr/>
          <p:nvPr/>
        </p:nvSpPr>
        <p:spPr>
          <a:xfrm>
            <a:off x="1645920" y="3127248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550" dirty="0"/>
          </a:p>
        </p:txBody>
      </p:sp>
      <p:sp>
        <p:nvSpPr>
          <p:cNvPr id="147" name="Shape 142"/>
          <p:cNvSpPr/>
          <p:nvPr/>
        </p:nvSpPr>
        <p:spPr>
          <a:xfrm>
            <a:off x="1828800" y="4919472"/>
            <a:ext cx="182880" cy="402336"/>
          </a:xfrm>
          <a:prstGeom prst="line">
            <a:avLst/>
          </a:prstGeom>
          <a:noFill/>
          <a:ln w="19050">
            <a:solidFill>
              <a:srgbClr val="CC8844"/>
            </a:solidFill>
            <a:prstDash val="solid"/>
            <a:tailEnd type="arrow"/>
          </a:ln>
        </p:spPr>
      </p:sp>
      <p:sp>
        <p:nvSpPr>
          <p:cNvPr id="148" name="Text 143"/>
          <p:cNvSpPr/>
          <p:nvPr/>
        </p:nvSpPr>
        <p:spPr>
          <a:xfrm>
            <a:off x="1645920" y="5020056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SFTP</a:t>
            </a:r>
            <a:endParaRPr lang="en-US" sz="550" dirty="0"/>
          </a:p>
        </p:txBody>
      </p:sp>
      <p:sp>
        <p:nvSpPr>
          <p:cNvPr id="149" name="Shape 144"/>
          <p:cNvSpPr/>
          <p:nvPr/>
        </p:nvSpPr>
        <p:spPr>
          <a:xfrm>
            <a:off x="8065008" y="2002536"/>
            <a:ext cx="-4187952" cy="749808"/>
          </a:xfrm>
          <a:prstGeom prst="line">
            <a:avLst/>
          </a:prstGeom>
          <a:noFill/>
          <a:ln w="19050">
            <a:solidFill>
              <a:srgbClr val="6644AA"/>
            </a:solidFill>
            <a:prstDash val="solid"/>
            <a:tailEnd type="arrow"/>
          </a:ln>
        </p:spPr>
      </p:sp>
      <p:sp>
        <p:nvSpPr>
          <p:cNvPr id="150" name="Text 145"/>
          <p:cNvSpPr/>
          <p:nvPr/>
        </p:nvSpPr>
        <p:spPr>
          <a:xfrm>
            <a:off x="5696712" y="2276856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550" dirty="0"/>
          </a:p>
        </p:txBody>
      </p:sp>
      <p:sp>
        <p:nvSpPr>
          <p:cNvPr id="151" name="Shape 146"/>
          <p:cNvSpPr/>
          <p:nvPr/>
        </p:nvSpPr>
        <p:spPr>
          <a:xfrm>
            <a:off x="8065008" y="2651760"/>
            <a:ext cx="-2231136" cy="100584"/>
          </a:xfrm>
          <a:prstGeom prst="line">
            <a:avLst/>
          </a:prstGeom>
          <a:noFill/>
          <a:ln w="19050">
            <a:solidFill>
              <a:srgbClr val="6644AA"/>
            </a:solidFill>
            <a:prstDash val="solid"/>
            <a:tailEnd type="arrow"/>
          </a:ln>
        </p:spPr>
      </p:sp>
      <p:sp>
        <p:nvSpPr>
          <p:cNvPr id="152" name="Text 147"/>
          <p:cNvSpPr/>
          <p:nvPr/>
        </p:nvSpPr>
        <p:spPr>
          <a:xfrm>
            <a:off x="6675120" y="2601468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550" dirty="0"/>
          </a:p>
        </p:txBody>
      </p:sp>
      <p:sp>
        <p:nvSpPr>
          <p:cNvPr id="153" name="Shape 148"/>
          <p:cNvSpPr/>
          <p:nvPr/>
        </p:nvSpPr>
        <p:spPr>
          <a:xfrm>
            <a:off x="8065008" y="3291840"/>
            <a:ext cx="-274320" cy="-978408"/>
          </a:xfrm>
          <a:prstGeom prst="line">
            <a:avLst/>
          </a:prstGeom>
          <a:noFill/>
          <a:ln w="19050">
            <a:solidFill>
              <a:srgbClr val="6644AA"/>
            </a:solidFill>
            <a:prstDash val="solid"/>
            <a:tailEnd type="arrow"/>
          </a:ln>
        </p:spPr>
      </p:sp>
      <p:sp>
        <p:nvSpPr>
          <p:cNvPr id="154" name="Text 149"/>
          <p:cNvSpPr/>
          <p:nvPr/>
        </p:nvSpPr>
        <p:spPr>
          <a:xfrm>
            <a:off x="7653528" y="2702052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550" dirty="0"/>
          </a:p>
        </p:txBody>
      </p:sp>
      <p:sp>
        <p:nvSpPr>
          <p:cNvPr id="155" name="Shape 150"/>
          <p:cNvSpPr/>
          <p:nvPr/>
        </p:nvSpPr>
        <p:spPr>
          <a:xfrm>
            <a:off x="3877056" y="4800600"/>
            <a:ext cx="91440" cy="0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  <a:headEnd type="arrow"/>
            <a:tailEnd type="arrow"/>
          </a:ln>
        </p:spPr>
      </p:sp>
      <p:sp>
        <p:nvSpPr>
          <p:cNvPr id="156" name="Text 151"/>
          <p:cNvSpPr/>
          <p:nvPr/>
        </p:nvSpPr>
        <p:spPr>
          <a:xfrm>
            <a:off x="3867912" y="4654296"/>
            <a:ext cx="201168" cy="1371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⚠IPSec</a:t>
            </a:r>
            <a:endParaRPr lang="en-US" sz="500" dirty="0"/>
          </a:p>
        </p:txBody>
      </p:sp>
      <p:sp>
        <p:nvSpPr>
          <p:cNvPr id="157" name="Shape 152"/>
          <p:cNvSpPr/>
          <p:nvPr/>
        </p:nvSpPr>
        <p:spPr>
          <a:xfrm>
            <a:off x="2103120" y="6327648"/>
            <a:ext cx="109728" cy="100584"/>
          </a:xfrm>
          <a:prstGeom prst="rect">
            <a:avLst/>
          </a:prstGeom>
          <a:solidFill>
            <a:srgbClr val="228844"/>
          </a:solidFill>
          <a:ln w="12700">
            <a:solidFill>
              <a:srgbClr val="228844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2240280" y="630936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本番</a:t>
            </a:r>
            <a:endParaRPr lang="en-US" sz="600" dirty="0"/>
          </a:p>
        </p:txBody>
      </p:sp>
      <p:sp>
        <p:nvSpPr>
          <p:cNvPr id="159" name="Shape 154"/>
          <p:cNvSpPr/>
          <p:nvPr/>
        </p:nvSpPr>
        <p:spPr>
          <a:xfrm>
            <a:off x="3090672" y="6327648"/>
            <a:ext cx="109728" cy="100584"/>
          </a:xfrm>
          <a:prstGeom prst="rect">
            <a:avLst/>
          </a:prstGeom>
          <a:solidFill>
            <a:srgbClr val="2266AA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3227832" y="630936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 検証</a:t>
            </a:r>
            <a:endParaRPr lang="en-US" sz="600" dirty="0"/>
          </a:p>
        </p:txBody>
      </p:sp>
      <p:sp>
        <p:nvSpPr>
          <p:cNvPr id="161" name="Shape 156"/>
          <p:cNvSpPr/>
          <p:nvPr/>
        </p:nvSpPr>
        <p:spPr>
          <a:xfrm>
            <a:off x="4078224" y="6327648"/>
            <a:ext cx="109728" cy="100584"/>
          </a:xfrm>
          <a:prstGeom prst="rect">
            <a:avLst/>
          </a:prstGeom>
          <a:solidFill>
            <a:srgbClr val="B07020"/>
          </a:solidFill>
          <a:ln w="12700">
            <a:solidFill>
              <a:srgbClr val="B07020"/>
            </a:solidFill>
            <a:prstDash val="solid"/>
          </a:ln>
        </p:spPr>
      </p:sp>
      <p:sp>
        <p:nvSpPr>
          <p:cNvPr id="162" name="Text 157"/>
          <p:cNvSpPr/>
          <p:nvPr/>
        </p:nvSpPr>
        <p:spPr>
          <a:xfrm>
            <a:off x="4215384" y="630936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 開発</a:t>
            </a:r>
            <a:endParaRPr lang="en-US" sz="600" dirty="0"/>
          </a:p>
        </p:txBody>
      </p:sp>
      <p:sp>
        <p:nvSpPr>
          <p:cNvPr id="163" name="Shape 158"/>
          <p:cNvSpPr/>
          <p:nvPr/>
        </p:nvSpPr>
        <p:spPr>
          <a:xfrm>
            <a:off x="5065776" y="6327648"/>
            <a:ext cx="109728" cy="10058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4" name="Text 159"/>
          <p:cNvSpPr/>
          <p:nvPr/>
        </p:nvSpPr>
        <p:spPr>
          <a:xfrm>
            <a:off x="5202936" y="630936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セキュリティ問題</a:t>
            </a:r>
            <a:endParaRPr lang="en-US" sz="600" dirty="0"/>
          </a:p>
        </p:txBody>
      </p:sp>
      <p:sp>
        <p:nvSpPr>
          <p:cNvPr id="165" name="Shape 160"/>
          <p:cNvSpPr/>
          <p:nvPr/>
        </p:nvSpPr>
        <p:spPr>
          <a:xfrm>
            <a:off x="6053328" y="6327648"/>
            <a:ext cx="109728" cy="100584"/>
          </a:xfrm>
          <a:prstGeom prst="rect">
            <a:avLst/>
          </a:prstGeom>
          <a:solidFill>
            <a:srgbClr val="AA6622"/>
          </a:solidFill>
          <a:ln w="12700">
            <a:solidFill>
              <a:srgbClr val="AA6622"/>
            </a:solidFill>
            <a:prstDash val="solid"/>
          </a:ln>
        </p:spPr>
      </p:sp>
      <p:sp>
        <p:nvSpPr>
          <p:cNvPr id="166" name="Text 161"/>
          <p:cNvSpPr/>
          <p:nvPr/>
        </p:nvSpPr>
        <p:spPr>
          <a:xfrm>
            <a:off x="6190488" y="630936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外部連携/USMH</a:t>
            </a:r>
            <a:endParaRPr lang="en-US" sz="600" dirty="0"/>
          </a:p>
        </p:txBody>
      </p:sp>
      <p:sp>
        <p:nvSpPr>
          <p:cNvPr id="167" name="Shape 162"/>
          <p:cNvSpPr/>
          <p:nvPr/>
        </p:nvSpPr>
        <p:spPr>
          <a:xfrm>
            <a:off x="7040880" y="6327648"/>
            <a:ext cx="109728" cy="100584"/>
          </a:xfrm>
          <a:prstGeom prst="rect">
            <a:avLst/>
          </a:prstGeom>
          <a:solidFill>
            <a:srgbClr val="6644AA"/>
          </a:solidFill>
          <a:ln w="12700">
            <a:solidFill>
              <a:srgbClr val="6644AA"/>
            </a:solidFill>
            <a:prstDash val="solid"/>
          </a:ln>
        </p:spPr>
      </p:sp>
      <p:sp>
        <p:nvSpPr>
          <p:cNvPr id="168" name="Text 163"/>
          <p:cNvSpPr/>
          <p:nvPr/>
        </p:nvSpPr>
        <p:spPr>
          <a:xfrm>
            <a:off x="7178040" y="630936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Luvina/運用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498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本番環境（PRD）詳細構成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493776" y="1188720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AWSアカウント: 332802448674  |  VPC: 10.238.0.0/16  |  AZ: ap-northeast-1a / 1c  |  URL: ignicapos.com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8288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Kasumi POS  |  本番環境 (PRD) 詳細構成  |  CONFIDENTIAL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109728" y="1417320"/>
            <a:ext cx="1719072" cy="4937760"/>
          </a:xfrm>
          <a:prstGeom prst="rect">
            <a:avLst/>
          </a:prstGeom>
          <a:solidFill>
            <a:srgbClr val="FFF0F0"/>
          </a:solidFill>
          <a:ln w="19050">
            <a:solidFill>
              <a:srgbClr val="D023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09728" y="1417320"/>
            <a:ext cx="1719072" cy="201168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4" name="Text 9"/>
          <p:cNvSpPr/>
          <p:nvPr/>
        </p:nvSpPr>
        <p:spPr>
          <a:xfrm>
            <a:off x="182880" y="144475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外部アクセス / USMH閉域網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182880" y="1691640"/>
            <a:ext cx="15727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37744" y="172821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 本部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237744" y="19110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ignicapos.com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 / 管理コンソール</a:t>
            </a:r>
            <a:endParaRPr lang="en-US" sz="680" dirty="0"/>
          </a:p>
        </p:txBody>
      </p:sp>
      <p:sp>
        <p:nvSpPr>
          <p:cNvPr id="18" name="Shape 13"/>
          <p:cNvSpPr/>
          <p:nvPr/>
        </p:nvSpPr>
        <p:spPr>
          <a:xfrm>
            <a:off x="182880" y="2423160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37744" y="245973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237744" y="26426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 → OC受信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VINX → SG受信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SHARP → SH受信</a:t>
            </a:r>
            <a:endParaRPr lang="en-US" sz="680" dirty="0"/>
          </a:p>
        </p:txBody>
      </p:sp>
      <p:sp>
        <p:nvSpPr>
          <p:cNvPr id="21" name="Shape 16"/>
          <p:cNvSpPr/>
          <p:nvPr/>
        </p:nvSpPr>
        <p:spPr>
          <a:xfrm>
            <a:off x="182880" y="3227832"/>
            <a:ext cx="15727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37744" y="326440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237744" y="3447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10.156.96.214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GiftCard EC2</a:t>
            </a:r>
            <a:endParaRPr lang="en-US" sz="680" dirty="0"/>
          </a:p>
        </p:txBody>
      </p:sp>
      <p:sp>
        <p:nvSpPr>
          <p:cNvPr id="24" name="Shape 19"/>
          <p:cNvSpPr/>
          <p:nvPr/>
        </p:nvSpPr>
        <p:spPr>
          <a:xfrm>
            <a:off x="182880" y="3959352"/>
            <a:ext cx="15727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37744" y="399592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AFSオーソリ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237744" y="417880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192.168.60.10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Port: 1501-1508</a:t>
            </a:r>
            <a:endParaRPr lang="en-US" sz="680" dirty="0"/>
          </a:p>
        </p:txBody>
      </p:sp>
      <p:sp>
        <p:nvSpPr>
          <p:cNvPr id="27" name="Shape 22"/>
          <p:cNvSpPr/>
          <p:nvPr/>
        </p:nvSpPr>
        <p:spPr>
          <a:xfrm>
            <a:off x="182880" y="4645152"/>
            <a:ext cx="15727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37744" y="468172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NTT DATA CDS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237744" y="486460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棚札 FTP送信先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(平文FTP/SFTP)</a:t>
            </a:r>
            <a:endParaRPr lang="en-US" sz="680" dirty="0"/>
          </a:p>
        </p:txBody>
      </p:sp>
      <p:sp>
        <p:nvSpPr>
          <p:cNvPr id="30" name="Shape 25"/>
          <p:cNvSpPr/>
          <p:nvPr/>
        </p:nvSpPr>
        <p:spPr>
          <a:xfrm>
            <a:off x="182880" y="5330952"/>
            <a:ext cx="15727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7744" y="536752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NAT経由送信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237744" y="555040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57.182.174.110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USMH FTPサーバー</a:t>
            </a:r>
            <a:endParaRPr lang="en-US" sz="680" dirty="0"/>
          </a:p>
        </p:txBody>
      </p:sp>
      <p:sp>
        <p:nvSpPr>
          <p:cNvPr id="33" name="Shape 28"/>
          <p:cNvSpPr/>
          <p:nvPr/>
        </p:nvSpPr>
        <p:spPr>
          <a:xfrm>
            <a:off x="8065008" y="1417320"/>
            <a:ext cx="1728216" cy="4937760"/>
          </a:xfrm>
          <a:prstGeom prst="rect">
            <a:avLst/>
          </a:prstGeom>
          <a:solidFill>
            <a:srgbClr val="F5F0FF"/>
          </a:solidFill>
          <a:ln w="19050">
            <a:solidFill>
              <a:srgbClr val="8866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065008" y="1417320"/>
            <a:ext cx="1728216" cy="201168"/>
          </a:xfrm>
          <a:prstGeom prst="rect">
            <a:avLst/>
          </a:prstGeom>
          <a:solidFill>
            <a:srgbClr val="6644AA"/>
          </a:solidFill>
          <a:ln/>
        </p:spPr>
      </p:sp>
      <p:sp>
        <p:nvSpPr>
          <p:cNvPr id="35" name="Text 30"/>
          <p:cNvSpPr/>
          <p:nvPr/>
        </p:nvSpPr>
        <p:spPr>
          <a:xfrm>
            <a:off x="8138160" y="144475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/ 開発チーム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8138160" y="1691640"/>
            <a:ext cx="158191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193024" y="172821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オフィス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8193024" y="1911096"/>
            <a:ext cx="14721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Site-to-Site VPN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TP-Link ER605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14.224.146.153</a:t>
            </a:r>
            <a:endParaRPr lang="en-US" sz="680" dirty="0"/>
          </a:p>
        </p:txBody>
      </p:sp>
      <p:sp>
        <p:nvSpPr>
          <p:cNvPr id="39" name="Shape 34"/>
          <p:cNvSpPr/>
          <p:nvPr/>
        </p:nvSpPr>
        <p:spPr>
          <a:xfrm>
            <a:off x="8138160" y="2468880"/>
            <a:ext cx="15819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193024" y="250545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個人PC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8193024" y="268833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Client VPN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OpenVPN UDP1194</a:t>
            </a:r>
            <a:endParaRPr lang="en-US" sz="680" dirty="0"/>
          </a:p>
        </p:txBody>
      </p:sp>
      <p:sp>
        <p:nvSpPr>
          <p:cNvPr id="42" name="Shape 37"/>
          <p:cNvSpPr/>
          <p:nvPr/>
        </p:nvSpPr>
        <p:spPr>
          <a:xfrm>
            <a:off x="8138160" y="3108960"/>
            <a:ext cx="15819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193024" y="314553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Bastion接続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8193024" y="3328416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10.238.2.39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SSH経由</a:t>
            </a:r>
            <a:endParaRPr lang="en-US" sz="680" dirty="0"/>
          </a:p>
        </p:txBody>
      </p:sp>
      <p:sp>
        <p:nvSpPr>
          <p:cNvPr id="45" name="Shape 40"/>
          <p:cNvSpPr/>
          <p:nvPr/>
        </p:nvSpPr>
        <p:spPr>
          <a:xfrm>
            <a:off x="8138160" y="3730752"/>
            <a:ext cx="15819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193024" y="3767328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CloudShell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8193024" y="395020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kiyohara IAM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調査・運用</a:t>
            </a:r>
            <a:endParaRPr lang="en-US" sz="680" dirty="0"/>
          </a:p>
        </p:txBody>
      </p:sp>
      <p:sp>
        <p:nvSpPr>
          <p:cNvPr id="48" name="Shape 43"/>
          <p:cNvSpPr/>
          <p:nvPr/>
        </p:nvSpPr>
        <p:spPr>
          <a:xfrm>
            <a:off x="8138160" y="4352544"/>
            <a:ext cx="15819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193024" y="4389120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8193024" y="457200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kasumi_pos-server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ドキュメント管理</a:t>
            </a:r>
            <a:endParaRPr lang="en-US" sz="680" dirty="0"/>
          </a:p>
        </p:txBody>
      </p:sp>
      <p:sp>
        <p:nvSpPr>
          <p:cNvPr id="51" name="Shape 46"/>
          <p:cNvSpPr/>
          <p:nvPr/>
        </p:nvSpPr>
        <p:spPr>
          <a:xfrm>
            <a:off x="8138160" y="4974336"/>
            <a:ext cx="1581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193024" y="5010912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Gateway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8193024" y="5193792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57.182.174.110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送信元IP</a:t>
            </a:r>
            <a:endParaRPr lang="en-US" sz="680" dirty="0"/>
          </a:p>
        </p:txBody>
      </p:sp>
      <p:sp>
        <p:nvSpPr>
          <p:cNvPr id="54" name="Shape 49"/>
          <p:cNvSpPr/>
          <p:nvPr/>
        </p:nvSpPr>
        <p:spPr>
          <a:xfrm>
            <a:off x="8138160" y="5568696"/>
            <a:ext cx="15819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193024" y="5605272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Direct Connect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8193024" y="57881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100Mbps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SmartVPN</a:t>
            </a:r>
            <a:endParaRPr lang="en-US" sz="680" dirty="0"/>
          </a:p>
        </p:txBody>
      </p:sp>
      <p:sp>
        <p:nvSpPr>
          <p:cNvPr id="57" name="Shape 52"/>
          <p:cNvSpPr/>
          <p:nvPr/>
        </p:nvSpPr>
        <p:spPr>
          <a:xfrm>
            <a:off x="1920240" y="1417320"/>
            <a:ext cx="6053328" cy="4937760"/>
          </a:xfrm>
          <a:prstGeom prst="rect">
            <a:avLst/>
          </a:prstGeom>
          <a:solidFill>
            <a:srgbClr val="F0FFF0"/>
          </a:solidFill>
          <a:ln w="19050">
            <a:solidFill>
              <a:srgbClr val="44AA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3"/>
          <p:cNvSpPr/>
          <p:nvPr/>
        </p:nvSpPr>
        <p:spPr>
          <a:xfrm>
            <a:off x="1920240" y="1417320"/>
            <a:ext cx="6053328" cy="201168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59" name="Text 54"/>
          <p:cNvSpPr/>
          <p:nvPr/>
        </p:nvSpPr>
        <p:spPr>
          <a:xfrm>
            <a:off x="1993392" y="1444752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PRD  (332802448674)  ─  VPC: 10.238.0.0/16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2011680" y="1691640"/>
            <a:ext cx="5870448" cy="182880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61" name="Text 56"/>
          <p:cNvSpPr/>
          <p:nvPr/>
        </p:nvSpPr>
        <p:spPr>
          <a:xfrm>
            <a:off x="2011680" y="1691640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インターネット層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2011680" y="1920240"/>
            <a:ext cx="587044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2066544" y="1956816"/>
            <a:ext cx="5760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 ksm-posprd-alb-api  (internet-facing)</a:t>
            </a:r>
            <a:endParaRPr lang="en-US" sz="750" dirty="0"/>
          </a:p>
        </p:txBody>
      </p:sp>
      <p:sp>
        <p:nvSpPr>
          <p:cNvPr id="64" name="Text 59"/>
          <p:cNvSpPr/>
          <p:nvPr/>
        </p:nvSpPr>
        <p:spPr>
          <a:xfrm>
            <a:off x="2066544" y="2139696"/>
            <a:ext cx="5760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DNS: ignicapos.com  |  443/HTTPS  |  Route53: ignicapos.com → ALB</a:t>
            </a:r>
            <a:endParaRPr lang="en-US" sz="680" dirty="0"/>
          </a:p>
        </p:txBody>
      </p:sp>
      <p:sp>
        <p:nvSpPr>
          <p:cNvPr id="65" name="Shape 60"/>
          <p:cNvSpPr/>
          <p:nvPr/>
        </p:nvSpPr>
        <p:spPr>
          <a:xfrm>
            <a:off x="2011680" y="2578608"/>
            <a:ext cx="5870448" cy="182880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66" name="Text 61"/>
          <p:cNvSpPr/>
          <p:nvPr/>
        </p:nvSpPr>
        <p:spPr>
          <a:xfrm>
            <a:off x="2011680" y="2578608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EC2インスタンス</a:t>
            </a:r>
            <a:endParaRPr lang="en-US" sz="750" dirty="0"/>
          </a:p>
        </p:txBody>
      </p:sp>
      <p:sp>
        <p:nvSpPr>
          <p:cNvPr id="67" name="Shape 62"/>
          <p:cNvSpPr/>
          <p:nvPr/>
        </p:nvSpPr>
        <p:spPr>
          <a:xfrm>
            <a:off x="2011680" y="2807208"/>
            <a:ext cx="288950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2066544" y="2843784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Bastion</a:t>
            </a:r>
            <a:endParaRPr lang="en-US" sz="750" dirty="0"/>
          </a:p>
        </p:txBody>
      </p:sp>
      <p:sp>
        <p:nvSpPr>
          <p:cNvPr id="69" name="Text 64"/>
          <p:cNvSpPr/>
          <p:nvPr/>
        </p:nvSpPr>
        <p:spPr>
          <a:xfrm>
            <a:off x="2066544" y="3026664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10.238.2.39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t3.xlarge / AZ:1a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SG: bastion-sg</a:t>
            </a:r>
            <a:endParaRPr lang="en-US" sz="680" dirty="0"/>
          </a:p>
        </p:txBody>
      </p:sp>
      <p:sp>
        <p:nvSpPr>
          <p:cNvPr id="70" name="Shape 65"/>
          <p:cNvSpPr/>
          <p:nvPr/>
        </p:nvSpPr>
        <p:spPr>
          <a:xfrm>
            <a:off x="4992624" y="2807208"/>
            <a:ext cx="288950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5047488" y="2843784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GiftCard</a:t>
            </a:r>
            <a:endParaRPr lang="en-US" sz="750" dirty="0"/>
          </a:p>
        </p:txBody>
      </p:sp>
      <p:sp>
        <p:nvSpPr>
          <p:cNvPr id="72" name="Text 67"/>
          <p:cNvSpPr/>
          <p:nvPr/>
        </p:nvSpPr>
        <p:spPr>
          <a:xfrm>
            <a:off x="5047488" y="3026664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10.238.2.198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t2.large / AZ:1a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SG: giftcard-sg</a:t>
            </a:r>
            <a:endParaRPr lang="en-US" sz="680" dirty="0"/>
          </a:p>
        </p:txBody>
      </p:sp>
      <p:sp>
        <p:nvSpPr>
          <p:cNvPr id="73" name="Shape 68"/>
          <p:cNvSpPr/>
          <p:nvPr/>
        </p:nvSpPr>
        <p:spPr>
          <a:xfrm>
            <a:off x="2011680" y="3502152"/>
            <a:ext cx="5870448" cy="182880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4" name="Text 69"/>
          <p:cNvSpPr/>
          <p:nvPr/>
        </p:nvSpPr>
        <p:spPr>
          <a:xfrm>
            <a:off x="2011680" y="3502152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データベース</a:t>
            </a:r>
            <a:endParaRPr lang="en-US" sz="750" dirty="0"/>
          </a:p>
        </p:txBody>
      </p:sp>
      <p:sp>
        <p:nvSpPr>
          <p:cNvPr id="75" name="Shape 70"/>
          <p:cNvSpPr/>
          <p:nvPr/>
        </p:nvSpPr>
        <p:spPr>
          <a:xfrm>
            <a:off x="2011680" y="3730752"/>
            <a:ext cx="58704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2066544" y="3767328"/>
            <a:ext cx="5760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 8.0  (Primary + Replica)</a:t>
            </a:r>
            <a:endParaRPr lang="en-US" sz="750" dirty="0"/>
          </a:p>
        </p:txBody>
      </p:sp>
      <p:sp>
        <p:nvSpPr>
          <p:cNvPr id="77" name="Text 72"/>
          <p:cNvSpPr/>
          <p:nvPr/>
        </p:nvSpPr>
        <p:spPr>
          <a:xfrm>
            <a:off x="2066544" y="3950208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Primary: db.r5.2xlarge  |  Replica: db.t3.medium  |  Multi-AZ: No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SM: ksm-posprd-sm-db / db-replica / sftp</a:t>
            </a:r>
            <a:endParaRPr lang="en-US" sz="680" dirty="0"/>
          </a:p>
        </p:txBody>
      </p:sp>
      <p:sp>
        <p:nvSpPr>
          <p:cNvPr id="78" name="Shape 73"/>
          <p:cNvSpPr/>
          <p:nvPr/>
        </p:nvSpPr>
        <p:spPr>
          <a:xfrm>
            <a:off x="2011680" y="4443984"/>
            <a:ext cx="5870448" cy="182880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9" name="Text 74"/>
          <p:cNvSpPr/>
          <p:nvPr/>
        </p:nvSpPr>
        <p:spPr>
          <a:xfrm>
            <a:off x="2011680" y="4443984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サーバーレス / イベント</a:t>
            </a:r>
            <a:endParaRPr lang="en-US" sz="750" dirty="0"/>
          </a:p>
        </p:txBody>
      </p:sp>
      <p:sp>
        <p:nvSpPr>
          <p:cNvPr id="80" name="Shape 75"/>
          <p:cNvSpPr/>
          <p:nvPr/>
        </p:nvSpPr>
        <p:spPr>
          <a:xfrm>
            <a:off x="2011680" y="4672584"/>
            <a:ext cx="28895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2066544" y="4709160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21関数</a:t>
            </a:r>
            <a:endParaRPr lang="en-US" sz="750" dirty="0"/>
          </a:p>
        </p:txBody>
      </p:sp>
      <p:sp>
        <p:nvSpPr>
          <p:cNvPr id="82" name="Text 77"/>
          <p:cNvSpPr/>
          <p:nvPr/>
        </p:nvSpPr>
        <p:spPr>
          <a:xfrm>
            <a:off x="2066544" y="4892040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ksm-posprd-lmd-*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Java17 / Python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timeout:300-900s</a:t>
            </a:r>
            <a:endParaRPr lang="en-US" sz="680" dirty="0"/>
          </a:p>
        </p:txBody>
      </p:sp>
      <p:sp>
        <p:nvSpPr>
          <p:cNvPr id="83" name="Shape 78"/>
          <p:cNvSpPr/>
          <p:nvPr/>
        </p:nvSpPr>
        <p:spPr>
          <a:xfrm>
            <a:off x="4992624" y="4672584"/>
            <a:ext cx="28895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5047488" y="4709160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StepFunctions(7)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SQS FIFO(2)</a:t>
            </a:r>
            <a:endParaRPr lang="en-US" sz="750" dirty="0"/>
          </a:p>
        </p:txBody>
      </p:sp>
      <p:sp>
        <p:nvSpPr>
          <p:cNvPr id="85" name="Text 80"/>
          <p:cNvSpPr/>
          <p:nvPr/>
        </p:nvSpPr>
        <p:spPr>
          <a:xfrm>
            <a:off x="5047488" y="4892040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oc×3/sg×2/sh×1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cron(00 15 * * ? *)</a:t>
            </a:r>
            <a:endParaRPr lang="en-US" sz="680" dirty="0"/>
          </a:p>
        </p:txBody>
      </p:sp>
      <p:sp>
        <p:nvSpPr>
          <p:cNvPr id="86" name="Shape 81"/>
          <p:cNvSpPr/>
          <p:nvPr/>
        </p:nvSpPr>
        <p:spPr>
          <a:xfrm>
            <a:off x="2011680" y="5385816"/>
            <a:ext cx="5870448" cy="182880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87" name="Text 82"/>
          <p:cNvSpPr/>
          <p:nvPr/>
        </p:nvSpPr>
        <p:spPr>
          <a:xfrm>
            <a:off x="2011680" y="5385816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ストレージ / 外部連携</a:t>
            </a:r>
            <a:endParaRPr lang="en-US" sz="750" dirty="0"/>
          </a:p>
        </p:txBody>
      </p:sp>
      <p:sp>
        <p:nvSpPr>
          <p:cNvPr id="88" name="Shape 83"/>
          <p:cNvSpPr/>
          <p:nvPr/>
        </p:nvSpPr>
        <p:spPr>
          <a:xfrm>
            <a:off x="2011680" y="5614416"/>
            <a:ext cx="288950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2066544" y="5650992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Family(3)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S3バケット(5)</a:t>
            </a:r>
            <a:endParaRPr lang="en-US" sz="750" dirty="0"/>
          </a:p>
        </p:txBody>
      </p:sp>
      <p:sp>
        <p:nvSpPr>
          <p:cNvPr id="90" name="Text 85"/>
          <p:cNvSpPr/>
          <p:nvPr/>
        </p:nvSpPr>
        <p:spPr>
          <a:xfrm>
            <a:off x="2066544" y="583387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OC/SG/SH受信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prd-ignica-ksm</a:t>
            </a:r>
            <a:endParaRPr lang="en-US" sz="680" dirty="0"/>
          </a:p>
        </p:txBody>
      </p:sp>
      <p:sp>
        <p:nvSpPr>
          <p:cNvPr id="91" name="Shape 86"/>
          <p:cNvSpPr/>
          <p:nvPr/>
        </p:nvSpPr>
        <p:spPr>
          <a:xfrm>
            <a:off x="4992624" y="5614416"/>
            <a:ext cx="288950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92" name="Text 87"/>
          <p:cNvSpPr/>
          <p:nvPr/>
        </p:nvSpPr>
        <p:spPr>
          <a:xfrm>
            <a:off x="5047488" y="5650992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Direct Connect 100M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IPSec VPN</a:t>
            </a:r>
            <a:endParaRPr lang="en-US" sz="750" dirty="0"/>
          </a:p>
        </p:txBody>
      </p:sp>
      <p:sp>
        <p:nvSpPr>
          <p:cNvPr id="93" name="Text 88"/>
          <p:cNvSpPr/>
          <p:nvPr/>
        </p:nvSpPr>
        <p:spPr>
          <a:xfrm>
            <a:off x="5047488" y="583387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USMH SmartVPN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vpn-0ea9b7895f78e4c7e</a:t>
            </a:r>
            <a:endParaRPr lang="en-US" sz="680" dirty="0"/>
          </a:p>
        </p:txBody>
      </p:sp>
      <p:sp>
        <p:nvSpPr>
          <p:cNvPr id="94" name="Shape 89"/>
          <p:cNvSpPr/>
          <p:nvPr/>
        </p:nvSpPr>
        <p:spPr>
          <a:xfrm>
            <a:off x="1828800" y="2011680"/>
            <a:ext cx="91440" cy="201168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95" name="Text 90"/>
          <p:cNvSpPr/>
          <p:nvPr/>
        </p:nvSpPr>
        <p:spPr>
          <a:xfrm>
            <a:off x="1600200" y="2011680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550" dirty="0"/>
          </a:p>
        </p:txBody>
      </p:sp>
      <p:sp>
        <p:nvSpPr>
          <p:cNvPr id="96" name="Shape 91"/>
          <p:cNvSpPr/>
          <p:nvPr/>
        </p:nvSpPr>
        <p:spPr>
          <a:xfrm>
            <a:off x="1828800" y="2724912"/>
            <a:ext cx="91440" cy="1325880"/>
          </a:xfrm>
          <a:prstGeom prst="line">
            <a:avLst/>
          </a:prstGeom>
          <a:noFill/>
          <a:ln w="19050">
            <a:solidFill>
              <a:srgbClr val="CC8844"/>
            </a:solidFill>
            <a:prstDash val="solid"/>
            <a:tailEnd type="arrow"/>
          </a:ln>
        </p:spPr>
      </p:sp>
      <p:sp>
        <p:nvSpPr>
          <p:cNvPr id="97" name="Text 92"/>
          <p:cNvSpPr/>
          <p:nvPr/>
        </p:nvSpPr>
        <p:spPr>
          <a:xfrm>
            <a:off x="1600200" y="3287268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OC/SG/SH</a:t>
            </a:r>
            <a:endParaRPr lang="en-US" sz="550" dirty="0"/>
          </a:p>
        </p:txBody>
      </p:sp>
      <p:sp>
        <p:nvSpPr>
          <p:cNvPr id="98" name="Shape 93"/>
          <p:cNvSpPr/>
          <p:nvPr/>
        </p:nvSpPr>
        <p:spPr>
          <a:xfrm>
            <a:off x="1828800" y="3547872"/>
            <a:ext cx="91440" cy="-420624"/>
          </a:xfrm>
          <a:prstGeom prst="line">
            <a:avLst/>
          </a:prstGeom>
          <a:noFill/>
          <a:ln w="19050">
            <a:solidFill>
              <a:srgbClr val="CC8844"/>
            </a:solidFill>
            <a:prstDash val="solid"/>
            <a:tailEnd type="arrow"/>
          </a:ln>
        </p:spPr>
      </p:sp>
      <p:sp>
        <p:nvSpPr>
          <p:cNvPr id="99" name="Text 94"/>
          <p:cNvSpPr/>
          <p:nvPr/>
        </p:nvSpPr>
        <p:spPr>
          <a:xfrm>
            <a:off x="1600200" y="3236976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10.156.x</a:t>
            </a:r>
            <a:endParaRPr lang="en-US" sz="550" dirty="0"/>
          </a:p>
        </p:txBody>
      </p:sp>
      <p:sp>
        <p:nvSpPr>
          <p:cNvPr id="100" name="Shape 95"/>
          <p:cNvSpPr/>
          <p:nvPr/>
        </p:nvSpPr>
        <p:spPr>
          <a:xfrm>
            <a:off x="1828800" y="4251960"/>
            <a:ext cx="91440" cy="-201168"/>
          </a:xfrm>
          <a:prstGeom prst="line">
            <a:avLst/>
          </a:prstGeom>
          <a:noFill/>
          <a:ln w="19050">
            <a:solidFill>
              <a:srgbClr val="CC8844"/>
            </a:solidFill>
            <a:prstDash val="solid"/>
            <a:tailEnd type="arrow"/>
          </a:ln>
        </p:spPr>
      </p:sp>
      <p:sp>
        <p:nvSpPr>
          <p:cNvPr id="101" name="Text 96"/>
          <p:cNvSpPr/>
          <p:nvPr/>
        </p:nvSpPr>
        <p:spPr>
          <a:xfrm>
            <a:off x="1600200" y="4050792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AFS認証</a:t>
            </a:r>
            <a:endParaRPr lang="en-US" sz="550" dirty="0"/>
          </a:p>
        </p:txBody>
      </p:sp>
      <p:sp>
        <p:nvSpPr>
          <p:cNvPr id="102" name="Shape 97"/>
          <p:cNvSpPr/>
          <p:nvPr/>
        </p:nvSpPr>
        <p:spPr>
          <a:xfrm>
            <a:off x="1828800" y="4855464"/>
            <a:ext cx="91440" cy="1024128"/>
          </a:xfrm>
          <a:prstGeom prst="line">
            <a:avLst/>
          </a:prstGeom>
          <a:noFill/>
          <a:ln w="19050">
            <a:solidFill>
              <a:srgbClr val="CC8844"/>
            </a:solidFill>
            <a:prstDash val="solid"/>
            <a:tailEnd type="arrow"/>
          </a:ln>
        </p:spPr>
      </p:sp>
      <p:sp>
        <p:nvSpPr>
          <p:cNvPr id="103" name="Text 98"/>
          <p:cNvSpPr/>
          <p:nvPr/>
        </p:nvSpPr>
        <p:spPr>
          <a:xfrm>
            <a:off x="1600200" y="5266944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SFTP/FTP</a:t>
            </a:r>
            <a:endParaRPr lang="en-US" sz="550" dirty="0"/>
          </a:p>
        </p:txBody>
      </p:sp>
      <p:sp>
        <p:nvSpPr>
          <p:cNvPr id="104" name="Shape 99"/>
          <p:cNvSpPr/>
          <p:nvPr/>
        </p:nvSpPr>
        <p:spPr>
          <a:xfrm>
            <a:off x="8065008" y="2039112"/>
            <a:ext cx="-91440" cy="1088136"/>
          </a:xfrm>
          <a:prstGeom prst="line">
            <a:avLst/>
          </a:prstGeom>
          <a:noFill/>
          <a:ln w="19050">
            <a:solidFill>
              <a:srgbClr val="6644AA"/>
            </a:solidFill>
            <a:prstDash val="solid"/>
            <a:tailEnd type="arrow"/>
          </a:ln>
        </p:spPr>
      </p:sp>
      <p:sp>
        <p:nvSpPr>
          <p:cNvPr id="105" name="Text 100"/>
          <p:cNvSpPr/>
          <p:nvPr/>
        </p:nvSpPr>
        <p:spPr>
          <a:xfrm>
            <a:off x="7744968" y="2482596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550" dirty="0"/>
          </a:p>
        </p:txBody>
      </p:sp>
      <p:sp>
        <p:nvSpPr>
          <p:cNvPr id="106" name="Shape 101"/>
          <p:cNvSpPr/>
          <p:nvPr/>
        </p:nvSpPr>
        <p:spPr>
          <a:xfrm>
            <a:off x="8065008" y="5742432"/>
            <a:ext cx="-91440" cy="137160"/>
          </a:xfrm>
          <a:prstGeom prst="line">
            <a:avLst/>
          </a:prstGeom>
          <a:noFill/>
          <a:ln w="19050">
            <a:solidFill>
              <a:srgbClr val="6644AA"/>
            </a:solidFill>
            <a:prstDash val="solid"/>
            <a:tailEnd type="arrow"/>
          </a:ln>
        </p:spPr>
      </p:sp>
      <p:sp>
        <p:nvSpPr>
          <p:cNvPr id="107" name="Text 102"/>
          <p:cNvSpPr/>
          <p:nvPr/>
        </p:nvSpPr>
        <p:spPr>
          <a:xfrm>
            <a:off x="7744968" y="5710428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DC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498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検証環境（STG）詳細構成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493776" y="1188720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AWSアカウント: 750735758916  |  VPC: 10.239.0.0/16  |  URL: stg.ignicapos.com  |  ⚠ セキュリティ問題あり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8288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Kasumi POS  |  検証環境 (STG) 詳細構成  |  CONFIDENTIAL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109728" y="1417320"/>
            <a:ext cx="1719072" cy="4937760"/>
          </a:xfrm>
          <a:prstGeom prst="rect">
            <a:avLst/>
          </a:prstGeom>
          <a:solidFill>
            <a:srgbClr val="FFF0F0"/>
          </a:solidFill>
          <a:ln w="19050">
            <a:solidFill>
              <a:srgbClr val="D023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09728" y="1417320"/>
            <a:ext cx="1719072" cy="201168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4" name="Text 9"/>
          <p:cNvSpPr/>
          <p:nvPr/>
        </p:nvSpPr>
        <p:spPr>
          <a:xfrm>
            <a:off x="182880" y="144475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外部アクセス / USMH閉域網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182880" y="1691640"/>
            <a:ext cx="15727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37744" y="172821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 本部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237744" y="19110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stg.ignicapos.com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 / 検証アクセス</a:t>
            </a:r>
            <a:endParaRPr lang="en-US" sz="680" dirty="0"/>
          </a:p>
        </p:txBody>
      </p:sp>
      <p:sp>
        <p:nvSpPr>
          <p:cNvPr id="18" name="Shape 13"/>
          <p:cNvSpPr/>
          <p:nvPr/>
        </p:nvSpPr>
        <p:spPr>
          <a:xfrm>
            <a:off x="182880" y="2423160"/>
            <a:ext cx="1572768" cy="594360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37744" y="245973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237744" y="264261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管理API(8080)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も到達可能</a:t>
            </a:r>
            <a:endParaRPr lang="en-US" sz="680" dirty="0"/>
          </a:p>
        </p:txBody>
      </p:sp>
      <p:sp>
        <p:nvSpPr>
          <p:cNvPr id="21" name="Shape 16"/>
          <p:cNvSpPr/>
          <p:nvPr/>
        </p:nvSpPr>
        <p:spPr>
          <a:xfrm>
            <a:off x="182880" y="3108960"/>
            <a:ext cx="15727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37744" y="314553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237744" y="33284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STG向け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OC/SG/SH系データ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10.156.96.0/24</a:t>
            </a:r>
            <a:endParaRPr lang="en-US" sz="680" dirty="0"/>
          </a:p>
        </p:txBody>
      </p:sp>
      <p:sp>
        <p:nvSpPr>
          <p:cNvPr id="24" name="Shape 19"/>
          <p:cNvSpPr/>
          <p:nvPr/>
        </p:nvSpPr>
        <p:spPr>
          <a:xfrm>
            <a:off x="182880" y="4005072"/>
            <a:ext cx="1572768" cy="640080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37744" y="404164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VPC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237744" y="4224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IPSec VPN経由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侵入リスク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10.238.0.0/16</a:t>
            </a:r>
            <a:endParaRPr lang="en-US" sz="680" dirty="0"/>
          </a:p>
        </p:txBody>
      </p:sp>
      <p:sp>
        <p:nvSpPr>
          <p:cNvPr id="27" name="Shape 22"/>
          <p:cNvSpPr/>
          <p:nvPr/>
        </p:nvSpPr>
        <p:spPr>
          <a:xfrm>
            <a:off x="182880" y="4736592"/>
            <a:ext cx="15727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37744" y="477316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NTT DATA CDS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237744" y="495604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棚札 FTP送信先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(STG環境)</a:t>
            </a:r>
            <a:endParaRPr lang="en-US" sz="680" dirty="0"/>
          </a:p>
        </p:txBody>
      </p:sp>
      <p:sp>
        <p:nvSpPr>
          <p:cNvPr id="30" name="Shape 25"/>
          <p:cNvSpPr/>
          <p:nvPr/>
        </p:nvSpPr>
        <p:spPr>
          <a:xfrm>
            <a:off x="182880" y="5422392"/>
            <a:ext cx="15727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7744" y="545896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AFSオーソリ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237744" y="564184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STG: 192.168.60.100</a:t>
            </a:r>
            <a:endParaRPr lang="en-US" sz="680" dirty="0"/>
          </a:p>
        </p:txBody>
      </p:sp>
      <p:sp>
        <p:nvSpPr>
          <p:cNvPr id="33" name="Shape 28"/>
          <p:cNvSpPr/>
          <p:nvPr/>
        </p:nvSpPr>
        <p:spPr>
          <a:xfrm>
            <a:off x="8065008" y="1417320"/>
            <a:ext cx="1728216" cy="4937760"/>
          </a:xfrm>
          <a:prstGeom prst="rect">
            <a:avLst/>
          </a:prstGeom>
          <a:solidFill>
            <a:srgbClr val="F5F0FF"/>
          </a:solidFill>
          <a:ln w="19050">
            <a:solidFill>
              <a:srgbClr val="8866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065008" y="1417320"/>
            <a:ext cx="1728216" cy="201168"/>
          </a:xfrm>
          <a:prstGeom prst="rect">
            <a:avLst/>
          </a:prstGeom>
          <a:solidFill>
            <a:srgbClr val="6644AA"/>
          </a:solidFill>
          <a:ln/>
        </p:spPr>
      </p:sp>
      <p:sp>
        <p:nvSpPr>
          <p:cNvPr id="35" name="Text 30"/>
          <p:cNvSpPr/>
          <p:nvPr/>
        </p:nvSpPr>
        <p:spPr>
          <a:xfrm>
            <a:off x="8138160" y="144475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/ 開発チーム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8138160" y="1691640"/>
            <a:ext cx="158191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193024" y="172821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オフィス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8193024" y="1911096"/>
            <a:ext cx="14721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Site-to-Site VPN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TP-Link ER605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14.224.146.153</a:t>
            </a:r>
            <a:endParaRPr lang="en-US" sz="680" dirty="0"/>
          </a:p>
        </p:txBody>
      </p:sp>
      <p:sp>
        <p:nvSpPr>
          <p:cNvPr id="39" name="Shape 34"/>
          <p:cNvSpPr/>
          <p:nvPr/>
        </p:nvSpPr>
        <p:spPr>
          <a:xfrm>
            <a:off x="8138160" y="2468880"/>
            <a:ext cx="15819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193024" y="250545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個人PC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8193024" y="268833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Client VPN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OpenVPN UDP1194</a:t>
            </a:r>
            <a:endParaRPr lang="en-US" sz="680" dirty="0"/>
          </a:p>
        </p:txBody>
      </p:sp>
      <p:sp>
        <p:nvSpPr>
          <p:cNvPr id="42" name="Shape 37"/>
          <p:cNvSpPr/>
          <p:nvPr/>
        </p:nvSpPr>
        <p:spPr>
          <a:xfrm>
            <a:off x="8138160" y="3108960"/>
            <a:ext cx="15819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193024" y="314553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Bastion接続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8193024" y="3328416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10.239.2.4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SSH経由</a:t>
            </a:r>
            <a:endParaRPr lang="en-US" sz="680" dirty="0"/>
          </a:p>
        </p:txBody>
      </p:sp>
      <p:sp>
        <p:nvSpPr>
          <p:cNvPr id="45" name="Shape 40"/>
          <p:cNvSpPr/>
          <p:nvPr/>
        </p:nvSpPr>
        <p:spPr>
          <a:xfrm>
            <a:off x="8138160" y="3730752"/>
            <a:ext cx="1581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193024" y="3767328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CloudShell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8193024" y="3950208"/>
            <a:ext cx="1472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750735758916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調査・デプロイ</a:t>
            </a:r>
            <a:endParaRPr lang="en-US" sz="680" dirty="0"/>
          </a:p>
        </p:txBody>
      </p:sp>
      <p:sp>
        <p:nvSpPr>
          <p:cNvPr id="48" name="Shape 43"/>
          <p:cNvSpPr/>
          <p:nvPr/>
        </p:nvSpPr>
        <p:spPr>
          <a:xfrm>
            <a:off x="8138160" y="4416552"/>
            <a:ext cx="1581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193024" y="4453128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8193024" y="4636008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STGブランチ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デプロイ管理</a:t>
            </a:r>
            <a:endParaRPr lang="en-US" sz="680" dirty="0"/>
          </a:p>
        </p:txBody>
      </p:sp>
      <p:sp>
        <p:nvSpPr>
          <p:cNvPr id="51" name="Shape 46"/>
          <p:cNvSpPr/>
          <p:nvPr/>
        </p:nvSpPr>
        <p:spPr>
          <a:xfrm>
            <a:off x="8138160" y="5010912"/>
            <a:ext cx="1581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193024" y="5047488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GitLab CI/CD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8193024" y="5230368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STGパイプライン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デプロイ自動化</a:t>
            </a:r>
            <a:endParaRPr lang="en-US" sz="680" dirty="0"/>
          </a:p>
        </p:txBody>
      </p:sp>
      <p:sp>
        <p:nvSpPr>
          <p:cNvPr id="54" name="Shape 49"/>
          <p:cNvSpPr/>
          <p:nvPr/>
        </p:nvSpPr>
        <p:spPr>
          <a:xfrm>
            <a:off x="8138160" y="5605272"/>
            <a:ext cx="1581912" cy="502920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193024" y="5641848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改修指示書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8193024" y="5824728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KSM-AWS-018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対応承認待ち</a:t>
            </a:r>
            <a:endParaRPr lang="en-US" sz="680" dirty="0"/>
          </a:p>
        </p:txBody>
      </p:sp>
      <p:sp>
        <p:nvSpPr>
          <p:cNvPr id="57" name="Shape 52"/>
          <p:cNvSpPr/>
          <p:nvPr/>
        </p:nvSpPr>
        <p:spPr>
          <a:xfrm>
            <a:off x="1920240" y="1417320"/>
            <a:ext cx="6053328" cy="4937760"/>
          </a:xfrm>
          <a:prstGeom prst="rect">
            <a:avLst/>
          </a:prstGeom>
          <a:solidFill>
            <a:srgbClr val="EBF5FF"/>
          </a:solidFill>
          <a:ln w="19050">
            <a:solidFill>
              <a:srgbClr val="4488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3"/>
          <p:cNvSpPr/>
          <p:nvPr/>
        </p:nvSpPr>
        <p:spPr>
          <a:xfrm>
            <a:off x="1920240" y="1417320"/>
            <a:ext cx="6053328" cy="201168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59" name="Text 54"/>
          <p:cNvSpPr/>
          <p:nvPr/>
        </p:nvSpPr>
        <p:spPr>
          <a:xfrm>
            <a:off x="1993392" y="1444752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STG  (750735758916)  ─  VPC: 10.239.0.0/16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2011680" y="1691640"/>
            <a:ext cx="5870448" cy="18288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61" name="Text 56"/>
          <p:cNvSpPr/>
          <p:nvPr/>
        </p:nvSpPr>
        <p:spPr>
          <a:xfrm>
            <a:off x="2011680" y="1691640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インターネット層  ⚠ セキュリティ問題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2011680" y="1920240"/>
            <a:ext cx="5870448" cy="731520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2066544" y="1956816"/>
            <a:ext cx="5760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 (internet-facing)  ← ⚠ 改修要</a:t>
            </a:r>
            <a:endParaRPr lang="en-US" sz="750" dirty="0"/>
          </a:p>
        </p:txBody>
      </p:sp>
      <p:sp>
        <p:nvSpPr>
          <p:cNvPr id="64" name="Text 59"/>
          <p:cNvSpPr/>
          <p:nvPr/>
        </p:nvSpPr>
        <p:spPr>
          <a:xfrm>
            <a:off x="2066544" y="213969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stg.ignicapos.com  |  443/HTTPS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ALB SG: sg-0effaabe6a665297b  全開放 (全トラフィック / 0.0.0.0/0)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改修: internal化 + 全開放ルール削除</a:t>
            </a:r>
            <a:endParaRPr lang="en-US" sz="680" dirty="0"/>
          </a:p>
        </p:txBody>
      </p:sp>
      <p:sp>
        <p:nvSpPr>
          <p:cNvPr id="65" name="Shape 60"/>
          <p:cNvSpPr/>
          <p:nvPr/>
        </p:nvSpPr>
        <p:spPr>
          <a:xfrm>
            <a:off x="2011680" y="2706624"/>
            <a:ext cx="5870448" cy="182880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66" name="Text 61"/>
          <p:cNvSpPr/>
          <p:nvPr/>
        </p:nvSpPr>
        <p:spPr>
          <a:xfrm>
            <a:off x="2011680" y="2706624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/ アプリケーション</a:t>
            </a:r>
            <a:endParaRPr lang="en-US" sz="750" dirty="0"/>
          </a:p>
        </p:txBody>
      </p:sp>
      <p:sp>
        <p:nvSpPr>
          <p:cNvPr id="67" name="Shape 62"/>
          <p:cNvSpPr/>
          <p:nvPr/>
        </p:nvSpPr>
        <p:spPr>
          <a:xfrm>
            <a:off x="2011680" y="2935224"/>
            <a:ext cx="5870448" cy="658368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2066544" y="2971800"/>
            <a:ext cx="5760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STG Web  (web-fe + web-be)  ← ⚠ 改修要</a:t>
            </a:r>
            <a:endParaRPr lang="en-US" sz="750" dirty="0"/>
          </a:p>
        </p:txBody>
      </p:sp>
      <p:sp>
        <p:nvSpPr>
          <p:cNvPr id="69" name="Text 64"/>
          <p:cNvSpPr/>
          <p:nvPr/>
        </p:nvSpPr>
        <p:spPr>
          <a:xfrm>
            <a:off x="2066544" y="3154680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Private IP: 10.239.2.4  |  AZ: ap-northeast-1a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web-be SG: TCP 8080 / 0.0.0.0/0 全開放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改修: ALB SGからのみ許可に制限</a:t>
            </a:r>
            <a:endParaRPr lang="en-US" sz="680" dirty="0"/>
          </a:p>
        </p:txBody>
      </p:sp>
      <p:sp>
        <p:nvSpPr>
          <p:cNvPr id="70" name="Shape 65"/>
          <p:cNvSpPr/>
          <p:nvPr/>
        </p:nvSpPr>
        <p:spPr>
          <a:xfrm>
            <a:off x="2011680" y="3648456"/>
            <a:ext cx="5870448" cy="182880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71" name="Text 66"/>
          <p:cNvSpPr/>
          <p:nvPr/>
        </p:nvSpPr>
        <p:spPr>
          <a:xfrm>
            <a:off x="2011680" y="3648456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データベース / サーバーレス</a:t>
            </a:r>
            <a:endParaRPr lang="en-US" sz="750" dirty="0"/>
          </a:p>
        </p:txBody>
      </p:sp>
      <p:sp>
        <p:nvSpPr>
          <p:cNvPr id="72" name="Shape 67"/>
          <p:cNvSpPr/>
          <p:nvPr/>
        </p:nvSpPr>
        <p:spPr>
          <a:xfrm>
            <a:off x="2011680" y="3877056"/>
            <a:ext cx="288950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2066544" y="3913632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 8.0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2066544" y="409651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db.r5.2xlarge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STG専用インスタンス</a:t>
            </a:r>
            <a:endParaRPr lang="en-US" sz="680" dirty="0"/>
          </a:p>
        </p:txBody>
      </p:sp>
      <p:sp>
        <p:nvSpPr>
          <p:cNvPr id="75" name="Shape 70"/>
          <p:cNvSpPr/>
          <p:nvPr/>
        </p:nvSpPr>
        <p:spPr>
          <a:xfrm>
            <a:off x="4992624" y="3877056"/>
            <a:ext cx="288950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5047488" y="3913632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</a:t>
            </a:r>
            <a:endParaRPr lang="en-US" sz="750" dirty="0"/>
          </a:p>
        </p:txBody>
      </p:sp>
      <p:sp>
        <p:nvSpPr>
          <p:cNvPr id="77" name="Text 72"/>
          <p:cNvSpPr/>
          <p:nvPr/>
        </p:nvSpPr>
        <p:spPr>
          <a:xfrm>
            <a:off x="5047488" y="409651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OC/SG/SH系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(PRDと同様の構成)</a:t>
            </a:r>
            <a:endParaRPr lang="en-US" sz="680" dirty="0"/>
          </a:p>
        </p:txBody>
      </p:sp>
      <p:sp>
        <p:nvSpPr>
          <p:cNvPr id="78" name="Shape 73"/>
          <p:cNvSpPr/>
          <p:nvPr/>
        </p:nvSpPr>
        <p:spPr>
          <a:xfrm>
            <a:off x="2011680" y="4480560"/>
            <a:ext cx="5870448" cy="18288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9" name="Text 74"/>
          <p:cNvSpPr/>
          <p:nvPr/>
        </p:nvSpPr>
        <p:spPr>
          <a:xfrm>
            <a:off x="2011680" y="4480560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セキュリティ問題 まとめ</a:t>
            </a:r>
            <a:endParaRPr lang="en-US" sz="750" dirty="0"/>
          </a:p>
        </p:txBody>
      </p:sp>
      <p:sp>
        <p:nvSpPr>
          <p:cNvPr id="80" name="Shape 75"/>
          <p:cNvSpPr/>
          <p:nvPr/>
        </p:nvSpPr>
        <p:spPr>
          <a:xfrm>
            <a:off x="2011680" y="4709160"/>
            <a:ext cx="2889504" cy="548640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2066544" y="4745736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ALB SG 全開放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web-be SG 全開放</a:t>
            </a:r>
            <a:endParaRPr lang="en-US" sz="750" dirty="0"/>
          </a:p>
        </p:txBody>
      </p:sp>
      <p:sp>
        <p:nvSpPr>
          <p:cNvPr id="82" name="Text 77"/>
          <p:cNvSpPr/>
          <p:nvPr/>
        </p:nvSpPr>
        <p:spPr>
          <a:xfrm>
            <a:off x="2066544" y="49286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ksm-posstg-vpc-sg-alb-web-be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TCP 8080 / 0.0.0.0/0</a:t>
            </a:r>
            <a:endParaRPr lang="en-US" sz="680" dirty="0"/>
          </a:p>
        </p:txBody>
      </p:sp>
      <p:sp>
        <p:nvSpPr>
          <p:cNvPr id="83" name="Shape 78"/>
          <p:cNvSpPr/>
          <p:nvPr/>
        </p:nvSpPr>
        <p:spPr>
          <a:xfrm>
            <a:off x="4992624" y="4709160"/>
            <a:ext cx="2889504" cy="548640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5047488" y="4745736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IPSec VPN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PRD侵入リスク</a:t>
            </a:r>
            <a:endParaRPr lang="en-US" sz="750" dirty="0"/>
          </a:p>
        </p:txBody>
      </p:sp>
      <p:sp>
        <p:nvSpPr>
          <p:cNvPr id="85" name="Text 80"/>
          <p:cNvSpPr/>
          <p:nvPr/>
        </p:nvSpPr>
        <p:spPr>
          <a:xfrm>
            <a:off x="5047488" y="49286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STG侵害→PRDへ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ラテラルムーブメント</a:t>
            </a:r>
            <a:endParaRPr lang="en-US" sz="680" dirty="0"/>
          </a:p>
        </p:txBody>
      </p:sp>
      <p:sp>
        <p:nvSpPr>
          <p:cNvPr id="86" name="Shape 81"/>
          <p:cNvSpPr/>
          <p:nvPr/>
        </p:nvSpPr>
        <p:spPr>
          <a:xfrm>
            <a:off x="2011680" y="5312664"/>
            <a:ext cx="5870448" cy="182880"/>
          </a:xfrm>
          <a:prstGeom prst="rect">
            <a:avLst/>
          </a:prstGeom>
          <a:solidFill>
            <a:srgbClr val="6644AA"/>
          </a:solidFill>
          <a:ln/>
        </p:spPr>
      </p:sp>
      <p:sp>
        <p:nvSpPr>
          <p:cNvPr id="87" name="Text 82"/>
          <p:cNvSpPr/>
          <p:nvPr/>
        </p:nvSpPr>
        <p:spPr>
          <a:xfrm>
            <a:off x="2011680" y="5312664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VPN接続 / アクセス経路</a:t>
            </a:r>
            <a:endParaRPr lang="en-US" sz="750" dirty="0"/>
          </a:p>
        </p:txBody>
      </p:sp>
      <p:sp>
        <p:nvSpPr>
          <p:cNvPr id="88" name="Shape 83"/>
          <p:cNvSpPr/>
          <p:nvPr/>
        </p:nvSpPr>
        <p:spPr>
          <a:xfrm>
            <a:off x="2011680" y="5541264"/>
            <a:ext cx="288950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2066544" y="5577840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Client VPN</a:t>
            </a:r>
            <a:endParaRPr lang="en-US" sz="750" dirty="0"/>
          </a:p>
        </p:txBody>
      </p:sp>
      <p:sp>
        <p:nvSpPr>
          <p:cNvPr id="90" name="Text 85"/>
          <p:cNvSpPr/>
          <p:nvPr/>
        </p:nvSpPr>
        <p:spPr>
          <a:xfrm>
            <a:off x="2066544" y="576072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OpenVPN UDP1194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→ STG VPC</a:t>
            </a:r>
            <a:endParaRPr lang="en-US" sz="680" dirty="0"/>
          </a:p>
        </p:txBody>
      </p:sp>
      <p:sp>
        <p:nvSpPr>
          <p:cNvPr id="91" name="Shape 86"/>
          <p:cNvSpPr/>
          <p:nvPr/>
        </p:nvSpPr>
        <p:spPr>
          <a:xfrm>
            <a:off x="4992624" y="5541264"/>
            <a:ext cx="2889504" cy="548640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92" name="Text 87"/>
          <p:cNvSpPr/>
          <p:nvPr/>
        </p:nvSpPr>
        <p:spPr>
          <a:xfrm>
            <a:off x="5047488" y="5577840"/>
            <a:ext cx="2779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JWTトークン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17年(無期限)</a:t>
            </a:r>
            <a:endParaRPr lang="en-US" sz="750" dirty="0"/>
          </a:p>
        </p:txBody>
      </p:sp>
      <p:sp>
        <p:nvSpPr>
          <p:cNvPr id="93" name="Text 88"/>
          <p:cNvSpPr/>
          <p:nvPr/>
        </p:nvSpPr>
        <p:spPr>
          <a:xfrm>
            <a:off x="5047488" y="576072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有効期限問題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24h以内に変更要</a:t>
            </a:r>
            <a:endParaRPr lang="en-US" sz="680" dirty="0"/>
          </a:p>
        </p:txBody>
      </p:sp>
      <p:sp>
        <p:nvSpPr>
          <p:cNvPr id="94" name="Shape 89"/>
          <p:cNvSpPr/>
          <p:nvPr/>
        </p:nvSpPr>
        <p:spPr>
          <a:xfrm>
            <a:off x="1828800" y="2011680"/>
            <a:ext cx="91440" cy="27432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95" name="Text 90"/>
          <p:cNvSpPr/>
          <p:nvPr/>
        </p:nvSpPr>
        <p:spPr>
          <a:xfrm>
            <a:off x="1600200" y="2048256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550" dirty="0"/>
          </a:p>
        </p:txBody>
      </p:sp>
      <p:sp>
        <p:nvSpPr>
          <p:cNvPr id="96" name="Shape 91"/>
          <p:cNvSpPr/>
          <p:nvPr/>
        </p:nvSpPr>
        <p:spPr>
          <a:xfrm>
            <a:off x="1828800" y="2697480"/>
            <a:ext cx="91440" cy="-411480"/>
          </a:xfrm>
          <a:prstGeom prst="line">
            <a:avLst/>
          </a:prstGeom>
          <a:noFill/>
          <a:ln w="19050">
            <a:solidFill>
              <a:srgbClr val="E53935"/>
            </a:solidFill>
            <a:prstDash val="solid"/>
            <a:tailEnd type="arrow"/>
          </a:ln>
        </p:spPr>
      </p:sp>
      <p:sp>
        <p:nvSpPr>
          <p:cNvPr id="97" name="Text 92"/>
          <p:cNvSpPr/>
          <p:nvPr/>
        </p:nvSpPr>
        <p:spPr>
          <a:xfrm>
            <a:off x="1600200" y="2391156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539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API</a:t>
            </a:r>
            <a:endParaRPr lang="en-US" sz="550" dirty="0"/>
          </a:p>
        </p:txBody>
      </p:sp>
      <p:sp>
        <p:nvSpPr>
          <p:cNvPr id="98" name="Shape 93"/>
          <p:cNvSpPr/>
          <p:nvPr/>
        </p:nvSpPr>
        <p:spPr>
          <a:xfrm>
            <a:off x="1828800" y="3493008"/>
            <a:ext cx="91440" cy="667512"/>
          </a:xfrm>
          <a:prstGeom prst="line">
            <a:avLst/>
          </a:prstGeom>
          <a:noFill/>
          <a:ln w="19050">
            <a:solidFill>
              <a:srgbClr val="CC8844"/>
            </a:solidFill>
            <a:prstDash val="solid"/>
            <a:tailEnd type="arrow"/>
          </a:ln>
        </p:spPr>
      </p:sp>
      <p:sp>
        <p:nvSpPr>
          <p:cNvPr id="99" name="Text 94"/>
          <p:cNvSpPr/>
          <p:nvPr/>
        </p:nvSpPr>
        <p:spPr>
          <a:xfrm>
            <a:off x="1600200" y="3726180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OC/SG/SH</a:t>
            </a:r>
            <a:endParaRPr lang="en-US" sz="550" dirty="0"/>
          </a:p>
        </p:txBody>
      </p:sp>
      <p:sp>
        <p:nvSpPr>
          <p:cNvPr id="100" name="Shape 95"/>
          <p:cNvSpPr/>
          <p:nvPr/>
        </p:nvSpPr>
        <p:spPr>
          <a:xfrm>
            <a:off x="1828800" y="4325112"/>
            <a:ext cx="91440" cy="502920"/>
          </a:xfrm>
          <a:prstGeom prst="line">
            <a:avLst/>
          </a:prstGeom>
          <a:noFill/>
          <a:ln w="19050">
            <a:solidFill>
              <a:srgbClr val="E53935"/>
            </a:solidFill>
            <a:prstDash val="solid"/>
            <a:tailEnd type="arrow"/>
          </a:ln>
        </p:spPr>
      </p:sp>
      <p:sp>
        <p:nvSpPr>
          <p:cNvPr id="101" name="Text 96"/>
          <p:cNvSpPr/>
          <p:nvPr/>
        </p:nvSpPr>
        <p:spPr>
          <a:xfrm>
            <a:off x="1600200" y="4475988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539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IPSec</a:t>
            </a:r>
            <a:endParaRPr lang="en-US" sz="550" dirty="0"/>
          </a:p>
        </p:txBody>
      </p:sp>
      <p:sp>
        <p:nvSpPr>
          <p:cNvPr id="102" name="Shape 97"/>
          <p:cNvSpPr/>
          <p:nvPr/>
        </p:nvSpPr>
        <p:spPr>
          <a:xfrm>
            <a:off x="8065008" y="2039112"/>
            <a:ext cx="-91440" cy="1261872"/>
          </a:xfrm>
          <a:prstGeom prst="line">
            <a:avLst/>
          </a:prstGeom>
          <a:noFill/>
          <a:ln w="19050">
            <a:solidFill>
              <a:srgbClr val="6644AA"/>
            </a:solidFill>
            <a:prstDash val="solid"/>
            <a:tailEnd type="arrow"/>
          </a:ln>
        </p:spPr>
      </p:sp>
      <p:sp>
        <p:nvSpPr>
          <p:cNvPr id="103" name="Text 98"/>
          <p:cNvSpPr/>
          <p:nvPr/>
        </p:nvSpPr>
        <p:spPr>
          <a:xfrm>
            <a:off x="7744968" y="2569464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550" dirty="0"/>
          </a:p>
        </p:txBody>
      </p:sp>
      <p:sp>
        <p:nvSpPr>
          <p:cNvPr id="104" name="Shape 99"/>
          <p:cNvSpPr/>
          <p:nvPr/>
        </p:nvSpPr>
        <p:spPr>
          <a:xfrm>
            <a:off x="8065008" y="2743200"/>
            <a:ext cx="-91440" cy="3072384"/>
          </a:xfrm>
          <a:prstGeom prst="line">
            <a:avLst/>
          </a:prstGeom>
          <a:noFill/>
          <a:ln w="19050">
            <a:solidFill>
              <a:srgbClr val="6644AA"/>
            </a:solidFill>
            <a:prstDash val="solid"/>
            <a:tailEnd type="arrow"/>
          </a:ln>
        </p:spPr>
      </p:sp>
      <p:sp>
        <p:nvSpPr>
          <p:cNvPr id="105" name="Text 100"/>
          <p:cNvSpPr/>
          <p:nvPr/>
        </p:nvSpPr>
        <p:spPr>
          <a:xfrm>
            <a:off x="7744968" y="4178808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498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開発環境（DEV）詳細構成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493776" y="1188720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AWSアカウント: 891376952870  |  posspk-vpc: 10.226.51.0/24 (チャージ本番)  |  pos-dev-vpc: 10.226.50.0/24 (GIFT/棚札開発)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82880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Kasumi POS  |  開発環境 (DEV) 詳細構成  |  CONFIDENTIAL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109728" y="1417320"/>
            <a:ext cx="1719072" cy="4937760"/>
          </a:xfrm>
          <a:prstGeom prst="rect">
            <a:avLst/>
          </a:prstGeom>
          <a:solidFill>
            <a:srgbClr val="FFF0F0"/>
          </a:solidFill>
          <a:ln w="19050">
            <a:solidFill>
              <a:srgbClr val="D023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09728" y="1417320"/>
            <a:ext cx="1719072" cy="201168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4" name="Text 9"/>
          <p:cNvSpPr/>
          <p:nvPr/>
        </p:nvSpPr>
        <p:spPr>
          <a:xfrm>
            <a:off x="182880" y="144475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外部アクセス / USMH閉域網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182880" y="1691640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37744" y="172821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マルエツ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チャージ端末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237744" y="19110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 443/8443</a:t>
            </a:r>
            <a:endParaRPr lang="en-US" sz="680" dirty="0"/>
          </a:p>
        </p:txBody>
      </p:sp>
      <p:sp>
        <p:nvSpPr>
          <p:cNvPr id="18" name="Shape 13"/>
          <p:cNvSpPr/>
          <p:nvPr/>
        </p:nvSpPr>
        <p:spPr>
          <a:xfrm>
            <a:off x="182880" y="2496312"/>
            <a:ext cx="15727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37744" y="253288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チャージ端末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237744" y="27157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company_code=100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</a:t>
            </a:r>
            <a:endParaRPr lang="en-US" sz="680" dirty="0"/>
          </a:p>
        </p:txBody>
      </p:sp>
      <p:sp>
        <p:nvSpPr>
          <p:cNvPr id="21" name="Shape 16"/>
          <p:cNvSpPr/>
          <p:nvPr/>
        </p:nvSpPr>
        <p:spPr>
          <a:xfrm>
            <a:off x="182880" y="3182112"/>
            <a:ext cx="15727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37744" y="321868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イナゲヤ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チャージ端末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237744" y="34015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company_code=300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</a:t>
            </a:r>
            <a:endParaRPr lang="en-US" sz="680" dirty="0"/>
          </a:p>
        </p:txBody>
      </p:sp>
      <p:sp>
        <p:nvSpPr>
          <p:cNvPr id="24" name="Shape 19"/>
          <p:cNvSpPr/>
          <p:nvPr/>
        </p:nvSpPr>
        <p:spPr>
          <a:xfrm>
            <a:off x="182880" y="3867912"/>
            <a:ext cx="15727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37744" y="390448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237744" y="40873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pos-dev-vpc向け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GIFT/棚札系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外部連携</a:t>
            </a:r>
            <a:endParaRPr lang="en-US" sz="680" dirty="0"/>
          </a:p>
        </p:txBody>
      </p:sp>
      <p:sp>
        <p:nvSpPr>
          <p:cNvPr id="27" name="Shape 22"/>
          <p:cNvSpPr/>
          <p:nvPr/>
        </p:nvSpPr>
        <p:spPr>
          <a:xfrm>
            <a:off x="182880" y="4645152"/>
            <a:ext cx="15727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37744" y="468172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VPC分離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（アクセス不可）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237744" y="486460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posspk↔pos-dev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完全分離</a:t>
            </a:r>
            <a:endParaRPr lang="en-US" sz="680" dirty="0"/>
          </a:p>
        </p:txBody>
      </p:sp>
      <p:sp>
        <p:nvSpPr>
          <p:cNvPr id="30" name="Shape 25"/>
          <p:cNvSpPr/>
          <p:nvPr/>
        </p:nvSpPr>
        <p:spPr>
          <a:xfrm>
            <a:off x="182880" y="5330952"/>
            <a:ext cx="15727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7744" y="536752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AFSオーソリ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A6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(将来予定)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237744" y="555040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ギフトカード認証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STG相当環境</a:t>
            </a:r>
            <a:endParaRPr lang="en-US" sz="680" dirty="0"/>
          </a:p>
        </p:txBody>
      </p:sp>
      <p:sp>
        <p:nvSpPr>
          <p:cNvPr id="33" name="Shape 28"/>
          <p:cNvSpPr/>
          <p:nvPr/>
        </p:nvSpPr>
        <p:spPr>
          <a:xfrm>
            <a:off x="8065008" y="1417320"/>
            <a:ext cx="1728216" cy="4937760"/>
          </a:xfrm>
          <a:prstGeom prst="rect">
            <a:avLst/>
          </a:prstGeom>
          <a:solidFill>
            <a:srgbClr val="F5F0FF"/>
          </a:solidFill>
          <a:ln w="19050">
            <a:solidFill>
              <a:srgbClr val="8866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065008" y="1417320"/>
            <a:ext cx="1728216" cy="201168"/>
          </a:xfrm>
          <a:prstGeom prst="rect">
            <a:avLst/>
          </a:prstGeom>
          <a:solidFill>
            <a:srgbClr val="6644AA"/>
          </a:solidFill>
          <a:ln/>
        </p:spPr>
      </p:sp>
      <p:sp>
        <p:nvSpPr>
          <p:cNvPr id="35" name="Text 30"/>
          <p:cNvSpPr/>
          <p:nvPr/>
        </p:nvSpPr>
        <p:spPr>
          <a:xfrm>
            <a:off x="8138160" y="144475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/ 開発チーム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8138160" y="1691640"/>
            <a:ext cx="158191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193024" y="172821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オフィス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8193024" y="1911096"/>
            <a:ext cx="14721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Site-to-Site VPN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BGP ASN=65000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TP-Link ER605</a:t>
            </a:r>
            <a:endParaRPr lang="en-US" sz="680" dirty="0"/>
          </a:p>
        </p:txBody>
      </p:sp>
      <p:sp>
        <p:nvSpPr>
          <p:cNvPr id="39" name="Shape 34"/>
          <p:cNvSpPr/>
          <p:nvPr/>
        </p:nvSpPr>
        <p:spPr>
          <a:xfrm>
            <a:off x="8138160" y="2468880"/>
            <a:ext cx="15819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193024" y="250545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個人PC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8193024" y="268833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Client VPN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OpenVPN UDP1194</a:t>
            </a:r>
            <a:endParaRPr lang="en-US" sz="680" dirty="0"/>
          </a:p>
        </p:txBody>
      </p:sp>
      <p:sp>
        <p:nvSpPr>
          <p:cNvPr id="42" name="Shape 37"/>
          <p:cNvSpPr/>
          <p:nvPr/>
        </p:nvSpPr>
        <p:spPr>
          <a:xfrm>
            <a:off x="8138160" y="3108960"/>
            <a:ext cx="15819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193024" y="314553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Bastion接続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8193024" y="33284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pos-bastion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54.250.119.69</a:t>
            </a:r>
            <a:endParaRPr lang="en-US" sz="680" dirty="0"/>
          </a:p>
        </p:txBody>
      </p:sp>
      <p:sp>
        <p:nvSpPr>
          <p:cNvPr id="45" name="Shape 40"/>
          <p:cNvSpPr/>
          <p:nvPr/>
        </p:nvSpPr>
        <p:spPr>
          <a:xfrm>
            <a:off x="8138160" y="3749040"/>
            <a:ext cx="158191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193024" y="378561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GitLab Runner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8193024" y="3968496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pos-runner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10.226.51.115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CI/CD Pipeline</a:t>
            </a:r>
            <a:endParaRPr lang="en-US" sz="680" dirty="0"/>
          </a:p>
        </p:txBody>
      </p:sp>
      <p:sp>
        <p:nvSpPr>
          <p:cNvPr id="48" name="Shape 43"/>
          <p:cNvSpPr/>
          <p:nvPr/>
        </p:nvSpPr>
        <p:spPr>
          <a:xfrm>
            <a:off x="8138160" y="4480560"/>
            <a:ext cx="1581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193024" y="451713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CloudShell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8193024" y="4700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891376952870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調査・運用</a:t>
            </a:r>
            <a:endParaRPr lang="en-US" sz="680" dirty="0"/>
          </a:p>
        </p:txBody>
      </p:sp>
      <p:sp>
        <p:nvSpPr>
          <p:cNvPr id="51" name="Shape 46"/>
          <p:cNvSpPr/>
          <p:nvPr/>
        </p:nvSpPr>
        <p:spPr>
          <a:xfrm>
            <a:off x="8138160" y="5074920"/>
            <a:ext cx="1581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193024" y="511149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8193024" y="529437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kasumi_pos-server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ドキュメント管理</a:t>
            </a:r>
            <a:endParaRPr lang="en-US" sz="680" dirty="0"/>
          </a:p>
        </p:txBody>
      </p:sp>
      <p:sp>
        <p:nvSpPr>
          <p:cNvPr id="54" name="Shape 49"/>
          <p:cNvSpPr/>
          <p:nvPr/>
        </p:nvSpPr>
        <p:spPr>
          <a:xfrm>
            <a:off x="8138160" y="5669280"/>
            <a:ext cx="1581912" cy="502920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193024" y="5705856"/>
            <a:ext cx="1472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改修指示書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8193024" y="588873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SG全開放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対応承認待ち</a:t>
            </a:r>
            <a:endParaRPr lang="en-US" sz="680" dirty="0"/>
          </a:p>
        </p:txBody>
      </p:sp>
      <p:sp>
        <p:nvSpPr>
          <p:cNvPr id="57" name="Shape 52"/>
          <p:cNvSpPr/>
          <p:nvPr/>
        </p:nvSpPr>
        <p:spPr>
          <a:xfrm>
            <a:off x="1920240" y="1417320"/>
            <a:ext cx="6053328" cy="4937760"/>
          </a:xfrm>
          <a:prstGeom prst="rect">
            <a:avLst/>
          </a:prstGeom>
          <a:solidFill>
            <a:srgbClr val="FFF5EB"/>
          </a:solidFill>
          <a:ln w="19050">
            <a:solidFill>
              <a:srgbClr val="E8A0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3"/>
          <p:cNvSpPr/>
          <p:nvPr/>
        </p:nvSpPr>
        <p:spPr>
          <a:xfrm>
            <a:off x="1920240" y="1417320"/>
            <a:ext cx="6053328" cy="201168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59" name="Text 54"/>
          <p:cNvSpPr/>
          <p:nvPr/>
        </p:nvSpPr>
        <p:spPr>
          <a:xfrm>
            <a:off x="1993392" y="1444752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DEV  (891376952870)  ─  2 VPC構成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1993392" y="1673352"/>
            <a:ext cx="5907024" cy="3063240"/>
          </a:xfrm>
          <a:prstGeom prst="rect">
            <a:avLst/>
          </a:prstGeom>
          <a:solidFill>
            <a:srgbClr val="FFFDE7"/>
          </a:solidFill>
          <a:ln w="19050">
            <a:solidFill>
              <a:srgbClr val="E8A040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993392" y="1673352"/>
            <a:ext cx="5907024" cy="201168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62" name="Text 57"/>
          <p:cNvSpPr/>
          <p:nvPr/>
        </p:nvSpPr>
        <p:spPr>
          <a:xfrm>
            <a:off x="2011680" y="1691640"/>
            <a:ext cx="5870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posspk-vpc  10.226.51.0/24  ─  マルエツチャージ 本番環境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2048256" y="1929384"/>
            <a:ext cx="5797296" cy="182880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64" name="Text 59"/>
          <p:cNvSpPr/>
          <p:nvPr/>
        </p:nvSpPr>
        <p:spPr>
          <a:xfrm>
            <a:off x="2048256" y="1929384"/>
            <a:ext cx="5797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インターネット層</a:t>
            </a:r>
            <a:endParaRPr lang="en-US" sz="750" dirty="0"/>
          </a:p>
        </p:txBody>
      </p:sp>
      <p:sp>
        <p:nvSpPr>
          <p:cNvPr id="65" name="Shape 60"/>
          <p:cNvSpPr/>
          <p:nvPr/>
        </p:nvSpPr>
        <p:spPr>
          <a:xfrm>
            <a:off x="2048256" y="2157984"/>
            <a:ext cx="5797296" cy="594360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2103120" y="2194560"/>
            <a:ext cx="5687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 ksm-posspk-alb-api-be  (internet-facing)</a:t>
            </a:r>
            <a:endParaRPr lang="en-US" sz="750" dirty="0"/>
          </a:p>
        </p:txBody>
      </p:sp>
      <p:sp>
        <p:nvSpPr>
          <p:cNvPr id="67" name="Text 62"/>
          <p:cNvSpPr/>
          <p:nvPr/>
        </p:nvSpPr>
        <p:spPr>
          <a:xfrm>
            <a:off x="2103120" y="2377440"/>
            <a:ext cx="5687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Port: 443/8443  |  マルエツチャージ端末 → HTTPS → ALB → ECSタスク:8080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ALB SG: 全開放状態  |  ECSタスク (10.226.51.86:8080) へフォワード</a:t>
            </a:r>
            <a:endParaRPr lang="en-US" sz="680" dirty="0"/>
          </a:p>
        </p:txBody>
      </p:sp>
      <p:sp>
        <p:nvSpPr>
          <p:cNvPr id="68" name="Shape 63"/>
          <p:cNvSpPr/>
          <p:nvPr/>
        </p:nvSpPr>
        <p:spPr>
          <a:xfrm>
            <a:off x="2048256" y="2807208"/>
            <a:ext cx="5797296" cy="182880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69" name="Text 64"/>
          <p:cNvSpPr/>
          <p:nvPr/>
        </p:nvSpPr>
        <p:spPr>
          <a:xfrm>
            <a:off x="2048256" y="2807208"/>
            <a:ext cx="5797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コンピューティング / DB</a:t>
            </a:r>
            <a:endParaRPr lang="en-US" sz="750" dirty="0"/>
          </a:p>
        </p:txBody>
      </p:sp>
      <p:sp>
        <p:nvSpPr>
          <p:cNvPr id="70" name="Shape 65"/>
          <p:cNvSpPr/>
          <p:nvPr/>
        </p:nvSpPr>
        <p:spPr>
          <a:xfrm>
            <a:off x="2048256" y="3035808"/>
            <a:ext cx="285292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C080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2103120" y="3072384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チャージAPI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(healthy ✅)</a:t>
            </a:r>
            <a:endParaRPr lang="en-US" sz="750" dirty="0"/>
          </a:p>
        </p:txBody>
      </p:sp>
      <p:sp>
        <p:nvSpPr>
          <p:cNvPr id="72" name="Text 67"/>
          <p:cNvSpPr/>
          <p:nvPr/>
        </p:nvSpPr>
        <p:spPr>
          <a:xfrm>
            <a:off x="2103120" y="3255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Task: 10.226.51.86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Port: 8080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ksm-posspk-task-web-be</a:t>
            </a:r>
            <a:endParaRPr lang="en-US" sz="680" dirty="0"/>
          </a:p>
        </p:txBody>
      </p:sp>
      <p:sp>
        <p:nvSpPr>
          <p:cNvPr id="73" name="Shape 68"/>
          <p:cNvSpPr/>
          <p:nvPr/>
        </p:nvSpPr>
        <p:spPr>
          <a:xfrm>
            <a:off x="4992624" y="3035808"/>
            <a:ext cx="285292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C080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5047488" y="3072384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posspk-db-instance-1</a:t>
            </a:r>
            <a:endParaRPr lang="en-US" sz="750" dirty="0"/>
          </a:p>
        </p:txBody>
      </p:sp>
      <p:sp>
        <p:nvSpPr>
          <p:cNvPr id="75" name="Text 70"/>
          <p:cNvSpPr/>
          <p:nvPr/>
        </p:nvSpPr>
        <p:spPr>
          <a:xfrm>
            <a:off x="5047488" y="3255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db.r5.large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チャージ専用DB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KASUMI/MARUETSU/INAGEYA</a:t>
            </a:r>
            <a:endParaRPr lang="en-US" sz="680" dirty="0"/>
          </a:p>
        </p:txBody>
      </p:sp>
      <p:sp>
        <p:nvSpPr>
          <p:cNvPr id="76" name="Shape 71"/>
          <p:cNvSpPr/>
          <p:nvPr/>
        </p:nvSpPr>
        <p:spPr>
          <a:xfrm>
            <a:off x="2048256" y="3712464"/>
            <a:ext cx="5797296" cy="18288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7" name="Text 72"/>
          <p:cNvSpPr/>
          <p:nvPr/>
        </p:nvSpPr>
        <p:spPr>
          <a:xfrm>
            <a:off x="2048256" y="3712464"/>
            <a:ext cx="5797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SGセキュリティ問題 (改修指示書発行済み)</a:t>
            </a:r>
            <a:endParaRPr lang="en-US" sz="750" dirty="0"/>
          </a:p>
        </p:txBody>
      </p:sp>
      <p:sp>
        <p:nvSpPr>
          <p:cNvPr id="78" name="Shape 73"/>
          <p:cNvSpPr/>
          <p:nvPr/>
        </p:nvSpPr>
        <p:spPr>
          <a:xfrm>
            <a:off x="2048256" y="3941064"/>
            <a:ext cx="2852928" cy="658368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2103120" y="3977640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ec2-rds-1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web-be SG</a:t>
            </a:r>
            <a:endParaRPr lang="en-US" sz="750" dirty="0"/>
          </a:p>
        </p:txBody>
      </p:sp>
      <p:sp>
        <p:nvSpPr>
          <p:cNvPr id="80" name="Text 75"/>
          <p:cNvSpPr/>
          <p:nvPr/>
        </p:nvSpPr>
        <p:spPr>
          <a:xfrm>
            <a:off x="2103120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TCP 0-65535 全開放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TCP 8080 全開放</a:t>
            </a:r>
            <a:endParaRPr lang="en-US" sz="680" dirty="0"/>
          </a:p>
        </p:txBody>
      </p:sp>
      <p:sp>
        <p:nvSpPr>
          <p:cNvPr id="81" name="Shape 76"/>
          <p:cNvSpPr/>
          <p:nvPr/>
        </p:nvSpPr>
        <p:spPr>
          <a:xfrm>
            <a:off x="4992624" y="3941064"/>
            <a:ext cx="2852928" cy="658368"/>
          </a:xfrm>
          <a:prstGeom prst="rect">
            <a:avLst/>
          </a:prstGeom>
          <a:solidFill>
            <a:srgbClr val="FFF3F3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5047488" y="3977640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ALB SG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gitlab-runner SG</a:t>
            </a:r>
            <a:endParaRPr lang="en-US" sz="750" dirty="0"/>
          </a:p>
        </p:txBody>
      </p:sp>
      <p:sp>
        <p:nvSpPr>
          <p:cNvPr id="83" name="Text 78"/>
          <p:cNvSpPr/>
          <p:nvPr/>
        </p:nvSpPr>
        <p:spPr>
          <a:xfrm>
            <a:off x="5047488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全トラフィック 全開放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全トラフィック 全開放</a:t>
            </a:r>
            <a:endParaRPr lang="en-US" sz="680" dirty="0"/>
          </a:p>
        </p:txBody>
      </p:sp>
      <p:sp>
        <p:nvSpPr>
          <p:cNvPr id="84" name="Shape 79"/>
          <p:cNvSpPr/>
          <p:nvPr/>
        </p:nvSpPr>
        <p:spPr>
          <a:xfrm>
            <a:off x="1993392" y="4800600"/>
            <a:ext cx="5907024" cy="2029968"/>
          </a:xfrm>
          <a:prstGeom prst="rect">
            <a:avLst/>
          </a:prstGeom>
          <a:solidFill>
            <a:srgbClr val="EBF5FF"/>
          </a:solidFill>
          <a:ln w="19050">
            <a:solidFill>
              <a:srgbClr val="4488CC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1993392" y="4800600"/>
            <a:ext cx="5907024" cy="201168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86" name="Text 81"/>
          <p:cNvSpPr/>
          <p:nvPr/>
        </p:nvSpPr>
        <p:spPr>
          <a:xfrm>
            <a:off x="2011680" y="4818888"/>
            <a:ext cx="5870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pos-dev-vpc  10.226.50.0/24  ─  GIFT・棚札・イナゲヤ 開発環境</a:t>
            </a:r>
            <a:endParaRPr lang="en-US" sz="800" dirty="0"/>
          </a:p>
        </p:txBody>
      </p:sp>
      <p:sp>
        <p:nvSpPr>
          <p:cNvPr id="87" name="Shape 82"/>
          <p:cNvSpPr/>
          <p:nvPr/>
        </p:nvSpPr>
        <p:spPr>
          <a:xfrm>
            <a:off x="2048256" y="5056632"/>
            <a:ext cx="5797296" cy="182880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88" name="Text 83"/>
          <p:cNvSpPr/>
          <p:nvPr/>
        </p:nvSpPr>
        <p:spPr>
          <a:xfrm>
            <a:off x="2048256" y="5056632"/>
            <a:ext cx="5797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/ RDS / ALB</a:t>
            </a:r>
            <a:endParaRPr lang="en-US" sz="750" dirty="0"/>
          </a:p>
        </p:txBody>
      </p:sp>
      <p:sp>
        <p:nvSpPr>
          <p:cNvPr id="89" name="Shape 84"/>
          <p:cNvSpPr/>
          <p:nvPr/>
        </p:nvSpPr>
        <p:spPr>
          <a:xfrm>
            <a:off x="2048256" y="5285232"/>
            <a:ext cx="28529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2103120" y="5321808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EC2インスタンス群</a:t>
            </a:r>
            <a:endParaRPr lang="en-US" sz="750" dirty="0"/>
          </a:p>
        </p:txBody>
      </p:sp>
      <p:sp>
        <p:nvSpPr>
          <p:cNvPr id="91" name="Text 86"/>
          <p:cNvSpPr/>
          <p:nvPr/>
        </p:nvSpPr>
        <p:spPr>
          <a:xfrm>
            <a:off x="2103120" y="550468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pos-bastion:54.250.119.69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kafka:52.194.241.236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stg-pos / prod-pos-server</a:t>
            </a:r>
            <a:endParaRPr lang="en-US" sz="680" dirty="0"/>
          </a:p>
        </p:txBody>
      </p:sp>
      <p:sp>
        <p:nvSpPr>
          <p:cNvPr id="92" name="Shape 87"/>
          <p:cNvSpPr/>
          <p:nvPr/>
        </p:nvSpPr>
        <p:spPr>
          <a:xfrm>
            <a:off x="4992624" y="5285232"/>
            <a:ext cx="28529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5047488" y="5321808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(Serverless)</a:t>
            </a:r>
            <a:endParaRPr lang="en-US" sz="750" dirty="0"/>
          </a:p>
        </p:txBody>
      </p:sp>
      <p:sp>
        <p:nvSpPr>
          <p:cNvPr id="94" name="Text 89"/>
          <p:cNvSpPr/>
          <p:nvPr/>
        </p:nvSpPr>
        <p:spPr>
          <a:xfrm>
            <a:off x="5047488" y="550468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pos-dev-db-instance-1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inageya-staging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pos-prod-instance-1</a:t>
            </a:r>
            <a:endParaRPr lang="en-US" sz="680" dirty="0"/>
          </a:p>
        </p:txBody>
      </p:sp>
      <p:sp>
        <p:nvSpPr>
          <p:cNvPr id="95" name="Shape 90"/>
          <p:cNvSpPr/>
          <p:nvPr/>
        </p:nvSpPr>
        <p:spPr>
          <a:xfrm>
            <a:off x="2048256" y="5934456"/>
            <a:ext cx="5797296" cy="182880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96" name="Text 91"/>
          <p:cNvSpPr/>
          <p:nvPr/>
        </p:nvSpPr>
        <p:spPr>
          <a:xfrm>
            <a:off x="2048256" y="5934456"/>
            <a:ext cx="5797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VPC分離（重要）: posspk ↔ pos-dev 接続なし  ─  ピアリング/TGW/VPN全て未設定</a:t>
            </a:r>
            <a:endParaRPr lang="en-US" sz="750" dirty="0"/>
          </a:p>
        </p:txBody>
      </p:sp>
      <p:sp>
        <p:nvSpPr>
          <p:cNvPr id="97" name="Shape 92"/>
          <p:cNvSpPr/>
          <p:nvPr/>
        </p:nvSpPr>
        <p:spPr>
          <a:xfrm>
            <a:off x="1828800" y="2039112"/>
            <a:ext cx="91440" cy="420624"/>
          </a:xfrm>
          <a:prstGeom prst="line">
            <a:avLst/>
          </a:prstGeom>
          <a:noFill/>
          <a:ln w="19050">
            <a:solidFill>
              <a:srgbClr val="E53935"/>
            </a:solidFill>
            <a:prstDash val="solid"/>
            <a:tailEnd type="arrow"/>
          </a:ln>
        </p:spPr>
      </p:sp>
      <p:sp>
        <p:nvSpPr>
          <p:cNvPr id="98" name="Text 93"/>
          <p:cNvSpPr/>
          <p:nvPr/>
        </p:nvSpPr>
        <p:spPr>
          <a:xfrm>
            <a:off x="1600200" y="2148840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539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550" dirty="0"/>
          </a:p>
        </p:txBody>
      </p:sp>
      <p:sp>
        <p:nvSpPr>
          <p:cNvPr id="99" name="Shape 94"/>
          <p:cNvSpPr/>
          <p:nvPr/>
        </p:nvSpPr>
        <p:spPr>
          <a:xfrm>
            <a:off x="1828800" y="2788920"/>
            <a:ext cx="91440" cy="-329184"/>
          </a:xfrm>
          <a:prstGeom prst="line">
            <a:avLst/>
          </a:prstGeom>
          <a:noFill/>
          <a:ln w="19050">
            <a:solidFill>
              <a:srgbClr val="E53935"/>
            </a:solidFill>
            <a:prstDash val="solid"/>
            <a:tailEnd type="arrow"/>
          </a:ln>
        </p:spPr>
      </p:sp>
      <p:sp>
        <p:nvSpPr>
          <p:cNvPr id="100" name="Text 95"/>
          <p:cNvSpPr/>
          <p:nvPr/>
        </p:nvSpPr>
        <p:spPr>
          <a:xfrm>
            <a:off x="1600200" y="2523744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539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550" dirty="0"/>
          </a:p>
        </p:txBody>
      </p:sp>
      <p:sp>
        <p:nvSpPr>
          <p:cNvPr id="101" name="Shape 96"/>
          <p:cNvSpPr/>
          <p:nvPr/>
        </p:nvSpPr>
        <p:spPr>
          <a:xfrm>
            <a:off x="1828800" y="3520440"/>
            <a:ext cx="91440" cy="-1060704"/>
          </a:xfrm>
          <a:prstGeom prst="line">
            <a:avLst/>
          </a:prstGeom>
          <a:noFill/>
          <a:ln w="19050">
            <a:solidFill>
              <a:srgbClr val="E53935"/>
            </a:solidFill>
            <a:prstDash val="solid"/>
            <a:tailEnd type="arrow"/>
          </a:ln>
        </p:spPr>
      </p:sp>
      <p:sp>
        <p:nvSpPr>
          <p:cNvPr id="102" name="Text 97"/>
          <p:cNvSpPr/>
          <p:nvPr/>
        </p:nvSpPr>
        <p:spPr>
          <a:xfrm>
            <a:off x="1600200" y="2889504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539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550" dirty="0"/>
          </a:p>
        </p:txBody>
      </p:sp>
      <p:sp>
        <p:nvSpPr>
          <p:cNvPr id="103" name="Shape 98"/>
          <p:cNvSpPr/>
          <p:nvPr/>
        </p:nvSpPr>
        <p:spPr>
          <a:xfrm>
            <a:off x="1828800" y="3977640"/>
            <a:ext cx="3118104" cy="1609344"/>
          </a:xfrm>
          <a:prstGeom prst="line">
            <a:avLst/>
          </a:prstGeom>
          <a:noFill/>
          <a:ln w="19050">
            <a:solidFill>
              <a:srgbClr val="CC8844"/>
            </a:solidFill>
            <a:prstDash val="solid"/>
            <a:tailEnd type="arrow"/>
          </a:ln>
        </p:spPr>
      </p:sp>
      <p:sp>
        <p:nvSpPr>
          <p:cNvPr id="104" name="Text 99"/>
          <p:cNvSpPr/>
          <p:nvPr/>
        </p:nvSpPr>
        <p:spPr>
          <a:xfrm>
            <a:off x="3113532" y="4681728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外部連携</a:t>
            </a:r>
            <a:endParaRPr lang="en-US" sz="550" dirty="0"/>
          </a:p>
        </p:txBody>
      </p:sp>
      <p:sp>
        <p:nvSpPr>
          <p:cNvPr id="105" name="Shape 100"/>
          <p:cNvSpPr/>
          <p:nvPr/>
        </p:nvSpPr>
        <p:spPr>
          <a:xfrm>
            <a:off x="8065008" y="2039112"/>
            <a:ext cx="-91440" cy="1307592"/>
          </a:xfrm>
          <a:prstGeom prst="line">
            <a:avLst/>
          </a:prstGeom>
          <a:noFill/>
          <a:ln w="19050">
            <a:solidFill>
              <a:srgbClr val="6644AA"/>
            </a:solidFill>
            <a:prstDash val="solid"/>
            <a:tailEnd type="arrow"/>
          </a:ln>
        </p:spPr>
      </p:sp>
      <p:sp>
        <p:nvSpPr>
          <p:cNvPr id="106" name="Text 101"/>
          <p:cNvSpPr/>
          <p:nvPr/>
        </p:nvSpPr>
        <p:spPr>
          <a:xfrm>
            <a:off x="7744968" y="2592324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550" dirty="0"/>
          </a:p>
        </p:txBody>
      </p:sp>
      <p:sp>
        <p:nvSpPr>
          <p:cNvPr id="107" name="Shape 102"/>
          <p:cNvSpPr/>
          <p:nvPr/>
        </p:nvSpPr>
        <p:spPr>
          <a:xfrm>
            <a:off x="8065008" y="4069080"/>
            <a:ext cx="-91440" cy="1517904"/>
          </a:xfrm>
          <a:prstGeom prst="line">
            <a:avLst/>
          </a:prstGeom>
          <a:noFill/>
          <a:ln w="19050">
            <a:solidFill>
              <a:srgbClr val="6644AA"/>
            </a:solidFill>
            <a:prstDash val="solid"/>
            <a:tailEnd type="arrow"/>
          </a:ln>
        </p:spPr>
      </p:sp>
      <p:sp>
        <p:nvSpPr>
          <p:cNvPr id="108" name="Text 103"/>
          <p:cNvSpPr/>
          <p:nvPr/>
        </p:nvSpPr>
        <p:spPr>
          <a:xfrm>
            <a:off x="7744968" y="4727448"/>
            <a:ext cx="594360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DC8998F-50B8-4537-9040-9594F82E01A4}"/>
</file>

<file path=customXml/itemProps2.xml><?xml version="1.0" encoding="utf-8"?>
<ds:datastoreItem xmlns:ds="http://schemas.openxmlformats.org/officeDocument/2006/customXml" ds:itemID="{4C99B9F2-79FC-40FC-9E18-6119E09265E5}"/>
</file>

<file path=customXml/itemProps3.xml><?xml version="1.0" encoding="utf-8"?>
<ds:datastoreItem xmlns:ds="http://schemas.openxmlformats.org/officeDocument/2006/customXml" ds:itemID="{8E00B5E5-F4B3-4D9A-BED3-B9A406A840B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ルビナソフトウェア株式会社</dc:creator>
  <cp:lastModifiedBy>ルビナソフトウェア株式会社</cp:lastModifiedBy>
  <cp:revision>1</cp:revision>
  <dcterms:created xsi:type="dcterms:W3CDTF">2026-03-12T17:05:52Z</dcterms:created>
  <dcterms:modified xsi:type="dcterms:W3CDTF">2026-03-12T17:05:52Z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</Properties>
</file>