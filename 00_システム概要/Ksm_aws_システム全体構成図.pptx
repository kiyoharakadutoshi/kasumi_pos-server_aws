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カスミPOS  システム全体構成図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 (PRD) / 検証 (STG) / 開発 (DEV)  |  外部アクセス・USMH閉域網・Luvinaチーム  |  ap-northeast-1 (東京)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AWS システム全体構成図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1783080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1783080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4" name="Text 9"/>
          <p:cNvSpPr/>
          <p:nvPr/>
        </p:nvSpPr>
        <p:spPr>
          <a:xfrm>
            <a:off x="182880" y="1435608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外部アクセス / USMH閉域網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201168" y="1691640"/>
            <a:ext cx="16002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56032" y="172821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750" dirty="0"/>
          </a:p>
        </p:txBody>
      </p:sp>
      <p:sp>
        <p:nvSpPr>
          <p:cNvPr id="17" name="Text 12"/>
          <p:cNvSpPr/>
          <p:nvPr/>
        </p:nvSpPr>
        <p:spPr>
          <a:xfrm>
            <a:off x="246888" y="18928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 チャージ端末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 443 / 8443</a:t>
            </a:r>
            <a:endParaRPr lang="en-US" sz="650" dirty="0"/>
          </a:p>
        </p:txBody>
      </p:sp>
      <p:sp>
        <p:nvSpPr>
          <p:cNvPr id="18" name="Shape 13"/>
          <p:cNvSpPr/>
          <p:nvPr/>
        </p:nvSpPr>
        <p:spPr>
          <a:xfrm>
            <a:off x="201168" y="2441448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256032" y="2478024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 (チャージ)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46888" y="264261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店舗チャージ端末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インターネット接続</a:t>
            </a:r>
            <a:endParaRPr lang="en-US" sz="650" dirty="0"/>
          </a:p>
        </p:txBody>
      </p:sp>
      <p:sp>
        <p:nvSpPr>
          <p:cNvPr id="21" name="Shape 16"/>
          <p:cNvSpPr/>
          <p:nvPr/>
        </p:nvSpPr>
        <p:spPr>
          <a:xfrm>
            <a:off x="201168" y="3090672"/>
            <a:ext cx="1600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56032" y="3127248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246888" y="3291840"/>
            <a:ext cx="150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 (OC系)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VINX / SHARP (SG/SH系)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10.156.96.0/24</a:t>
            </a:r>
            <a:endParaRPr lang="en-US" sz="650" dirty="0"/>
          </a:p>
        </p:txBody>
      </p:sp>
      <p:sp>
        <p:nvSpPr>
          <p:cNvPr id="24" name="Shape 19"/>
          <p:cNvSpPr/>
          <p:nvPr/>
        </p:nvSpPr>
        <p:spPr>
          <a:xfrm>
            <a:off x="201168" y="4023360"/>
            <a:ext cx="1600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56032" y="405993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 本部</a:t>
            </a:r>
            <a:endParaRPr lang="en-US" sz="750" dirty="0"/>
          </a:p>
        </p:txBody>
      </p:sp>
      <p:sp>
        <p:nvSpPr>
          <p:cNvPr id="26" name="Text 21"/>
          <p:cNvSpPr/>
          <p:nvPr/>
        </p:nvSpPr>
        <p:spPr>
          <a:xfrm>
            <a:off x="246888" y="422452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</a:t>
            </a:r>
            <a:endParaRPr lang="en-US" sz="650" dirty="0"/>
          </a:p>
        </p:txBody>
      </p:sp>
      <p:sp>
        <p:nvSpPr>
          <p:cNvPr id="27" name="Shape 22"/>
          <p:cNvSpPr/>
          <p:nvPr/>
        </p:nvSpPr>
        <p:spPr>
          <a:xfrm>
            <a:off x="201168" y="4782312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56032" y="4818888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NTT DATA CDS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46888" y="498348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棚札 FTP送信先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(SFTP / 平文FTP)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201168" y="5440680"/>
            <a:ext cx="1600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6032" y="547725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AFSオーソリ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246888" y="564184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ギフトカード 認証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192.168.60.10:1501-1508</a:t>
            </a:r>
            <a:endParaRPr lang="en-US" sz="650" dirty="0"/>
          </a:p>
        </p:txBody>
      </p:sp>
      <p:sp>
        <p:nvSpPr>
          <p:cNvPr id="33" name="Shape 28"/>
          <p:cNvSpPr/>
          <p:nvPr/>
        </p:nvSpPr>
        <p:spPr>
          <a:xfrm>
            <a:off x="1993392" y="1417320"/>
            <a:ext cx="5925312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1993392" y="1417320"/>
            <a:ext cx="5925312" cy="20116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35" name="Text 30"/>
          <p:cNvSpPr/>
          <p:nvPr/>
        </p:nvSpPr>
        <p:spPr>
          <a:xfrm>
            <a:off x="2066544" y="1435608"/>
            <a:ext cx="5779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Cloud  (ap-northeast-1 / 東京)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2103120" y="1691640"/>
            <a:ext cx="1828800" cy="457200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2103120" y="1691640"/>
            <a:ext cx="1828800" cy="20116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38" name="Text 33"/>
          <p:cNvSpPr/>
          <p:nvPr/>
        </p:nvSpPr>
        <p:spPr>
          <a:xfrm>
            <a:off x="2176272" y="1709928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 332802448674  (10.238.0.0/16)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4041648" y="1691640"/>
            <a:ext cx="1828800" cy="457200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4041648" y="1691640"/>
            <a:ext cx="1828800" cy="20116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4114800" y="1709928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 750735758916  (10.239.0.0/16)</a:t>
            </a:r>
            <a:endParaRPr lang="en-US" sz="850" dirty="0"/>
          </a:p>
        </p:txBody>
      </p:sp>
      <p:sp>
        <p:nvSpPr>
          <p:cNvPr id="42" name="Shape 37"/>
          <p:cNvSpPr/>
          <p:nvPr/>
        </p:nvSpPr>
        <p:spPr>
          <a:xfrm>
            <a:off x="5980176" y="1691640"/>
            <a:ext cx="1828800" cy="457200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5980176" y="1691640"/>
            <a:ext cx="1828800" cy="20116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44" name="Text 39"/>
          <p:cNvSpPr/>
          <p:nvPr/>
        </p:nvSpPr>
        <p:spPr>
          <a:xfrm>
            <a:off x="6053328" y="1709928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 891376952870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2176272" y="1947672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2231136" y="1984248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750" dirty="0"/>
          </a:p>
        </p:txBody>
      </p:sp>
      <p:sp>
        <p:nvSpPr>
          <p:cNvPr id="47" name="Text 42"/>
          <p:cNvSpPr/>
          <p:nvPr/>
        </p:nvSpPr>
        <p:spPr>
          <a:xfrm>
            <a:off x="2221992" y="2148840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443 / HTTPS</a:t>
            </a:r>
            <a:endParaRPr lang="en-US" sz="650" dirty="0"/>
          </a:p>
        </p:txBody>
      </p:sp>
      <p:sp>
        <p:nvSpPr>
          <p:cNvPr id="48" name="Shape 43"/>
          <p:cNvSpPr/>
          <p:nvPr/>
        </p:nvSpPr>
        <p:spPr>
          <a:xfrm>
            <a:off x="2176272" y="2532888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2231136" y="256946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750" dirty="0"/>
          </a:p>
        </p:txBody>
      </p:sp>
      <p:sp>
        <p:nvSpPr>
          <p:cNvPr id="50" name="Text 45"/>
          <p:cNvSpPr/>
          <p:nvPr/>
        </p:nvSpPr>
        <p:spPr>
          <a:xfrm>
            <a:off x="2221992" y="2734056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10.238.2.39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t3.xlarge</a:t>
            </a:r>
            <a:endParaRPr lang="en-US" sz="650" dirty="0"/>
          </a:p>
        </p:txBody>
      </p:sp>
      <p:sp>
        <p:nvSpPr>
          <p:cNvPr id="51" name="Shape 46"/>
          <p:cNvSpPr/>
          <p:nvPr/>
        </p:nvSpPr>
        <p:spPr>
          <a:xfrm>
            <a:off x="2176272" y="3118104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2231136" y="31546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GiftCard</a:t>
            </a:r>
            <a:endParaRPr lang="en-US" sz="750" dirty="0"/>
          </a:p>
        </p:txBody>
      </p:sp>
      <p:sp>
        <p:nvSpPr>
          <p:cNvPr id="53" name="Text 48"/>
          <p:cNvSpPr/>
          <p:nvPr/>
        </p:nvSpPr>
        <p:spPr>
          <a:xfrm>
            <a:off x="2221992" y="3319272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10.238.2.198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t2.large</a:t>
            </a:r>
            <a:endParaRPr lang="en-US" sz="650" dirty="0"/>
          </a:p>
        </p:txBody>
      </p:sp>
      <p:sp>
        <p:nvSpPr>
          <p:cNvPr id="54" name="Shape 49"/>
          <p:cNvSpPr/>
          <p:nvPr/>
        </p:nvSpPr>
        <p:spPr>
          <a:xfrm>
            <a:off x="2176272" y="3703320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31136" y="373989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750" dirty="0"/>
          </a:p>
        </p:txBody>
      </p:sp>
      <p:sp>
        <p:nvSpPr>
          <p:cNvPr id="56" name="Text 51"/>
          <p:cNvSpPr/>
          <p:nvPr/>
        </p:nvSpPr>
        <p:spPr>
          <a:xfrm>
            <a:off x="2221992" y="3904488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Multi-AZ: No</a:t>
            </a:r>
            <a:endParaRPr lang="en-US" sz="650" dirty="0"/>
          </a:p>
        </p:txBody>
      </p:sp>
      <p:sp>
        <p:nvSpPr>
          <p:cNvPr id="57" name="Shape 52"/>
          <p:cNvSpPr/>
          <p:nvPr/>
        </p:nvSpPr>
        <p:spPr>
          <a:xfrm>
            <a:off x="2176272" y="4288536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2231136" y="4325112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(21関数)</a:t>
            </a:r>
            <a:endParaRPr lang="en-US" sz="750" dirty="0"/>
          </a:p>
        </p:txBody>
      </p:sp>
      <p:sp>
        <p:nvSpPr>
          <p:cNvPr id="59" name="Text 54"/>
          <p:cNvSpPr/>
          <p:nvPr/>
        </p:nvSpPr>
        <p:spPr>
          <a:xfrm>
            <a:off x="2221992" y="4489704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Java17 / Python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SH系</a:t>
            </a:r>
            <a:endParaRPr lang="en-US" sz="650" dirty="0"/>
          </a:p>
        </p:txBody>
      </p:sp>
      <p:sp>
        <p:nvSpPr>
          <p:cNvPr id="60" name="Shape 55"/>
          <p:cNvSpPr/>
          <p:nvPr/>
        </p:nvSpPr>
        <p:spPr>
          <a:xfrm>
            <a:off x="2176272" y="4800600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31136" y="483717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(3)</a:t>
            </a:r>
            <a:endParaRPr lang="en-US" sz="750" dirty="0"/>
          </a:p>
        </p:txBody>
      </p:sp>
      <p:sp>
        <p:nvSpPr>
          <p:cNvPr id="62" name="Text 57"/>
          <p:cNvSpPr/>
          <p:nvPr/>
        </p:nvSpPr>
        <p:spPr>
          <a:xfrm>
            <a:off x="2221992" y="5001768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</a:t>
            </a:r>
            <a:endParaRPr lang="en-US" sz="650" dirty="0"/>
          </a:p>
        </p:txBody>
      </p:sp>
      <p:sp>
        <p:nvSpPr>
          <p:cNvPr id="63" name="Shape 58"/>
          <p:cNvSpPr/>
          <p:nvPr/>
        </p:nvSpPr>
        <p:spPr>
          <a:xfrm>
            <a:off x="2176272" y="5321808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2231136" y="535838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/ Step Functions</a:t>
            </a:r>
            <a:endParaRPr lang="en-US" sz="750" dirty="0"/>
          </a:p>
        </p:txBody>
      </p:sp>
      <p:sp>
        <p:nvSpPr>
          <p:cNvPr id="65" name="Text 60"/>
          <p:cNvSpPr/>
          <p:nvPr/>
        </p:nvSpPr>
        <p:spPr>
          <a:xfrm>
            <a:off x="2221992" y="5522976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</a:t>
            </a:r>
            <a:endParaRPr lang="en-US" sz="650" dirty="0"/>
          </a:p>
        </p:txBody>
      </p:sp>
      <p:sp>
        <p:nvSpPr>
          <p:cNvPr id="66" name="Shape 61"/>
          <p:cNvSpPr/>
          <p:nvPr/>
        </p:nvSpPr>
        <p:spPr>
          <a:xfrm>
            <a:off x="2176272" y="5843016"/>
            <a:ext cx="168249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2231136" y="5879592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Direct Connect 100M</a:t>
            </a:r>
            <a:endParaRPr lang="en-US" sz="750" dirty="0"/>
          </a:p>
        </p:txBody>
      </p:sp>
      <p:sp>
        <p:nvSpPr>
          <p:cNvPr id="68" name="Text 63"/>
          <p:cNvSpPr/>
          <p:nvPr/>
        </p:nvSpPr>
        <p:spPr>
          <a:xfrm>
            <a:off x="2221992" y="6044184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USMH SmartVPN</a:t>
            </a:r>
            <a:endParaRPr lang="en-US" sz="650" dirty="0"/>
          </a:p>
        </p:txBody>
      </p:sp>
      <p:sp>
        <p:nvSpPr>
          <p:cNvPr id="69" name="Shape 64"/>
          <p:cNvSpPr/>
          <p:nvPr/>
        </p:nvSpPr>
        <p:spPr>
          <a:xfrm>
            <a:off x="4114800" y="1947672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4169664" y="1984248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750" dirty="0"/>
          </a:p>
        </p:txBody>
      </p:sp>
      <p:sp>
        <p:nvSpPr>
          <p:cNvPr id="71" name="Text 66"/>
          <p:cNvSpPr/>
          <p:nvPr/>
        </p:nvSpPr>
        <p:spPr>
          <a:xfrm>
            <a:off x="4160520" y="2148840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API も公開中</a:t>
            </a:r>
            <a:endParaRPr lang="en-US" sz="650" dirty="0"/>
          </a:p>
        </p:txBody>
      </p:sp>
      <p:sp>
        <p:nvSpPr>
          <p:cNvPr id="72" name="Shape 67"/>
          <p:cNvSpPr/>
          <p:nvPr/>
        </p:nvSpPr>
        <p:spPr>
          <a:xfrm>
            <a:off x="4114800" y="2532888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4169664" y="256946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STG Web</a:t>
            </a:r>
            <a:endParaRPr lang="en-US" sz="750" dirty="0"/>
          </a:p>
        </p:txBody>
      </p:sp>
      <p:sp>
        <p:nvSpPr>
          <p:cNvPr id="74" name="Text 69"/>
          <p:cNvSpPr/>
          <p:nvPr/>
        </p:nvSpPr>
        <p:spPr>
          <a:xfrm>
            <a:off x="4160520" y="2734056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web-fe / web-be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10.239.2.4</a:t>
            </a:r>
            <a:endParaRPr lang="en-US" sz="650" dirty="0"/>
          </a:p>
        </p:txBody>
      </p:sp>
      <p:sp>
        <p:nvSpPr>
          <p:cNvPr id="75" name="Shape 70"/>
          <p:cNvSpPr/>
          <p:nvPr/>
        </p:nvSpPr>
        <p:spPr>
          <a:xfrm>
            <a:off x="4114800" y="3118104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4169664" y="31546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750" dirty="0"/>
          </a:p>
        </p:txBody>
      </p:sp>
      <p:sp>
        <p:nvSpPr>
          <p:cNvPr id="77" name="Text 72"/>
          <p:cNvSpPr/>
          <p:nvPr/>
        </p:nvSpPr>
        <p:spPr>
          <a:xfrm>
            <a:off x="4160520" y="3319272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(STG用)</a:t>
            </a:r>
            <a:endParaRPr lang="en-US" sz="650" dirty="0"/>
          </a:p>
        </p:txBody>
      </p:sp>
      <p:sp>
        <p:nvSpPr>
          <p:cNvPr id="78" name="Shape 73"/>
          <p:cNvSpPr/>
          <p:nvPr/>
        </p:nvSpPr>
        <p:spPr>
          <a:xfrm>
            <a:off x="4114800" y="3703320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4169664" y="373989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</a:t>
            </a:r>
            <a:endParaRPr lang="en-US" sz="750" dirty="0"/>
          </a:p>
        </p:txBody>
      </p:sp>
      <p:sp>
        <p:nvSpPr>
          <p:cNvPr id="80" name="Text 75"/>
          <p:cNvSpPr/>
          <p:nvPr/>
        </p:nvSpPr>
        <p:spPr>
          <a:xfrm>
            <a:off x="4160520" y="3904488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SH系</a:t>
            </a:r>
            <a:endParaRPr lang="en-US" sz="650" dirty="0"/>
          </a:p>
        </p:txBody>
      </p:sp>
      <p:sp>
        <p:nvSpPr>
          <p:cNvPr id="81" name="Shape 76"/>
          <p:cNvSpPr/>
          <p:nvPr/>
        </p:nvSpPr>
        <p:spPr>
          <a:xfrm>
            <a:off x="4114800" y="4215384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82" name="Text 77"/>
          <p:cNvSpPr/>
          <p:nvPr/>
        </p:nvSpPr>
        <p:spPr>
          <a:xfrm>
            <a:off x="4169664" y="42519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750" dirty="0"/>
          </a:p>
        </p:txBody>
      </p:sp>
      <p:sp>
        <p:nvSpPr>
          <p:cNvPr id="83" name="Text 78"/>
          <p:cNvSpPr/>
          <p:nvPr/>
        </p:nvSpPr>
        <p:spPr>
          <a:xfrm>
            <a:off x="4160520" y="4416552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</a:t>
            </a:r>
            <a:endParaRPr lang="en-US" sz="650" dirty="0"/>
          </a:p>
        </p:txBody>
      </p:sp>
      <p:sp>
        <p:nvSpPr>
          <p:cNvPr id="84" name="Shape 79"/>
          <p:cNvSpPr/>
          <p:nvPr/>
        </p:nvSpPr>
        <p:spPr>
          <a:xfrm>
            <a:off x="4114800" y="4727448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4169664" y="476402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IPSec VPN</a:t>
            </a:r>
            <a:endParaRPr lang="en-US" sz="750" dirty="0"/>
          </a:p>
        </p:txBody>
      </p:sp>
      <p:sp>
        <p:nvSpPr>
          <p:cNvPr id="86" name="Text 81"/>
          <p:cNvSpPr/>
          <p:nvPr/>
        </p:nvSpPr>
        <p:spPr>
          <a:xfrm>
            <a:off x="4160520" y="4928616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PRD VPC 間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リスクあり</a:t>
            </a:r>
            <a:endParaRPr lang="en-US" sz="650" dirty="0"/>
          </a:p>
        </p:txBody>
      </p:sp>
      <p:sp>
        <p:nvSpPr>
          <p:cNvPr id="87" name="Shape 82"/>
          <p:cNvSpPr/>
          <p:nvPr/>
        </p:nvSpPr>
        <p:spPr>
          <a:xfrm>
            <a:off x="4114800" y="5312664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88" name="Text 83"/>
          <p:cNvSpPr/>
          <p:nvPr/>
        </p:nvSpPr>
        <p:spPr>
          <a:xfrm>
            <a:off x="4169664" y="53492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SG</a:t>
            </a:r>
            <a:endParaRPr lang="en-US" sz="750" dirty="0"/>
          </a:p>
        </p:txBody>
      </p:sp>
      <p:sp>
        <p:nvSpPr>
          <p:cNvPr id="89" name="Text 84"/>
          <p:cNvSpPr/>
          <p:nvPr/>
        </p:nvSpPr>
        <p:spPr>
          <a:xfrm>
            <a:off x="4160520" y="5513832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全開放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 0.0.0.0/0</a:t>
            </a:r>
            <a:endParaRPr lang="en-US" sz="650" dirty="0"/>
          </a:p>
        </p:txBody>
      </p:sp>
      <p:sp>
        <p:nvSpPr>
          <p:cNvPr id="90" name="Shape 85"/>
          <p:cNvSpPr/>
          <p:nvPr/>
        </p:nvSpPr>
        <p:spPr>
          <a:xfrm>
            <a:off x="4114800" y="5897880"/>
            <a:ext cx="168249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4169664" y="593445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</a:t>
            </a:r>
            <a:endParaRPr lang="en-US" sz="750" dirty="0"/>
          </a:p>
        </p:txBody>
      </p:sp>
      <p:sp>
        <p:nvSpPr>
          <p:cNvPr id="92" name="Text 87"/>
          <p:cNvSpPr/>
          <p:nvPr/>
        </p:nvSpPr>
        <p:spPr>
          <a:xfrm>
            <a:off x="4160520" y="6099048"/>
            <a:ext cx="1591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650" dirty="0"/>
          </a:p>
        </p:txBody>
      </p:sp>
      <p:sp>
        <p:nvSpPr>
          <p:cNvPr id="93" name="Shape 88"/>
          <p:cNvSpPr/>
          <p:nvPr/>
        </p:nvSpPr>
        <p:spPr>
          <a:xfrm>
            <a:off x="6035040" y="1929384"/>
            <a:ext cx="1719072" cy="2697480"/>
          </a:xfrm>
          <a:prstGeom prst="rect">
            <a:avLst/>
          </a:prstGeom>
          <a:solidFill>
            <a:srgbClr val="FFFDE7"/>
          </a:solidFill>
          <a:ln w="12700">
            <a:solidFill>
              <a:srgbClr val="E8A040"/>
            </a:solidFill>
            <a:prstDash val="sysDash"/>
          </a:ln>
        </p:spPr>
      </p:sp>
      <p:sp>
        <p:nvSpPr>
          <p:cNvPr id="94" name="Text 89"/>
          <p:cNvSpPr/>
          <p:nvPr/>
        </p:nvSpPr>
        <p:spPr>
          <a:xfrm>
            <a:off x="6053328" y="1938528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 10.226.51.0/24</a:t>
            </a:r>
            <a:endParaRPr lang="en-US" sz="600" dirty="0"/>
          </a:p>
        </p:txBody>
      </p:sp>
      <p:sp>
        <p:nvSpPr>
          <p:cNvPr id="95" name="Shape 90"/>
          <p:cNvSpPr/>
          <p:nvPr/>
        </p:nvSpPr>
        <p:spPr>
          <a:xfrm>
            <a:off x="6053328" y="2112264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6108192" y="2148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750" dirty="0"/>
          </a:p>
        </p:txBody>
      </p:sp>
      <p:sp>
        <p:nvSpPr>
          <p:cNvPr id="97" name="Text 92"/>
          <p:cNvSpPr/>
          <p:nvPr/>
        </p:nvSpPr>
        <p:spPr>
          <a:xfrm>
            <a:off x="6099048" y="231343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ksm-posspk-alb-api-be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443 / 8443</a:t>
            </a:r>
            <a:endParaRPr lang="en-US" sz="650" dirty="0"/>
          </a:p>
        </p:txBody>
      </p:sp>
      <p:sp>
        <p:nvSpPr>
          <p:cNvPr id="98" name="Shape 93"/>
          <p:cNvSpPr/>
          <p:nvPr/>
        </p:nvSpPr>
        <p:spPr>
          <a:xfrm>
            <a:off x="6053328" y="2642616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99" name="Text 94"/>
          <p:cNvSpPr/>
          <p:nvPr/>
        </p:nvSpPr>
        <p:spPr>
          <a:xfrm>
            <a:off x="6108192" y="2679192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チャージAPI</a:t>
            </a:r>
            <a:endParaRPr lang="en-US" sz="750" dirty="0"/>
          </a:p>
        </p:txBody>
      </p:sp>
      <p:sp>
        <p:nvSpPr>
          <p:cNvPr id="100" name="Text 95"/>
          <p:cNvSpPr/>
          <p:nvPr/>
        </p:nvSpPr>
        <p:spPr>
          <a:xfrm>
            <a:off x="6099048" y="284378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10.226.51.86:8080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healthy ✅</a:t>
            </a:r>
            <a:endParaRPr lang="en-US" sz="650" dirty="0"/>
          </a:p>
        </p:txBody>
      </p:sp>
      <p:sp>
        <p:nvSpPr>
          <p:cNvPr id="101" name="Shape 96"/>
          <p:cNvSpPr/>
          <p:nvPr/>
        </p:nvSpPr>
        <p:spPr>
          <a:xfrm>
            <a:off x="6053328" y="3172968"/>
            <a:ext cx="1682496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02" name="Text 97"/>
          <p:cNvSpPr/>
          <p:nvPr/>
        </p:nvSpPr>
        <p:spPr>
          <a:xfrm>
            <a:off x="6108192" y="320954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750" dirty="0"/>
          </a:p>
        </p:txBody>
      </p:sp>
      <p:sp>
        <p:nvSpPr>
          <p:cNvPr id="103" name="Text 98"/>
          <p:cNvSpPr/>
          <p:nvPr/>
        </p:nvSpPr>
        <p:spPr>
          <a:xfrm>
            <a:off x="6099048" y="3374136"/>
            <a:ext cx="15910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posspk-db-instance-1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db.r5.large</a:t>
            </a:r>
            <a:endParaRPr lang="en-US" sz="650" dirty="0"/>
          </a:p>
        </p:txBody>
      </p:sp>
      <p:sp>
        <p:nvSpPr>
          <p:cNvPr id="104" name="Shape 99"/>
          <p:cNvSpPr/>
          <p:nvPr/>
        </p:nvSpPr>
        <p:spPr>
          <a:xfrm>
            <a:off x="6053328" y="3657600"/>
            <a:ext cx="1682496" cy="45720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05" name="Text 100"/>
          <p:cNvSpPr/>
          <p:nvPr/>
        </p:nvSpPr>
        <p:spPr>
          <a:xfrm>
            <a:off x="6108192" y="369417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SG セキュリティ問題</a:t>
            </a:r>
            <a:endParaRPr lang="en-US" sz="750" dirty="0"/>
          </a:p>
        </p:txBody>
      </p:sp>
      <p:sp>
        <p:nvSpPr>
          <p:cNvPr id="106" name="Text 101"/>
          <p:cNvSpPr/>
          <p:nvPr/>
        </p:nvSpPr>
        <p:spPr>
          <a:xfrm>
            <a:off x="6099048" y="3858768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ec2-rds-1: 全開放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web-be: 8080全開放</a:t>
            </a:r>
            <a:endParaRPr lang="en-US" sz="650" dirty="0"/>
          </a:p>
        </p:txBody>
      </p:sp>
      <p:sp>
        <p:nvSpPr>
          <p:cNvPr id="107" name="Shape 102"/>
          <p:cNvSpPr/>
          <p:nvPr/>
        </p:nvSpPr>
        <p:spPr>
          <a:xfrm>
            <a:off x="6035040" y="4709160"/>
            <a:ext cx="1719072" cy="150876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ysDash"/>
          </a:ln>
        </p:spPr>
      </p:sp>
      <p:sp>
        <p:nvSpPr>
          <p:cNvPr id="108" name="Text 103"/>
          <p:cNvSpPr/>
          <p:nvPr/>
        </p:nvSpPr>
        <p:spPr>
          <a:xfrm>
            <a:off x="6053328" y="4718304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pos-dev-vpc  10.226.50.0/24</a:t>
            </a:r>
            <a:endParaRPr lang="en-US" sz="600" dirty="0"/>
          </a:p>
        </p:txBody>
      </p:sp>
      <p:sp>
        <p:nvSpPr>
          <p:cNvPr id="109" name="Shape 104"/>
          <p:cNvSpPr/>
          <p:nvPr/>
        </p:nvSpPr>
        <p:spPr>
          <a:xfrm>
            <a:off x="6053328" y="4892040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10" name="Text 105"/>
          <p:cNvSpPr/>
          <p:nvPr/>
        </p:nvSpPr>
        <p:spPr>
          <a:xfrm>
            <a:off x="6108192" y="492861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pos-dev 各種</a:t>
            </a:r>
            <a:endParaRPr lang="en-US" sz="750" dirty="0"/>
          </a:p>
        </p:txBody>
      </p:sp>
      <p:sp>
        <p:nvSpPr>
          <p:cNvPr id="111" name="Text 106"/>
          <p:cNvSpPr/>
          <p:nvPr/>
        </p:nvSpPr>
        <p:spPr>
          <a:xfrm>
            <a:off x="6099048" y="5093208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 / 棚札 開発DB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pos-dev-db-instance-1</a:t>
            </a:r>
            <a:endParaRPr lang="en-US" sz="650" dirty="0"/>
          </a:p>
        </p:txBody>
      </p:sp>
      <p:sp>
        <p:nvSpPr>
          <p:cNvPr id="112" name="Shape 107"/>
          <p:cNvSpPr/>
          <p:nvPr/>
        </p:nvSpPr>
        <p:spPr>
          <a:xfrm>
            <a:off x="6053328" y="5486400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13" name="Text 108"/>
          <p:cNvSpPr/>
          <p:nvPr/>
        </p:nvSpPr>
        <p:spPr>
          <a:xfrm>
            <a:off x="6108192" y="552297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 分離（接続なし）</a:t>
            </a:r>
            <a:endParaRPr lang="en-US" sz="750" dirty="0"/>
          </a:p>
        </p:txBody>
      </p:sp>
      <p:sp>
        <p:nvSpPr>
          <p:cNvPr id="114" name="Text 109"/>
          <p:cNvSpPr/>
          <p:nvPr/>
        </p:nvSpPr>
        <p:spPr>
          <a:xfrm>
            <a:off x="6099048" y="5687568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 ↔ pos-dev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ピアリングなし</a:t>
            </a:r>
            <a:endParaRPr lang="en-US" sz="650" dirty="0"/>
          </a:p>
        </p:txBody>
      </p:sp>
      <p:sp>
        <p:nvSpPr>
          <p:cNvPr id="115" name="Shape 110"/>
          <p:cNvSpPr/>
          <p:nvPr/>
        </p:nvSpPr>
        <p:spPr>
          <a:xfrm>
            <a:off x="6071616" y="4690872"/>
            <a:ext cx="1645920" cy="0"/>
          </a:xfrm>
          <a:prstGeom prst="line">
            <a:avLst/>
          </a:prstGeom>
          <a:noFill/>
          <a:ln w="12700">
            <a:solidFill>
              <a:srgbClr val="E8A040"/>
            </a:solidFill>
            <a:prstDash val="dash"/>
          </a:ln>
        </p:spPr>
      </p:sp>
      <p:sp>
        <p:nvSpPr>
          <p:cNvPr id="116" name="Shape 111"/>
          <p:cNvSpPr/>
          <p:nvPr/>
        </p:nvSpPr>
        <p:spPr>
          <a:xfrm>
            <a:off x="8010144" y="1417320"/>
            <a:ext cx="1783080" cy="493776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7" name="Shape 112"/>
          <p:cNvSpPr/>
          <p:nvPr/>
        </p:nvSpPr>
        <p:spPr>
          <a:xfrm>
            <a:off x="8010144" y="1417320"/>
            <a:ext cx="1783080" cy="20116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118" name="Text 113"/>
          <p:cNvSpPr/>
          <p:nvPr/>
        </p:nvSpPr>
        <p:spPr>
          <a:xfrm>
            <a:off x="8083296" y="1435608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開発チーム</a:t>
            </a:r>
            <a:endParaRPr lang="en-US" sz="850" dirty="0"/>
          </a:p>
        </p:txBody>
      </p:sp>
      <p:sp>
        <p:nvSpPr>
          <p:cNvPr id="119" name="Shape 114"/>
          <p:cNvSpPr/>
          <p:nvPr/>
        </p:nvSpPr>
        <p:spPr>
          <a:xfrm>
            <a:off x="8101584" y="1691640"/>
            <a:ext cx="16002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0" name="Text 115"/>
          <p:cNvSpPr/>
          <p:nvPr/>
        </p:nvSpPr>
        <p:spPr>
          <a:xfrm>
            <a:off x="8156448" y="172821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オフィス</a:t>
            </a:r>
            <a:endParaRPr lang="en-US" sz="750" dirty="0"/>
          </a:p>
        </p:txBody>
      </p:sp>
      <p:sp>
        <p:nvSpPr>
          <p:cNvPr id="121" name="Text 116"/>
          <p:cNvSpPr/>
          <p:nvPr/>
        </p:nvSpPr>
        <p:spPr>
          <a:xfrm>
            <a:off x="8147304" y="1892808"/>
            <a:ext cx="15087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14.224.146.153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</a:t>
            </a:r>
            <a:endParaRPr lang="en-US" sz="650" dirty="0"/>
          </a:p>
        </p:txBody>
      </p:sp>
      <p:sp>
        <p:nvSpPr>
          <p:cNvPr id="122" name="Shape 117"/>
          <p:cNvSpPr/>
          <p:nvPr/>
        </p:nvSpPr>
        <p:spPr>
          <a:xfrm>
            <a:off x="8101584" y="2377440"/>
            <a:ext cx="1600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3" name="Text 118"/>
          <p:cNvSpPr/>
          <p:nvPr/>
        </p:nvSpPr>
        <p:spPr>
          <a:xfrm>
            <a:off x="8156448" y="241401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個人PC</a:t>
            </a:r>
            <a:endParaRPr lang="en-US" sz="750" dirty="0"/>
          </a:p>
        </p:txBody>
      </p:sp>
      <p:sp>
        <p:nvSpPr>
          <p:cNvPr id="124" name="Text 119"/>
          <p:cNvSpPr/>
          <p:nvPr/>
        </p:nvSpPr>
        <p:spPr>
          <a:xfrm>
            <a:off x="8147304" y="2578608"/>
            <a:ext cx="1508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Client VPN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650" dirty="0"/>
          </a:p>
        </p:txBody>
      </p:sp>
      <p:sp>
        <p:nvSpPr>
          <p:cNvPr id="125" name="Shape 120"/>
          <p:cNvSpPr/>
          <p:nvPr/>
        </p:nvSpPr>
        <p:spPr>
          <a:xfrm>
            <a:off x="8101584" y="2971800"/>
            <a:ext cx="16002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6" name="Text 121"/>
          <p:cNvSpPr/>
          <p:nvPr/>
        </p:nvSpPr>
        <p:spPr>
          <a:xfrm>
            <a:off x="8156448" y="300837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GitLab Runner</a:t>
            </a:r>
            <a:endParaRPr lang="en-US" sz="750" dirty="0"/>
          </a:p>
        </p:txBody>
      </p:sp>
      <p:sp>
        <p:nvSpPr>
          <p:cNvPr id="127" name="Text 122"/>
          <p:cNvSpPr/>
          <p:nvPr/>
        </p:nvSpPr>
        <p:spPr>
          <a:xfrm>
            <a:off x="8147304" y="3172968"/>
            <a:ext cx="15087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pos-runner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10.226.51.115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CI/CD Pipeline</a:t>
            </a:r>
            <a:endParaRPr lang="en-US" sz="650" dirty="0"/>
          </a:p>
        </p:txBody>
      </p:sp>
      <p:sp>
        <p:nvSpPr>
          <p:cNvPr id="128" name="Shape 123"/>
          <p:cNvSpPr/>
          <p:nvPr/>
        </p:nvSpPr>
        <p:spPr>
          <a:xfrm>
            <a:off x="8101584" y="365760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9" name="Text 124"/>
          <p:cNvSpPr/>
          <p:nvPr/>
        </p:nvSpPr>
        <p:spPr>
          <a:xfrm>
            <a:off x="8156448" y="369417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CloudShell / IAM</a:t>
            </a:r>
            <a:endParaRPr lang="en-US" sz="750" dirty="0"/>
          </a:p>
        </p:txBody>
      </p:sp>
      <p:sp>
        <p:nvSpPr>
          <p:cNvPr id="130" name="Text 125"/>
          <p:cNvSpPr/>
          <p:nvPr/>
        </p:nvSpPr>
        <p:spPr>
          <a:xfrm>
            <a:off x="8147304" y="385876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kiyohara user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各アカウント調査</a:t>
            </a:r>
            <a:endParaRPr lang="en-US" sz="650" dirty="0"/>
          </a:p>
        </p:txBody>
      </p:sp>
      <p:sp>
        <p:nvSpPr>
          <p:cNvPr id="131" name="Shape 126"/>
          <p:cNvSpPr/>
          <p:nvPr/>
        </p:nvSpPr>
        <p:spPr>
          <a:xfrm>
            <a:off x="8101584" y="429768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2" name="Text 127"/>
          <p:cNvSpPr/>
          <p:nvPr/>
        </p:nvSpPr>
        <p:spPr>
          <a:xfrm>
            <a:off x="8156448" y="433425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750" dirty="0"/>
          </a:p>
        </p:txBody>
      </p:sp>
      <p:sp>
        <p:nvSpPr>
          <p:cNvPr id="133" name="Text 128"/>
          <p:cNvSpPr/>
          <p:nvPr/>
        </p:nvSpPr>
        <p:spPr>
          <a:xfrm>
            <a:off x="8147304" y="449884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kasumi_pos-server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ドキュメント管理</a:t>
            </a:r>
            <a:endParaRPr lang="en-US" sz="650" dirty="0"/>
          </a:p>
        </p:txBody>
      </p:sp>
      <p:sp>
        <p:nvSpPr>
          <p:cNvPr id="134" name="Shape 129"/>
          <p:cNvSpPr/>
          <p:nvPr/>
        </p:nvSpPr>
        <p:spPr>
          <a:xfrm>
            <a:off x="8101584" y="4937760"/>
            <a:ext cx="1600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5" name="Text 130"/>
          <p:cNvSpPr/>
          <p:nvPr/>
        </p:nvSpPr>
        <p:spPr>
          <a:xfrm>
            <a:off x="8156448" y="497433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</a:t>
            </a:r>
            <a:endParaRPr lang="en-US" sz="750" dirty="0"/>
          </a:p>
        </p:txBody>
      </p:sp>
      <p:sp>
        <p:nvSpPr>
          <p:cNvPr id="136" name="Text 131"/>
          <p:cNvSpPr/>
          <p:nvPr/>
        </p:nvSpPr>
        <p:spPr>
          <a:xfrm>
            <a:off x="8147304" y="5138928"/>
            <a:ext cx="1508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57.182.174.110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NTT DATA CDS</a:t>
            </a:r>
            <a:endParaRPr lang="en-US" sz="650" dirty="0"/>
          </a:p>
        </p:txBody>
      </p:sp>
      <p:sp>
        <p:nvSpPr>
          <p:cNvPr id="137" name="Shape 132"/>
          <p:cNvSpPr/>
          <p:nvPr/>
        </p:nvSpPr>
        <p:spPr>
          <a:xfrm>
            <a:off x="8101584" y="553212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8" name="Text 133"/>
          <p:cNvSpPr/>
          <p:nvPr/>
        </p:nvSpPr>
        <p:spPr>
          <a:xfrm>
            <a:off x="8156448" y="5568696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 Endpoint</a:t>
            </a:r>
            <a:endParaRPr lang="en-US" sz="750" dirty="0"/>
          </a:p>
        </p:txBody>
      </p:sp>
      <p:sp>
        <p:nvSpPr>
          <p:cNvPr id="139" name="Text 134"/>
          <p:cNvSpPr/>
          <p:nvPr/>
        </p:nvSpPr>
        <p:spPr>
          <a:xfrm>
            <a:off x="8147304" y="57332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PRD: 10.238.x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STG: 10.239.x</a:t>
            </a:r>
            <a:endParaRPr lang="en-US" sz="650" dirty="0"/>
          </a:p>
        </p:txBody>
      </p:sp>
      <p:sp>
        <p:nvSpPr>
          <p:cNvPr id="140" name="Shape 135"/>
          <p:cNvSpPr/>
          <p:nvPr/>
        </p:nvSpPr>
        <p:spPr>
          <a:xfrm>
            <a:off x="1892808" y="2715768"/>
            <a:ext cx="4160520" cy="-374904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141" name="Text 136"/>
          <p:cNvSpPr/>
          <p:nvPr/>
        </p:nvSpPr>
        <p:spPr>
          <a:xfrm>
            <a:off x="3653028" y="2409444"/>
            <a:ext cx="6858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600" dirty="0"/>
          </a:p>
        </p:txBody>
      </p:sp>
      <p:sp>
        <p:nvSpPr>
          <p:cNvPr id="142" name="Shape 137"/>
          <p:cNvSpPr/>
          <p:nvPr/>
        </p:nvSpPr>
        <p:spPr>
          <a:xfrm>
            <a:off x="1892808" y="3502152"/>
            <a:ext cx="210312" cy="2532888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3" name="Text 138"/>
          <p:cNvSpPr/>
          <p:nvPr/>
        </p:nvSpPr>
        <p:spPr>
          <a:xfrm>
            <a:off x="1677924" y="4649724"/>
            <a:ext cx="6858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DC/VPN</a:t>
            </a:r>
            <a:endParaRPr lang="en-US" sz="600" dirty="0"/>
          </a:p>
        </p:txBody>
      </p:sp>
      <p:sp>
        <p:nvSpPr>
          <p:cNvPr id="144" name="Shape 139"/>
          <p:cNvSpPr/>
          <p:nvPr/>
        </p:nvSpPr>
        <p:spPr>
          <a:xfrm>
            <a:off x="1892808" y="3730752"/>
            <a:ext cx="210312" cy="-356616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5" name="Text 140"/>
          <p:cNvSpPr/>
          <p:nvPr/>
        </p:nvSpPr>
        <p:spPr>
          <a:xfrm>
            <a:off x="1677924" y="3433572"/>
            <a:ext cx="6858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10.156.x</a:t>
            </a:r>
            <a:endParaRPr lang="en-US" sz="600" dirty="0"/>
          </a:p>
        </p:txBody>
      </p:sp>
      <p:sp>
        <p:nvSpPr>
          <p:cNvPr id="146" name="Shape 141"/>
          <p:cNvSpPr/>
          <p:nvPr/>
        </p:nvSpPr>
        <p:spPr>
          <a:xfrm>
            <a:off x="1892808" y="4343400"/>
            <a:ext cx="210312" cy="-214884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147" name="Text 142"/>
          <p:cNvSpPr/>
          <p:nvPr/>
        </p:nvSpPr>
        <p:spPr>
          <a:xfrm>
            <a:off x="1677924" y="3150108"/>
            <a:ext cx="6858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600" dirty="0"/>
          </a:p>
        </p:txBody>
      </p:sp>
      <p:sp>
        <p:nvSpPr>
          <p:cNvPr id="148" name="Shape 143"/>
          <p:cNvSpPr/>
          <p:nvPr/>
        </p:nvSpPr>
        <p:spPr>
          <a:xfrm>
            <a:off x="1892808" y="5056632"/>
            <a:ext cx="210312" cy="-36576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9" name="Text 144"/>
          <p:cNvSpPr/>
          <p:nvPr/>
        </p:nvSpPr>
        <p:spPr>
          <a:xfrm>
            <a:off x="1677924" y="4919472"/>
            <a:ext cx="6858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SFTP</a:t>
            </a:r>
            <a:endParaRPr lang="en-US" sz="600" dirty="0"/>
          </a:p>
        </p:txBody>
      </p:sp>
      <p:sp>
        <p:nvSpPr>
          <p:cNvPr id="150" name="Shape 145"/>
          <p:cNvSpPr/>
          <p:nvPr/>
        </p:nvSpPr>
        <p:spPr>
          <a:xfrm>
            <a:off x="8010144" y="1984248"/>
            <a:ext cx="-4078224" cy="795528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1" name="Text 146"/>
          <p:cNvSpPr/>
          <p:nvPr/>
        </p:nvSpPr>
        <p:spPr>
          <a:xfrm>
            <a:off x="5650992" y="2263140"/>
            <a:ext cx="6858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2" name="Shape 147"/>
          <p:cNvSpPr/>
          <p:nvPr/>
        </p:nvSpPr>
        <p:spPr>
          <a:xfrm>
            <a:off x="8010144" y="2624328"/>
            <a:ext cx="-2139696" cy="155448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3" name="Text 148"/>
          <p:cNvSpPr/>
          <p:nvPr/>
        </p:nvSpPr>
        <p:spPr>
          <a:xfrm>
            <a:off x="6620256" y="2583180"/>
            <a:ext cx="6858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4" name="Shape 149"/>
          <p:cNvSpPr/>
          <p:nvPr/>
        </p:nvSpPr>
        <p:spPr>
          <a:xfrm>
            <a:off x="8010144" y="3218688"/>
            <a:ext cx="-201168" cy="-877824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5" name="Text 150"/>
          <p:cNvSpPr/>
          <p:nvPr/>
        </p:nvSpPr>
        <p:spPr>
          <a:xfrm>
            <a:off x="7589520" y="2660904"/>
            <a:ext cx="6858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6" name="Shape 151"/>
          <p:cNvSpPr/>
          <p:nvPr/>
        </p:nvSpPr>
        <p:spPr>
          <a:xfrm>
            <a:off x="3931920" y="4974336"/>
            <a:ext cx="109728" cy="0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  <a:headEnd type="arrow"/>
            <a:tailEnd type="arrow"/>
          </a:ln>
        </p:spPr>
      </p:sp>
      <p:sp>
        <p:nvSpPr>
          <p:cNvPr id="157" name="Text 152"/>
          <p:cNvSpPr/>
          <p:nvPr/>
        </p:nvSpPr>
        <p:spPr>
          <a:xfrm>
            <a:off x="3950208" y="4818888"/>
            <a:ext cx="164592" cy="1463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IPSec VPN</a:t>
            </a:r>
            <a:endParaRPr lang="en-US" sz="550" dirty="0"/>
          </a:p>
        </p:txBody>
      </p:sp>
      <p:sp>
        <p:nvSpPr>
          <p:cNvPr id="158" name="Shape 153"/>
          <p:cNvSpPr/>
          <p:nvPr/>
        </p:nvSpPr>
        <p:spPr>
          <a:xfrm>
            <a:off x="2011680" y="6318504"/>
            <a:ext cx="128016" cy="109728"/>
          </a:xfrm>
          <a:prstGeom prst="rect">
            <a:avLst/>
          </a:prstGeom>
          <a:solidFill>
            <a:srgbClr val="228844"/>
          </a:solidFill>
          <a:ln w="12700">
            <a:solidFill>
              <a:srgbClr val="228844"/>
            </a:solidFill>
            <a:prstDash val="solid"/>
          </a:ln>
        </p:spPr>
      </p:sp>
      <p:sp>
        <p:nvSpPr>
          <p:cNvPr id="159" name="Text 154"/>
          <p:cNvSpPr/>
          <p:nvPr/>
        </p:nvSpPr>
        <p:spPr>
          <a:xfrm>
            <a:off x="216712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本番</a:t>
            </a:r>
            <a:endParaRPr lang="en-US" sz="650" dirty="0"/>
          </a:p>
        </p:txBody>
      </p:sp>
      <p:sp>
        <p:nvSpPr>
          <p:cNvPr id="160" name="Shape 155"/>
          <p:cNvSpPr/>
          <p:nvPr/>
        </p:nvSpPr>
        <p:spPr>
          <a:xfrm>
            <a:off x="3017520" y="6318504"/>
            <a:ext cx="128016" cy="109728"/>
          </a:xfrm>
          <a:prstGeom prst="rect">
            <a:avLst/>
          </a:prstGeom>
          <a:solidFill>
            <a:srgbClr val="2266AA"/>
          </a:solidFill>
          <a:ln w="12700">
            <a:solidFill>
              <a:srgbClr val="2266AA"/>
            </a:solidFill>
            <a:prstDash val="solid"/>
          </a:ln>
        </p:spPr>
      </p:sp>
      <p:sp>
        <p:nvSpPr>
          <p:cNvPr id="161" name="Text 156"/>
          <p:cNvSpPr/>
          <p:nvPr/>
        </p:nvSpPr>
        <p:spPr>
          <a:xfrm>
            <a:off x="317296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検証</a:t>
            </a:r>
            <a:endParaRPr lang="en-US" sz="650" dirty="0"/>
          </a:p>
        </p:txBody>
      </p:sp>
      <p:sp>
        <p:nvSpPr>
          <p:cNvPr id="162" name="Shape 157"/>
          <p:cNvSpPr/>
          <p:nvPr/>
        </p:nvSpPr>
        <p:spPr>
          <a:xfrm>
            <a:off x="4023360" y="6318504"/>
            <a:ext cx="128016" cy="109728"/>
          </a:xfrm>
          <a:prstGeom prst="rect">
            <a:avLst/>
          </a:prstGeom>
          <a:solidFill>
            <a:srgbClr val="B07020"/>
          </a:solidFill>
          <a:ln w="12700">
            <a:solidFill>
              <a:srgbClr val="B07020"/>
            </a:solidFill>
            <a:prstDash val="solid"/>
          </a:ln>
        </p:spPr>
      </p:sp>
      <p:sp>
        <p:nvSpPr>
          <p:cNvPr id="163" name="Text 158"/>
          <p:cNvSpPr/>
          <p:nvPr/>
        </p:nvSpPr>
        <p:spPr>
          <a:xfrm>
            <a:off x="417880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開発</a:t>
            </a:r>
            <a:endParaRPr lang="en-US" sz="650" dirty="0"/>
          </a:p>
        </p:txBody>
      </p:sp>
      <p:sp>
        <p:nvSpPr>
          <p:cNvPr id="164" name="Shape 159"/>
          <p:cNvSpPr/>
          <p:nvPr/>
        </p:nvSpPr>
        <p:spPr>
          <a:xfrm>
            <a:off x="5029200" y="6318504"/>
            <a:ext cx="128016" cy="109728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65" name="Text 160"/>
          <p:cNvSpPr/>
          <p:nvPr/>
        </p:nvSpPr>
        <p:spPr>
          <a:xfrm>
            <a:off x="518464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セキュリティ問題</a:t>
            </a:r>
            <a:endParaRPr lang="en-US" sz="650" dirty="0"/>
          </a:p>
        </p:txBody>
      </p:sp>
      <p:sp>
        <p:nvSpPr>
          <p:cNvPr id="166" name="Shape 161"/>
          <p:cNvSpPr/>
          <p:nvPr/>
        </p:nvSpPr>
        <p:spPr>
          <a:xfrm>
            <a:off x="6035040" y="6318504"/>
            <a:ext cx="128016" cy="109728"/>
          </a:xfrm>
          <a:prstGeom prst="rect">
            <a:avLst/>
          </a:prstGeom>
          <a:solidFill>
            <a:srgbClr val="AA6622"/>
          </a:solidFill>
          <a:ln w="12700">
            <a:solidFill>
              <a:srgbClr val="AA6622"/>
            </a:solidFill>
            <a:prstDash val="solid"/>
          </a:ln>
        </p:spPr>
      </p:sp>
      <p:sp>
        <p:nvSpPr>
          <p:cNvPr id="167" name="Text 162"/>
          <p:cNvSpPr/>
          <p:nvPr/>
        </p:nvSpPr>
        <p:spPr>
          <a:xfrm>
            <a:off x="619048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 / USMH</a:t>
            </a:r>
            <a:endParaRPr lang="en-US" sz="650" dirty="0"/>
          </a:p>
        </p:txBody>
      </p:sp>
      <p:sp>
        <p:nvSpPr>
          <p:cNvPr id="168" name="Shape 163"/>
          <p:cNvSpPr/>
          <p:nvPr/>
        </p:nvSpPr>
        <p:spPr>
          <a:xfrm>
            <a:off x="7040880" y="6318504"/>
            <a:ext cx="128016" cy="109728"/>
          </a:xfrm>
          <a:prstGeom prst="rect">
            <a:avLst/>
          </a:prstGeom>
          <a:solidFill>
            <a:srgbClr val="6644AA"/>
          </a:solidFill>
          <a:ln w="12700">
            <a:solidFill>
              <a:srgbClr val="6644AA"/>
            </a:solidFill>
            <a:prstDash val="solid"/>
          </a:ln>
        </p:spPr>
      </p:sp>
      <p:sp>
        <p:nvSpPr>
          <p:cNvPr id="169" name="Text 164"/>
          <p:cNvSpPr/>
          <p:nvPr/>
        </p:nvSpPr>
        <p:spPr>
          <a:xfrm>
            <a:off x="719632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運用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2026-03-12T16:47:30Z</dcterms:created>
  <dcterms:modified xsi:type="dcterms:W3CDTF">2026-03-12T16:47:30Z</dcterms:modified>
</cp:coreProperties>
</file>