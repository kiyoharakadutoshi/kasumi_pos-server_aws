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カスミPOS  システム全体構成図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 (PRD) / 検証 (STG) / 開発 (DEV)  |  外部アクセス・USMH閉域網・Luvinaチーム  |  ap-northeast-1 (東京)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AWS システム全体構成図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1783080" cy="4937760"/>
          </a:xfrm>
          <a:prstGeom prst="rect">
            <a:avLst/>
          </a:prstGeom>
          <a:solidFill>
            <a:srgbClr val="FFF0F0"/>
          </a:solidFill>
          <a:ln w="19050">
            <a:solidFill>
              <a:srgbClr val="D023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1783080" cy="21945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4" name="Text 9"/>
          <p:cNvSpPr/>
          <p:nvPr/>
        </p:nvSpPr>
        <p:spPr>
          <a:xfrm>
            <a:off x="201168" y="1444752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外部アクセス / USMH閉域網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1993392" y="1417320"/>
            <a:ext cx="5925312" cy="493776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1993392" y="1417320"/>
            <a:ext cx="5925312" cy="219456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17" name="Text 12"/>
          <p:cNvSpPr/>
          <p:nvPr/>
        </p:nvSpPr>
        <p:spPr>
          <a:xfrm>
            <a:off x="2084832" y="1444752"/>
            <a:ext cx="5742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Cloud  (ap-northeast-1 / 東京)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8010144" y="1417320"/>
            <a:ext cx="1783080" cy="4937760"/>
          </a:xfrm>
          <a:prstGeom prst="rect">
            <a:avLst/>
          </a:prstGeom>
          <a:solidFill>
            <a:srgbClr val="F5F0FF"/>
          </a:solidFill>
          <a:ln w="19050">
            <a:solidFill>
              <a:srgbClr val="8866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010144" y="1417320"/>
            <a:ext cx="1783080" cy="219456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20" name="Text 15"/>
          <p:cNvSpPr/>
          <p:nvPr/>
        </p:nvSpPr>
        <p:spPr>
          <a:xfrm>
            <a:off x="8101584" y="1444752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/ 開発チーム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2103120" y="1691640"/>
            <a:ext cx="1828800" cy="4572000"/>
          </a:xfrm>
          <a:prstGeom prst="rect">
            <a:avLst/>
          </a:prstGeom>
          <a:solidFill>
            <a:srgbClr val="F0FFF0"/>
          </a:solidFill>
          <a:ln w="19050">
            <a:solidFill>
              <a:srgbClr val="44AA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2103120" y="1691640"/>
            <a:ext cx="1828800" cy="219456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23" name="Text 18"/>
          <p:cNvSpPr/>
          <p:nvPr/>
        </p:nvSpPr>
        <p:spPr>
          <a:xfrm>
            <a:off x="2194560" y="171907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 332802448674  (10.238.0.0/16)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4041648" y="1691640"/>
            <a:ext cx="1828800" cy="457200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041648" y="1691640"/>
            <a:ext cx="1828800" cy="219456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26" name="Text 21"/>
          <p:cNvSpPr/>
          <p:nvPr/>
        </p:nvSpPr>
        <p:spPr>
          <a:xfrm>
            <a:off x="4133088" y="171907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 750735758916  (10.239.0.0/16)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980176" y="1691640"/>
            <a:ext cx="1828800" cy="4572000"/>
          </a:xfrm>
          <a:prstGeom prst="rect">
            <a:avLst/>
          </a:prstGeom>
          <a:solidFill>
            <a:srgbClr val="FFF5EB"/>
          </a:solidFill>
          <a:ln w="19050">
            <a:solidFill>
              <a:srgbClr val="E8A04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980176" y="1691640"/>
            <a:ext cx="1828800" cy="219456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9" name="Text 24"/>
          <p:cNvSpPr/>
          <p:nvPr/>
        </p:nvSpPr>
        <p:spPr>
          <a:xfrm>
            <a:off x="6071616" y="171907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 891376952870</a:t>
            </a:r>
            <a:endParaRPr lang="en-US" sz="850" dirty="0"/>
          </a:p>
        </p:txBody>
      </p:sp>
      <p:sp>
        <p:nvSpPr>
          <p:cNvPr id="30" name="Shape 25"/>
          <p:cNvSpPr/>
          <p:nvPr/>
        </p:nvSpPr>
        <p:spPr>
          <a:xfrm>
            <a:off x="201168" y="1691640"/>
            <a:ext cx="16002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65176" y="173736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256032" y="1929384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マルエツ チャージ端末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 443 / 8443</a:t>
            </a:r>
            <a:endParaRPr lang="en-US" sz="700" dirty="0"/>
          </a:p>
        </p:txBody>
      </p:sp>
      <p:sp>
        <p:nvSpPr>
          <p:cNvPr id="33" name="Shape 28"/>
          <p:cNvSpPr/>
          <p:nvPr/>
        </p:nvSpPr>
        <p:spPr>
          <a:xfrm>
            <a:off x="201168" y="2441448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265176" y="2487168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マルエツ (チャージ)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256032" y="2679192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店舗チャージ端末</a:t>
            </a:r>
            <a:endParaRPr lang="en-US" sz="700" dirty="0"/>
          </a:p>
        </p:txBody>
      </p:sp>
      <p:sp>
        <p:nvSpPr>
          <p:cNvPr id="36" name="Shape 31"/>
          <p:cNvSpPr/>
          <p:nvPr/>
        </p:nvSpPr>
        <p:spPr>
          <a:xfrm>
            <a:off x="201168" y="3090672"/>
            <a:ext cx="1600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65176" y="3136392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USMH 閉域網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256032" y="3328416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BIPROGY (OC系)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VINX / SHARP (SG/SH系)</a:t>
            </a:r>
            <a:endParaRPr lang="en-US" sz="700" dirty="0"/>
          </a:p>
        </p:txBody>
      </p:sp>
      <p:sp>
        <p:nvSpPr>
          <p:cNvPr id="39" name="Shape 34"/>
          <p:cNvSpPr/>
          <p:nvPr/>
        </p:nvSpPr>
        <p:spPr>
          <a:xfrm>
            <a:off x="201168" y="4023360"/>
            <a:ext cx="1600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265176" y="406908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カスミ 本部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256032" y="4261104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ignicapos.com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201168" y="4782312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65176" y="4828032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NTT DATA CDS</a:t>
            </a:r>
            <a:endParaRPr lang="en-US" sz="800" dirty="0"/>
          </a:p>
        </p:txBody>
      </p:sp>
      <p:sp>
        <p:nvSpPr>
          <p:cNvPr id="44" name="Text 39"/>
          <p:cNvSpPr/>
          <p:nvPr/>
        </p:nvSpPr>
        <p:spPr>
          <a:xfrm>
            <a:off x="256032" y="5020056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棚札 FTP送信先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201168" y="5440680"/>
            <a:ext cx="1600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265176" y="548640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A66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AFSオーソリ</a:t>
            </a:r>
            <a:endParaRPr lang="en-US" sz="800" dirty="0"/>
          </a:p>
        </p:txBody>
      </p:sp>
      <p:sp>
        <p:nvSpPr>
          <p:cNvPr id="47" name="Text 42"/>
          <p:cNvSpPr/>
          <p:nvPr/>
        </p:nvSpPr>
        <p:spPr>
          <a:xfrm>
            <a:off x="256032" y="5678424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ギフトカード認証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2176272" y="1947672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2240280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800" dirty="0"/>
          </a:p>
        </p:txBody>
      </p:sp>
      <p:sp>
        <p:nvSpPr>
          <p:cNvPr id="50" name="Text 45"/>
          <p:cNvSpPr/>
          <p:nvPr/>
        </p:nvSpPr>
        <p:spPr>
          <a:xfrm>
            <a:off x="2231136" y="2185416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ignicapos.com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443/HTTPS</a:t>
            </a:r>
            <a:endParaRPr lang="en-US" sz="700" dirty="0"/>
          </a:p>
        </p:txBody>
      </p:sp>
      <p:sp>
        <p:nvSpPr>
          <p:cNvPr id="51" name="Shape 46"/>
          <p:cNvSpPr/>
          <p:nvPr/>
        </p:nvSpPr>
        <p:spPr>
          <a:xfrm>
            <a:off x="2176272" y="2532888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2240280" y="257860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Bastion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2231136" y="27706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10.238.2.39 / t3.xlarge</a:t>
            </a:r>
            <a:endParaRPr lang="en-US" sz="700" dirty="0"/>
          </a:p>
        </p:txBody>
      </p:sp>
      <p:sp>
        <p:nvSpPr>
          <p:cNvPr id="54" name="Shape 49"/>
          <p:cNvSpPr/>
          <p:nvPr/>
        </p:nvSpPr>
        <p:spPr>
          <a:xfrm>
            <a:off x="2176272" y="3118104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40280" y="31638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GiftCard</a:t>
            </a:r>
            <a:endParaRPr lang="en-US" sz="800" dirty="0"/>
          </a:p>
        </p:txBody>
      </p:sp>
      <p:sp>
        <p:nvSpPr>
          <p:cNvPr id="56" name="Text 51"/>
          <p:cNvSpPr/>
          <p:nvPr/>
        </p:nvSpPr>
        <p:spPr>
          <a:xfrm>
            <a:off x="2231136" y="3355848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10.238.2.198 / t2.large</a:t>
            </a:r>
            <a:endParaRPr lang="en-US" sz="700" dirty="0"/>
          </a:p>
        </p:txBody>
      </p:sp>
      <p:sp>
        <p:nvSpPr>
          <p:cNvPr id="57" name="Shape 52"/>
          <p:cNvSpPr/>
          <p:nvPr/>
        </p:nvSpPr>
        <p:spPr>
          <a:xfrm>
            <a:off x="2176272" y="3703320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2240280" y="3749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</a:t>
            </a:r>
            <a:endParaRPr lang="en-US" sz="800" dirty="0"/>
          </a:p>
        </p:txBody>
      </p:sp>
      <p:sp>
        <p:nvSpPr>
          <p:cNvPr id="59" name="Text 54"/>
          <p:cNvSpPr/>
          <p:nvPr/>
        </p:nvSpPr>
        <p:spPr>
          <a:xfrm>
            <a:off x="2231136" y="3941064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db.r5.2xlarge</a:t>
            </a:r>
            <a:endParaRPr lang="en-US" sz="700" dirty="0"/>
          </a:p>
        </p:txBody>
      </p:sp>
      <p:sp>
        <p:nvSpPr>
          <p:cNvPr id="60" name="Shape 55"/>
          <p:cNvSpPr/>
          <p:nvPr/>
        </p:nvSpPr>
        <p:spPr>
          <a:xfrm>
            <a:off x="2176272" y="4288536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40280" y="433425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(21関数)</a:t>
            </a:r>
            <a:endParaRPr lang="en-US" sz="800" dirty="0"/>
          </a:p>
        </p:txBody>
      </p:sp>
      <p:sp>
        <p:nvSpPr>
          <p:cNvPr id="62" name="Text 57"/>
          <p:cNvSpPr/>
          <p:nvPr/>
        </p:nvSpPr>
        <p:spPr>
          <a:xfrm>
            <a:off x="2231136" y="4526280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Java17 / Python</a:t>
            </a:r>
            <a:endParaRPr lang="en-US" sz="700" dirty="0"/>
          </a:p>
        </p:txBody>
      </p:sp>
      <p:sp>
        <p:nvSpPr>
          <p:cNvPr id="63" name="Shape 58"/>
          <p:cNvSpPr/>
          <p:nvPr/>
        </p:nvSpPr>
        <p:spPr>
          <a:xfrm>
            <a:off x="2176272" y="4800600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2240280" y="48463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(3)</a:t>
            </a:r>
            <a:endParaRPr lang="en-US" sz="800" dirty="0"/>
          </a:p>
        </p:txBody>
      </p:sp>
      <p:sp>
        <p:nvSpPr>
          <p:cNvPr id="65" name="Text 60"/>
          <p:cNvSpPr/>
          <p:nvPr/>
        </p:nvSpPr>
        <p:spPr>
          <a:xfrm>
            <a:off x="2231136" y="5038344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</a:t>
            </a:r>
            <a:endParaRPr lang="en-US" sz="700" dirty="0"/>
          </a:p>
        </p:txBody>
      </p:sp>
      <p:sp>
        <p:nvSpPr>
          <p:cNvPr id="66" name="Shape 61"/>
          <p:cNvSpPr/>
          <p:nvPr/>
        </p:nvSpPr>
        <p:spPr>
          <a:xfrm>
            <a:off x="2176272" y="5321808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2240280" y="536752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/ StepFunctions</a:t>
            </a:r>
            <a:endParaRPr lang="en-US" sz="800" dirty="0"/>
          </a:p>
        </p:txBody>
      </p:sp>
      <p:sp>
        <p:nvSpPr>
          <p:cNvPr id="68" name="Text 63"/>
          <p:cNvSpPr/>
          <p:nvPr/>
        </p:nvSpPr>
        <p:spPr>
          <a:xfrm>
            <a:off x="2231136" y="55595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prd-ignica-ksm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2176272" y="5843016"/>
            <a:ext cx="168249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2240280" y="588873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Direct Connect 100M</a:t>
            </a:r>
            <a:endParaRPr lang="en-US" sz="800" dirty="0"/>
          </a:p>
        </p:txBody>
      </p:sp>
      <p:sp>
        <p:nvSpPr>
          <p:cNvPr id="71" name="Text 66"/>
          <p:cNvSpPr/>
          <p:nvPr/>
        </p:nvSpPr>
        <p:spPr>
          <a:xfrm>
            <a:off x="2231136" y="6080760"/>
            <a:ext cx="1572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USMH SmartVPN</a:t>
            </a:r>
            <a:endParaRPr lang="en-US" sz="700" dirty="0"/>
          </a:p>
        </p:txBody>
      </p:sp>
      <p:sp>
        <p:nvSpPr>
          <p:cNvPr id="72" name="Shape 67"/>
          <p:cNvSpPr/>
          <p:nvPr/>
        </p:nvSpPr>
        <p:spPr>
          <a:xfrm>
            <a:off x="4114800" y="1947672"/>
            <a:ext cx="1682496" cy="5029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73" name="Text 68"/>
          <p:cNvSpPr/>
          <p:nvPr/>
        </p:nvSpPr>
        <p:spPr>
          <a:xfrm>
            <a:off x="4178808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800" dirty="0"/>
          </a:p>
        </p:txBody>
      </p:sp>
      <p:sp>
        <p:nvSpPr>
          <p:cNvPr id="74" name="Text 69"/>
          <p:cNvSpPr/>
          <p:nvPr/>
        </p:nvSpPr>
        <p:spPr>
          <a:xfrm>
            <a:off x="4169664" y="2185416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stg.ignicapos.com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API も公開中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114800" y="2532888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76" name="Text 71"/>
          <p:cNvSpPr/>
          <p:nvPr/>
        </p:nvSpPr>
        <p:spPr>
          <a:xfrm>
            <a:off x="4178808" y="257860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STG Web</a:t>
            </a:r>
            <a:endParaRPr lang="en-US" sz="800" dirty="0"/>
          </a:p>
        </p:txBody>
      </p:sp>
      <p:sp>
        <p:nvSpPr>
          <p:cNvPr id="77" name="Text 72"/>
          <p:cNvSpPr/>
          <p:nvPr/>
        </p:nvSpPr>
        <p:spPr>
          <a:xfrm>
            <a:off x="4169664" y="277063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web-fe/web-be / 10.239.2.4</a:t>
            </a:r>
            <a:endParaRPr lang="en-US" sz="700" dirty="0"/>
          </a:p>
        </p:txBody>
      </p:sp>
      <p:sp>
        <p:nvSpPr>
          <p:cNvPr id="78" name="Shape 73"/>
          <p:cNvSpPr/>
          <p:nvPr/>
        </p:nvSpPr>
        <p:spPr>
          <a:xfrm>
            <a:off x="4114800" y="3118104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4178808" y="31638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</a:t>
            </a:r>
            <a:endParaRPr lang="en-US" sz="800" dirty="0"/>
          </a:p>
        </p:txBody>
      </p:sp>
      <p:sp>
        <p:nvSpPr>
          <p:cNvPr id="80" name="Text 75"/>
          <p:cNvSpPr/>
          <p:nvPr/>
        </p:nvSpPr>
        <p:spPr>
          <a:xfrm>
            <a:off x="4169664" y="3355848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db.r5.2xlarge (STG用)</a:t>
            </a:r>
            <a:endParaRPr lang="en-US" sz="700" dirty="0"/>
          </a:p>
        </p:txBody>
      </p:sp>
      <p:sp>
        <p:nvSpPr>
          <p:cNvPr id="81" name="Shape 76"/>
          <p:cNvSpPr/>
          <p:nvPr/>
        </p:nvSpPr>
        <p:spPr>
          <a:xfrm>
            <a:off x="4114800" y="3703320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82" name="Text 77"/>
          <p:cNvSpPr/>
          <p:nvPr/>
        </p:nvSpPr>
        <p:spPr>
          <a:xfrm>
            <a:off x="4178808" y="3749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</a:t>
            </a:r>
            <a:endParaRPr lang="en-US" sz="800" dirty="0"/>
          </a:p>
        </p:txBody>
      </p:sp>
      <p:sp>
        <p:nvSpPr>
          <p:cNvPr id="83" name="Text 78"/>
          <p:cNvSpPr/>
          <p:nvPr/>
        </p:nvSpPr>
        <p:spPr>
          <a:xfrm>
            <a:off x="4169664" y="3941064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SH系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4114800" y="4215384"/>
            <a:ext cx="168249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4178808" y="426110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</a:t>
            </a:r>
            <a:endParaRPr lang="en-US" sz="800" dirty="0"/>
          </a:p>
        </p:txBody>
      </p:sp>
      <p:sp>
        <p:nvSpPr>
          <p:cNvPr id="86" name="Text 81"/>
          <p:cNvSpPr/>
          <p:nvPr/>
        </p:nvSpPr>
        <p:spPr>
          <a:xfrm>
            <a:off x="4169664" y="4453128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</a:t>
            </a:r>
            <a:endParaRPr lang="en-US" sz="700" dirty="0"/>
          </a:p>
        </p:txBody>
      </p:sp>
      <p:sp>
        <p:nvSpPr>
          <p:cNvPr id="87" name="Shape 82"/>
          <p:cNvSpPr/>
          <p:nvPr/>
        </p:nvSpPr>
        <p:spPr>
          <a:xfrm>
            <a:off x="4114800" y="4727448"/>
            <a:ext cx="1682496" cy="5029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88" name="Text 83"/>
          <p:cNvSpPr/>
          <p:nvPr/>
        </p:nvSpPr>
        <p:spPr>
          <a:xfrm>
            <a:off x="4178808" y="477316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IPSec VPN</a:t>
            </a:r>
            <a:endParaRPr lang="en-US" sz="800" dirty="0"/>
          </a:p>
        </p:txBody>
      </p:sp>
      <p:sp>
        <p:nvSpPr>
          <p:cNvPr id="89" name="Text 84"/>
          <p:cNvSpPr/>
          <p:nvPr/>
        </p:nvSpPr>
        <p:spPr>
          <a:xfrm>
            <a:off x="4169664" y="496519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PRD VPC間 ⚠ リスク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4114800" y="5312664"/>
            <a:ext cx="1682496" cy="50292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91" name="Text 86"/>
          <p:cNvSpPr/>
          <p:nvPr/>
        </p:nvSpPr>
        <p:spPr>
          <a:xfrm>
            <a:off x="4178808" y="5358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 SG</a:t>
            </a:r>
            <a:endParaRPr lang="en-US" sz="800" dirty="0"/>
          </a:p>
        </p:txBody>
      </p:sp>
      <p:sp>
        <p:nvSpPr>
          <p:cNvPr id="92" name="Text 87"/>
          <p:cNvSpPr/>
          <p:nvPr/>
        </p:nvSpPr>
        <p:spPr>
          <a:xfrm>
            <a:off x="4169664" y="5550408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全開放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 0.0.0.0/0</a:t>
            </a:r>
            <a:endParaRPr lang="en-US" sz="700" dirty="0"/>
          </a:p>
        </p:txBody>
      </p:sp>
      <p:sp>
        <p:nvSpPr>
          <p:cNvPr id="93" name="Shape 88"/>
          <p:cNvSpPr/>
          <p:nvPr/>
        </p:nvSpPr>
        <p:spPr>
          <a:xfrm>
            <a:off x="4114800" y="5897880"/>
            <a:ext cx="168249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78808" y="5943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</a:t>
            </a:r>
            <a:endParaRPr lang="en-US" sz="800" dirty="0"/>
          </a:p>
        </p:txBody>
      </p:sp>
      <p:sp>
        <p:nvSpPr>
          <p:cNvPr id="95" name="Text 90"/>
          <p:cNvSpPr/>
          <p:nvPr/>
        </p:nvSpPr>
        <p:spPr>
          <a:xfrm>
            <a:off x="4169664" y="6135624"/>
            <a:ext cx="157276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700" dirty="0"/>
          </a:p>
        </p:txBody>
      </p:sp>
      <p:sp>
        <p:nvSpPr>
          <p:cNvPr id="96" name="Shape 91"/>
          <p:cNvSpPr/>
          <p:nvPr/>
        </p:nvSpPr>
        <p:spPr>
          <a:xfrm>
            <a:off x="6035040" y="1929384"/>
            <a:ext cx="1719072" cy="2697480"/>
          </a:xfrm>
          <a:prstGeom prst="rect">
            <a:avLst/>
          </a:prstGeom>
          <a:solidFill>
            <a:srgbClr val="FFFDE7"/>
          </a:solidFill>
          <a:ln w="12700">
            <a:solidFill>
              <a:srgbClr val="E8A040"/>
            </a:solidFill>
            <a:prstDash val="sysDash"/>
          </a:ln>
        </p:spPr>
      </p:sp>
      <p:sp>
        <p:nvSpPr>
          <p:cNvPr id="97" name="Text 92"/>
          <p:cNvSpPr/>
          <p:nvPr/>
        </p:nvSpPr>
        <p:spPr>
          <a:xfrm>
            <a:off x="6053328" y="1938528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posspk-vpc  10.226.51.0/24</a:t>
            </a:r>
            <a:endParaRPr lang="en-US" sz="600" dirty="0"/>
          </a:p>
        </p:txBody>
      </p:sp>
      <p:sp>
        <p:nvSpPr>
          <p:cNvPr id="98" name="Shape 93"/>
          <p:cNvSpPr/>
          <p:nvPr/>
        </p:nvSpPr>
        <p:spPr>
          <a:xfrm>
            <a:off x="6053328" y="2112264"/>
            <a:ext cx="16824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99" name="Text 94"/>
          <p:cNvSpPr/>
          <p:nvPr/>
        </p:nvSpPr>
        <p:spPr>
          <a:xfrm>
            <a:off x="6117336" y="21579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(internet-facing)</a:t>
            </a:r>
            <a:endParaRPr lang="en-US" sz="800" dirty="0"/>
          </a:p>
        </p:txBody>
      </p:sp>
      <p:sp>
        <p:nvSpPr>
          <p:cNvPr id="100" name="Text 95"/>
          <p:cNvSpPr/>
          <p:nvPr/>
        </p:nvSpPr>
        <p:spPr>
          <a:xfrm>
            <a:off x="6108192" y="2350008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ksm-posspk-alb-api-be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6053328" y="2642616"/>
            <a:ext cx="16824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102" name="Text 97"/>
          <p:cNvSpPr/>
          <p:nvPr/>
        </p:nvSpPr>
        <p:spPr>
          <a:xfrm>
            <a:off x="6117336" y="268833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チャージAPI</a:t>
            </a:r>
            <a:endParaRPr lang="en-US" sz="800" dirty="0"/>
          </a:p>
        </p:txBody>
      </p:sp>
      <p:sp>
        <p:nvSpPr>
          <p:cNvPr id="103" name="Text 98"/>
          <p:cNvSpPr/>
          <p:nvPr/>
        </p:nvSpPr>
        <p:spPr>
          <a:xfrm>
            <a:off x="610819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10.226.51.86 healthy ✅</a:t>
            </a:r>
            <a:endParaRPr lang="en-US" sz="700" dirty="0"/>
          </a:p>
        </p:txBody>
      </p:sp>
      <p:sp>
        <p:nvSpPr>
          <p:cNvPr id="104" name="Shape 99"/>
          <p:cNvSpPr/>
          <p:nvPr/>
        </p:nvSpPr>
        <p:spPr>
          <a:xfrm>
            <a:off x="6053328" y="3172968"/>
            <a:ext cx="1682496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105" name="Text 100"/>
          <p:cNvSpPr/>
          <p:nvPr/>
        </p:nvSpPr>
        <p:spPr>
          <a:xfrm>
            <a:off x="6117336" y="321868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</a:t>
            </a:r>
            <a:endParaRPr lang="en-US" sz="800" dirty="0"/>
          </a:p>
        </p:txBody>
      </p:sp>
      <p:sp>
        <p:nvSpPr>
          <p:cNvPr id="106" name="Text 101"/>
          <p:cNvSpPr/>
          <p:nvPr/>
        </p:nvSpPr>
        <p:spPr>
          <a:xfrm>
            <a:off x="6108192" y="3410712"/>
            <a:ext cx="15727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posspk-db-instance-1</a:t>
            </a:r>
            <a:endParaRPr lang="en-US" sz="700" dirty="0"/>
          </a:p>
        </p:txBody>
      </p:sp>
      <p:sp>
        <p:nvSpPr>
          <p:cNvPr id="107" name="Shape 102"/>
          <p:cNvSpPr/>
          <p:nvPr/>
        </p:nvSpPr>
        <p:spPr>
          <a:xfrm>
            <a:off x="6053328" y="3657600"/>
            <a:ext cx="1682496" cy="45720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108" name="Text 103"/>
          <p:cNvSpPr/>
          <p:nvPr/>
        </p:nvSpPr>
        <p:spPr>
          <a:xfrm>
            <a:off x="6117336" y="37033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SGセキュリティ問題</a:t>
            </a:r>
            <a:endParaRPr lang="en-US" sz="800" dirty="0"/>
          </a:p>
        </p:txBody>
      </p:sp>
      <p:sp>
        <p:nvSpPr>
          <p:cNvPr id="109" name="Text 104"/>
          <p:cNvSpPr/>
          <p:nvPr/>
        </p:nvSpPr>
        <p:spPr>
          <a:xfrm>
            <a:off x="6108192" y="389534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ec2-rds-1 全開放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 8080全開放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6035040" y="4709160"/>
            <a:ext cx="1719072" cy="150876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ysDash"/>
          </a:ln>
        </p:spPr>
      </p:sp>
      <p:sp>
        <p:nvSpPr>
          <p:cNvPr id="111" name="Text 106"/>
          <p:cNvSpPr/>
          <p:nvPr/>
        </p:nvSpPr>
        <p:spPr>
          <a:xfrm>
            <a:off x="6053328" y="4718304"/>
            <a:ext cx="1682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pos-dev-vpc  10.226.50.0/24</a:t>
            </a:r>
            <a:endParaRPr lang="en-US" sz="600" dirty="0"/>
          </a:p>
        </p:txBody>
      </p:sp>
      <p:sp>
        <p:nvSpPr>
          <p:cNvPr id="112" name="Shape 107"/>
          <p:cNvSpPr/>
          <p:nvPr/>
        </p:nvSpPr>
        <p:spPr>
          <a:xfrm>
            <a:off x="6053328" y="4892040"/>
            <a:ext cx="1682496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113" name="Text 108"/>
          <p:cNvSpPr/>
          <p:nvPr/>
        </p:nvSpPr>
        <p:spPr>
          <a:xfrm>
            <a:off x="6117336" y="49377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pos-dev各種</a:t>
            </a:r>
            <a:endParaRPr lang="en-US" sz="800" dirty="0"/>
          </a:p>
        </p:txBody>
      </p:sp>
      <p:sp>
        <p:nvSpPr>
          <p:cNvPr id="114" name="Text 109"/>
          <p:cNvSpPr/>
          <p:nvPr/>
        </p:nvSpPr>
        <p:spPr>
          <a:xfrm>
            <a:off x="6108192" y="5129784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GIFT / 棚札 開発DB</a:t>
            </a:r>
            <a:endParaRPr lang="en-US" sz="700" dirty="0"/>
          </a:p>
        </p:txBody>
      </p:sp>
      <p:sp>
        <p:nvSpPr>
          <p:cNvPr id="115" name="Shape 110"/>
          <p:cNvSpPr/>
          <p:nvPr/>
        </p:nvSpPr>
        <p:spPr>
          <a:xfrm>
            <a:off x="6053328" y="5486400"/>
            <a:ext cx="16824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116" name="Text 111"/>
          <p:cNvSpPr/>
          <p:nvPr/>
        </p:nvSpPr>
        <p:spPr>
          <a:xfrm>
            <a:off x="6117336" y="5532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VPC分離（接続なし）</a:t>
            </a:r>
            <a:endParaRPr lang="en-US" sz="800" dirty="0"/>
          </a:p>
        </p:txBody>
      </p:sp>
      <p:sp>
        <p:nvSpPr>
          <p:cNvPr id="117" name="Text 112"/>
          <p:cNvSpPr/>
          <p:nvPr/>
        </p:nvSpPr>
        <p:spPr>
          <a:xfrm>
            <a:off x="6108192" y="5724144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posspk↔pos-dev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ピアリングなし</a:t>
            </a:r>
            <a:endParaRPr lang="en-US" sz="700" dirty="0"/>
          </a:p>
        </p:txBody>
      </p:sp>
      <p:sp>
        <p:nvSpPr>
          <p:cNvPr id="118" name="Shape 113"/>
          <p:cNvSpPr/>
          <p:nvPr/>
        </p:nvSpPr>
        <p:spPr>
          <a:xfrm>
            <a:off x="8101584" y="1691640"/>
            <a:ext cx="16002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19" name="Text 114"/>
          <p:cNvSpPr/>
          <p:nvPr/>
        </p:nvSpPr>
        <p:spPr>
          <a:xfrm>
            <a:off x="8165592" y="173736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オフィス</a:t>
            </a:r>
            <a:endParaRPr lang="en-US" sz="800" dirty="0"/>
          </a:p>
        </p:txBody>
      </p:sp>
      <p:sp>
        <p:nvSpPr>
          <p:cNvPr id="120" name="Text 115"/>
          <p:cNvSpPr/>
          <p:nvPr/>
        </p:nvSpPr>
        <p:spPr>
          <a:xfrm>
            <a:off x="8156448" y="1929384"/>
            <a:ext cx="1490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TP-Link ER605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14.224.146.153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Site-to-Site VPN</a:t>
            </a:r>
            <a:endParaRPr lang="en-US" sz="700" dirty="0"/>
          </a:p>
        </p:txBody>
      </p:sp>
      <p:sp>
        <p:nvSpPr>
          <p:cNvPr id="121" name="Shape 116"/>
          <p:cNvSpPr/>
          <p:nvPr/>
        </p:nvSpPr>
        <p:spPr>
          <a:xfrm>
            <a:off x="8101584" y="2377440"/>
            <a:ext cx="1600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22" name="Text 117"/>
          <p:cNvSpPr/>
          <p:nvPr/>
        </p:nvSpPr>
        <p:spPr>
          <a:xfrm>
            <a:off x="8165592" y="242316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個人PC</a:t>
            </a:r>
            <a:endParaRPr lang="en-US" sz="800" dirty="0"/>
          </a:p>
        </p:txBody>
      </p:sp>
      <p:sp>
        <p:nvSpPr>
          <p:cNvPr id="123" name="Text 118"/>
          <p:cNvSpPr/>
          <p:nvPr/>
        </p:nvSpPr>
        <p:spPr>
          <a:xfrm>
            <a:off x="8156448" y="2615184"/>
            <a:ext cx="149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Client 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OpenVPN UDP1194</a:t>
            </a:r>
            <a:endParaRPr lang="en-US" sz="700" dirty="0"/>
          </a:p>
        </p:txBody>
      </p:sp>
      <p:sp>
        <p:nvSpPr>
          <p:cNvPr id="124" name="Shape 119"/>
          <p:cNvSpPr/>
          <p:nvPr/>
        </p:nvSpPr>
        <p:spPr>
          <a:xfrm>
            <a:off x="8101584" y="2971800"/>
            <a:ext cx="16002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25" name="Text 120"/>
          <p:cNvSpPr/>
          <p:nvPr/>
        </p:nvSpPr>
        <p:spPr>
          <a:xfrm>
            <a:off x="8165592" y="301752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GitLab Runner</a:t>
            </a:r>
            <a:endParaRPr lang="en-US" sz="800" dirty="0"/>
          </a:p>
        </p:txBody>
      </p:sp>
      <p:sp>
        <p:nvSpPr>
          <p:cNvPr id="126" name="Text 121"/>
          <p:cNvSpPr/>
          <p:nvPr/>
        </p:nvSpPr>
        <p:spPr>
          <a:xfrm>
            <a:off x="8156448" y="3209544"/>
            <a:ext cx="1490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pos-runner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10.226.51.115</a:t>
            </a:r>
            <a:endParaRPr lang="en-US" sz="700" dirty="0"/>
          </a:p>
        </p:txBody>
      </p:sp>
      <p:sp>
        <p:nvSpPr>
          <p:cNvPr id="127" name="Shape 122"/>
          <p:cNvSpPr/>
          <p:nvPr/>
        </p:nvSpPr>
        <p:spPr>
          <a:xfrm>
            <a:off x="8101584" y="3657600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28" name="Text 123"/>
          <p:cNvSpPr/>
          <p:nvPr/>
        </p:nvSpPr>
        <p:spPr>
          <a:xfrm>
            <a:off x="8165592" y="370332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CloudShell / IAM</a:t>
            </a:r>
            <a:endParaRPr lang="en-US" sz="800" dirty="0"/>
          </a:p>
        </p:txBody>
      </p:sp>
      <p:sp>
        <p:nvSpPr>
          <p:cNvPr id="129" name="Text 124"/>
          <p:cNvSpPr/>
          <p:nvPr/>
        </p:nvSpPr>
        <p:spPr>
          <a:xfrm>
            <a:off x="8156448" y="3895344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kiyohara user</a:t>
            </a:r>
            <a:endParaRPr lang="en-US" sz="700" dirty="0"/>
          </a:p>
        </p:txBody>
      </p:sp>
      <p:sp>
        <p:nvSpPr>
          <p:cNvPr id="130" name="Shape 125"/>
          <p:cNvSpPr/>
          <p:nvPr/>
        </p:nvSpPr>
        <p:spPr>
          <a:xfrm>
            <a:off x="8101584" y="4297680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31" name="Text 126"/>
          <p:cNvSpPr/>
          <p:nvPr/>
        </p:nvSpPr>
        <p:spPr>
          <a:xfrm>
            <a:off x="8165592" y="434340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00" dirty="0"/>
          </a:p>
        </p:txBody>
      </p:sp>
      <p:sp>
        <p:nvSpPr>
          <p:cNvPr id="132" name="Text 127"/>
          <p:cNvSpPr/>
          <p:nvPr/>
        </p:nvSpPr>
        <p:spPr>
          <a:xfrm>
            <a:off x="8156448" y="4535424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kasumi_pos-server</a:t>
            </a:r>
            <a:endParaRPr lang="en-US" sz="700" dirty="0"/>
          </a:p>
        </p:txBody>
      </p:sp>
      <p:sp>
        <p:nvSpPr>
          <p:cNvPr id="133" name="Shape 128"/>
          <p:cNvSpPr/>
          <p:nvPr/>
        </p:nvSpPr>
        <p:spPr>
          <a:xfrm>
            <a:off x="8101584" y="4937760"/>
            <a:ext cx="1600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34" name="Text 129"/>
          <p:cNvSpPr/>
          <p:nvPr/>
        </p:nvSpPr>
        <p:spPr>
          <a:xfrm>
            <a:off x="8165592" y="498348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Gateway</a:t>
            </a:r>
            <a:endParaRPr lang="en-US" sz="800" dirty="0"/>
          </a:p>
        </p:txBody>
      </p:sp>
      <p:sp>
        <p:nvSpPr>
          <p:cNvPr id="135" name="Text 130"/>
          <p:cNvSpPr/>
          <p:nvPr/>
        </p:nvSpPr>
        <p:spPr>
          <a:xfrm>
            <a:off x="8156448" y="5175504"/>
            <a:ext cx="149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57.182.174.110</a:t>
            </a:r>
            <a:endParaRPr lang="en-US" sz="700" dirty="0"/>
          </a:p>
        </p:txBody>
      </p:sp>
      <p:sp>
        <p:nvSpPr>
          <p:cNvPr id="136" name="Shape 131"/>
          <p:cNvSpPr/>
          <p:nvPr/>
        </p:nvSpPr>
        <p:spPr>
          <a:xfrm>
            <a:off x="8101584" y="5532120"/>
            <a:ext cx="1600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137" name="Text 132"/>
          <p:cNvSpPr/>
          <p:nvPr/>
        </p:nvSpPr>
        <p:spPr>
          <a:xfrm>
            <a:off x="8165592" y="55778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 Endpoint</a:t>
            </a:r>
            <a:endParaRPr lang="en-US" sz="800" dirty="0"/>
          </a:p>
        </p:txBody>
      </p:sp>
      <p:sp>
        <p:nvSpPr>
          <p:cNvPr id="138" name="Text 133"/>
          <p:cNvSpPr/>
          <p:nvPr/>
        </p:nvSpPr>
        <p:spPr>
          <a:xfrm>
            <a:off x="8156448" y="5769864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PRD: 10.238.x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STG: 10.239.x</a:t>
            </a:r>
            <a:endParaRPr lang="en-US" sz="700" dirty="0"/>
          </a:p>
        </p:txBody>
      </p:sp>
      <p:sp>
        <p:nvSpPr>
          <p:cNvPr id="139" name="Shape 134"/>
          <p:cNvSpPr/>
          <p:nvPr/>
        </p:nvSpPr>
        <p:spPr>
          <a:xfrm>
            <a:off x="1892808" y="2715768"/>
            <a:ext cx="4160520" cy="-374904"/>
          </a:xfrm>
          <a:prstGeom prst="line">
            <a:avLst/>
          </a:prstGeom>
          <a:noFill/>
          <a:ln w="19050">
            <a:solidFill>
              <a:srgbClr val="E53935"/>
            </a:solidFill>
            <a:prstDash val="solid"/>
            <a:tailEnd type="arrow"/>
          </a:ln>
        </p:spPr>
      </p:sp>
      <p:sp>
        <p:nvSpPr>
          <p:cNvPr id="140" name="Text 135"/>
          <p:cNvSpPr/>
          <p:nvPr/>
        </p:nvSpPr>
        <p:spPr>
          <a:xfrm>
            <a:off x="3625596" y="2418588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E5393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600" dirty="0"/>
          </a:p>
        </p:txBody>
      </p:sp>
      <p:sp>
        <p:nvSpPr>
          <p:cNvPr id="141" name="Shape 136"/>
          <p:cNvSpPr/>
          <p:nvPr/>
        </p:nvSpPr>
        <p:spPr>
          <a:xfrm>
            <a:off x="1892808" y="3502152"/>
            <a:ext cx="210312" cy="2532888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2" name="Text 137"/>
          <p:cNvSpPr/>
          <p:nvPr/>
        </p:nvSpPr>
        <p:spPr>
          <a:xfrm>
            <a:off x="1650492" y="4658868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DC/VPN</a:t>
            </a:r>
            <a:endParaRPr lang="en-US" sz="600" dirty="0"/>
          </a:p>
        </p:txBody>
      </p:sp>
      <p:sp>
        <p:nvSpPr>
          <p:cNvPr id="143" name="Shape 138"/>
          <p:cNvSpPr/>
          <p:nvPr/>
        </p:nvSpPr>
        <p:spPr>
          <a:xfrm>
            <a:off x="1892808" y="3730752"/>
            <a:ext cx="210312" cy="-356616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4" name="Text 139"/>
          <p:cNvSpPr/>
          <p:nvPr/>
        </p:nvSpPr>
        <p:spPr>
          <a:xfrm>
            <a:off x="1650492" y="3442716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10.156.x</a:t>
            </a:r>
            <a:endParaRPr lang="en-US" sz="600" dirty="0"/>
          </a:p>
        </p:txBody>
      </p:sp>
      <p:sp>
        <p:nvSpPr>
          <p:cNvPr id="145" name="Shape 140"/>
          <p:cNvSpPr/>
          <p:nvPr/>
        </p:nvSpPr>
        <p:spPr>
          <a:xfrm>
            <a:off x="1892808" y="4343400"/>
            <a:ext cx="210312" cy="-214884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146" name="Text 141"/>
          <p:cNvSpPr/>
          <p:nvPr/>
        </p:nvSpPr>
        <p:spPr>
          <a:xfrm>
            <a:off x="1650492" y="3159252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</a:t>
            </a:r>
            <a:endParaRPr lang="en-US" sz="600" dirty="0"/>
          </a:p>
        </p:txBody>
      </p:sp>
      <p:sp>
        <p:nvSpPr>
          <p:cNvPr id="147" name="Shape 142"/>
          <p:cNvSpPr/>
          <p:nvPr/>
        </p:nvSpPr>
        <p:spPr>
          <a:xfrm>
            <a:off x="1892808" y="5056632"/>
            <a:ext cx="210312" cy="-36576"/>
          </a:xfrm>
          <a:prstGeom prst="line">
            <a:avLst/>
          </a:prstGeom>
          <a:noFill/>
          <a:ln w="19050">
            <a:solidFill>
              <a:srgbClr val="CC8844"/>
            </a:solidFill>
            <a:prstDash val="solid"/>
            <a:tailEnd type="arrow"/>
          </a:ln>
        </p:spPr>
      </p:sp>
      <p:sp>
        <p:nvSpPr>
          <p:cNvPr id="148" name="Text 143"/>
          <p:cNvSpPr/>
          <p:nvPr/>
        </p:nvSpPr>
        <p:spPr>
          <a:xfrm>
            <a:off x="1650492" y="4928616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C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SFTP</a:t>
            </a:r>
            <a:endParaRPr lang="en-US" sz="600" dirty="0"/>
          </a:p>
        </p:txBody>
      </p:sp>
      <p:sp>
        <p:nvSpPr>
          <p:cNvPr id="149" name="Shape 144"/>
          <p:cNvSpPr/>
          <p:nvPr/>
        </p:nvSpPr>
        <p:spPr>
          <a:xfrm>
            <a:off x="8010144" y="1984248"/>
            <a:ext cx="-4078224" cy="795528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0" name="Text 145"/>
          <p:cNvSpPr/>
          <p:nvPr/>
        </p:nvSpPr>
        <p:spPr>
          <a:xfrm>
            <a:off x="5623560" y="2272284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600" dirty="0"/>
          </a:p>
        </p:txBody>
      </p:sp>
      <p:sp>
        <p:nvSpPr>
          <p:cNvPr id="151" name="Shape 146"/>
          <p:cNvSpPr/>
          <p:nvPr/>
        </p:nvSpPr>
        <p:spPr>
          <a:xfrm>
            <a:off x="8010144" y="2624328"/>
            <a:ext cx="-2139696" cy="155448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2" name="Text 147"/>
          <p:cNvSpPr/>
          <p:nvPr/>
        </p:nvSpPr>
        <p:spPr>
          <a:xfrm>
            <a:off x="6592824" y="2592324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600" dirty="0"/>
          </a:p>
        </p:txBody>
      </p:sp>
      <p:sp>
        <p:nvSpPr>
          <p:cNvPr id="153" name="Shape 148"/>
          <p:cNvSpPr/>
          <p:nvPr/>
        </p:nvSpPr>
        <p:spPr>
          <a:xfrm>
            <a:off x="8010144" y="3218688"/>
            <a:ext cx="-201168" cy="-877824"/>
          </a:xfrm>
          <a:prstGeom prst="line">
            <a:avLst/>
          </a:prstGeom>
          <a:noFill/>
          <a:ln w="19050">
            <a:solidFill>
              <a:srgbClr val="6644AA"/>
            </a:solidFill>
            <a:prstDash val="solid"/>
            <a:tailEnd type="arrow"/>
          </a:ln>
        </p:spPr>
      </p:sp>
      <p:sp>
        <p:nvSpPr>
          <p:cNvPr id="154" name="Text 149"/>
          <p:cNvSpPr/>
          <p:nvPr/>
        </p:nvSpPr>
        <p:spPr>
          <a:xfrm>
            <a:off x="7562088" y="2670048"/>
            <a:ext cx="73152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</a:t>
            </a:r>
            <a:endParaRPr lang="en-US" sz="600" dirty="0"/>
          </a:p>
        </p:txBody>
      </p:sp>
      <p:sp>
        <p:nvSpPr>
          <p:cNvPr id="155" name="Shape 150"/>
          <p:cNvSpPr/>
          <p:nvPr/>
        </p:nvSpPr>
        <p:spPr>
          <a:xfrm>
            <a:off x="3931920" y="4974336"/>
            <a:ext cx="109728" cy="0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  <a:headEnd type="arrow"/>
            <a:tailEnd type="arrow"/>
          </a:ln>
        </p:spPr>
      </p:sp>
      <p:sp>
        <p:nvSpPr>
          <p:cNvPr id="156" name="Text 151"/>
          <p:cNvSpPr/>
          <p:nvPr/>
        </p:nvSpPr>
        <p:spPr>
          <a:xfrm>
            <a:off x="3950208" y="4818888"/>
            <a:ext cx="164592" cy="1463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IPSec</a:t>
            </a:r>
            <a:endParaRPr lang="en-US" sz="550" dirty="0"/>
          </a:p>
        </p:txBody>
      </p:sp>
      <p:sp>
        <p:nvSpPr>
          <p:cNvPr id="157" name="Shape 152"/>
          <p:cNvSpPr/>
          <p:nvPr/>
        </p:nvSpPr>
        <p:spPr>
          <a:xfrm>
            <a:off x="2011680" y="6318504"/>
            <a:ext cx="128016" cy="109728"/>
          </a:xfrm>
          <a:prstGeom prst="rect">
            <a:avLst/>
          </a:prstGeom>
          <a:solidFill>
            <a:srgbClr val="228844"/>
          </a:solidFill>
          <a:ln w="12700">
            <a:solidFill>
              <a:srgbClr val="228844"/>
            </a:solidFill>
            <a:prstDash val="solid"/>
          </a:ln>
        </p:spPr>
      </p:sp>
      <p:sp>
        <p:nvSpPr>
          <p:cNvPr id="158" name="Text 153"/>
          <p:cNvSpPr/>
          <p:nvPr/>
        </p:nvSpPr>
        <p:spPr>
          <a:xfrm>
            <a:off x="216712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 本番</a:t>
            </a:r>
            <a:endParaRPr lang="en-US" sz="650" dirty="0"/>
          </a:p>
        </p:txBody>
      </p:sp>
      <p:sp>
        <p:nvSpPr>
          <p:cNvPr id="159" name="Shape 154"/>
          <p:cNvSpPr/>
          <p:nvPr/>
        </p:nvSpPr>
        <p:spPr>
          <a:xfrm>
            <a:off x="3017520" y="6318504"/>
            <a:ext cx="128016" cy="109728"/>
          </a:xfrm>
          <a:prstGeom prst="rect">
            <a:avLst/>
          </a:prstGeom>
          <a:solidFill>
            <a:srgbClr val="2266AA"/>
          </a:solidFill>
          <a:ln w="12700">
            <a:solidFill>
              <a:srgbClr val="2266AA"/>
            </a:solidFill>
            <a:prstDash val="solid"/>
          </a:ln>
        </p:spPr>
      </p:sp>
      <p:sp>
        <p:nvSpPr>
          <p:cNvPr id="160" name="Text 155"/>
          <p:cNvSpPr/>
          <p:nvPr/>
        </p:nvSpPr>
        <p:spPr>
          <a:xfrm>
            <a:off x="317296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 検証</a:t>
            </a:r>
            <a:endParaRPr lang="en-US" sz="650" dirty="0"/>
          </a:p>
        </p:txBody>
      </p:sp>
      <p:sp>
        <p:nvSpPr>
          <p:cNvPr id="161" name="Shape 156"/>
          <p:cNvSpPr/>
          <p:nvPr/>
        </p:nvSpPr>
        <p:spPr>
          <a:xfrm>
            <a:off x="4023360" y="6318504"/>
            <a:ext cx="128016" cy="109728"/>
          </a:xfrm>
          <a:prstGeom prst="rect">
            <a:avLst/>
          </a:prstGeom>
          <a:solidFill>
            <a:srgbClr val="B07020"/>
          </a:solidFill>
          <a:ln w="12700">
            <a:solidFill>
              <a:srgbClr val="B07020"/>
            </a:solidFill>
            <a:prstDash val="solid"/>
          </a:ln>
        </p:spPr>
      </p:sp>
      <p:sp>
        <p:nvSpPr>
          <p:cNvPr id="162" name="Text 157"/>
          <p:cNvSpPr/>
          <p:nvPr/>
        </p:nvSpPr>
        <p:spPr>
          <a:xfrm>
            <a:off x="417880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開発</a:t>
            </a:r>
            <a:endParaRPr lang="en-US" sz="650" dirty="0"/>
          </a:p>
        </p:txBody>
      </p:sp>
      <p:sp>
        <p:nvSpPr>
          <p:cNvPr id="163" name="Shape 158"/>
          <p:cNvSpPr/>
          <p:nvPr/>
        </p:nvSpPr>
        <p:spPr>
          <a:xfrm>
            <a:off x="5029200" y="6318504"/>
            <a:ext cx="128016" cy="109728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64" name="Text 159"/>
          <p:cNvSpPr/>
          <p:nvPr/>
        </p:nvSpPr>
        <p:spPr>
          <a:xfrm>
            <a:off x="518464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セキュリティ問題</a:t>
            </a:r>
            <a:endParaRPr lang="en-US" sz="650" dirty="0"/>
          </a:p>
        </p:txBody>
      </p:sp>
      <p:sp>
        <p:nvSpPr>
          <p:cNvPr id="165" name="Shape 160"/>
          <p:cNvSpPr/>
          <p:nvPr/>
        </p:nvSpPr>
        <p:spPr>
          <a:xfrm>
            <a:off x="6035040" y="6318504"/>
            <a:ext cx="128016" cy="109728"/>
          </a:xfrm>
          <a:prstGeom prst="rect">
            <a:avLst/>
          </a:prstGeom>
          <a:solidFill>
            <a:srgbClr val="AA6622"/>
          </a:solidFill>
          <a:ln w="12700">
            <a:solidFill>
              <a:srgbClr val="AA6622"/>
            </a:solidFill>
            <a:prstDash val="solid"/>
          </a:ln>
        </p:spPr>
      </p:sp>
      <p:sp>
        <p:nvSpPr>
          <p:cNvPr id="166" name="Text 161"/>
          <p:cNvSpPr/>
          <p:nvPr/>
        </p:nvSpPr>
        <p:spPr>
          <a:xfrm>
            <a:off x="619048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外部連携 / USMH</a:t>
            </a:r>
            <a:endParaRPr lang="en-US" sz="650" dirty="0"/>
          </a:p>
        </p:txBody>
      </p:sp>
      <p:sp>
        <p:nvSpPr>
          <p:cNvPr id="167" name="Shape 162"/>
          <p:cNvSpPr/>
          <p:nvPr/>
        </p:nvSpPr>
        <p:spPr>
          <a:xfrm>
            <a:off x="7040880" y="6318504"/>
            <a:ext cx="128016" cy="109728"/>
          </a:xfrm>
          <a:prstGeom prst="rect">
            <a:avLst/>
          </a:prstGeom>
          <a:solidFill>
            <a:srgbClr val="6644AA"/>
          </a:solidFill>
          <a:ln w="12700">
            <a:solidFill>
              <a:srgbClr val="6644AA"/>
            </a:solidFill>
            <a:prstDash val="solid"/>
          </a:ln>
        </p:spPr>
      </p:sp>
      <p:sp>
        <p:nvSpPr>
          <p:cNvPr id="168" name="Text 163"/>
          <p:cNvSpPr/>
          <p:nvPr/>
        </p:nvSpPr>
        <p:spPr>
          <a:xfrm>
            <a:off x="7196328" y="6300216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/ 運用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本番環境（PRD）詳細構成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AWSアカウント: 332802448674  |  VPC: vpc-0e2d2d27b6860b7fc (10.238.0.0/16)  |  AZ: ap-northeast-1a / 1c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本番環境 (PRD) 詳細構成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3657600" cy="4937760"/>
          </a:xfrm>
          <a:prstGeom prst="rect">
            <a:avLst/>
          </a:prstGeom>
          <a:solidFill>
            <a:srgbClr val="F0FFF0"/>
          </a:solidFill>
          <a:ln w="19050">
            <a:solidFill>
              <a:srgbClr val="44AA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3657600" cy="219456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14" name="Text 9"/>
          <p:cNvSpPr/>
          <p:nvPr/>
        </p:nvSpPr>
        <p:spPr>
          <a:xfrm>
            <a:off x="201168" y="14447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 / コンピューティング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6" name="Text 11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インターネット層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01168" y="1947672"/>
            <a:ext cx="34747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65176" y="199339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 ksm-posprd-alb-api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256032" y="2185416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internet-facing  |  443 / HTTPS  |  DNS: ignicapos.com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Route53: ignicapos.com → ALB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109728" y="265176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1" name="Text 16"/>
          <p:cNvSpPr/>
          <p:nvPr/>
        </p:nvSpPr>
        <p:spPr>
          <a:xfrm>
            <a:off x="109728" y="265176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EC2インスタンス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201168" y="2907792"/>
            <a:ext cx="167335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265176" y="2953512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Bastion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256032" y="3145536"/>
            <a:ext cx="1563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10.238.2.39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t3.xlarge / AZ: 1a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SG: bastion-sg</a:t>
            </a:r>
            <a:endParaRPr lang="en-US" sz="700" dirty="0"/>
          </a:p>
        </p:txBody>
      </p:sp>
      <p:sp>
        <p:nvSpPr>
          <p:cNvPr id="25" name="Shape 20"/>
          <p:cNvSpPr/>
          <p:nvPr/>
        </p:nvSpPr>
        <p:spPr>
          <a:xfrm>
            <a:off x="1911096" y="2907792"/>
            <a:ext cx="167335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1975104" y="2953512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GiftCard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1965960" y="3145536"/>
            <a:ext cx="1563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10.238.2.198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t2.large / AZ: 1a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SG: giftcard-sg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109728" y="365760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9" name="Text 24"/>
          <p:cNvSpPr/>
          <p:nvPr/>
        </p:nvSpPr>
        <p:spPr>
          <a:xfrm>
            <a:off x="109728" y="365760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サーバーレス / バッチ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201168" y="3913632"/>
            <a:ext cx="3474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65176" y="395935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21関数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256032" y="4151376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ksm-posprd-lmd-* (Java 17, 128-2048 MB, timeout 300-900s)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主要: get-sync-store / sent-txt-file / oc-import / sg-import / sh-import</a:t>
            </a:r>
            <a:endParaRPr lang="en-US" sz="700" dirty="0"/>
          </a:p>
        </p:txBody>
      </p:sp>
      <p:sp>
        <p:nvSpPr>
          <p:cNvPr id="33" name="Shape 28"/>
          <p:cNvSpPr/>
          <p:nvPr/>
        </p:nvSpPr>
        <p:spPr>
          <a:xfrm>
            <a:off x="109728" y="470916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4" name="Text 29"/>
          <p:cNvSpPr/>
          <p:nvPr/>
        </p:nvSpPr>
        <p:spPr>
          <a:xfrm>
            <a:off x="109728" y="470916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StepFunctions / SQS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201168" y="4965192"/>
            <a:ext cx="16733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265176" y="5010912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StepFunctions (7)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256032" y="5202936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oc系×3 / sg系×2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sh系×1 / sent-txt×1</a:t>
            </a:r>
            <a:endParaRPr lang="en-US" sz="700" dirty="0"/>
          </a:p>
        </p:txBody>
      </p:sp>
      <p:sp>
        <p:nvSpPr>
          <p:cNvPr id="38" name="Shape 33"/>
          <p:cNvSpPr/>
          <p:nvPr/>
        </p:nvSpPr>
        <p:spPr>
          <a:xfrm>
            <a:off x="1911096" y="4965192"/>
            <a:ext cx="16733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1975104" y="5010912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SQS FIFO (2)</a:t>
            </a:r>
            <a:endParaRPr lang="en-US" sz="800" dirty="0"/>
          </a:p>
        </p:txBody>
      </p:sp>
      <p:sp>
        <p:nvSpPr>
          <p:cNvPr id="40" name="Text 35"/>
          <p:cNvSpPr/>
          <p:nvPr/>
        </p:nvSpPr>
        <p:spPr>
          <a:xfrm>
            <a:off x="1965960" y="5202936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sqs-export-queue-sg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sqs-store-code-queue-sg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109728" y="562356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42" name="Text 37"/>
          <p:cNvSpPr/>
          <p:nvPr/>
        </p:nvSpPr>
        <p:spPr>
          <a:xfrm>
            <a:off x="109728" y="562356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接続・ルーティング</a:t>
            </a:r>
            <a:endParaRPr lang="en-US" sz="800" dirty="0"/>
          </a:p>
        </p:txBody>
      </p:sp>
      <p:sp>
        <p:nvSpPr>
          <p:cNvPr id="43" name="Shape 38"/>
          <p:cNvSpPr/>
          <p:nvPr/>
        </p:nvSpPr>
        <p:spPr>
          <a:xfrm>
            <a:off x="201168" y="5879592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265176" y="592531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Gateway / Direct Connect / IPSec VPN</a:t>
            </a:r>
            <a:endParaRPr lang="en-US" sz="800" dirty="0"/>
          </a:p>
        </p:txBody>
      </p:sp>
      <p:sp>
        <p:nvSpPr>
          <p:cNvPr id="45" name="Text 40"/>
          <p:cNvSpPr/>
          <p:nvPr/>
        </p:nvSpPr>
        <p:spPr>
          <a:xfrm>
            <a:off x="256032" y="6117336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NAT GW Public IP: 57.182.174.110  |  DC: 100Mbps → USMH SmartVPN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IPSec VPN: vpn-0ea9b7895f78e4c7e  |  CGW: 14.224.146.153 (BGP ASN=65000)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4133088" y="1417320"/>
            <a:ext cx="3840480" cy="4937760"/>
          </a:xfrm>
          <a:prstGeom prst="rect">
            <a:avLst/>
          </a:prstGeom>
          <a:solidFill>
            <a:srgbClr val="F0FFF0"/>
          </a:solidFill>
          <a:ln w="19050">
            <a:solidFill>
              <a:srgbClr val="44AA6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2"/>
          <p:cNvSpPr/>
          <p:nvPr/>
        </p:nvSpPr>
        <p:spPr>
          <a:xfrm>
            <a:off x="4133088" y="1417320"/>
            <a:ext cx="3840480" cy="219456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48" name="Text 43"/>
          <p:cNvSpPr/>
          <p:nvPr/>
        </p:nvSpPr>
        <p:spPr>
          <a:xfrm>
            <a:off x="4224528" y="14447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 / ストレージ / 外部連携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0" name="Text 45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データベース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4224528" y="1947672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4288536" y="1993392"/>
            <a:ext cx="3529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  (Primary + Replica)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4279392" y="2185416"/>
            <a:ext cx="3547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Primary: db.r5.2xlarge  |  Replica: db.t3.medium  |  Multi-AZ: No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Secrets: prd/Mail_Kasumi / Batch_Kasumi / Replica_Kasumi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SM: ksm-posprd-sm-db / db-replica / sftp</a:t>
            </a:r>
            <a:endParaRPr lang="en-US" sz="700" dirty="0"/>
          </a:p>
        </p:txBody>
      </p:sp>
      <p:sp>
        <p:nvSpPr>
          <p:cNvPr id="54" name="Shape 49"/>
          <p:cNvSpPr/>
          <p:nvPr/>
        </p:nvSpPr>
        <p:spPr>
          <a:xfrm>
            <a:off x="109728" y="2834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109728" y="2834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S3バケット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224528" y="3090672"/>
            <a:ext cx="3657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4288536" y="3136392"/>
            <a:ext cx="3529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S3バケット (主要5件)</a:t>
            </a:r>
            <a:endParaRPr lang="en-US" sz="800" dirty="0"/>
          </a:p>
        </p:txBody>
      </p:sp>
      <p:sp>
        <p:nvSpPr>
          <p:cNvPr id="58" name="Text 53"/>
          <p:cNvSpPr/>
          <p:nvPr/>
        </p:nvSpPr>
        <p:spPr>
          <a:xfrm>
            <a:off x="4279392" y="3328416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prd-ignica-ksm (メイン)  |  prd-ignica-ksm-master-backup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prd-ignica-ksm-pmlogs  |  prd-ignica-com-lmd-jar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prd-aeon-gift-card</a:t>
            </a:r>
            <a:endParaRPr lang="en-US" sz="700" dirty="0"/>
          </a:p>
        </p:txBody>
      </p:sp>
      <p:sp>
        <p:nvSpPr>
          <p:cNvPr id="59" name="Shape 54"/>
          <p:cNvSpPr/>
          <p:nvPr/>
        </p:nvSpPr>
        <p:spPr>
          <a:xfrm>
            <a:off x="109728" y="388620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60" name="Text 55"/>
          <p:cNvSpPr/>
          <p:nvPr/>
        </p:nvSpPr>
        <p:spPr>
          <a:xfrm>
            <a:off x="109728" y="388620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/ SFTP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4224528" y="4142232"/>
            <a:ext cx="3657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4288536" y="4187952"/>
            <a:ext cx="3529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Transfer Family (3台: OC / SG / SH)</a:t>
            </a:r>
            <a:endParaRPr lang="en-US" sz="800" dirty="0"/>
          </a:p>
        </p:txBody>
      </p:sp>
      <p:sp>
        <p:nvSpPr>
          <p:cNvPr id="63" name="Text 58"/>
          <p:cNvSpPr/>
          <p:nvPr/>
        </p:nvSpPr>
        <p:spPr>
          <a:xfrm>
            <a:off x="4279392" y="4379976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Type: VPCエンドポイント  |  認証: SERVICE_MANAGED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OC受信: 基幹データ (BIPROGY/OpenCentral)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SG受信: POSデータ (VINX/PosServer)  |  SH受信: 棚情報 (SHARP)</a:t>
            </a:r>
            <a:endParaRPr lang="en-US" sz="700" dirty="0"/>
          </a:p>
        </p:txBody>
      </p:sp>
      <p:sp>
        <p:nvSpPr>
          <p:cNvPr id="64" name="Shape 59"/>
          <p:cNvSpPr/>
          <p:nvPr/>
        </p:nvSpPr>
        <p:spPr>
          <a:xfrm>
            <a:off x="109728" y="493776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65" name="Text 60"/>
          <p:cNvSpPr/>
          <p:nvPr/>
        </p:nvSpPr>
        <p:spPr>
          <a:xfrm>
            <a:off x="109728" y="493776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EventBridge スケジュール</a:t>
            </a:r>
            <a:endParaRPr lang="en-US" sz="800" dirty="0"/>
          </a:p>
        </p:txBody>
      </p:sp>
      <p:sp>
        <p:nvSpPr>
          <p:cNvPr id="66" name="Shape 61"/>
          <p:cNvSpPr/>
          <p:nvPr/>
        </p:nvSpPr>
        <p:spPr>
          <a:xfrm>
            <a:off x="4224528" y="5193792"/>
            <a:ext cx="3657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4288536" y="5239512"/>
            <a:ext cx="3529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EventBridge ルール</a:t>
            </a:r>
            <a:endParaRPr lang="en-US" sz="800" dirty="0"/>
          </a:p>
        </p:txBody>
      </p:sp>
      <p:sp>
        <p:nvSpPr>
          <p:cNvPr id="68" name="Text 63"/>
          <p:cNvSpPr/>
          <p:nvPr/>
        </p:nvSpPr>
        <p:spPr>
          <a:xfrm>
            <a:off x="4279392" y="5431536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P001監視: cron(00 15 * * ? *) → JST 00:00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ItemMaster: cron(30 20 * * ? *) → JST 05:30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109728" y="585216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109728" y="585216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外部連携フロー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224528" y="6062472"/>
            <a:ext cx="36576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72" name="Text 67"/>
          <p:cNvSpPr/>
          <p:nvPr/>
        </p:nvSpPr>
        <p:spPr>
          <a:xfrm>
            <a:off x="4288536" y="6108192"/>
            <a:ext cx="3529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88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外部送信: Lambda → 平文FTP → USMH FTPサーバー</a:t>
            </a:r>
            <a:endParaRPr lang="en-US" sz="800" dirty="0"/>
          </a:p>
        </p:txBody>
      </p:sp>
      <p:sp>
        <p:nvSpPr>
          <p:cNvPr id="73" name="Text 68"/>
          <p:cNvSpPr/>
          <p:nvPr/>
        </p:nvSpPr>
        <p:spPr>
          <a:xfrm>
            <a:off x="4279392" y="630021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sent-txt-file (Apache Commons Net FTPClient)  |  送信先パス: /{storeCode}/Recv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FtpHost/Port/User/Password → Aurora MySQL から取得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検証環境（STG）詳細構成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AWSアカウント: 750735758916  |  VPC: 10.239.0.0/16  |  URL: stg.ignicapos.com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検証環境 (STG) 詳細構成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3657600" cy="493776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3657600" cy="219456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14" name="Text 9"/>
          <p:cNvSpPr/>
          <p:nvPr/>
        </p:nvSpPr>
        <p:spPr>
          <a:xfrm>
            <a:off x="201168" y="14447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 / コンピューティング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6" name="Text 11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/ フロントエンド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01168" y="1947672"/>
            <a:ext cx="3474720" cy="68580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65176" y="199339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 (internet-facing)  ← ⚠ 注意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256032" y="2185416"/>
            <a:ext cx="3364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stg.ignicapos.com  |  443 / HTTPS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管理API (8080) もインターネットから到達可能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SG: sg-0effaabe6a665297b (全開放)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109728" y="269748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1" name="Text 16"/>
          <p:cNvSpPr/>
          <p:nvPr/>
        </p:nvSpPr>
        <p:spPr>
          <a:xfrm>
            <a:off x="109728" y="269748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EC2インスタンス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201168" y="2953512"/>
            <a:ext cx="3474720" cy="640080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265176" y="299923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STG Web (web-fe + web-be)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256032" y="3191256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IP: 10.239.2.4  |  AZ: ap-northeast-1a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web-be SG: TCP 8080 / 0.0.0.0/0 全開放</a:t>
            </a:r>
            <a:endParaRPr lang="en-US" sz="700" dirty="0"/>
          </a:p>
        </p:txBody>
      </p:sp>
      <p:sp>
        <p:nvSpPr>
          <p:cNvPr id="25" name="Shape 20"/>
          <p:cNvSpPr/>
          <p:nvPr/>
        </p:nvSpPr>
        <p:spPr>
          <a:xfrm>
            <a:off x="109728" y="365760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6" name="Text 21"/>
          <p:cNvSpPr/>
          <p:nvPr/>
        </p:nvSpPr>
        <p:spPr>
          <a:xfrm>
            <a:off x="109728" y="365760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データベース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201168" y="3913632"/>
            <a:ext cx="34747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65176" y="395935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8.0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256032" y="4151376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db.r5.2xlarge  |  STG専用インスタンス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エンドポイント: STG DBクラスター</a:t>
            </a:r>
            <a:endParaRPr lang="en-US" sz="700" dirty="0"/>
          </a:p>
        </p:txBody>
      </p:sp>
      <p:sp>
        <p:nvSpPr>
          <p:cNvPr id="30" name="Shape 25"/>
          <p:cNvSpPr/>
          <p:nvPr/>
        </p:nvSpPr>
        <p:spPr>
          <a:xfrm>
            <a:off x="109728" y="461772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1" name="Text 26"/>
          <p:cNvSpPr/>
          <p:nvPr/>
        </p:nvSpPr>
        <p:spPr>
          <a:xfrm>
            <a:off x="109728" y="461772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サーバーレス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201168" y="4873752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265176" y="491947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Lambda / Transfer Family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256032" y="5111496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 / SG / SH系 (PRDと同様の構成)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109728" y="544068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6" name="Text 31"/>
          <p:cNvSpPr/>
          <p:nvPr/>
        </p:nvSpPr>
        <p:spPr>
          <a:xfrm>
            <a:off x="109728" y="544068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VPN接続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201168" y="5696712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265176" y="574243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Client VPN (OpenVPN UDP1194)</a:t>
            </a:r>
            <a:endParaRPr lang="en-US" sz="800" dirty="0"/>
          </a:p>
        </p:txBody>
      </p:sp>
      <p:sp>
        <p:nvSpPr>
          <p:cNvPr id="39" name="Text 34"/>
          <p:cNvSpPr/>
          <p:nvPr/>
        </p:nvSpPr>
        <p:spPr>
          <a:xfrm>
            <a:off x="256032" y="5934456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Luvina個人PC → STG VPC内接続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Bastion経由で内部リソースにアクセス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4114800" y="1417320"/>
            <a:ext cx="5678424" cy="4937760"/>
          </a:xfrm>
          <a:prstGeom prst="rect">
            <a:avLst/>
          </a:prstGeom>
          <a:solidFill>
            <a:srgbClr val="FFF0F0"/>
          </a:solidFill>
          <a:ln w="19050">
            <a:solidFill>
              <a:srgbClr val="D023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4114800" y="1417320"/>
            <a:ext cx="5678424" cy="21945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42" name="Text 37"/>
          <p:cNvSpPr/>
          <p:nvPr/>
        </p:nvSpPr>
        <p:spPr>
          <a:xfrm>
            <a:off x="4206240" y="1444752"/>
            <a:ext cx="5495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セキュリティ問題 / 改修状況 (KSM-AWS-018)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44" name="Text 39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識別済みセキュリティ問題</a:t>
            </a:r>
            <a:endParaRPr lang="en-US" sz="800" dirty="0"/>
          </a:p>
        </p:txBody>
      </p:sp>
      <p:sp>
        <p:nvSpPr>
          <p:cNvPr id="45" name="Shape 40"/>
          <p:cNvSpPr/>
          <p:nvPr/>
        </p:nvSpPr>
        <p:spPr>
          <a:xfrm>
            <a:off x="4206240" y="1947672"/>
            <a:ext cx="5495544" cy="97840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4270248" y="1993392"/>
            <a:ext cx="5367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ALB SGが全開放</a:t>
            </a:r>
            <a:endParaRPr lang="en-US" sz="800" dirty="0"/>
          </a:p>
        </p:txBody>
      </p:sp>
      <p:sp>
        <p:nvSpPr>
          <p:cNvPr id="47" name="Text 42"/>
          <p:cNvSpPr/>
          <p:nvPr/>
        </p:nvSpPr>
        <p:spPr>
          <a:xfrm>
            <a:off x="4261104" y="2185416"/>
            <a:ext cx="53858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ksm-posstg-vpc-sg-alb-web-be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すべてのトラフィック / 0.0.0.0/0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改修: internal化 + 全開放ルール削除必要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4206240" y="3017520"/>
            <a:ext cx="5495544" cy="97840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4270248" y="3063240"/>
            <a:ext cx="5367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web-be SGが8080全開放</a:t>
            </a:r>
            <a:endParaRPr lang="en-US" sz="800" dirty="0"/>
          </a:p>
        </p:txBody>
      </p:sp>
      <p:sp>
        <p:nvSpPr>
          <p:cNvPr id="50" name="Text 45"/>
          <p:cNvSpPr/>
          <p:nvPr/>
        </p:nvSpPr>
        <p:spPr>
          <a:xfrm>
            <a:off x="4261104" y="3255264"/>
            <a:ext cx="53858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TCP 8080 / 0.0.0.0/0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APIエンドポイントが直接公開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改修: ALB SG からのみ許可に制限</a:t>
            </a:r>
            <a:endParaRPr lang="en-US" sz="700" dirty="0"/>
          </a:p>
        </p:txBody>
      </p:sp>
      <p:sp>
        <p:nvSpPr>
          <p:cNvPr id="51" name="Shape 46"/>
          <p:cNvSpPr/>
          <p:nvPr/>
        </p:nvSpPr>
        <p:spPr>
          <a:xfrm>
            <a:off x="4206240" y="4087368"/>
            <a:ext cx="5495544" cy="97840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4270248" y="4133088"/>
            <a:ext cx="5367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STG→PRD IPSec VPN経由侵入リスク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4261104" y="4325112"/>
            <a:ext cx="53858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STG侵害時にPRDへのラテラルムーブメント可能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vpn-0ea9b7895f78e4c7e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改修: VPN接続の要否検討・アクセス制御強化</a:t>
            </a:r>
            <a:endParaRPr lang="en-US" sz="700" dirty="0"/>
          </a:p>
        </p:txBody>
      </p:sp>
      <p:sp>
        <p:nvSpPr>
          <p:cNvPr id="54" name="Shape 49"/>
          <p:cNvSpPr/>
          <p:nvPr/>
        </p:nvSpPr>
        <p:spPr>
          <a:xfrm>
            <a:off x="4206240" y="5157216"/>
            <a:ext cx="5495544" cy="978408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4270248" y="5202936"/>
            <a:ext cx="5367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JWTトークン有効期限 17年</a:t>
            </a:r>
            <a:endParaRPr lang="en-US" sz="800" dirty="0"/>
          </a:p>
        </p:txBody>
      </p:sp>
      <p:sp>
        <p:nvSpPr>
          <p:cNvPr id="56" name="Text 51"/>
          <p:cNvSpPr/>
          <p:nvPr/>
        </p:nvSpPr>
        <p:spPr>
          <a:xfrm>
            <a:off x="4261104" y="5394960"/>
            <a:ext cx="53858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事実上無期限トークン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トークン漏洩時のリスク極大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改修: 有効期限を適切な値 (例: 24h) に変更</a:t>
            </a:r>
            <a:endParaRPr lang="en-US" sz="700" dirty="0"/>
          </a:p>
        </p:txBody>
      </p:sp>
      <p:sp>
        <p:nvSpPr>
          <p:cNvPr id="57" name="Shape 52"/>
          <p:cNvSpPr/>
          <p:nvPr/>
        </p:nvSpPr>
        <p:spPr>
          <a:xfrm>
            <a:off x="4206240" y="6080760"/>
            <a:ext cx="5495544" cy="292608"/>
          </a:xfrm>
          <a:prstGeom prst="rect">
            <a:avLst/>
          </a:prstGeom>
          <a:solidFill>
            <a:srgbClr val="FFF0F0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4206240" y="6080760"/>
            <a:ext cx="5495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改修指示書 KSM-AWS-018 発行済み  |  対応承認待ち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0292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4980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開発環境（DEV）詳細構成</a:t>
            </a:r>
            <a:endParaRPr lang="en-US" sz="1900" dirty="0"/>
          </a:p>
        </p:txBody>
      </p:sp>
      <p:sp>
        <p:nvSpPr>
          <p:cNvPr id="8" name="Text 3"/>
          <p:cNvSpPr/>
          <p:nvPr/>
        </p:nvSpPr>
        <p:spPr>
          <a:xfrm>
            <a:off x="493776" y="1188720"/>
            <a:ext cx="8915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AWSアカウント: 891376952870  |  posspk-vpc: 10.226.51.0/24  |  pos-dev-vpc: 10.226.50.0/24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1828800" y="656539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POS  |  開発環境 (DEV) 詳細構成  |  CONFIDENTIAL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9728" y="1417320"/>
            <a:ext cx="4617720" cy="4937760"/>
          </a:xfrm>
          <a:prstGeom prst="rect">
            <a:avLst/>
          </a:prstGeom>
          <a:solidFill>
            <a:srgbClr val="FFF5EB"/>
          </a:solidFill>
          <a:ln w="19050">
            <a:solidFill>
              <a:srgbClr val="E8A04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109728" y="1417320"/>
            <a:ext cx="4617720" cy="219456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14" name="Text 9"/>
          <p:cNvSpPr/>
          <p:nvPr/>
        </p:nvSpPr>
        <p:spPr>
          <a:xfrm>
            <a:off x="201168" y="1444752"/>
            <a:ext cx="4434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posspk-vpc  (10.226.51.0/24)  ─ マルエツチャージ本番環境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6" name="Text 11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インターネット層 (チャージ端末アクセス)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01168" y="1947672"/>
            <a:ext cx="4434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65176" y="1993392"/>
            <a:ext cx="4306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 ksm-posspk-alb-api-be  (internet-facing)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256032" y="2185416"/>
            <a:ext cx="4325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Port: 443 / 8443  |  HTTPS経由でマルエツチャージ端末からアクセス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ALB SG: 全開放状態  |  ECSタスク (10.226.51.86:8080) へフォワード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109728" y="2724912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1" name="Text 16"/>
          <p:cNvSpPr/>
          <p:nvPr/>
        </p:nvSpPr>
        <p:spPr>
          <a:xfrm>
            <a:off x="109728" y="2724912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コンピューティング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201168" y="2980944"/>
            <a:ext cx="2148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265176" y="3026664"/>
            <a:ext cx="2020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ECS チャージAPI (healthy ✅)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256032" y="3218688"/>
            <a:ext cx="2039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Task IP: 10.226.51.86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Port: 8080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ksm-posspk-task-definition-web-be</a:t>
            </a:r>
            <a:endParaRPr lang="en-US" sz="700" dirty="0"/>
          </a:p>
        </p:txBody>
      </p:sp>
      <p:sp>
        <p:nvSpPr>
          <p:cNvPr id="25" name="Shape 20"/>
          <p:cNvSpPr/>
          <p:nvPr/>
        </p:nvSpPr>
        <p:spPr>
          <a:xfrm>
            <a:off x="2386584" y="2980944"/>
            <a:ext cx="215798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450592" y="3026664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EC2インスタンス群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2441448" y="3218688"/>
            <a:ext cx="2048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web-fe: 10.226.51.15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PublicIP: 54.95.43.177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web-be: 10.226.51.91 (unhealthy)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bastion: 10.226.51.13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109728" y="370332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9" name="Text 24"/>
          <p:cNvSpPr/>
          <p:nvPr/>
        </p:nvSpPr>
        <p:spPr>
          <a:xfrm>
            <a:off x="109728" y="370332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データベース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201168" y="3959352"/>
            <a:ext cx="44348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65176" y="4005072"/>
            <a:ext cx="4306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 posspk-db-instance-1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256032" y="4197096"/>
            <a:ext cx="4325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db.r5.large  |  チャージ専用DB  |  posspk-vpc内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Kasumi (company_code=100) / Maruetsu (=200) / Inageya (=300)</a:t>
            </a:r>
            <a:endParaRPr lang="en-US" sz="700" dirty="0"/>
          </a:p>
        </p:txBody>
      </p:sp>
      <p:sp>
        <p:nvSpPr>
          <p:cNvPr id="33" name="Shape 28"/>
          <p:cNvSpPr/>
          <p:nvPr/>
        </p:nvSpPr>
        <p:spPr>
          <a:xfrm>
            <a:off x="109728" y="4645152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4" name="Text 29"/>
          <p:cNvSpPr/>
          <p:nvPr/>
        </p:nvSpPr>
        <p:spPr>
          <a:xfrm>
            <a:off x="109728" y="4645152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セキュリティ問題 (改修指示書発行済み)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201168" y="4901184"/>
            <a:ext cx="4434840" cy="804672"/>
          </a:xfrm>
          <a:prstGeom prst="rect">
            <a:avLst/>
          </a:prstGeom>
          <a:solidFill>
            <a:srgbClr val="FFF3F3"/>
          </a:solidFill>
          <a:ln w="19050">
            <a:solidFill>
              <a:srgbClr val="E53935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265176" y="4946904"/>
            <a:ext cx="4306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SGセキュリティ問題 (3件)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256032" y="5138928"/>
            <a:ext cx="43251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ec2-rds-1: TCP 0-65535 / 0.0.0.0/0  全開放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ksm-posprd-vpc-sg-ec2-web-be: TCP 8080 / 0.0.0.0/0  全開放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ksm-posstg-vpc-sg-alb-web-be (ALB SG): 全トラフィック / 0.0.0.0/0  全開放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posspk-sg-gitlap-runner: 全トラフィック / 0.0.0.0/0  全開放</a:t>
            </a:r>
            <a:endParaRPr lang="en-US" sz="700" dirty="0"/>
          </a:p>
        </p:txBody>
      </p:sp>
      <p:sp>
        <p:nvSpPr>
          <p:cNvPr id="38" name="Shape 33"/>
          <p:cNvSpPr/>
          <p:nvPr/>
        </p:nvSpPr>
        <p:spPr>
          <a:xfrm>
            <a:off x="201168" y="5769864"/>
            <a:ext cx="44348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65176" y="5815584"/>
            <a:ext cx="4306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702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GitLab Runner  pos-runner  10.226.51.115</a:t>
            </a:r>
            <a:endParaRPr lang="en-US" sz="800" dirty="0"/>
          </a:p>
        </p:txBody>
      </p:sp>
      <p:sp>
        <p:nvSpPr>
          <p:cNvPr id="40" name="Text 35"/>
          <p:cNvSpPr/>
          <p:nvPr/>
        </p:nvSpPr>
        <p:spPr>
          <a:xfrm>
            <a:off x="256032" y="6007608"/>
            <a:ext cx="432511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CI/CD Pipeline  |  posspk-vpc内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4846320" y="1417320"/>
            <a:ext cx="4946904" cy="4937760"/>
          </a:xfrm>
          <a:prstGeom prst="rect">
            <a:avLst/>
          </a:prstGeom>
          <a:solidFill>
            <a:srgbClr val="EBF5FF"/>
          </a:solidFill>
          <a:ln w="19050">
            <a:solidFill>
              <a:srgbClr val="4488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37"/>
          <p:cNvSpPr/>
          <p:nvPr/>
        </p:nvSpPr>
        <p:spPr>
          <a:xfrm>
            <a:off x="4846320" y="1417320"/>
            <a:ext cx="4946904" cy="219456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3" name="Text 38"/>
          <p:cNvSpPr/>
          <p:nvPr/>
        </p:nvSpPr>
        <p:spPr>
          <a:xfrm>
            <a:off x="4937760" y="1444752"/>
            <a:ext cx="4764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pos-dev-vpc  (10.226.50.0/24)  ─ GIFT・棚札・イナゲヤ開発環境</a:t>
            </a:r>
            <a:endParaRPr lang="en-US" sz="850" dirty="0"/>
          </a:p>
        </p:txBody>
      </p:sp>
      <p:sp>
        <p:nvSpPr>
          <p:cNvPr id="44" name="Shape 39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45" name="Text 40"/>
          <p:cNvSpPr/>
          <p:nvPr/>
        </p:nvSpPr>
        <p:spPr>
          <a:xfrm>
            <a:off x="109728" y="169164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 / RDS 一覧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947672"/>
          <a:ext cx="476402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97280"/>
                <a:gridCol w="1197864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インスタンス名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6A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IPアドレス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6A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パブリックIP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6A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用途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6A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pos-bastion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10.226.50.x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54.250.119.69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踏み台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kafka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10.226.50.x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52.194.241.236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メッセージング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stg-pos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10.226.50.x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STG POSサーバー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prod-pos-server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10.226.50.x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本番POSサーバー</a:t>
                      </a:r>
                      <a:endParaRPr lang="en-US" sz="7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</a:tbl>
          </a:graphicData>
        </a:graphic>
      </p:graphicFrame>
      <p:sp>
        <p:nvSpPr>
          <p:cNvPr id="47" name="Shape 41"/>
          <p:cNvSpPr/>
          <p:nvPr/>
        </p:nvSpPr>
        <p:spPr>
          <a:xfrm>
            <a:off x="109728" y="320040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48" name="Text 42"/>
          <p:cNvSpPr/>
          <p:nvPr/>
        </p:nvSpPr>
        <p:spPr>
          <a:xfrm>
            <a:off x="109728" y="320040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RDS インスタンス (pos-dev-vpc)</a:t>
            </a:r>
            <a:endParaRPr lang="en-US" sz="800" dirty="0"/>
          </a:p>
        </p:txBody>
      </p:sp>
      <p:sp>
        <p:nvSpPr>
          <p:cNvPr id="49" name="Shape 43"/>
          <p:cNvSpPr/>
          <p:nvPr/>
        </p:nvSpPr>
        <p:spPr>
          <a:xfrm>
            <a:off x="4937760" y="3456432"/>
            <a:ext cx="476402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5001768" y="3502152"/>
            <a:ext cx="4636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Aurora MySQL (Serverless) 複数インスタンス</a:t>
            </a:r>
            <a:endParaRPr lang="en-US" sz="800" dirty="0"/>
          </a:p>
        </p:txBody>
      </p:sp>
      <p:sp>
        <p:nvSpPr>
          <p:cNvPr id="51" name="Text 45"/>
          <p:cNvSpPr/>
          <p:nvPr/>
        </p:nvSpPr>
        <p:spPr>
          <a:xfrm>
            <a:off x="4992624" y="3694176"/>
            <a:ext cx="4654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pos-dev-db-instance-1 / inageya-staging / pos-prod-instance-1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ALB pos-alb (internet-facing) → pos-dev-vpc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GIFT・棚札・イナゲヤ開発用DB</a:t>
            </a:r>
            <a:endParaRPr lang="en-US" sz="700" dirty="0"/>
          </a:p>
        </p:txBody>
      </p:sp>
      <p:sp>
        <p:nvSpPr>
          <p:cNvPr id="52" name="Shape 46"/>
          <p:cNvSpPr/>
          <p:nvPr/>
        </p:nvSpPr>
        <p:spPr>
          <a:xfrm>
            <a:off x="109728" y="438912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3" name="Text 47"/>
          <p:cNvSpPr/>
          <p:nvPr/>
        </p:nvSpPr>
        <p:spPr>
          <a:xfrm>
            <a:off x="109728" y="438912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VPC分離状況 ─ 重要</a:t>
            </a:r>
            <a:endParaRPr lang="en-US" sz="800" dirty="0"/>
          </a:p>
        </p:txBody>
      </p:sp>
      <p:sp>
        <p:nvSpPr>
          <p:cNvPr id="54" name="Shape 48"/>
          <p:cNvSpPr/>
          <p:nvPr/>
        </p:nvSpPr>
        <p:spPr>
          <a:xfrm>
            <a:off x="4937760" y="4645152"/>
            <a:ext cx="4764024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5" name="Text 49"/>
          <p:cNvSpPr/>
          <p:nvPr/>
        </p:nvSpPr>
        <p:spPr>
          <a:xfrm>
            <a:off x="5001768" y="4690872"/>
            <a:ext cx="4636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posspk-vpc ↔ pos-dev-vpc  (完全分離・接続なし)</a:t>
            </a:r>
            <a:endParaRPr lang="en-US" sz="800" dirty="0"/>
          </a:p>
        </p:txBody>
      </p:sp>
      <p:sp>
        <p:nvSpPr>
          <p:cNvPr id="56" name="Text 50"/>
          <p:cNvSpPr/>
          <p:nvPr/>
        </p:nvSpPr>
        <p:spPr>
          <a:xfrm>
            <a:off x="4992624" y="4882896"/>
            <a:ext cx="4654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確認済み外部接続手段: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VPCピアリング: なし  |  Transit Gateway: なし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Site-to-Site VPN: なし  |  Direct Connect: なし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チャージAPIからGIFT・棚札DBへのアクセスは不可 (現在・将来とも)</a:t>
            </a:r>
            <a:endParaRPr lang="en-US" sz="700" dirty="0"/>
          </a:p>
        </p:txBody>
      </p:sp>
      <p:sp>
        <p:nvSpPr>
          <p:cNvPr id="57" name="Shape 51"/>
          <p:cNvSpPr/>
          <p:nvPr/>
        </p:nvSpPr>
        <p:spPr>
          <a:xfrm>
            <a:off x="109728" y="5669280"/>
            <a:ext cx="9683496" cy="20116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8" name="Text 52"/>
          <p:cNvSpPr/>
          <p:nvPr/>
        </p:nvSpPr>
        <p:spPr>
          <a:xfrm>
            <a:off x="109728" y="5669280"/>
            <a:ext cx="9683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アクセス経路まとめ</a:t>
            </a:r>
            <a:endParaRPr lang="en-US" sz="800" dirty="0"/>
          </a:p>
        </p:txBody>
      </p:sp>
      <p:sp>
        <p:nvSpPr>
          <p:cNvPr id="59" name="Shape 53"/>
          <p:cNvSpPr/>
          <p:nvPr/>
        </p:nvSpPr>
        <p:spPr>
          <a:xfrm>
            <a:off x="4937760" y="5879592"/>
            <a:ext cx="4764024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60" name="Text 54"/>
          <p:cNvSpPr/>
          <p:nvPr/>
        </p:nvSpPr>
        <p:spPr>
          <a:xfrm>
            <a:off x="5001768" y="5925312"/>
            <a:ext cx="4636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644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Luvina → DEV アクセス</a:t>
            </a:r>
            <a:endParaRPr lang="en-US" sz="800" dirty="0"/>
          </a:p>
        </p:txBody>
      </p:sp>
      <p:sp>
        <p:nvSpPr>
          <p:cNvPr id="61" name="Text 55"/>
          <p:cNvSpPr/>
          <p:nvPr/>
        </p:nvSpPr>
        <p:spPr>
          <a:xfrm>
            <a:off x="4992624" y="6117336"/>
            <a:ext cx="4654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Site-to-Site VPN (TP-Link ER605, BGP ASN=65000)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Client VPN (OpenVPN UDP1194) → Bastion経由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2026-03-12T16:54:00Z</dcterms:created>
  <dcterms:modified xsi:type="dcterms:W3CDTF">2026-03-12T16:54:00Z</dcterms:modified>
</cp:coreProperties>
</file>