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slides/slide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902825" cy="6858000"/>
  <p:notesSz cx="6858000" cy="9902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73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きよはら かづとし" userId="26e88724-ac8c-499a-8fbd-8793ef8545c4" providerId="ADAL" clId="{90E159B1-F5D3-4E03-A1D2-40239C3FB8B4}"/>
    <pc:docChg chg="modSld">
      <pc:chgData name="きよはら かづとし" userId="26e88724-ac8c-499a-8fbd-8793ef8545c4" providerId="ADAL" clId="{90E159B1-F5D3-4E03-A1D2-40239C3FB8B4}" dt="2026-03-10T15:43:43.463" v="33" actId="20577"/>
      <pc:docMkLst>
        <pc:docMk/>
      </pc:docMkLst>
      <pc:sldChg chg="modSp mod">
        <pc:chgData name="きよはら かづとし" userId="26e88724-ac8c-499a-8fbd-8793ef8545c4" providerId="ADAL" clId="{90E159B1-F5D3-4E03-A1D2-40239C3FB8B4}" dt="2026-03-10T15:42:09.269" v="1" actId="6549"/>
        <pc:sldMkLst>
          <pc:docMk/>
          <pc:sldMk cId="0" sldId="258"/>
        </pc:sldMkLst>
        <pc:spChg chg="mod">
          <ac:chgData name="きよはら かづとし" userId="26e88724-ac8c-499a-8fbd-8793ef8545c4" providerId="ADAL" clId="{90E159B1-F5D3-4E03-A1D2-40239C3FB8B4}" dt="2026-03-10T15:42:09.269" v="1" actId="6549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きよはら かづとし" userId="26e88724-ac8c-499a-8fbd-8793ef8545c4" providerId="ADAL" clId="{90E159B1-F5D3-4E03-A1D2-40239C3FB8B4}" dt="2026-03-10T15:43:43.463" v="33" actId="20577"/>
        <pc:sldMkLst>
          <pc:docMk/>
          <pc:sldMk cId="0" sldId="260"/>
        </pc:sldMkLst>
        <pc:spChg chg="mod">
          <ac:chgData name="きよはら かづとし" userId="26e88724-ac8c-499a-8fbd-8793ef8545c4" providerId="ADAL" clId="{90E159B1-F5D3-4E03-A1D2-40239C3FB8B4}" dt="2026-03-10T15:43:43.463" v="33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きよはら かづとし" userId="26e88724-ac8c-499a-8fbd-8793ef8545c4" providerId="ADAL" clId="{90E159B1-F5D3-4E03-A1D2-40239C3FB8B4}" dt="2026-03-10T15:43:25.090" v="17" actId="20577"/>
          <ac:spMkLst>
            <pc:docMk/>
            <pc:sldMk cId="0" sldId="260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34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57200" y="14630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カスミAWS活用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新機能提案書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457200" y="3108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ギフト端末リモートサポート（UltraVNC）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電子棚札CSV配布の中継ハブ化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57200" y="3977640"/>
            <a:ext cx="8686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6"/>
          <p:cNvSpPr/>
          <p:nvPr/>
        </p:nvSpPr>
        <p:spPr>
          <a:xfrm>
            <a:off x="457200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株式会社カスミ　御中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4572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ルビナソフトウェア株式会社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提案概要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2つの新機能をカスミAWSを中継ハブとして統合実現します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94360" y="1920240"/>
            <a:ext cx="2670048" cy="3474720"/>
          </a:xfrm>
          <a:prstGeom prst="rect">
            <a:avLst/>
          </a:prstGeom>
          <a:solidFill>
            <a:srgbClr val="EBF5FF"/>
          </a:solidFill>
          <a:ln w="19050">
            <a:solidFill>
              <a:srgbClr val="2266A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7"/>
          <p:cNvSpPr/>
          <p:nvPr/>
        </p:nvSpPr>
        <p:spPr>
          <a:xfrm>
            <a:off x="17099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17099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040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リモートサポート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77240" y="3310128"/>
            <a:ext cx="2304288" cy="0"/>
          </a:xfrm>
          <a:prstGeom prst="line">
            <a:avLst/>
          </a:prstGeom>
          <a:noFill/>
          <a:ln w="635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7223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LuvinaオフィスからUltraVNCで各店舗のギフト端末（約2,000台）に能動的に接続し、リモートサポートを実現。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店舗端末・カスミ筑波センターの設定変更は一切不要。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2670048" cy="3474720"/>
          </a:xfrm>
          <a:prstGeom prst="rect">
            <a:avLst/>
          </a:prstGeom>
          <a:solidFill>
            <a:srgbClr val="F0FFF0"/>
          </a:solidFill>
          <a:ln w="19050">
            <a:solidFill>
              <a:srgbClr val="2288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46817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46817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6758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電子棚札CSV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配布の中継ハブ化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749040" y="3310128"/>
            <a:ext cx="2304288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36941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現状の店舗ごとNAT変換をなくし、LuvinaAWSからカスミAWSへCSVを一括送信。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カスミAWS内でLuvinaが各店舗への配布をコントロールし、運用を簡素化。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37960" y="1920240"/>
            <a:ext cx="2670048" cy="3474720"/>
          </a:xfrm>
          <a:prstGeom prst="rect">
            <a:avLst/>
          </a:prstGeom>
          <a:solidFill>
            <a:srgbClr val="FFF5EB"/>
          </a:solidFill>
          <a:ln w="19050">
            <a:solidFill>
              <a:srgbClr val="E8A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7653528" y="2103120"/>
            <a:ext cx="438912" cy="438912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7653528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47688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共通インフラ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（1回構築）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720840" y="3310128"/>
            <a:ext cx="2304288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/>
          <p:nvPr/>
        </p:nvSpPr>
        <p:spPr>
          <a:xfrm>
            <a:off x="6665976" y="3401568"/>
            <a:ext cx="24140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2機能共通の基盤として「LuvinaAWS ↔ カスミAWS」のクロスアカウント接続を1回構築。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以降の機能追加もこのインフラを流用可能。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ギフト端末リモートサポート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カスミAWS上のNLBをポートフォワーディング中継点として活用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194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502920" y="1627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【現状】Luvinaから接続不可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50292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筑波センター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2011680" y="1920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USMH網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3474720" y="18288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（200台）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801368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固有IPで接続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1801368" y="2221992"/>
            <a:ext cx="201168" cy="0"/>
          </a:xfrm>
          <a:prstGeom prst="line">
            <a:avLst/>
          </a:prstGeom>
          <a:noFill/>
          <a:ln w="190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502920" y="2651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届かない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2920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 → NAT変換 → 個別IPに届かない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54880" y="2697480"/>
            <a:ext cx="411480" cy="0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4663440" y="2560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663440" y="2834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600200"/>
            <a:ext cx="4297680" cy="4480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【新構成】カスミAWS経由で接続可能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4"/>
          <p:cNvSpPr/>
          <p:nvPr/>
        </p:nvSpPr>
        <p:spPr>
          <a:xfrm>
            <a:off x="54406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54406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(Direct Connect)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6995160" y="19202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（ポートフォワーディング）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:15900→店舗001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:25900→店舗002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・・・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8641080" y="1920240"/>
            <a:ext cx="868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ギフト端末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（2,000台）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※設定変更なし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2"/>
          <p:cNvSpPr/>
          <p:nvPr/>
        </p:nvSpPr>
        <p:spPr>
          <a:xfrm>
            <a:off x="699516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カスミ筑波センター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（従来通り変更なし）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44068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店舗端末設定変更なし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カスミ筑波センター接続もそのまま維持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電子棚札CSV配布 — システム構成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店舗ごとNAT変換をなくし、カスミAWS経由で一元配布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251960" cy="292608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502920" y="16276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【現状】店舗ごとNAT変換が必要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237744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NAT:PORT1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356616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23774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NAT:PORT2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356616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23774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NAT:PORTN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35661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ESLシステム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0292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店舗が増えるたびにNAT設定追加が必要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6634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232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4663440" y="2971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303520" y="1600200"/>
            <a:ext cx="4297680" cy="3840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544068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【新構成】カスミAWS経由で一元配布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54406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LuvinaAWS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6903720" y="18288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S3/Lambda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（Luvinが制御）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2"/>
          <p:cNvSpPr/>
          <p:nvPr/>
        </p:nvSpPr>
        <p:spPr>
          <a:xfrm>
            <a:off x="84582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4"/>
          <p:cNvSpPr/>
          <p:nvPr/>
        </p:nvSpPr>
        <p:spPr>
          <a:xfrm>
            <a:off x="8458200" y="2423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店舗002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6"/>
          <p:cNvSpPr/>
          <p:nvPr/>
        </p:nvSpPr>
        <p:spPr>
          <a:xfrm>
            <a:off x="8458200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店舗NNN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ESL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44068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NAT設定不要・店舗追加も容易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LuvinaがカスミAWS内の配布をコントロール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 — BIPROGYへの依頼方式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2つの選択肢があります。Luvina側での設定権限取得を推奨します。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00200"/>
            <a:ext cx="4572000" cy="45720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7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058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BIPROGY様に全て作業依頼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240280"/>
            <a:ext cx="4206240" cy="0"/>
          </a:xfrm>
          <a:prstGeom prst="line">
            <a:avLst/>
          </a:prstGeom>
          <a:noFill/>
          <a:ln w="6350">
            <a:solidFill>
              <a:srgbClr val="E8A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54864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Luvinaは設計書を渡すだけ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864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カスミAWS環境にLuvinaが直接触れない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</a:t>
            </a: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・アイネス様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の作業工数分コストが発生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修正・追加のたびにBIPROGY様への依頼が必要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572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対応リードタイムが長くなる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120640" y="1600200"/>
            <a:ext cx="457200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8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512064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推奨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03520" y="1737360"/>
            <a:ext cx="402336" cy="402336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/>
          <p:nvPr/>
        </p:nvSpPr>
        <p:spPr>
          <a:xfrm>
            <a:off x="53035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7607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Luvinが限定権限でカスミAWSを操作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303520" y="2240280"/>
            <a:ext cx="4206240" cy="0"/>
          </a:xfrm>
          <a:prstGeom prst="line">
            <a:avLst/>
          </a:prstGeom>
          <a:noFill/>
          <a:ln w="6350">
            <a:solidFill>
              <a:srgbClr val="2288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/>
          <p:nvPr/>
        </p:nvSpPr>
        <p:spPr>
          <a:xfrm>
            <a:off x="530352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303520" y="2633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BIPROGY様</a:t>
            </a: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・アイネス様</a:t>
            </a:r>
            <a:r>
              <a:rPr lang="en-US" sz="1000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の作業コストを最小化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30352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修正・追加をLuvinaが迅速に対応可能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303520" y="3401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運用効率が高い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303520" y="3922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30352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カスミAWS側でIAMロール設定が必要（1回のみ）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303520" y="4590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 Luvinの権限範囲を適切に設計する必要あり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IAMアカウント設計とセキュリティ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推奨オプションB採用時：Luvinaに付与する権限の設計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推奨：クロスアカウントIAMロール方式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9171432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権限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禁止する操作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ターゲットグループ追加・変更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リスナールール更新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NLB削除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セキュリティグループ変更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指定バケットへのPutObject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ファイル一覧・取得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バケット削除・作成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他バケットへのアクセス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指定Lambdaの更新・実行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ログ参照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Lambda削除・新規作成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IAMロール変更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ネットワーク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なし（触れない）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全IAM操作・VPC変更・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Security Group変更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365760" y="4572000"/>
            <a:ext cx="9171432" cy="155448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8"/>
          <p:cNvSpPr/>
          <p:nvPr/>
        </p:nvSpPr>
        <p:spPr>
          <a:xfrm>
            <a:off x="548640" y="46177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 セキュリティ上の問題がない理由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IAMロールはLuvinaのAWSアカウントIDを信頼するだけで、パスワード不要・漏洩リスクなし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48640" y="51663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権限はリソースレベルで絞り込み（例: arn:aws:s3:::kasumi-esl-bucket/* のみ）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5440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AWS CloudTrailで全操作ログを記録・カスミ側で監査可能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48640" y="57150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 IAMロールはカスミ側がいつでも剥奪可能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コスト概算（月額）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カスミAWS側で発生するAWSサービス費用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9171432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概算費用（月額）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NLB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（Network Load Balancer）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UltraVNC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ポートフォワーディング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$18 〜 $25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固定費 $16.2 + LCU課金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接続数・帯域による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ESL CSV格納・配布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〜 $5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ファイルサイズ・配信頻度による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概ね低コスト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CSV配布ロジック実行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$1 以下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無料枠内に収まる可能性が高い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Peering or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Transit Gateway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LuvinaAWS↔カスミAWS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クロスアカウント接続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$0（Peering）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 $36（TGW）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同リージョン同アカウントならPeering無料。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TGWは $0.05/h + データ転送費用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合計（目安）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2機能合計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 $20 〜 $66 / 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Peeringを選択した場合は下限に近い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接続数・データ量で変動あり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365760" y="6236208"/>
            <a:ext cx="917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上記はカスミAWS側で発生するAWSサービス費用の目安です。Luvina側の開発・設定費用は別途お見積りします。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実施スケジュール（案）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カスミ様のご承認後、約3〜4ヶ月での稼働を想定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292608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M+1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4248302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M+2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5570525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M+3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6892747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M+4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8214970" y="1645920"/>
            <a:ext cx="1322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M+5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457200" y="21762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カスミAWSアカウント確認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IAMロール設計・合意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92608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4248302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2"/>
          <p:cNvSpPr/>
          <p:nvPr/>
        </p:nvSpPr>
        <p:spPr>
          <a:xfrm>
            <a:off x="5570525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6892747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4"/>
          <p:cNvSpPr/>
          <p:nvPr/>
        </p:nvSpPr>
        <p:spPr>
          <a:xfrm>
            <a:off x="8214970" y="214884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5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/>
          <p:nvPr/>
        </p:nvSpPr>
        <p:spPr>
          <a:xfrm>
            <a:off x="2980944" y="22402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共同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65760" y="265176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457200" y="267919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クロスアカウント接続構築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(VPC Peering / TGW)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92608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0"/>
          <p:cNvSpPr/>
          <p:nvPr/>
        </p:nvSpPr>
        <p:spPr>
          <a:xfrm>
            <a:off x="4248302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1"/>
          <p:cNvSpPr/>
          <p:nvPr/>
        </p:nvSpPr>
        <p:spPr>
          <a:xfrm>
            <a:off x="5570525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2"/>
          <p:cNvSpPr/>
          <p:nvPr/>
        </p:nvSpPr>
        <p:spPr>
          <a:xfrm>
            <a:off x="6892747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3"/>
          <p:cNvSpPr/>
          <p:nvPr/>
        </p:nvSpPr>
        <p:spPr>
          <a:xfrm>
            <a:off x="8214970" y="265176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4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5"/>
          <p:cNvSpPr/>
          <p:nvPr/>
        </p:nvSpPr>
        <p:spPr>
          <a:xfrm>
            <a:off x="4303166" y="274320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BIPROGY+Luvina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365760" y="31546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7"/>
          <p:cNvSpPr/>
          <p:nvPr/>
        </p:nvSpPr>
        <p:spPr>
          <a:xfrm>
            <a:off x="457200" y="31821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NLB構築・ポートフォワーディング設定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（UltraVNC用）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92608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39"/>
          <p:cNvSpPr/>
          <p:nvPr/>
        </p:nvSpPr>
        <p:spPr>
          <a:xfrm>
            <a:off x="4248302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0"/>
          <p:cNvSpPr/>
          <p:nvPr/>
        </p:nvSpPr>
        <p:spPr>
          <a:xfrm>
            <a:off x="5570525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1"/>
          <p:cNvSpPr/>
          <p:nvPr/>
        </p:nvSpPr>
        <p:spPr>
          <a:xfrm>
            <a:off x="6892747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2"/>
          <p:cNvSpPr/>
          <p:nvPr/>
        </p:nvSpPr>
        <p:spPr>
          <a:xfrm>
            <a:off x="8214970" y="315468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3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4"/>
          <p:cNvSpPr/>
          <p:nvPr/>
        </p:nvSpPr>
        <p:spPr>
          <a:xfrm>
            <a:off x="4303166" y="324612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365760" y="365760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6"/>
          <p:cNvSpPr/>
          <p:nvPr/>
        </p:nvSpPr>
        <p:spPr>
          <a:xfrm>
            <a:off x="457200" y="36850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S3・Lambda構築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（CSV配布ロジック）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292608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8"/>
          <p:cNvSpPr/>
          <p:nvPr/>
        </p:nvSpPr>
        <p:spPr>
          <a:xfrm>
            <a:off x="4248302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49"/>
          <p:cNvSpPr/>
          <p:nvPr/>
        </p:nvSpPr>
        <p:spPr>
          <a:xfrm>
            <a:off x="5570525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0"/>
          <p:cNvSpPr/>
          <p:nvPr/>
        </p:nvSpPr>
        <p:spPr>
          <a:xfrm>
            <a:off x="6892747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1"/>
          <p:cNvSpPr/>
          <p:nvPr/>
        </p:nvSpPr>
        <p:spPr>
          <a:xfrm>
            <a:off x="8214970" y="365760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2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3"/>
          <p:cNvSpPr/>
          <p:nvPr/>
        </p:nvSpPr>
        <p:spPr>
          <a:xfrm>
            <a:off x="4303166" y="3749040"/>
            <a:ext cx="25347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365760" y="4160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5"/>
          <p:cNvSpPr/>
          <p:nvPr/>
        </p:nvSpPr>
        <p:spPr>
          <a:xfrm>
            <a:off x="457200" y="418795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結合テスト・UltraVNC動作確認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292608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57"/>
          <p:cNvSpPr/>
          <p:nvPr/>
        </p:nvSpPr>
        <p:spPr>
          <a:xfrm>
            <a:off x="4248302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8"/>
          <p:cNvSpPr/>
          <p:nvPr/>
        </p:nvSpPr>
        <p:spPr>
          <a:xfrm>
            <a:off x="5570525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59"/>
          <p:cNvSpPr/>
          <p:nvPr/>
        </p:nvSpPr>
        <p:spPr>
          <a:xfrm>
            <a:off x="6892747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0"/>
          <p:cNvSpPr/>
          <p:nvPr/>
        </p:nvSpPr>
        <p:spPr>
          <a:xfrm>
            <a:off x="8214970" y="4160520"/>
            <a:ext cx="132222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1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solidFill>
            <a:srgbClr val="8866B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2"/>
          <p:cNvSpPr/>
          <p:nvPr/>
        </p:nvSpPr>
        <p:spPr>
          <a:xfrm>
            <a:off x="6947611" y="425196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Luvina+カスミ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365760" y="4663440"/>
            <a:ext cx="25603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4"/>
          <p:cNvSpPr/>
          <p:nvPr/>
        </p:nvSpPr>
        <p:spPr>
          <a:xfrm>
            <a:off x="457200" y="46908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本番リリース・運用開始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292608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66"/>
          <p:cNvSpPr/>
          <p:nvPr/>
        </p:nvSpPr>
        <p:spPr>
          <a:xfrm>
            <a:off x="4248302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67"/>
          <p:cNvSpPr/>
          <p:nvPr/>
        </p:nvSpPr>
        <p:spPr>
          <a:xfrm>
            <a:off x="5570525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68"/>
          <p:cNvSpPr/>
          <p:nvPr/>
        </p:nvSpPr>
        <p:spPr>
          <a:xfrm>
            <a:off x="6892747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69"/>
          <p:cNvSpPr/>
          <p:nvPr/>
        </p:nvSpPr>
        <p:spPr>
          <a:xfrm>
            <a:off x="8214970" y="4663440"/>
            <a:ext cx="1322222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0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1"/>
          <p:cNvSpPr/>
          <p:nvPr/>
        </p:nvSpPr>
        <p:spPr>
          <a:xfrm>
            <a:off x="8269834" y="4754880"/>
            <a:ext cx="1212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365760" y="6263640"/>
            <a:ext cx="201168" cy="146304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8" name="Text 73"/>
          <p:cNvSpPr/>
          <p:nvPr/>
        </p:nvSpPr>
        <p:spPr>
          <a:xfrm>
            <a:off x="6126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調整・設計</a:t>
            </a:r>
            <a:endParaRPr lang="en-US" sz="800" dirty="0"/>
          </a:p>
        </p:txBody>
      </p:sp>
      <p:sp>
        <p:nvSpPr>
          <p:cNvPr id="79" name="Shape 74"/>
          <p:cNvSpPr/>
          <p:nvPr/>
        </p:nvSpPr>
        <p:spPr>
          <a:xfrm>
            <a:off x="2194560" y="6263640"/>
            <a:ext cx="201168" cy="146304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5"/>
          <p:cNvSpPr/>
          <p:nvPr/>
        </p:nvSpPr>
        <p:spPr>
          <a:xfrm>
            <a:off x="24414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インフラ構築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4023360" y="6263640"/>
            <a:ext cx="201168" cy="146304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77"/>
          <p:cNvSpPr/>
          <p:nvPr/>
        </p:nvSpPr>
        <p:spPr>
          <a:xfrm>
            <a:off x="42702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Luvina作業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5852160" y="6263640"/>
            <a:ext cx="201168" cy="146304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Text 79"/>
          <p:cNvSpPr/>
          <p:nvPr/>
        </p:nvSpPr>
        <p:spPr>
          <a:xfrm>
            <a:off x="60990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7680960" y="6263640"/>
            <a:ext cx="201168" cy="146304"/>
          </a:xfrm>
          <a:prstGeom prst="rect">
            <a:avLst/>
          </a:prstGeom>
          <a:solidFill>
            <a:srgbClr val="8866B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1"/>
          <p:cNvSpPr/>
          <p:nvPr/>
        </p:nvSpPr>
        <p:spPr>
          <a:xfrm>
            <a:off x="7927848" y="6245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 — ご確認・ご承認いただきたい事項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65760" y="1600200"/>
            <a:ext cx="9171432" cy="105156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6"/>
          <p:cNvSpPr/>
          <p:nvPr/>
        </p:nvSpPr>
        <p:spPr>
          <a:xfrm>
            <a:off x="475488" y="1709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47548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/>
          <p:nvPr/>
        </p:nvSpPr>
        <p:spPr>
          <a:xfrm>
            <a:off x="96012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960120" y="2011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作業分担オプションの選択（A or B）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2295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Luvinへの限定権限付与（オプションB推奨）か、BIPROGY様への全作業依頼（オプションA）かをご決定ください。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65760" y="2743200"/>
            <a:ext cx="9171432" cy="1051560"/>
          </a:xfrm>
          <a:prstGeom prst="rect">
            <a:avLst/>
          </a:prstGeom>
          <a:solidFill>
            <a:srgbClr val="EBF5FF"/>
          </a:solidFill>
          <a:ln w="12700">
            <a:solidFill>
              <a:srgbClr val="2266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475488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solidFill>
            <a:srgbClr val="226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 / BIPROGY様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960120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カスミAWSアカウント情報の共有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0120" y="3438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AWSアカウントID・リージョン・既存VPC情報をLuvinaに共有いただければ、詳細設計を開始できます。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3886200"/>
            <a:ext cx="9171432" cy="10515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844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0"/>
          <p:cNvSpPr/>
          <p:nvPr/>
        </p:nvSpPr>
        <p:spPr>
          <a:xfrm>
            <a:off x="475488" y="3995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1"/>
          <p:cNvSpPr/>
          <p:nvPr/>
        </p:nvSpPr>
        <p:spPr>
          <a:xfrm>
            <a:off x="47548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solidFill>
            <a:srgbClr val="2288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/>
          <p:nvPr/>
        </p:nvSpPr>
        <p:spPr>
          <a:xfrm>
            <a:off x="96012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96012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NLBポート番号と店舗マッピング表の準備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60120" y="4581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各店舗のギフト端末IPアドレスと割り当てるNLBポート番号の対応表が必要です。Luvinで作成しますのでIP情報をご提供ください。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65760" y="5029200"/>
            <a:ext cx="9171432" cy="105156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7"/>
          <p:cNvSpPr/>
          <p:nvPr/>
        </p:nvSpPr>
        <p:spPr>
          <a:xfrm>
            <a:off x="475488" y="5138928"/>
            <a:ext cx="384048" cy="384048"/>
          </a:xfrm>
          <a:prstGeom prst="ellipse">
            <a:avLst/>
          </a:prstGeom>
          <a:solidFill>
            <a:srgbClr val="D023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475488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solidFill>
            <a:srgbClr val="E8A0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0"/>
          <p:cNvSpPr/>
          <p:nvPr/>
        </p:nvSpPr>
        <p:spPr>
          <a:xfrm>
            <a:off x="960120" y="5138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カスミ様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960120" y="5440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月額コスト上限の確認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960120" y="5724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概算$20〜$66/月のAWSコストについて、カスミ様のご予算・ご承認をいただけますでしょうか。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F18A69-596B-4E0B-9467-5957C764575E}"/>
</file>

<file path=customXml/itemProps2.xml><?xml version="1.0" encoding="utf-8"?>
<ds:datastoreItem xmlns:ds="http://schemas.openxmlformats.org/officeDocument/2006/customXml" ds:itemID="{9DB473AA-8BE7-4694-987B-43A2BC53E8AD}"/>
</file>

<file path=customXml/itemProps3.xml><?xml version="1.0" encoding="utf-8"?>
<ds:datastoreItem xmlns:ds="http://schemas.openxmlformats.org/officeDocument/2006/customXml" ds:itemID="{B9519DD2-091C-490B-8D47-0DAF49CD0EDE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772</Words>
  <Application>Microsoft Office PowerPoint</Application>
  <PresentationFormat>ユーザー設定</PresentationFormat>
  <Paragraphs>250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Meiryo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LUVINA Software</dc:creator>
  <cp:lastModifiedBy>kiyohara</cp:lastModifiedBy>
  <cp:revision>1</cp:revision>
  <dcterms:created xsi:type="dcterms:W3CDTF">2026-03-10T13:52:20Z</dcterms:created>
  <dcterms:modified xsi:type="dcterms:W3CDTF">2026-03-10T15:43:50Z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</Properties>
</file>