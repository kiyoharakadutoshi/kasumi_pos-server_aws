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902952" cy="6858000"/>
  <p:notesSz cx="6858000" cy="9902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8" name="Text 3"/>
          <p:cNvSpPr/>
          <p:nvPr/>
        </p:nvSpPr>
        <p:spPr>
          <a:xfrm>
            <a:off x="457200" y="1645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カスミ POS</a:t>
            </a:r>
            <a:endParaRPr lang="en-US" sz="3600" dirty="0"/>
          </a:p>
        </p:txBody>
      </p:sp>
      <p:sp>
        <p:nvSpPr>
          <p:cNvPr id="9" name="Text 4"/>
          <p:cNvSpPr/>
          <p:nvPr/>
        </p:nvSpPr>
        <p:spPr>
          <a:xfrm>
            <a:off x="457200" y="23317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構成資料</a:t>
            </a:r>
            <a:endParaRPr lang="en-US" sz="2800" dirty="0"/>
          </a:p>
        </p:txBody>
      </p:sp>
      <p:sp>
        <p:nvSpPr>
          <p:cNvPr id="10" name="Text 5"/>
          <p:cNvSpPr/>
          <p:nvPr/>
        </p:nvSpPr>
        <p:spPr>
          <a:xfrm>
            <a:off x="457200" y="2926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Web Services（ap-northeast-1 東京リージョン）　リポジトリ: POS-SERVER</a:t>
            </a:r>
            <a:endParaRPr lang="en-US" sz="1300" dirty="0"/>
          </a:p>
        </p:txBody>
      </p:sp>
      <p:sp>
        <p:nvSpPr>
          <p:cNvPr id="11" name="Text 6"/>
          <p:cNvSpPr/>
          <p:nvPr/>
        </p:nvSpPr>
        <p:spPr>
          <a:xfrm>
            <a:off x="457200" y="3291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本番環境: https://www.ignicapos.com/login　　STG環境: https://stg.ignicapos.com/login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457200" y="3749040"/>
            <a:ext cx="822960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457200" y="4754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ルビナソフトウェア株式会社　LUVINA Software</a:t>
            </a:r>
            <a:endParaRPr lang="en-US" sz="1300" dirty="0"/>
          </a:p>
        </p:txBody>
      </p:sp>
      <p:sp>
        <p:nvSpPr>
          <p:cNvPr id="14" name="Text 9"/>
          <p:cNvSpPr/>
          <p:nvPr/>
        </p:nvSpPr>
        <p:spPr>
          <a:xfrm>
            <a:off x="457200" y="5212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2026年3月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目次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本資料の構成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457200" y="155448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566928" y="168249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13" name="Text 8"/>
          <p:cNvSpPr/>
          <p:nvPr/>
        </p:nvSpPr>
        <p:spPr>
          <a:xfrm>
            <a:off x="566928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1024128" y="160934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システム概要</a:t>
            </a:r>
            <a:endParaRPr lang="en-US" sz="1100" dirty="0"/>
          </a:p>
        </p:txBody>
      </p:sp>
      <p:sp>
        <p:nvSpPr>
          <p:cNvPr id="15" name="Text 10"/>
          <p:cNvSpPr/>
          <p:nvPr/>
        </p:nvSpPr>
        <p:spPr>
          <a:xfrm>
            <a:off x="1024128" y="186537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POS-SERVER 全体像・関連システム・環境URL</a:t>
            </a:r>
            <a:endParaRPr lang="en-US" sz="800" dirty="0"/>
          </a:p>
        </p:txBody>
      </p:sp>
      <p:sp>
        <p:nvSpPr>
          <p:cNvPr id="16" name="Shape 11"/>
          <p:cNvSpPr/>
          <p:nvPr/>
        </p:nvSpPr>
        <p:spPr>
          <a:xfrm>
            <a:off x="3200400" y="155448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3310128" y="168249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18" name="Text 13"/>
          <p:cNvSpPr/>
          <p:nvPr/>
        </p:nvSpPr>
        <p:spPr>
          <a:xfrm>
            <a:off x="3310128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3767328" y="160934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AWSアーキテクチャ構成図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3767328" y="186537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全サービスの配置・レイヤー別構成（実態）</a:t>
            </a:r>
            <a:endParaRPr lang="en-US" sz="800" dirty="0"/>
          </a:p>
        </p:txBody>
      </p:sp>
      <p:sp>
        <p:nvSpPr>
          <p:cNvPr id="21" name="Shape 16"/>
          <p:cNvSpPr/>
          <p:nvPr/>
        </p:nvSpPr>
        <p:spPr>
          <a:xfrm>
            <a:off x="5943600" y="155448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053328" y="168249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23" name="Text 18"/>
          <p:cNvSpPr/>
          <p:nvPr/>
        </p:nvSpPr>
        <p:spPr>
          <a:xfrm>
            <a:off x="6053328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4" name="Text 19"/>
          <p:cNvSpPr/>
          <p:nvPr/>
        </p:nvSpPr>
        <p:spPr>
          <a:xfrm>
            <a:off x="6510528" y="160934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ネットワーク構成</a:t>
            </a:r>
            <a:endParaRPr lang="en-US" sz="1100" dirty="0"/>
          </a:p>
        </p:txBody>
      </p:sp>
      <p:sp>
        <p:nvSpPr>
          <p:cNvPr id="25" name="Text 20"/>
          <p:cNvSpPr/>
          <p:nvPr/>
        </p:nvSpPr>
        <p:spPr>
          <a:xfrm>
            <a:off x="6510528" y="186537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/ サブネット / セキュリティグループ / USMH接続</a:t>
            </a:r>
            <a:endParaRPr lang="en-US" sz="800" dirty="0"/>
          </a:p>
        </p:txBody>
      </p:sp>
      <p:sp>
        <p:nvSpPr>
          <p:cNvPr id="26" name="Shape 21"/>
          <p:cNvSpPr/>
          <p:nvPr/>
        </p:nvSpPr>
        <p:spPr>
          <a:xfrm>
            <a:off x="457200" y="228600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566928" y="241401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28" name="Text 23"/>
          <p:cNvSpPr/>
          <p:nvPr/>
        </p:nvSpPr>
        <p:spPr>
          <a:xfrm>
            <a:off x="566928" y="24140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4"/>
          <p:cNvSpPr/>
          <p:nvPr/>
        </p:nvSpPr>
        <p:spPr>
          <a:xfrm>
            <a:off x="1024128" y="234086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コンピュート（EC2）設定</a:t>
            </a:r>
            <a:endParaRPr lang="en-US" sz="1100" dirty="0"/>
          </a:p>
        </p:txBody>
      </p:sp>
      <p:sp>
        <p:nvSpPr>
          <p:cNvPr id="30" name="Text 25"/>
          <p:cNvSpPr/>
          <p:nvPr/>
        </p:nvSpPr>
        <p:spPr>
          <a:xfrm>
            <a:off x="1024128" y="259689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Bastion / Giftcard EC2インスタンス仕様</a:t>
            </a:r>
            <a:endParaRPr lang="en-US" sz="800" dirty="0"/>
          </a:p>
        </p:txBody>
      </p:sp>
      <p:sp>
        <p:nvSpPr>
          <p:cNvPr id="31" name="Shape 26"/>
          <p:cNvSpPr/>
          <p:nvPr/>
        </p:nvSpPr>
        <p:spPr>
          <a:xfrm>
            <a:off x="3200400" y="228600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3310128" y="241401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33" name="Text 28"/>
          <p:cNvSpPr/>
          <p:nvPr/>
        </p:nvSpPr>
        <p:spPr>
          <a:xfrm>
            <a:off x="3310128" y="24140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34" name="Text 29"/>
          <p:cNvSpPr/>
          <p:nvPr/>
        </p:nvSpPr>
        <p:spPr>
          <a:xfrm>
            <a:off x="3767328" y="234086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データベース（RDS）設定</a:t>
            </a:r>
            <a:endParaRPr lang="en-US" sz="1100" dirty="0"/>
          </a:p>
        </p:txBody>
      </p:sp>
      <p:sp>
        <p:nvSpPr>
          <p:cNvPr id="35" name="Text 30"/>
          <p:cNvSpPr/>
          <p:nvPr/>
        </p:nvSpPr>
        <p:spPr>
          <a:xfrm>
            <a:off x="3767328" y="259689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MySQL 8.0 / 2クラスター構成</a:t>
            </a:r>
            <a:endParaRPr lang="en-US" sz="800" dirty="0"/>
          </a:p>
        </p:txBody>
      </p:sp>
      <p:sp>
        <p:nvSpPr>
          <p:cNvPr id="36" name="Shape 31"/>
          <p:cNvSpPr/>
          <p:nvPr/>
        </p:nvSpPr>
        <p:spPr>
          <a:xfrm>
            <a:off x="5943600" y="228600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6053328" y="241401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38" name="Text 33"/>
          <p:cNvSpPr/>
          <p:nvPr/>
        </p:nvSpPr>
        <p:spPr>
          <a:xfrm>
            <a:off x="6053328" y="24140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9" name="Text 34"/>
          <p:cNvSpPr/>
          <p:nvPr/>
        </p:nvSpPr>
        <p:spPr>
          <a:xfrm>
            <a:off x="6510528" y="234086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ストレージ（S3）設定</a:t>
            </a:r>
            <a:endParaRPr lang="en-US" sz="1100" dirty="0"/>
          </a:p>
        </p:txBody>
      </p:sp>
      <p:sp>
        <p:nvSpPr>
          <p:cNvPr id="40" name="Text 35"/>
          <p:cNvSpPr/>
          <p:nvPr/>
        </p:nvSpPr>
        <p:spPr>
          <a:xfrm>
            <a:off x="6510528" y="259689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S3バケット構成・実際のバケット一覧</a:t>
            </a:r>
            <a:endParaRPr lang="en-US" sz="800" dirty="0"/>
          </a:p>
        </p:txBody>
      </p:sp>
      <p:sp>
        <p:nvSpPr>
          <p:cNvPr id="41" name="Shape 36"/>
          <p:cNvSpPr/>
          <p:nvPr/>
        </p:nvSpPr>
        <p:spPr>
          <a:xfrm>
            <a:off x="457200" y="301752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2" name="Shape 37"/>
          <p:cNvSpPr/>
          <p:nvPr/>
        </p:nvSpPr>
        <p:spPr>
          <a:xfrm>
            <a:off x="566928" y="314553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43" name="Text 38"/>
          <p:cNvSpPr/>
          <p:nvPr/>
        </p:nvSpPr>
        <p:spPr>
          <a:xfrm>
            <a:off x="566928" y="31455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400" dirty="0"/>
          </a:p>
        </p:txBody>
      </p:sp>
      <p:sp>
        <p:nvSpPr>
          <p:cNvPr id="44" name="Text 39"/>
          <p:cNvSpPr/>
          <p:nvPr/>
        </p:nvSpPr>
        <p:spPr>
          <a:xfrm>
            <a:off x="1024128" y="307238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サーバーレス（Lambda）設定</a:t>
            </a:r>
            <a:endParaRPr lang="en-US" sz="1100" dirty="0"/>
          </a:p>
        </p:txBody>
      </p:sp>
      <p:sp>
        <p:nvSpPr>
          <p:cNvPr id="45" name="Text 40"/>
          <p:cNvSpPr/>
          <p:nvPr/>
        </p:nvSpPr>
        <p:spPr>
          <a:xfrm>
            <a:off x="1024128" y="332841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Java17主体 21関数構成・ESL連携</a:t>
            </a:r>
            <a:endParaRPr lang="en-US" sz="800" dirty="0"/>
          </a:p>
        </p:txBody>
      </p:sp>
      <p:sp>
        <p:nvSpPr>
          <p:cNvPr id="46" name="Shape 41"/>
          <p:cNvSpPr/>
          <p:nvPr/>
        </p:nvSpPr>
        <p:spPr>
          <a:xfrm>
            <a:off x="3200400" y="301752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7" name="Shape 42"/>
          <p:cNvSpPr/>
          <p:nvPr/>
        </p:nvSpPr>
        <p:spPr>
          <a:xfrm>
            <a:off x="3310128" y="314553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48" name="Text 43"/>
          <p:cNvSpPr/>
          <p:nvPr/>
        </p:nvSpPr>
        <p:spPr>
          <a:xfrm>
            <a:off x="3310128" y="31455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49" name="Text 44"/>
          <p:cNvSpPr/>
          <p:nvPr/>
        </p:nvSpPr>
        <p:spPr>
          <a:xfrm>
            <a:off x="3767328" y="307238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監視・運用</a:t>
            </a:r>
            <a:endParaRPr lang="en-US" sz="1100" dirty="0"/>
          </a:p>
        </p:txBody>
      </p:sp>
      <p:sp>
        <p:nvSpPr>
          <p:cNvPr id="50" name="Text 45"/>
          <p:cNvSpPr/>
          <p:nvPr/>
        </p:nvSpPr>
        <p:spPr>
          <a:xfrm>
            <a:off x="3767328" y="332841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CloudWatch / EventBridgeスケジュール / Secrets Manager</a:t>
            </a:r>
            <a:endParaRPr lang="en-US" sz="800" dirty="0"/>
          </a:p>
        </p:txBody>
      </p:sp>
      <p:sp>
        <p:nvSpPr>
          <p:cNvPr id="51" name="Shape 46"/>
          <p:cNvSpPr/>
          <p:nvPr/>
        </p:nvSpPr>
        <p:spPr>
          <a:xfrm>
            <a:off x="5943600" y="301752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2" name="Shape 47"/>
          <p:cNvSpPr/>
          <p:nvPr/>
        </p:nvSpPr>
        <p:spPr>
          <a:xfrm>
            <a:off x="6053328" y="314553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53" name="Text 48"/>
          <p:cNvSpPr/>
          <p:nvPr/>
        </p:nvSpPr>
        <p:spPr>
          <a:xfrm>
            <a:off x="6053328" y="31455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400" dirty="0"/>
          </a:p>
        </p:txBody>
      </p:sp>
      <p:sp>
        <p:nvSpPr>
          <p:cNvPr id="54" name="Text 49"/>
          <p:cNvSpPr/>
          <p:nvPr/>
        </p:nvSpPr>
        <p:spPr>
          <a:xfrm>
            <a:off x="6510528" y="307238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外部連携</a:t>
            </a:r>
            <a:endParaRPr lang="en-US" sz="1100" dirty="0"/>
          </a:p>
        </p:txBody>
      </p:sp>
      <p:sp>
        <p:nvSpPr>
          <p:cNvPr id="55" name="Text 50"/>
          <p:cNvSpPr/>
          <p:nvPr/>
        </p:nvSpPr>
        <p:spPr>
          <a:xfrm>
            <a:off x="6510528" y="332841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USMH網(VPN) / Transfer Family(SFTP) / Route53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8" name="Shape 3"/>
          <p:cNvSpPr/>
          <p:nvPr/>
        </p:nvSpPr>
        <p:spPr>
          <a:xfrm>
            <a:off x="0" y="722376"/>
            <a:ext cx="9902952" cy="3602736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9" name="Text 4"/>
          <p:cNvSpPr/>
          <p:nvPr/>
        </p:nvSpPr>
        <p:spPr>
          <a:xfrm>
            <a:off x="548640" y="1097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 1</a:t>
            </a:r>
            <a:endParaRPr lang="en-US" sz="4800" dirty="0"/>
          </a:p>
        </p:txBody>
      </p:sp>
      <p:sp>
        <p:nvSpPr>
          <p:cNvPr id="10" name="Text 5"/>
          <p:cNvSpPr/>
          <p:nvPr/>
        </p:nvSpPr>
        <p:spPr>
          <a:xfrm>
            <a:off x="548640" y="2103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システム概要</a:t>
            </a:r>
            <a:endParaRPr lang="en-US" sz="2400" dirty="0"/>
          </a:p>
        </p:txBody>
      </p:sp>
      <p:sp>
        <p:nvSpPr>
          <p:cNvPr id="11" name="Shape 6"/>
          <p:cNvSpPr/>
          <p:nvPr/>
        </p:nvSpPr>
        <p:spPr>
          <a:xfrm>
            <a:off x="548640" y="2926080"/>
            <a:ext cx="274320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548640" y="3200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POS-SERVER 全体像 / 関連システム / 環境URL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システム概要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カスミ POS-SERVER — 関連システム・環境URL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457200" y="1554480"/>
            <a:ext cx="8988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カスミ様向け POSシステム（POS-SERVER）は、AWS 東京リージョン（ap-northeast-1）上に構築されたシステムです。本番・ステージングの2環境を運用し、Java/Tomcat ベースのアプリケーションサーバーと Aurora MySQL 8.0 データベースを中核に、電子棚札（ESL）連携・ギフトカード処理・Scan&amp;Go 機能を提供しています。</a:t>
            </a:r>
            <a:endParaRPr lang="en-US" sz="1000" dirty="0"/>
          </a:p>
        </p:txBody>
      </p:sp>
      <p:sp>
        <p:nvSpPr>
          <p:cNvPr id="12" name="Shape 7"/>
          <p:cNvSpPr/>
          <p:nvPr/>
        </p:nvSpPr>
        <p:spPr>
          <a:xfrm>
            <a:off x="475488" y="2194560"/>
            <a:ext cx="1691640" cy="109728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548640" y="230428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POS-SERVER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548640" y="2651760"/>
            <a:ext cx="1545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コアPOSサーバー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/ Tomcat 9.x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>
            <a:off x="2267712" y="2194560"/>
            <a:ext cx="1691640" cy="109728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2340864" y="230428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電子棚札（ESL）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2340864" y="2651760"/>
            <a:ext cx="1545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(Java17)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/ ISHIDA連携</a:t>
            </a:r>
            <a:endParaRPr lang="en-US" sz="900" dirty="0"/>
          </a:p>
        </p:txBody>
      </p:sp>
      <p:sp>
        <p:nvSpPr>
          <p:cNvPr id="18" name="Shape 13"/>
          <p:cNvSpPr/>
          <p:nvPr/>
        </p:nvSpPr>
        <p:spPr>
          <a:xfrm>
            <a:off x="4059936" y="2194560"/>
            <a:ext cx="1691640" cy="109728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4133088" y="230428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ギフトカード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4133088" y="2651760"/>
            <a:ext cx="1545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AFS連携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オーソリ処理</a:t>
            </a:r>
            <a:endParaRPr lang="en-US" sz="900" dirty="0"/>
          </a:p>
        </p:txBody>
      </p:sp>
      <p:sp>
        <p:nvSpPr>
          <p:cNvPr id="21" name="Shape 16"/>
          <p:cNvSpPr/>
          <p:nvPr/>
        </p:nvSpPr>
        <p:spPr>
          <a:xfrm>
            <a:off x="5852160" y="2194560"/>
            <a:ext cx="1691640" cy="109728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5925312" y="230428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Scan&amp;Go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5925312" y="2651760"/>
            <a:ext cx="1545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スキャン決済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S3連携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7644384" y="2194560"/>
            <a:ext cx="1691640" cy="109728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7717536" y="230428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BIPROGY</a:t>
            </a:r>
            <a:endParaRPr lang="en-US" sz="1200" dirty="0"/>
          </a:p>
        </p:txBody>
      </p:sp>
      <p:sp>
        <p:nvSpPr>
          <p:cNvPr id="26" name="Text 21"/>
          <p:cNvSpPr/>
          <p:nvPr/>
        </p:nvSpPr>
        <p:spPr>
          <a:xfrm>
            <a:off x="7717536" y="2651760"/>
            <a:ext cx="1545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外部連携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マスタ連携</a:t>
            </a:r>
            <a:endParaRPr lang="en-US" sz="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" y="3456432"/>
          <a:ext cx="8951976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6665976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環境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本番（Production）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https://www.ignicapos.com/login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ステージング（STG）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https://stg.ignicapos.com/login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8" name="Shape 3"/>
          <p:cNvSpPr/>
          <p:nvPr/>
        </p:nvSpPr>
        <p:spPr>
          <a:xfrm>
            <a:off x="0" y="722376"/>
            <a:ext cx="9902952" cy="3602736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9" name="Text 4"/>
          <p:cNvSpPr/>
          <p:nvPr/>
        </p:nvSpPr>
        <p:spPr>
          <a:xfrm>
            <a:off x="548640" y="1097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 2</a:t>
            </a:r>
            <a:endParaRPr lang="en-US" sz="4800" dirty="0"/>
          </a:p>
        </p:txBody>
      </p:sp>
      <p:sp>
        <p:nvSpPr>
          <p:cNvPr id="10" name="Text 5"/>
          <p:cNvSpPr/>
          <p:nvPr/>
        </p:nvSpPr>
        <p:spPr>
          <a:xfrm>
            <a:off x="548640" y="2103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AWSアーキテクチャ構成図</a:t>
            </a:r>
            <a:endParaRPr lang="en-US" sz="2400" dirty="0"/>
          </a:p>
        </p:txBody>
      </p:sp>
      <p:sp>
        <p:nvSpPr>
          <p:cNvPr id="11" name="Shape 6"/>
          <p:cNvSpPr/>
          <p:nvPr/>
        </p:nvSpPr>
        <p:spPr>
          <a:xfrm>
            <a:off x="548640" y="2926080"/>
            <a:ext cx="274320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548640" y="3200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実際のAWS設定に基づくレイヤー別構成（2026年3月調査）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AWSアーキテクチャ構成図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カスミ POS-SERVER — ap-northeast-1（東京）実構成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493776" y="1572768"/>
            <a:ext cx="8915400" cy="457200"/>
          </a:xfrm>
          <a:prstGeom prst="rect">
            <a:avLst/>
          </a:prstGeom>
          <a:solidFill>
            <a:srgbClr val="FFF0F0"/>
          </a:solidFill>
          <a:ln w="12700">
            <a:solidFill>
              <a:srgbClr val="D0232A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548640" y="1600200"/>
            <a:ext cx="1152144" cy="15544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3" name="Text 8"/>
          <p:cNvSpPr/>
          <p:nvPr/>
        </p:nvSpPr>
        <p:spPr>
          <a:xfrm>
            <a:off x="548640" y="1600200"/>
            <a:ext cx="1152144" cy="1554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クライアント層</a:t>
            </a:r>
            <a:endParaRPr lang="en-US" sz="900" dirty="0"/>
          </a:p>
        </p:txBody>
      </p:sp>
      <p:sp>
        <p:nvSpPr>
          <p:cNvPr id="14" name="Shape 9"/>
          <p:cNvSpPr/>
          <p:nvPr/>
        </p:nvSpPr>
        <p:spPr>
          <a:xfrm>
            <a:off x="594360" y="180136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21792" y="180136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カスミ各店舗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POS端末</a:t>
            </a:r>
            <a:endParaRPr lang="en-US" sz="800" dirty="0"/>
          </a:p>
        </p:txBody>
      </p:sp>
      <p:sp>
        <p:nvSpPr>
          <p:cNvPr id="16" name="Shape 11"/>
          <p:cNvSpPr/>
          <p:nvPr/>
        </p:nvSpPr>
        <p:spPr>
          <a:xfrm>
            <a:off x="2357323" y="180136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2384755" y="180136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本社・管理者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</a:t>
            </a:r>
            <a:endParaRPr lang="en-US" sz="800" dirty="0"/>
          </a:p>
        </p:txBody>
      </p:sp>
      <p:sp>
        <p:nvSpPr>
          <p:cNvPr id="18" name="Shape 13"/>
          <p:cNvSpPr/>
          <p:nvPr/>
        </p:nvSpPr>
        <p:spPr>
          <a:xfrm>
            <a:off x="4120286" y="180136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4147718" y="180136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ギフトカード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照会ページ</a:t>
            </a:r>
            <a:endParaRPr lang="en-US" sz="800" dirty="0"/>
          </a:p>
        </p:txBody>
      </p:sp>
      <p:sp>
        <p:nvSpPr>
          <p:cNvPr id="20" name="Shape 15"/>
          <p:cNvSpPr/>
          <p:nvPr/>
        </p:nvSpPr>
        <p:spPr>
          <a:xfrm>
            <a:off x="5883250" y="180136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5910682" y="180136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Scan&amp;Go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スキャン端末</a:t>
            </a:r>
            <a:endParaRPr lang="en-US" sz="800" dirty="0"/>
          </a:p>
        </p:txBody>
      </p:sp>
      <p:sp>
        <p:nvSpPr>
          <p:cNvPr id="22" name="Shape 17"/>
          <p:cNvSpPr/>
          <p:nvPr/>
        </p:nvSpPr>
        <p:spPr>
          <a:xfrm>
            <a:off x="7646213" y="180136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7673645" y="180136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ISHIDA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ESL機器</a:t>
            </a:r>
            <a:endParaRPr lang="en-US" sz="800" dirty="0"/>
          </a:p>
        </p:txBody>
      </p:sp>
      <p:sp>
        <p:nvSpPr>
          <p:cNvPr id="24" name="Shape 19"/>
          <p:cNvSpPr/>
          <p:nvPr/>
        </p:nvSpPr>
        <p:spPr>
          <a:xfrm>
            <a:off x="493776" y="2048256"/>
            <a:ext cx="8915400" cy="15544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25" name="Text 20"/>
          <p:cNvSpPr/>
          <p:nvPr/>
        </p:nvSpPr>
        <p:spPr>
          <a:xfrm>
            <a:off x="493776" y="2048256"/>
            <a:ext cx="8915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▼</a:t>
            </a:r>
            <a:endParaRPr lang="en-US" sz="800" dirty="0"/>
          </a:p>
        </p:txBody>
      </p:sp>
      <p:sp>
        <p:nvSpPr>
          <p:cNvPr id="26" name="Shape 21"/>
          <p:cNvSpPr/>
          <p:nvPr/>
        </p:nvSpPr>
        <p:spPr>
          <a:xfrm>
            <a:off x="493776" y="2203704"/>
            <a:ext cx="8915400" cy="347472"/>
          </a:xfrm>
          <a:prstGeom prst="rect">
            <a:avLst/>
          </a:prstGeom>
          <a:solidFill>
            <a:srgbClr val="FFF5EB"/>
          </a:solidFill>
          <a:ln w="12700">
            <a:solidFill>
              <a:srgbClr val="E8A040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548640" y="2231136"/>
            <a:ext cx="1975104" cy="155448"/>
          </a:xfrm>
          <a:prstGeom prst="rect">
            <a:avLst/>
          </a:prstGeom>
          <a:solidFill>
            <a:srgbClr val="B07020"/>
          </a:solidFill>
          <a:ln/>
        </p:spPr>
      </p:sp>
      <p:sp>
        <p:nvSpPr>
          <p:cNvPr id="28" name="Text 23"/>
          <p:cNvSpPr/>
          <p:nvPr/>
        </p:nvSpPr>
        <p:spPr>
          <a:xfrm>
            <a:off x="548640" y="2231136"/>
            <a:ext cx="1975104" cy="1554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エッジ / ネットワーク</a:t>
            </a:r>
            <a:endParaRPr lang="en-US" sz="900" dirty="0"/>
          </a:p>
        </p:txBody>
      </p:sp>
      <p:sp>
        <p:nvSpPr>
          <p:cNvPr id="29" name="Shape 24"/>
          <p:cNvSpPr/>
          <p:nvPr/>
        </p:nvSpPr>
        <p:spPr>
          <a:xfrm>
            <a:off x="594360" y="2432304"/>
            <a:ext cx="210312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C08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621792" y="2432304"/>
            <a:ext cx="2048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Route53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(ignicapos.com)</a:t>
            </a:r>
            <a:endParaRPr lang="en-US" sz="800" dirty="0"/>
          </a:p>
        </p:txBody>
      </p:sp>
      <p:sp>
        <p:nvSpPr>
          <p:cNvPr id="31" name="Shape 26"/>
          <p:cNvSpPr/>
          <p:nvPr/>
        </p:nvSpPr>
        <p:spPr>
          <a:xfrm>
            <a:off x="2798064" y="2432304"/>
            <a:ext cx="210312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C080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2825496" y="2432304"/>
            <a:ext cx="2048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 Gateway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(57.182.174.110)</a:t>
            </a:r>
            <a:endParaRPr lang="en-US" sz="800" dirty="0"/>
          </a:p>
        </p:txBody>
      </p:sp>
      <p:sp>
        <p:nvSpPr>
          <p:cNvPr id="33" name="Shape 28"/>
          <p:cNvSpPr/>
          <p:nvPr/>
        </p:nvSpPr>
        <p:spPr>
          <a:xfrm>
            <a:off x="5001768" y="2432304"/>
            <a:ext cx="210312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C080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5029200" y="2432304"/>
            <a:ext cx="2048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Gateway</a:t>
            </a:r>
            <a:endParaRPr lang="en-US" sz="800" dirty="0"/>
          </a:p>
        </p:txBody>
      </p:sp>
      <p:sp>
        <p:nvSpPr>
          <p:cNvPr id="35" name="Shape 30"/>
          <p:cNvSpPr/>
          <p:nvPr/>
        </p:nvSpPr>
        <p:spPr>
          <a:xfrm>
            <a:off x="7205472" y="2432304"/>
            <a:ext cx="210312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C080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7232904" y="2432304"/>
            <a:ext cx="2048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IPSec VPN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(USMH網接続)</a:t>
            </a:r>
            <a:endParaRPr lang="en-US" sz="800" dirty="0"/>
          </a:p>
        </p:txBody>
      </p:sp>
      <p:sp>
        <p:nvSpPr>
          <p:cNvPr id="37" name="Shape 32"/>
          <p:cNvSpPr/>
          <p:nvPr/>
        </p:nvSpPr>
        <p:spPr>
          <a:xfrm>
            <a:off x="493776" y="2569464"/>
            <a:ext cx="8915400" cy="15544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38" name="Text 33"/>
          <p:cNvSpPr/>
          <p:nvPr/>
        </p:nvSpPr>
        <p:spPr>
          <a:xfrm>
            <a:off x="493776" y="2569464"/>
            <a:ext cx="8915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▼</a:t>
            </a:r>
            <a:endParaRPr lang="en-US" sz="800" dirty="0"/>
          </a:p>
        </p:txBody>
      </p:sp>
      <p:sp>
        <p:nvSpPr>
          <p:cNvPr id="39" name="Shape 34"/>
          <p:cNvSpPr/>
          <p:nvPr/>
        </p:nvSpPr>
        <p:spPr>
          <a:xfrm>
            <a:off x="493776" y="2724912"/>
            <a:ext cx="8915400" cy="749808"/>
          </a:xfrm>
          <a:prstGeom prst="rect">
            <a:avLst/>
          </a:prstGeom>
          <a:solidFill>
            <a:srgbClr val="EBF5FF"/>
          </a:solidFill>
          <a:ln w="12700">
            <a:solidFill>
              <a:srgbClr val="4488CC"/>
            </a:solidFill>
            <a:prstDash val="solid"/>
          </a:ln>
        </p:spPr>
      </p:sp>
      <p:sp>
        <p:nvSpPr>
          <p:cNvPr id="40" name="Shape 35"/>
          <p:cNvSpPr/>
          <p:nvPr/>
        </p:nvSpPr>
        <p:spPr>
          <a:xfrm>
            <a:off x="548640" y="2752344"/>
            <a:ext cx="1481328" cy="155448"/>
          </a:xfrm>
          <a:prstGeom prst="rect">
            <a:avLst/>
          </a:prstGeom>
          <a:solidFill>
            <a:srgbClr val="2266AA"/>
          </a:solidFill>
          <a:ln/>
        </p:spPr>
      </p:sp>
      <p:sp>
        <p:nvSpPr>
          <p:cNvPr id="41" name="Text 36"/>
          <p:cNvSpPr/>
          <p:nvPr/>
        </p:nvSpPr>
        <p:spPr>
          <a:xfrm>
            <a:off x="548640" y="2752344"/>
            <a:ext cx="1481328" cy="1554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アプリケーション層</a:t>
            </a:r>
            <a:endParaRPr lang="en-US" sz="900" dirty="0"/>
          </a:p>
        </p:txBody>
      </p:sp>
      <p:sp>
        <p:nvSpPr>
          <p:cNvPr id="42" name="Shape 37"/>
          <p:cNvSpPr/>
          <p:nvPr/>
        </p:nvSpPr>
        <p:spPr>
          <a:xfrm>
            <a:off x="594360" y="2953512"/>
            <a:ext cx="210312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621792" y="2953512"/>
            <a:ext cx="2048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Bastion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t3.xlarge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(10.238.2.39)</a:t>
            </a:r>
            <a:endParaRPr lang="en-US" sz="800" dirty="0"/>
          </a:p>
        </p:txBody>
      </p:sp>
      <p:sp>
        <p:nvSpPr>
          <p:cNvPr id="44" name="Shape 39"/>
          <p:cNvSpPr/>
          <p:nvPr/>
        </p:nvSpPr>
        <p:spPr>
          <a:xfrm>
            <a:off x="2798064" y="2953512"/>
            <a:ext cx="210312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2825496" y="2953512"/>
            <a:ext cx="2048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Giftcard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t2.large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(10.238.2.198)</a:t>
            </a:r>
            <a:endParaRPr lang="en-US" sz="800" dirty="0"/>
          </a:p>
        </p:txBody>
      </p:sp>
      <p:sp>
        <p:nvSpPr>
          <p:cNvPr id="46" name="Shape 41"/>
          <p:cNvSpPr/>
          <p:nvPr/>
        </p:nvSpPr>
        <p:spPr>
          <a:xfrm>
            <a:off x="5001768" y="2953512"/>
            <a:ext cx="210312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029200" y="2953512"/>
            <a:ext cx="2048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ESL連携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Java17 / 18関数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(ksm-posprd系)</a:t>
            </a:r>
            <a:endParaRPr lang="en-US" sz="800" dirty="0"/>
          </a:p>
        </p:txBody>
      </p:sp>
      <p:sp>
        <p:nvSpPr>
          <p:cNvPr id="48" name="Shape 43"/>
          <p:cNvSpPr/>
          <p:nvPr/>
        </p:nvSpPr>
        <p:spPr>
          <a:xfrm>
            <a:off x="7205472" y="2953512"/>
            <a:ext cx="210312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232904" y="2953512"/>
            <a:ext cx="2048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Giftcard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Java17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残高照会・売上</a:t>
            </a:r>
            <a:endParaRPr lang="en-US" sz="800" dirty="0"/>
          </a:p>
        </p:txBody>
      </p:sp>
      <p:sp>
        <p:nvSpPr>
          <p:cNvPr id="50" name="Shape 45"/>
          <p:cNvSpPr/>
          <p:nvPr/>
        </p:nvSpPr>
        <p:spPr>
          <a:xfrm>
            <a:off x="594360" y="3255264"/>
            <a:ext cx="4302252" cy="155448"/>
          </a:xfrm>
          <a:prstGeom prst="rect">
            <a:avLst/>
          </a:prstGeom>
          <a:solidFill>
            <a:srgbClr val="EBF5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621792" y="3255264"/>
            <a:ext cx="42473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6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EventBridge（cron: 00:00 JST P001監視 / 05:30 JST ItemMaster連携）</a:t>
            </a:r>
            <a:endParaRPr lang="en-US" sz="800" dirty="0"/>
          </a:p>
        </p:txBody>
      </p:sp>
      <p:sp>
        <p:nvSpPr>
          <p:cNvPr id="52" name="Shape 47"/>
          <p:cNvSpPr/>
          <p:nvPr/>
        </p:nvSpPr>
        <p:spPr>
          <a:xfrm>
            <a:off x="5006340" y="3255264"/>
            <a:ext cx="4302252" cy="155448"/>
          </a:xfrm>
          <a:prstGeom prst="rect">
            <a:avLst/>
          </a:prstGeom>
          <a:solidFill>
            <a:srgbClr val="EBF5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53" name="Text 48"/>
          <p:cNvSpPr/>
          <p:nvPr/>
        </p:nvSpPr>
        <p:spPr>
          <a:xfrm>
            <a:off x="5033772" y="3255264"/>
            <a:ext cx="42473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6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SQS（ksm-posprd-lmd-trigger-sqs-export/import-sg）</a:t>
            </a:r>
            <a:endParaRPr lang="en-US" sz="800" dirty="0"/>
          </a:p>
        </p:txBody>
      </p:sp>
      <p:sp>
        <p:nvSpPr>
          <p:cNvPr id="54" name="Shape 49"/>
          <p:cNvSpPr/>
          <p:nvPr/>
        </p:nvSpPr>
        <p:spPr>
          <a:xfrm>
            <a:off x="493776" y="3502152"/>
            <a:ext cx="8915400" cy="15544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55" name="Text 50"/>
          <p:cNvSpPr/>
          <p:nvPr/>
        </p:nvSpPr>
        <p:spPr>
          <a:xfrm>
            <a:off x="493776" y="3502152"/>
            <a:ext cx="8915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▼</a:t>
            </a:r>
            <a:endParaRPr lang="en-US" sz="800" dirty="0"/>
          </a:p>
        </p:txBody>
      </p:sp>
      <p:sp>
        <p:nvSpPr>
          <p:cNvPr id="56" name="Shape 51"/>
          <p:cNvSpPr/>
          <p:nvPr/>
        </p:nvSpPr>
        <p:spPr>
          <a:xfrm>
            <a:off x="493776" y="3657600"/>
            <a:ext cx="8915400" cy="749808"/>
          </a:xfrm>
          <a:prstGeom prst="rect">
            <a:avLst/>
          </a:prstGeom>
          <a:solidFill>
            <a:srgbClr val="F0FFF0"/>
          </a:solidFill>
          <a:ln w="12700">
            <a:solidFill>
              <a:srgbClr val="44AA66"/>
            </a:solidFill>
            <a:prstDash val="solid"/>
          </a:ln>
        </p:spPr>
      </p:sp>
      <p:sp>
        <p:nvSpPr>
          <p:cNvPr id="57" name="Shape 52"/>
          <p:cNvSpPr/>
          <p:nvPr/>
        </p:nvSpPr>
        <p:spPr>
          <a:xfrm>
            <a:off x="548640" y="3685032"/>
            <a:ext cx="1005840" cy="155448"/>
          </a:xfrm>
          <a:prstGeom prst="rect">
            <a:avLst/>
          </a:prstGeom>
          <a:solidFill>
            <a:srgbClr val="228844"/>
          </a:solidFill>
          <a:ln/>
        </p:spPr>
      </p:sp>
      <p:sp>
        <p:nvSpPr>
          <p:cNvPr id="58" name="Text 53"/>
          <p:cNvSpPr/>
          <p:nvPr/>
        </p:nvSpPr>
        <p:spPr>
          <a:xfrm>
            <a:off x="548640" y="3685032"/>
            <a:ext cx="1005840" cy="1554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データ層</a:t>
            </a:r>
            <a:endParaRPr lang="en-US" sz="900" dirty="0"/>
          </a:p>
        </p:txBody>
      </p:sp>
      <p:sp>
        <p:nvSpPr>
          <p:cNvPr id="59" name="Shape 54"/>
          <p:cNvSpPr/>
          <p:nvPr/>
        </p:nvSpPr>
        <p:spPr>
          <a:xfrm>
            <a:off x="594360" y="3886200"/>
            <a:ext cx="1662379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60" name="Text 55"/>
          <p:cNvSpPr/>
          <p:nvPr/>
        </p:nvSpPr>
        <p:spPr>
          <a:xfrm>
            <a:off x="621792" y="3886200"/>
            <a:ext cx="16075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MySQL 8.0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instance-1 Primary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db.r5.2xlarge</a:t>
            </a:r>
            <a:endParaRPr lang="en-US" sz="800" dirty="0"/>
          </a:p>
        </p:txBody>
      </p:sp>
      <p:sp>
        <p:nvSpPr>
          <p:cNvPr id="61" name="Shape 56"/>
          <p:cNvSpPr/>
          <p:nvPr/>
        </p:nvSpPr>
        <p:spPr>
          <a:xfrm>
            <a:off x="2357323" y="3886200"/>
            <a:ext cx="1662379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62" name="Text 57"/>
          <p:cNvSpPr/>
          <p:nvPr/>
        </p:nvSpPr>
        <p:spPr>
          <a:xfrm>
            <a:off x="2384755" y="3886200"/>
            <a:ext cx="16075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MySQL 8.0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instance-1 Replica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db.t3.medium</a:t>
            </a:r>
            <a:endParaRPr lang="en-US" sz="800" dirty="0"/>
          </a:p>
        </p:txBody>
      </p:sp>
      <p:sp>
        <p:nvSpPr>
          <p:cNvPr id="63" name="Shape 58"/>
          <p:cNvSpPr/>
          <p:nvPr/>
        </p:nvSpPr>
        <p:spPr>
          <a:xfrm>
            <a:off x="4120286" y="3886200"/>
            <a:ext cx="1662379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64" name="Text 59"/>
          <p:cNvSpPr/>
          <p:nvPr/>
        </p:nvSpPr>
        <p:spPr>
          <a:xfrm>
            <a:off x="4147718" y="3886200"/>
            <a:ext cx="16075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MySQL 8.0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instance-2 Primary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db.r5.2xlarge</a:t>
            </a:r>
            <a:endParaRPr lang="en-US" sz="800" dirty="0"/>
          </a:p>
        </p:txBody>
      </p:sp>
      <p:sp>
        <p:nvSpPr>
          <p:cNvPr id="65" name="Shape 60"/>
          <p:cNvSpPr/>
          <p:nvPr/>
        </p:nvSpPr>
        <p:spPr>
          <a:xfrm>
            <a:off x="5883250" y="3886200"/>
            <a:ext cx="1662379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66" name="Text 61"/>
          <p:cNvSpPr/>
          <p:nvPr/>
        </p:nvSpPr>
        <p:spPr>
          <a:xfrm>
            <a:off x="5910682" y="3886200"/>
            <a:ext cx="16075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MySQL 8.0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instance-2 Replica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db.t3.medium</a:t>
            </a:r>
            <a:endParaRPr lang="en-US" sz="800" dirty="0"/>
          </a:p>
        </p:txBody>
      </p:sp>
      <p:sp>
        <p:nvSpPr>
          <p:cNvPr id="67" name="Shape 62"/>
          <p:cNvSpPr/>
          <p:nvPr/>
        </p:nvSpPr>
        <p:spPr>
          <a:xfrm>
            <a:off x="7646213" y="3886200"/>
            <a:ext cx="1662379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68" name="Text 63"/>
          <p:cNvSpPr/>
          <p:nvPr/>
        </p:nvSpPr>
        <p:spPr>
          <a:xfrm>
            <a:off x="7673645" y="3886200"/>
            <a:ext cx="16075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prd-ignica-ksm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(メインバケット)</a:t>
            </a:r>
            <a:endParaRPr lang="en-US" sz="800" dirty="0"/>
          </a:p>
        </p:txBody>
      </p:sp>
      <p:sp>
        <p:nvSpPr>
          <p:cNvPr id="69" name="Shape 64"/>
          <p:cNvSpPr/>
          <p:nvPr/>
        </p:nvSpPr>
        <p:spPr>
          <a:xfrm>
            <a:off x="493776" y="4434840"/>
            <a:ext cx="8915400" cy="15544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0" name="Text 65"/>
          <p:cNvSpPr/>
          <p:nvPr/>
        </p:nvSpPr>
        <p:spPr>
          <a:xfrm>
            <a:off x="493776" y="4434840"/>
            <a:ext cx="8915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▼</a:t>
            </a:r>
            <a:endParaRPr lang="en-US" sz="800" dirty="0"/>
          </a:p>
        </p:txBody>
      </p:sp>
      <p:sp>
        <p:nvSpPr>
          <p:cNvPr id="71" name="Shape 66"/>
          <p:cNvSpPr/>
          <p:nvPr/>
        </p:nvSpPr>
        <p:spPr>
          <a:xfrm>
            <a:off x="493776" y="4590288"/>
            <a:ext cx="8915400" cy="347472"/>
          </a:xfrm>
          <a:prstGeom prst="rect">
            <a:avLst/>
          </a:prstGeom>
          <a:solidFill>
            <a:srgbClr val="F5F0FF"/>
          </a:solidFill>
          <a:ln w="12700">
            <a:solidFill>
              <a:srgbClr val="8866BB"/>
            </a:solidFill>
            <a:prstDash val="solid"/>
          </a:ln>
        </p:spPr>
      </p:sp>
      <p:sp>
        <p:nvSpPr>
          <p:cNvPr id="72" name="Shape 67"/>
          <p:cNvSpPr/>
          <p:nvPr/>
        </p:nvSpPr>
        <p:spPr>
          <a:xfrm>
            <a:off x="548640" y="4617720"/>
            <a:ext cx="1975104" cy="155448"/>
          </a:xfrm>
          <a:prstGeom prst="rect">
            <a:avLst/>
          </a:prstGeom>
          <a:solidFill>
            <a:srgbClr val="6644AA"/>
          </a:solidFill>
          <a:ln/>
        </p:spPr>
      </p:sp>
      <p:sp>
        <p:nvSpPr>
          <p:cNvPr id="73" name="Text 68"/>
          <p:cNvSpPr/>
          <p:nvPr/>
        </p:nvSpPr>
        <p:spPr>
          <a:xfrm>
            <a:off x="548640" y="4617720"/>
            <a:ext cx="1975104" cy="1554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運用・監視・セキュリティ</a:t>
            </a:r>
            <a:endParaRPr lang="en-US" sz="900" dirty="0"/>
          </a:p>
        </p:txBody>
      </p:sp>
      <p:sp>
        <p:nvSpPr>
          <p:cNvPr id="74" name="Shape 69"/>
          <p:cNvSpPr/>
          <p:nvPr/>
        </p:nvSpPr>
        <p:spPr>
          <a:xfrm>
            <a:off x="594360" y="4818888"/>
            <a:ext cx="1368552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75" name="Text 70"/>
          <p:cNvSpPr/>
          <p:nvPr/>
        </p:nvSpPr>
        <p:spPr>
          <a:xfrm>
            <a:off x="621792" y="4818888"/>
            <a:ext cx="1313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CloudWatch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(19アラーム)</a:t>
            </a:r>
            <a:endParaRPr lang="en-US" sz="800" dirty="0"/>
          </a:p>
        </p:txBody>
      </p:sp>
      <p:sp>
        <p:nvSpPr>
          <p:cNvPr id="76" name="Shape 71"/>
          <p:cNvSpPr/>
          <p:nvPr/>
        </p:nvSpPr>
        <p:spPr>
          <a:xfrm>
            <a:off x="2063496" y="4818888"/>
            <a:ext cx="1368552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77" name="Text 72"/>
          <p:cNvSpPr/>
          <p:nvPr/>
        </p:nvSpPr>
        <p:spPr>
          <a:xfrm>
            <a:off x="2090928" y="4818888"/>
            <a:ext cx="1313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CloudTrail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監査ログ</a:t>
            </a:r>
            <a:endParaRPr lang="en-US" sz="800" dirty="0"/>
          </a:p>
        </p:txBody>
      </p:sp>
      <p:sp>
        <p:nvSpPr>
          <p:cNvPr id="78" name="Shape 73"/>
          <p:cNvSpPr/>
          <p:nvPr/>
        </p:nvSpPr>
        <p:spPr>
          <a:xfrm>
            <a:off x="3532632" y="4818888"/>
            <a:ext cx="1368552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79" name="Text 74"/>
          <p:cNvSpPr/>
          <p:nvPr/>
        </p:nvSpPr>
        <p:spPr>
          <a:xfrm>
            <a:off x="3560064" y="4818888"/>
            <a:ext cx="1313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(7シークレット)</a:t>
            </a:r>
            <a:endParaRPr lang="en-US" sz="800" dirty="0"/>
          </a:p>
        </p:txBody>
      </p:sp>
      <p:sp>
        <p:nvSpPr>
          <p:cNvPr id="80" name="Shape 75"/>
          <p:cNvSpPr/>
          <p:nvPr/>
        </p:nvSpPr>
        <p:spPr>
          <a:xfrm>
            <a:off x="5001768" y="4818888"/>
            <a:ext cx="1368552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81" name="Text 76"/>
          <p:cNvSpPr/>
          <p:nvPr/>
        </p:nvSpPr>
        <p:spPr>
          <a:xfrm>
            <a:off x="5029200" y="4818888"/>
            <a:ext cx="1313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暗号化</a:t>
            </a:r>
            <a:endParaRPr lang="en-US" sz="800" dirty="0"/>
          </a:p>
        </p:txBody>
      </p:sp>
      <p:sp>
        <p:nvSpPr>
          <p:cNvPr id="82" name="Shape 77"/>
          <p:cNvSpPr/>
          <p:nvPr/>
        </p:nvSpPr>
        <p:spPr>
          <a:xfrm>
            <a:off x="6470904" y="4818888"/>
            <a:ext cx="1368552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83" name="Text 78"/>
          <p:cNvSpPr/>
          <p:nvPr/>
        </p:nvSpPr>
        <p:spPr>
          <a:xfrm>
            <a:off x="6498336" y="4818888"/>
            <a:ext cx="1313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</a:t>
            </a:r>
            <a:endParaRPr lang="en-US" sz="800" dirty="0"/>
          </a:p>
        </p:txBody>
      </p:sp>
      <p:sp>
        <p:nvSpPr>
          <p:cNvPr id="84" name="Shape 79"/>
          <p:cNvSpPr/>
          <p:nvPr/>
        </p:nvSpPr>
        <p:spPr>
          <a:xfrm>
            <a:off x="7940040" y="4818888"/>
            <a:ext cx="1368552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85" name="Text 80"/>
          <p:cNvSpPr/>
          <p:nvPr/>
        </p:nvSpPr>
        <p:spPr>
          <a:xfrm>
            <a:off x="7967472" y="4818888"/>
            <a:ext cx="1313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Backup</a:t>
            </a:r>
            <a:endParaRPr lang="en-US" sz="800" dirty="0"/>
          </a:p>
        </p:txBody>
      </p:sp>
      <p:sp>
        <p:nvSpPr>
          <p:cNvPr id="86" name="Shape 81"/>
          <p:cNvSpPr/>
          <p:nvPr/>
        </p:nvSpPr>
        <p:spPr>
          <a:xfrm>
            <a:off x="493776" y="4956048"/>
            <a:ext cx="8915400" cy="347472"/>
          </a:xfrm>
          <a:prstGeom prst="rect">
            <a:avLst/>
          </a:prstGeom>
          <a:solidFill>
            <a:srgbClr val="FFF8F0"/>
          </a:solidFill>
          <a:ln w="12700">
            <a:solidFill>
              <a:srgbClr val="CC8844"/>
            </a:solidFill>
            <a:prstDash val="solid"/>
          </a:ln>
        </p:spPr>
      </p:sp>
      <p:sp>
        <p:nvSpPr>
          <p:cNvPr id="87" name="Shape 82"/>
          <p:cNvSpPr/>
          <p:nvPr/>
        </p:nvSpPr>
        <p:spPr>
          <a:xfrm>
            <a:off x="548640" y="4983480"/>
            <a:ext cx="1005840" cy="155448"/>
          </a:xfrm>
          <a:prstGeom prst="rect">
            <a:avLst/>
          </a:prstGeom>
          <a:solidFill>
            <a:srgbClr val="AA6622"/>
          </a:solidFill>
          <a:ln/>
        </p:spPr>
      </p:sp>
      <p:sp>
        <p:nvSpPr>
          <p:cNvPr id="88" name="Text 83"/>
          <p:cNvSpPr/>
          <p:nvPr/>
        </p:nvSpPr>
        <p:spPr>
          <a:xfrm>
            <a:off x="548640" y="4983480"/>
            <a:ext cx="1005840" cy="1554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外部連携</a:t>
            </a:r>
            <a:endParaRPr lang="en-US" sz="900" dirty="0"/>
          </a:p>
        </p:txBody>
      </p:sp>
      <p:sp>
        <p:nvSpPr>
          <p:cNvPr id="89" name="Shape 84"/>
          <p:cNvSpPr/>
          <p:nvPr/>
        </p:nvSpPr>
        <p:spPr>
          <a:xfrm>
            <a:off x="594360" y="518464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BB88"/>
            </a:solidFill>
            <a:prstDash val="solid"/>
          </a:ln>
        </p:spPr>
      </p:sp>
      <p:sp>
        <p:nvSpPr>
          <p:cNvPr id="90" name="Text 85"/>
          <p:cNvSpPr/>
          <p:nvPr/>
        </p:nvSpPr>
        <p:spPr>
          <a:xfrm>
            <a:off x="621792" y="518464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BIPROGY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マスタ連携</a:t>
            </a:r>
            <a:endParaRPr lang="en-US" sz="800" dirty="0"/>
          </a:p>
        </p:txBody>
      </p:sp>
      <p:sp>
        <p:nvSpPr>
          <p:cNvPr id="91" name="Shape 86"/>
          <p:cNvSpPr/>
          <p:nvPr/>
        </p:nvSpPr>
        <p:spPr>
          <a:xfrm>
            <a:off x="2357323" y="518464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BB88"/>
            </a:solidFill>
            <a:prstDash val="solid"/>
          </a:ln>
        </p:spPr>
      </p:sp>
      <p:sp>
        <p:nvSpPr>
          <p:cNvPr id="92" name="Text 87"/>
          <p:cNvSpPr/>
          <p:nvPr/>
        </p:nvSpPr>
        <p:spPr>
          <a:xfrm>
            <a:off x="2384755" y="518464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ISHIDA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ESL機器送信</a:t>
            </a:r>
            <a:endParaRPr lang="en-US" sz="800" dirty="0"/>
          </a:p>
        </p:txBody>
      </p:sp>
      <p:sp>
        <p:nvSpPr>
          <p:cNvPr id="93" name="Shape 88"/>
          <p:cNvSpPr/>
          <p:nvPr/>
        </p:nvSpPr>
        <p:spPr>
          <a:xfrm>
            <a:off x="4120286" y="518464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BB88"/>
            </a:solidFill>
            <a:prstDash val="solid"/>
          </a:ln>
        </p:spPr>
      </p:sp>
      <p:sp>
        <p:nvSpPr>
          <p:cNvPr id="94" name="Text 89"/>
          <p:cNvSpPr/>
          <p:nvPr/>
        </p:nvSpPr>
        <p:spPr>
          <a:xfrm>
            <a:off x="4147718" y="518464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オーソリサーバー</a:t>
            </a:r>
            <a:endParaRPr lang="en-US" sz="800" dirty="0"/>
          </a:p>
        </p:txBody>
      </p:sp>
      <p:sp>
        <p:nvSpPr>
          <p:cNvPr id="95" name="Shape 90"/>
          <p:cNvSpPr/>
          <p:nvPr/>
        </p:nvSpPr>
        <p:spPr>
          <a:xfrm>
            <a:off x="5883250" y="518464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BB88"/>
            </a:solidFill>
            <a:prstDash val="solid"/>
          </a:ln>
        </p:spPr>
      </p:sp>
      <p:sp>
        <p:nvSpPr>
          <p:cNvPr id="96" name="Text 91"/>
          <p:cNvSpPr/>
          <p:nvPr/>
        </p:nvSpPr>
        <p:spPr>
          <a:xfrm>
            <a:off x="5910682" y="518464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Family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SFTP(3サーバー)</a:t>
            </a:r>
            <a:endParaRPr lang="en-US" sz="800" dirty="0"/>
          </a:p>
        </p:txBody>
      </p:sp>
      <p:sp>
        <p:nvSpPr>
          <p:cNvPr id="97" name="Shape 92"/>
          <p:cNvSpPr/>
          <p:nvPr/>
        </p:nvSpPr>
        <p:spPr>
          <a:xfrm>
            <a:off x="7646213" y="518464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BB88"/>
            </a:solidFill>
            <a:prstDash val="solid"/>
          </a:ln>
        </p:spPr>
      </p:sp>
      <p:sp>
        <p:nvSpPr>
          <p:cNvPr id="98" name="Text 93"/>
          <p:cNvSpPr/>
          <p:nvPr/>
        </p:nvSpPr>
        <p:spPr>
          <a:xfrm>
            <a:off x="7673645" y="518464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USMH網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IPSec VPN</a:t>
            </a:r>
            <a:endParaRPr lang="en-US" sz="800" dirty="0"/>
          </a:p>
        </p:txBody>
      </p:sp>
      <p:sp>
        <p:nvSpPr>
          <p:cNvPr id="99" name="Text 94"/>
          <p:cNvSpPr/>
          <p:nvPr/>
        </p:nvSpPr>
        <p:spPr>
          <a:xfrm>
            <a:off x="493776" y="5358384"/>
            <a:ext cx="8915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ALB/WAFは未設置。EC2はBastionとGiftcardの2台。DBはRDS Proxyなし。VPCはシングルAZ構成(1a+1c)。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ネットワーク構成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/ サブネット / セキュリティグループ / USMH接続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365760" y="157276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/ サブネット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847088"/>
          <a:ext cx="4389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280160"/>
                <a:gridCol w="73152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名称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CIDR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com-posprd-vpc (VPC)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10.238.0.0/16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ap-northeast-1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subnet-public-1a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10.238.2.0/26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subnet-public-1c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10.238.3.0/26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subnet-private-1a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10.238.2.128/25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subnet-private-1c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10.238.3.128/25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subnet-protected-1a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10.238.2.64/26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subnet-protected-1c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10.238.3.64/26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subnet-common-1a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10.238.0.0/26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subnet-common-1c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10.238.1.0/26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7"/>
          <p:cNvSpPr/>
          <p:nvPr/>
        </p:nvSpPr>
        <p:spPr>
          <a:xfrm>
            <a:off x="5029200" y="15727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USMH網接続（IPSec VPN）</a:t>
            </a:r>
            <a:endParaRPr lang="en-US" sz="12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847088"/>
          <a:ext cx="45720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65176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項目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値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接続方式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IPSec Site-to-Site VPN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 ID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vpn-0ea9b7895f78e4c7e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カスタマーGW IP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14.224.146.153（USMH側）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BGP ASN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仮想プライベートGW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vgw-06d8981903cf33c62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USMH CIDR(DB)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172.21.10.0/24 → RDS port 3306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USMH CIDR(GW)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10.156.96.0/24 → Giftcard port 80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USMH CIDR(SFTP)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10.156.96.192/26 → Transfer Family port 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Connect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このアカウントには未設定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（USMH側管理の可能性あり）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 8"/>
          <p:cNvSpPr/>
          <p:nvPr/>
        </p:nvSpPr>
        <p:spPr>
          <a:xfrm>
            <a:off x="365760" y="5120640"/>
            <a:ext cx="9171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Bastion EC2（sg-ec2-bastion）: UDP 1194 が開放（OpenVPN経由のメンテナンスアクセス用）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コンピュート（EC2）/ 5. データベース（RDS）設定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インスタンス仕様・Aurora MySQL 8.0 クラスター構成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8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365760" y="157276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インスタンス（2台）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847088"/>
          <a:ext cx="438912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822960"/>
                <a:gridCol w="1005840"/>
                <a:gridCol w="64008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名称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タイプ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Private IP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ksm-posprd-ec2-bastion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t3.xlarge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ksm-posprd-ec2-giftcard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t2.large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10.238.2.198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3" name="Text 7"/>
          <p:cNvSpPr/>
          <p:nvPr/>
        </p:nvSpPr>
        <p:spPr>
          <a:xfrm>
            <a:off x="365760" y="26517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4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App Server / Batch Server は現在EC2として存在しない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AA4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（Lambda (Java17) でバッチ処理を担当）</a:t>
            </a:r>
            <a:endParaRPr lang="en-US" sz="800" dirty="0"/>
          </a:p>
        </p:txBody>
      </p:sp>
      <p:sp>
        <p:nvSpPr>
          <p:cNvPr id="14" name="Text 8"/>
          <p:cNvSpPr/>
          <p:nvPr/>
        </p:nvSpPr>
        <p:spPr>
          <a:xfrm>
            <a:off x="365760" y="324612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— Aurora MySQL 8.0（2クラスター）</a:t>
            </a:r>
            <a:endParaRPr lang="en-US" sz="12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520440"/>
          <a:ext cx="4389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188720"/>
                <a:gridCol w="8229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インスタンスID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クラス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役割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ksm-posprd-db-instance-1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db.r5.2xlarge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ksm-posprd-db-instance-1-replica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db.t3.medium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ksm-posprd-db-instance-2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db.r5.2xlarge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ksm-posprd-db-instance-2-replica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db.t3.medium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6" name="Text 9"/>
          <p:cNvSpPr/>
          <p:nvPr/>
        </p:nvSpPr>
        <p:spPr>
          <a:xfrm>
            <a:off x="365760" y="489204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エンジン: aurora-mysql 8.0.mysql_aurora.3.08.2　|　Multi-AZ: False　|　RDS Proxy: なし</a:t>
            </a:r>
            <a:endParaRPr lang="en-US" sz="800" dirty="0"/>
          </a:p>
        </p:txBody>
      </p:sp>
      <p:sp>
        <p:nvSpPr>
          <p:cNvPr id="17" name="Text 10"/>
          <p:cNvSpPr/>
          <p:nvPr/>
        </p:nvSpPr>
        <p:spPr>
          <a:xfrm>
            <a:off x="5029200" y="15727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主要セキュリティグループ</a:t>
            </a:r>
            <a:endParaRPr lang="en-US" sz="1200" dirty="0"/>
          </a:p>
        </p:txBody>
      </p:sp>
      <p:graphicFrame>
        <p:nvGraphicFramePr>
          <p:cNvPr id="2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847088"/>
          <a:ext cx="45720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37744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用途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sg-ec2-bastion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Bastion (UDP 1194)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sg-ec2-giftcard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Giftcard (TCP 80, 3389)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sg-db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 (TCP 3306)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sg-lmd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Lambda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sg-ep-tf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Transfer Family (TCP 22)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sg-ep-ecr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ECR Endpoint (TCP 443)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sg-ep-cw-logs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CloudWatch Logs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sg-ep-kms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KMS Endpoint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sg-ecs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ECS用（予備）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sg-kasumi-charge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Kasumi Charge用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ストレージ（S3）/ 7. サーバーレス（Lambda）設定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S3バケット構成・Lambda 21関数（Java17主体）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9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365760" y="157276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バケット（全11バケット）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847088"/>
          <a:ext cx="4389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37744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バケット名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用途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prd-ignica-ksm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メインバケット（OC/SG/ISHIDA/ログ）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prd-ignica-ksm-master-backup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マスターバックアップ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prd-ignica-ksm-pmlogs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PMログ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prd-ignica-com-lmd-jar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Lambda JARファイル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prd-aeon-gift-card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ギフトカード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prd-ignica-com-configrecord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設定レコード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aws-cloudtrail-logs-*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CloudTrail監査ログ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phongbt-auditor-production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監査用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3" name="Text 7"/>
          <p:cNvSpPr/>
          <p:nvPr/>
        </p:nvSpPr>
        <p:spPr>
          <a:xfrm>
            <a:off x="365760" y="448056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4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PPTXに記載の「pos-master-prod」バケットは存在しない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AA4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実際のメインバケットは「prd-ignica-ksm」</a:t>
            </a:r>
            <a:endParaRPr lang="en-US" sz="800" dirty="0"/>
          </a:p>
        </p:txBody>
      </p:sp>
      <p:sp>
        <p:nvSpPr>
          <p:cNvPr id="14" name="Text 8"/>
          <p:cNvSpPr/>
          <p:nvPr/>
        </p:nvSpPr>
        <p:spPr>
          <a:xfrm>
            <a:off x="5029200" y="15727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関数（21関数 / ksm-posprd系18 + その他3）</a:t>
            </a:r>
            <a:endParaRPr lang="en-US" sz="12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847088"/>
          <a:ext cx="45720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97280"/>
                <a:gridCol w="1097280"/>
              </a:tblGrid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関数名（簡略）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create-file-end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split-csv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create-file-end-for-night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512MB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sg-import-data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2048MB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p001-import-monitoring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512MB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split-txt-by-sent-time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itemmaster-import-monitoring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512MB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backup-file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import-pos-master-sh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oc-import-data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2048MB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get-sync-store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sent-email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sent-txt-file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unzip-file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zipfile-polling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python3.13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export-polling (stg)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python3.13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trigger-sqs-export-sg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python3.13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trigger-sqs-import-sg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python3.13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6" name="Text 9"/>
          <p:cNvSpPr/>
          <p:nvPr/>
        </p:nvSpPr>
        <p:spPr>
          <a:xfrm>
            <a:off x="5029200" y="6035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4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PPTXに記載の「Python 3.11」は誤り。主ランタイムはJava 17。タイムアウト900s（大半）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監視・運用（CloudWatch / EventBridge / Secrets Manager）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アラーム・スケジュール・シークレット管理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10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365760" y="157276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CloudWatch アラーム（19件 / 全OK）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847088"/>
          <a:ext cx="438912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9144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アラーム名（簡略）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状態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db-aborted-clients (cluster/replica)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db-acu-cluster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db-cpu (cluster/replica)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db-dml-rejected-writer (cluster/replica)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db-free-local-storage-replica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db-freeable-memory (cluster/replica)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db-serverless-capacity-cluster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ec2-audit-log / dnf-log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ec2-messages / secure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ec2-statuscheck (instance/system)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tf-oc / tf-sg (Transfer Family)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7"/>
          <p:cNvSpPr/>
          <p:nvPr/>
        </p:nvSpPr>
        <p:spPr>
          <a:xfrm>
            <a:off x="5029200" y="15727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EventBridge 定期実行（確認済み）</a:t>
            </a:r>
            <a:endParaRPr lang="en-US" sz="12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847088"/>
          <a:ext cx="45720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554480"/>
                <a:gridCol w="7315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ルール名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スケジュール（UTC）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p001-import-monitoring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cron(00 15 * * ? *)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00:00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itemmaster-import-monitoring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cron(30 20 * * ? *)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05:30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night-export-sg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cron(30 20 * * ? *)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05:30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copy-backup-sg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イベント駆動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create-txt-file-sg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イベント駆動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receive-pos-master-oc/sg/sh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S3イベント駆動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5" name="Text 8"/>
          <p:cNvSpPr/>
          <p:nvPr/>
        </p:nvSpPr>
        <p:spPr>
          <a:xfrm>
            <a:off x="5029200" y="3886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4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PPTXに記載の06:00(ESLDATA)・07:00(レポート)のルールは確認されず</a:t>
            </a:r>
            <a:endParaRPr lang="en-US" sz="800" dirty="0"/>
          </a:p>
        </p:txBody>
      </p:sp>
      <p:sp>
        <p:nvSpPr>
          <p:cNvPr id="16" name="Text 9"/>
          <p:cNvSpPr/>
          <p:nvPr/>
        </p:nvSpPr>
        <p:spPr>
          <a:xfrm>
            <a:off x="5029200" y="42062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Manager（7件）</a:t>
            </a:r>
            <a:endParaRPr lang="en-US" sz="1200" dirty="0"/>
          </a:p>
        </p:txBody>
      </p:sp>
      <p:graphicFrame>
        <p:nvGraphicFramePr>
          <p:cNvPr id="31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4480560"/>
          <a:ext cx="4572000" cy="914400"/>
        </p:xfrm>
        <a:graphic>
          <a:graphicData uri="http://schemas.openxmlformats.org/drawingml/2006/table">
            <a:tbl>
              <a:tblPr/>
              <a:tblGrid>
                <a:gridCol w="457200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シークレット名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ksm-posprd-sm-db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ksm-posprd-sm-db-replica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ksm-posprd-sm-sftp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prd/Mail_Kasumi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prd/Batch_Kasumi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prd/Replica_Kasumi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prd/Replica_Kasumi_RO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外部連携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USMH網（IPSec VPN）/ Transfer Family（SFTP）/ Route53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11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365760" y="157276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Family（SFTP 3サーバー）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847088"/>
          <a:ext cx="43891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731520"/>
                <a:gridCol w="146304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サーバーID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状態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Endpoint/Domain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s-2a4905e8210f48248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VPC / S3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s-5546031218784c4ba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VPC / S3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s-bd974a35aa994c838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VPC / S3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7"/>
          <p:cNvSpPr/>
          <p:nvPr/>
        </p:nvSpPr>
        <p:spPr>
          <a:xfrm>
            <a:off x="365760" y="297180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SFTPアクセス元: USMH網 10.156.96.192/26 → sg-ep-tf (TCP 22)</a:t>
            </a:r>
            <a:endParaRPr lang="en-US" sz="900" dirty="0"/>
          </a:p>
        </p:txBody>
      </p:sp>
      <p:sp>
        <p:nvSpPr>
          <p:cNvPr id="14" name="Text 8"/>
          <p:cNvSpPr/>
          <p:nvPr/>
        </p:nvSpPr>
        <p:spPr>
          <a:xfrm>
            <a:off x="365760" y="333756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Route53 / NAT Gateway</a:t>
            </a:r>
            <a:endParaRPr lang="en-US" sz="1200" dirty="0"/>
          </a:p>
        </p:txBody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611880"/>
          <a:ext cx="4389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7432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項目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値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ホストゾーン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ignicapos.com（パブリック）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ゾーンID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Z017481510MTQ4HID9VH2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 Gateway ID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nat-0e97a1bcf24e2e8ef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 Public IP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57.182.174.110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Internet Gateway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igw-018556e45a0a66598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 9"/>
          <p:cNvSpPr/>
          <p:nvPr/>
        </p:nvSpPr>
        <p:spPr>
          <a:xfrm>
            <a:off x="5029200" y="15727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USMH網 接続詳細（IPSec VPN）</a:t>
            </a:r>
            <a:endParaRPr lang="en-US" sz="1200" dirty="0"/>
          </a:p>
        </p:txBody>
      </p:sp>
      <p:sp>
        <p:nvSpPr>
          <p:cNvPr id="17" name="Shape 10"/>
          <p:cNvSpPr/>
          <p:nvPr/>
        </p:nvSpPr>
        <p:spPr>
          <a:xfrm>
            <a:off x="5120640" y="1920240"/>
            <a:ext cx="1280160" cy="640080"/>
          </a:xfrm>
          <a:prstGeom prst="rect">
            <a:avLst/>
          </a:prstGeom>
          <a:solidFill>
            <a:srgbClr val="FFF0F0"/>
          </a:solidFill>
          <a:ln w="12700">
            <a:solidFill>
              <a:srgbClr val="D0232A"/>
            </a:solidFill>
            <a:prstDash val="solid"/>
          </a:ln>
        </p:spPr>
      </p:sp>
      <p:sp>
        <p:nvSpPr>
          <p:cNvPr id="18" name="Text 11"/>
          <p:cNvSpPr/>
          <p:nvPr/>
        </p:nvSpPr>
        <p:spPr>
          <a:xfrm>
            <a:off x="5166360" y="19659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USMH網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(イオン系)</a:t>
            </a:r>
            <a:endParaRPr lang="en-US" sz="800" dirty="0"/>
          </a:p>
        </p:txBody>
      </p:sp>
      <p:sp>
        <p:nvSpPr>
          <p:cNvPr id="19" name="Shape 12"/>
          <p:cNvSpPr/>
          <p:nvPr/>
        </p:nvSpPr>
        <p:spPr>
          <a:xfrm>
            <a:off x="6675120" y="1920240"/>
            <a:ext cx="1920240" cy="640080"/>
          </a:xfrm>
          <a:prstGeom prst="rect">
            <a:avLst/>
          </a:prstGeom>
          <a:solidFill>
            <a:srgbClr val="FFFAEE"/>
          </a:solidFill>
          <a:ln w="12700">
            <a:solidFill>
              <a:srgbClr val="E8A040"/>
            </a:solidFill>
            <a:prstDash val="solid"/>
          </a:ln>
        </p:spPr>
      </p:sp>
      <p:sp>
        <p:nvSpPr>
          <p:cNvPr id="20" name="Text 13"/>
          <p:cNvSpPr/>
          <p:nvPr/>
        </p:nvSpPr>
        <p:spPr>
          <a:xfrm>
            <a:off x="6720840" y="19659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IPSec VPN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(vpn-0ea9b7895f78e4c7e)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CGW: 14.224.146.153</a:t>
            </a:r>
            <a:endParaRPr lang="en-US" sz="800" dirty="0"/>
          </a:p>
        </p:txBody>
      </p:sp>
      <p:sp>
        <p:nvSpPr>
          <p:cNvPr id="21" name="Shape 14"/>
          <p:cNvSpPr/>
          <p:nvPr/>
        </p:nvSpPr>
        <p:spPr>
          <a:xfrm>
            <a:off x="8778240" y="1920240"/>
            <a:ext cx="1463040" cy="640080"/>
          </a:xfrm>
          <a:prstGeom prst="rect">
            <a:avLst/>
          </a:prstGeom>
          <a:solidFill>
            <a:srgbClr val="EBF5FF"/>
          </a:solidFill>
          <a:ln w="12700">
            <a:solidFill>
              <a:srgbClr val="4488CC"/>
            </a:solidFill>
            <a:prstDash val="solid"/>
          </a:ln>
        </p:spPr>
      </p:sp>
      <p:sp>
        <p:nvSpPr>
          <p:cNvPr id="22" name="Text 15"/>
          <p:cNvSpPr/>
          <p:nvPr/>
        </p:nvSpPr>
        <p:spPr>
          <a:xfrm>
            <a:off x="8823960" y="19659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VPC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(10.238.0.0/16)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VGW: vgw-06d8981903cf33c62</a:t>
            </a:r>
            <a:endParaRPr lang="en-US" sz="800" dirty="0"/>
          </a:p>
        </p:txBody>
      </p:sp>
      <p:sp>
        <p:nvSpPr>
          <p:cNvPr id="23" name="Shape 16"/>
          <p:cNvSpPr/>
          <p:nvPr/>
        </p:nvSpPr>
        <p:spPr>
          <a:xfrm>
            <a:off x="6419088" y="2240280"/>
            <a:ext cx="256032" cy="0"/>
          </a:xfrm>
          <a:prstGeom prst="line">
            <a:avLst/>
          </a:prstGeom>
          <a:noFill/>
          <a:ln w="25400">
            <a:solidFill>
              <a:srgbClr val="D0232A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8613648" y="2240280"/>
            <a:ext cx="164592" cy="0"/>
          </a:xfrm>
          <a:prstGeom prst="line">
            <a:avLst/>
          </a:prstGeom>
          <a:noFill/>
          <a:ln w="25400">
            <a:solidFill>
              <a:srgbClr val="D0232A"/>
            </a:solidFill>
            <a:prstDash val="solid"/>
          </a:ln>
        </p:spPr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2743200"/>
          <a:ext cx="45720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188720"/>
                <a:gridCol w="822960"/>
                <a:gridCol w="109728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アクセス元CIDR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接続先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ポート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用途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172.21.10.0/24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 (sg-db)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TCP 3306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DB直接接続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10.156.96.0/24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EC2 Giftcard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TCP 80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ギフトカード画面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10.156.96.192/26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Transfer Family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TCP 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SFTPファイル転送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Text 18"/>
          <p:cNvSpPr/>
          <p:nvPr/>
        </p:nvSpPr>
        <p:spPr>
          <a:xfrm>
            <a:off x="5029200" y="42062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4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Direct ConnectはこのAWSアカウントには存在しない。USMH側アカウントで管理されている可能性があるため要確認。</a:t>
            </a:r>
            <a:endParaRPr lang="en-US" sz="800" dirty="0"/>
          </a:p>
        </p:txBody>
      </p:sp>
      <p:sp>
        <p:nvSpPr>
          <p:cNvPr id="27" name="Text 19"/>
          <p:cNvSpPr/>
          <p:nvPr/>
        </p:nvSpPr>
        <p:spPr>
          <a:xfrm>
            <a:off x="365760" y="5120640"/>
            <a:ext cx="89885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AWSアカウント情報</a:t>
            </a:r>
            <a:endParaRPr lang="en-US" sz="1000" dirty="0"/>
          </a:p>
        </p:txBody>
      </p:sp>
      <p:sp>
        <p:nvSpPr>
          <p:cNvPr id="28" name="Text 20"/>
          <p:cNvSpPr/>
          <p:nvPr/>
        </p:nvSpPr>
        <p:spPr>
          <a:xfrm>
            <a:off x="365760" y="5367528"/>
            <a:ext cx="89885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アカウントID: 332802448674　|　IAMユーザー: kiyohara　|　リージョン: ap-northeast-1（東京）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調査結果サマリー — PPTX旧版との差異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2026年3月 AWS CloudShell調査結果に基づく修正点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12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00200"/>
          <a:ext cx="917143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194560"/>
                <a:gridCol w="2743200"/>
                <a:gridCol w="758952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項目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旧PPTX記載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実際の設定（本資料）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判定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DBエンジン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 14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Aurora MySQL 8.0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 Primary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db.t3.medium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db.r5.2xlarge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DBクラスター数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2クラスター (instance-1/2)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Multi-AZ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 Proxy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あり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なし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EC2構成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App/Batch Server (t3.medium)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Bastion(t3.xlarge) + Giftcard(t2.large)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Lambda Runtime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3.11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 17が主体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Lambda本数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12モジュール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21関数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S3メインバケット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pos-master-prod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prd-ignica-ksm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あり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なし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WAF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あり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なし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USMH接続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Connect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IPSec VPN（要確認）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⚠️要確認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EventBridge 06:00/07:00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ESLDATA/レポート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該当ルールなし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VPC CIDR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10.238.0.0/16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10.238.0.0/16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✅一致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Transfer Family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あり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3サーバー(VPC/S3/ONLINE)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✅一致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CloudWatch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設定済み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19アラーム / 全OK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✅一致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ルビナソフトウェア株式会社</dc:creator>
  <cp:lastModifiedBy>ルビナソフトウェア株式会社</cp:lastModifiedBy>
  <cp:revision>1</cp:revision>
  <dcterms:created xsi:type="dcterms:W3CDTF">2026-03-07T18:37:49Z</dcterms:created>
  <dcterms:modified xsi:type="dcterms:W3CDTF">2026-03-07T18:37:49Z</dcterms:modified>
</cp:coreProperties>
</file>