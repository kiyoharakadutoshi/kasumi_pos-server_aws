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57200" y="1554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POS / Hệ thống POS KASUMI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構成資料 / Tài liệu cấu hình AWS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457200" y="28346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セキュリティ調査レポート / Báo cáo điều tra bảo mật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3375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57200" y="3520440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401568" y="3520440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12064" y="3557016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対象環境 / Môi trường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3456432" y="3557016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(750735758916) / PRD (332802448674)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57200" y="3904488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3401568" y="3904488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12064" y="3941064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 / Ngày điều tra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3456432" y="3941064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2026年3月9日 / Ngày 09 tháng 03 năm 2026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57200" y="4288536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01568" y="4288536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12064" y="4325112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作成者 / Người tạo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456432" y="4325112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Thanh Nguyên (Luvina Software)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4672584"/>
            <a:ext cx="2926080" cy="31089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401568" y="4672584"/>
            <a:ext cx="57607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12064" y="4709160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次回レビュー / Lần xem xét tiếp theo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3456432" y="4709160"/>
            <a:ext cx="5650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2026年3月16日（毎週月曜日 / Thứ Hai hàng tuần）</a:t>
            </a:r>
            <a:endParaRPr lang="en-US" sz="900" dirty="0"/>
          </a:p>
        </p:txBody>
      </p:sp>
      <p:pic>
        <p:nvPicPr>
          <p:cNvPr id="29" name="Image 3" descr="/mnt/skills/user/luvina-ppt/assets/luvina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5669280"/>
            <a:ext cx="10058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 / Mục lục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457200" y="164592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2" name="Text 7"/>
          <p:cNvSpPr/>
          <p:nvPr/>
        </p:nvSpPr>
        <p:spPr>
          <a:xfrm>
            <a:off x="457200" y="1645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097280" y="16642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ネットワーク構成概要（外部→AWS）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97280" y="190195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Tổng quan cấu hình mạng (Ngoài → AWS)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57200" y="217627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" y="2350008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7" name="Text 12"/>
          <p:cNvSpPr/>
          <p:nvPr/>
        </p:nvSpPr>
        <p:spPr>
          <a:xfrm>
            <a:off x="457200" y="23500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097280" y="236829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AWS内部構成図（STG / PRD VPC）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097280" y="26060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Sơ đồ cấu hình nội bộ AWS (STG / PRD VPC)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57200" y="2880360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7200" y="3054096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2" name="Text 17"/>
          <p:cNvSpPr/>
          <p:nvPr/>
        </p:nvSpPr>
        <p:spPr>
          <a:xfrm>
            <a:off x="457200" y="30540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097280" y="30723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STG環境 — セキュリティ現状と問題影響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97280" y="33101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Môi trường STG — Trạng thái bảo mật &amp; Tác động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584448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57200" y="3758184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7" name="Text 22"/>
          <p:cNvSpPr/>
          <p:nvPr/>
        </p:nvSpPr>
        <p:spPr>
          <a:xfrm>
            <a:off x="457200" y="37581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097280" y="37764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PRD環境 — セキュリティ現状と問題影響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97280" y="4014216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Môi trường PRD — Trạng thái bảo mật &amp; Tác động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457200" y="4288536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457200" y="4462272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2" name="Text 27"/>
          <p:cNvSpPr/>
          <p:nvPr/>
        </p:nvSpPr>
        <p:spPr>
          <a:xfrm>
            <a:off x="457200" y="44622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1097280" y="4480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外部連携データフロー全体図（OC / SG / SH）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1097280" y="471830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Sơ đồ luồng dữ liệu liên kết ngoài (OC / SG / SH)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57200" y="4992624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57200" y="5166360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7" name="Text 32"/>
          <p:cNvSpPr/>
          <p:nvPr/>
        </p:nvSpPr>
        <p:spPr>
          <a:xfrm>
            <a:off x="457200" y="51663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1097280" y="51846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本番環境・検証環境 差異一覧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1097280" y="54223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Danh sách sự khác biệt PRD / STG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457200" y="5696712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457200" y="5870448"/>
            <a:ext cx="493776" cy="49377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2" name="Text 37"/>
          <p:cNvSpPr/>
          <p:nvPr/>
        </p:nvSpPr>
        <p:spPr>
          <a:xfrm>
            <a:off x="457200" y="5870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1097280" y="588873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リスク一覧・対応ロードマップ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97280" y="61264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Danh sách rủi ro &amp; Lộ trình ứng phó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457200" y="6400800"/>
            <a:ext cx="8961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ネットワーク構成概要（外部 → AWS） / Tổng quan cấu hình mạng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→ AWS Site-to-Site VPN + OpenVPN（Bastion）→ STG/PRD VPC → USMH閉域網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182880" y="1554480"/>
            <a:ext cx="2286000" cy="2377440"/>
          </a:xfrm>
          <a:prstGeom prst="rect">
            <a:avLst/>
          </a:prstGeom>
          <a:solidFill>
            <a:srgbClr val="EBF5FF"/>
          </a:solidFill>
          <a:ln w="25400">
            <a:solidFill>
              <a:srgbClr val="4488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82880" y="15727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Văn phòng Luvina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274320" y="20116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274320" y="221284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WAN: 14.224.146.153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74320" y="23957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LuvinaNet: 118.70.128.3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365760" y="2606040"/>
            <a:ext cx="19202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74320" y="26517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Bastion許可: 9IP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(プレフィックスリスト)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487168" y="2377440"/>
            <a:ext cx="1005840" cy="0"/>
          </a:xfrm>
          <a:prstGeom prst="line">
            <a:avLst/>
          </a:prstGeom>
          <a:noFill/>
          <a:ln w="31750">
            <a:solidFill>
              <a:srgbClr val="D0232A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337560" y="23042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232A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2487168" y="208483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Site-to-Site VPN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T1: UP / T2: ⚠DOWN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2487168" y="2743200"/>
            <a:ext cx="1005840" cy="0"/>
          </a:xfrm>
          <a:prstGeom prst="line">
            <a:avLst/>
          </a:prstGeom>
          <a:noFill/>
          <a:ln w="25400">
            <a:solidFill>
              <a:srgbClr val="E8A040"/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3337560" y="2670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7020"/>
                </a:solidFill>
              </a:rPr>
              <a:t>▶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2487168" y="283464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OpenVPN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 UDP 1194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3520440" y="1463040"/>
            <a:ext cx="6126480" cy="3017520"/>
          </a:xfrm>
          <a:prstGeom prst="rect">
            <a:avLst/>
          </a:prstGeom>
          <a:solidFill>
            <a:srgbClr val="FAFAFA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356616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(ap-northeast-1)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3657600" y="1737360"/>
            <a:ext cx="2560320" cy="2468880"/>
          </a:xfrm>
          <a:prstGeom prst="rect">
            <a:avLst/>
          </a:prstGeom>
          <a:solidFill>
            <a:srgbClr val="FFF5F5"/>
          </a:solidFill>
          <a:ln w="25400">
            <a:solidFill>
              <a:srgbClr val="D0232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657600" y="1755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VPC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10.239.0.0/16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374904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ALB: web-fe / api-be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(internet-facing) ⚠️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3749040" y="2514600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 / EC2 / RDS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(VPC EP)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/ VPC Endpoints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3749040" y="305409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750735758916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3730752" y="3255264"/>
            <a:ext cx="2414016" cy="237744"/>
          </a:xfrm>
          <a:prstGeom prst="rect">
            <a:avLst/>
          </a:prstGeom>
          <a:solidFill>
            <a:srgbClr val="FFE0E0"/>
          </a:solidFill>
          <a:ln w="10160">
            <a:solidFill>
              <a:srgbClr val="D0232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730752" y="325526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web-be SG: ALL 0.0.0.0/0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6583680" y="1737360"/>
            <a:ext cx="2834640" cy="2468880"/>
          </a:xfrm>
          <a:prstGeom prst="rect">
            <a:avLst/>
          </a:prstGeom>
          <a:solidFill>
            <a:srgbClr val="F0FFF5"/>
          </a:solidFill>
          <a:ln w="25400">
            <a:solidFill>
              <a:srgbClr val="44AA6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583680" y="1755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VPC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10.238.0.0/16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6675120" y="21579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ALB: なし 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 (PL制限済み)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6675120" y="251460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 / EC2 / RDS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(VPC EP)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/ VPC Endpoints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6675120" y="305409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332802448674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6656832" y="3255264"/>
            <a:ext cx="2688336" cy="237744"/>
          </a:xfrm>
          <a:prstGeom prst="rect">
            <a:avLst/>
          </a:prstGeom>
          <a:solidFill>
            <a:srgbClr val="E8FFE8"/>
          </a:solidFill>
          <a:ln w="10160">
            <a:solidFill>
              <a:srgbClr val="44AA6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656832" y="3255264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GuardDuty / CloudTrail 有効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6236208" y="2560320"/>
            <a:ext cx="329184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42" name="Shape 37"/>
          <p:cNvSpPr/>
          <p:nvPr/>
        </p:nvSpPr>
        <p:spPr>
          <a:xfrm>
            <a:off x="4937760" y="4462272"/>
            <a:ext cx="0" cy="502920"/>
          </a:xfrm>
          <a:prstGeom prst="line">
            <a:avLst/>
          </a:prstGeom>
          <a:noFill/>
          <a:ln w="25400">
            <a:solidFill>
              <a:srgbClr val="8866BB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4846320" y="484632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66BB"/>
                </a:solidFill>
              </a:rPr>
              <a:t>▼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4992624" y="4462272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VPNルート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172.21.10.0/24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TCP3306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3520440" y="5047488"/>
            <a:ext cx="2743200" cy="731520"/>
          </a:xfrm>
          <a:prstGeom prst="rect">
            <a:avLst/>
          </a:prstGeom>
          <a:solidFill>
            <a:srgbClr val="F5F0FF"/>
          </a:solidFill>
          <a:ln w="25400">
            <a:solidFill>
              <a:srgbClr val="8866BB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520440" y="50474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 / Mạng kín USMH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172.21.10.0/24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3520440" y="5833872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AWS内部経由でアクセス（Truy cập qua nội bộ AWS）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182880" y="4892040"/>
            <a:ext cx="3200400" cy="12801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92608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凡例 / Chú giải: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292608" y="5157216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─── 赤実線: Site-to-Site VPN（実経路）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292608" y="5312664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 - 橙破線: OpenVPN / Bastion (UDP1194)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292608" y="546811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─── 紫: VPNルート → USMH閉域網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292608" y="5623560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橙: 要是正項目</a:t>
            </a:r>
            <a:endParaRPr lang="en-US" sz="750" dirty="0"/>
          </a:p>
        </p:txBody>
      </p:sp>
      <p:sp>
        <p:nvSpPr>
          <p:cNvPr id="54" name="Text 49"/>
          <p:cNvSpPr/>
          <p:nvPr/>
        </p:nvSpPr>
        <p:spPr>
          <a:xfrm>
            <a:off x="292608" y="5779008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赤: 即時対応必要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292608" y="5934456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緑: 安全確認済み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AWS内部構成図（STG / PRD VPC） / Sơ đồ cấu hình nội bộ AWS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各VPC内のサービス配置・通信フロー　|　Bố trí dịch vụ và luồng giao tiếp trong từng VPC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3200400" y="1572768"/>
            <a:ext cx="3474720" cy="310896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200400" y="15727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 / インターネット（STGのみ公開 / Chỉ STG công khai）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4937760" y="1901952"/>
            <a:ext cx="0" cy="329184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837176" y="20665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232A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40480" y="2231136"/>
            <a:ext cx="2194560" cy="25603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3840480" y="22311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 Gateway (STG) / ⚠️ api-be ALB: internet-facing</a:t>
            </a:r>
            <a:endParaRPr lang="en-US" sz="700" dirty="0"/>
          </a:p>
        </p:txBody>
      </p:sp>
      <p:sp>
        <p:nvSpPr>
          <p:cNvPr id="18" name="Shape 13"/>
          <p:cNvSpPr/>
          <p:nvPr/>
        </p:nvSpPr>
        <p:spPr>
          <a:xfrm>
            <a:off x="182880" y="2542032"/>
            <a:ext cx="9509760" cy="694944"/>
          </a:xfrm>
          <a:prstGeom prst="rect">
            <a:avLst/>
          </a:prstGeom>
          <a:solidFill>
            <a:srgbClr val="FFFDE0"/>
          </a:solidFill>
          <a:ln w="12700">
            <a:solidFill>
              <a:srgbClr val="CCAA00"/>
            </a:solidFill>
            <a:prstDash val="dash"/>
          </a:ln>
        </p:spPr>
      </p:sp>
      <p:sp>
        <p:nvSpPr>
          <p:cNvPr id="19" name="Text 14"/>
          <p:cNvSpPr/>
          <p:nvPr/>
        </p:nvSpPr>
        <p:spPr>
          <a:xfrm>
            <a:off x="228600" y="255117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988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パブリックサブネット / Public Subnet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274320" y="2724912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92608" y="272491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46.51.249.130(STG)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3.115.168.92(PRD)</a:t>
            </a:r>
            <a:endParaRPr lang="en-US" sz="650" dirty="0"/>
          </a:p>
        </p:txBody>
      </p:sp>
      <p:sp>
        <p:nvSpPr>
          <p:cNvPr id="22" name="Shape 17"/>
          <p:cNvSpPr/>
          <p:nvPr/>
        </p:nvSpPr>
        <p:spPr>
          <a:xfrm>
            <a:off x="1920240" y="2724912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938528" y="2724912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52.196.152.170(STG)</a:t>
            </a:r>
            <a:endParaRPr lang="en-US" sz="650" dirty="0"/>
          </a:p>
        </p:txBody>
      </p:sp>
      <p:sp>
        <p:nvSpPr>
          <p:cNvPr id="24" name="Shape 19"/>
          <p:cNvSpPr/>
          <p:nvPr/>
        </p:nvSpPr>
        <p:spPr>
          <a:xfrm>
            <a:off x="3383280" y="2724912"/>
            <a:ext cx="2011680" cy="43891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401568" y="272491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web-fe (STG)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80→443 redirect</a:t>
            </a:r>
            <a:endParaRPr lang="en-US" sz="650" dirty="0"/>
          </a:p>
        </p:txBody>
      </p:sp>
      <p:sp>
        <p:nvSpPr>
          <p:cNvPr id="26" name="Shape 21"/>
          <p:cNvSpPr/>
          <p:nvPr/>
        </p:nvSpPr>
        <p:spPr>
          <a:xfrm>
            <a:off x="5577840" y="2724912"/>
            <a:ext cx="2011680" cy="438912"/>
          </a:xfrm>
          <a:prstGeom prst="rect">
            <a:avLst/>
          </a:prstGeom>
          <a:solidFill>
            <a:srgbClr val="FFEECC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596128" y="272491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api-be (STG) ⚠️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internal化推奨</a:t>
            </a:r>
            <a:endParaRPr lang="en-US" sz="650" dirty="0"/>
          </a:p>
        </p:txBody>
      </p:sp>
      <p:sp>
        <p:nvSpPr>
          <p:cNvPr id="28" name="Shape 23"/>
          <p:cNvSpPr/>
          <p:nvPr/>
        </p:nvSpPr>
        <p:spPr>
          <a:xfrm>
            <a:off x="7772400" y="2724912"/>
            <a:ext cx="1828800" cy="438912"/>
          </a:xfrm>
          <a:prstGeom prst="rect">
            <a:avLst/>
          </a:prstGeom>
          <a:solidFill>
            <a:srgbClr val="E8FFE8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790688" y="2724912"/>
            <a:ext cx="1792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ALBなし ✅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Bastion経由のみ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(PL制限済み)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182880" y="3291840"/>
            <a:ext cx="950976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31" name="Text 26"/>
          <p:cNvSpPr/>
          <p:nvPr/>
        </p:nvSpPr>
        <p:spPr>
          <a:xfrm>
            <a:off x="228600" y="330098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プライベートサブネット（App層）/ Private Subnet (App)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274320" y="349300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29260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(React Frontend)</a:t>
            </a:r>
            <a:endParaRPr lang="en-US" sz="650" dirty="0"/>
          </a:p>
        </p:txBody>
      </p:sp>
      <p:sp>
        <p:nvSpPr>
          <p:cNvPr id="34" name="Shape 29"/>
          <p:cNvSpPr/>
          <p:nvPr/>
        </p:nvSpPr>
        <p:spPr>
          <a:xfrm>
            <a:off x="1920240" y="349300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93852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Fargate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(Spring Boot API)</a:t>
            </a:r>
            <a:endParaRPr lang="en-US" sz="650" dirty="0"/>
          </a:p>
        </p:txBody>
      </p:sp>
      <p:sp>
        <p:nvSpPr>
          <p:cNvPr id="36" name="Shape 31"/>
          <p:cNvSpPr/>
          <p:nvPr/>
        </p:nvSpPr>
        <p:spPr>
          <a:xfrm>
            <a:off x="3566160" y="3493008"/>
            <a:ext cx="1463040" cy="438912"/>
          </a:xfrm>
          <a:prstGeom prst="rect">
            <a:avLst/>
          </a:prstGeom>
          <a:solidFill>
            <a:srgbClr val="FFE0E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584448" y="349300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web-be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SG: ALL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0.0.0.0/0 要削除</a:t>
            </a:r>
            <a:endParaRPr lang="en-US" sz="650" dirty="0"/>
          </a:p>
        </p:txBody>
      </p:sp>
      <p:sp>
        <p:nvSpPr>
          <p:cNvPr id="38" name="Shape 33"/>
          <p:cNvSpPr/>
          <p:nvPr/>
        </p:nvSpPr>
        <p:spPr>
          <a:xfrm>
            <a:off x="5212080" y="3493008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230368" y="349300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giftcard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(Gift Card SVC)</a:t>
            </a:r>
            <a:endParaRPr lang="en-US" sz="650" dirty="0"/>
          </a:p>
        </p:txBody>
      </p:sp>
      <p:sp>
        <p:nvSpPr>
          <p:cNvPr id="40" name="Shape 35"/>
          <p:cNvSpPr/>
          <p:nvPr/>
        </p:nvSpPr>
        <p:spPr>
          <a:xfrm>
            <a:off x="6766560" y="3493008"/>
            <a:ext cx="1371600" cy="438912"/>
          </a:xfrm>
          <a:prstGeom prst="rect">
            <a:avLst/>
          </a:prstGeom>
          <a:solidFill>
            <a:srgbClr val="FFFBF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784848" y="349300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23本(STG)/21本(PRD)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一部VPC外 ⚠️</a:t>
            </a:r>
            <a:endParaRPr lang="en-US" sz="650" dirty="0"/>
          </a:p>
        </p:txBody>
      </p:sp>
      <p:sp>
        <p:nvSpPr>
          <p:cNvPr id="42" name="Shape 37"/>
          <p:cNvSpPr/>
          <p:nvPr/>
        </p:nvSpPr>
        <p:spPr>
          <a:xfrm>
            <a:off x="8321040" y="3493008"/>
            <a:ext cx="1325880" cy="438912"/>
          </a:xfrm>
          <a:prstGeom prst="rect">
            <a:avLst/>
          </a:prstGeom>
          <a:solidFill>
            <a:srgbClr val="E8FFE8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339328" y="349300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SFTP×3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</p:txBody>
      </p:sp>
      <p:sp>
        <p:nvSpPr>
          <p:cNvPr id="44" name="Shape 39"/>
          <p:cNvSpPr/>
          <p:nvPr/>
        </p:nvSpPr>
        <p:spPr>
          <a:xfrm>
            <a:off x="182880" y="4096512"/>
            <a:ext cx="950976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dash"/>
          </a:ln>
        </p:spPr>
      </p:sp>
      <p:sp>
        <p:nvSpPr>
          <p:cNvPr id="45" name="Text 40"/>
          <p:cNvSpPr/>
          <p:nvPr/>
        </p:nvSpPr>
        <p:spPr>
          <a:xfrm>
            <a:off x="228600" y="410565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プライベートサブネット（Data層）/ Private Subnet (Data)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274320" y="4297680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92608" y="4297680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Aurora MySQL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×4インスタンス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PubliclyAccessible=False ✅</a:t>
            </a:r>
            <a:endParaRPr lang="en-US" sz="650" dirty="0"/>
          </a:p>
        </p:txBody>
      </p:sp>
      <p:sp>
        <p:nvSpPr>
          <p:cNvPr id="48" name="Shape 43"/>
          <p:cNvSpPr/>
          <p:nvPr/>
        </p:nvSpPr>
        <p:spPr>
          <a:xfrm>
            <a:off x="2377440" y="4297680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395728" y="429768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Secrets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Manager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</p:txBody>
      </p:sp>
      <p:sp>
        <p:nvSpPr>
          <p:cNvPr id="50" name="Shape 45"/>
          <p:cNvSpPr/>
          <p:nvPr/>
        </p:nvSpPr>
        <p:spPr>
          <a:xfrm>
            <a:off x="3931920" y="4297680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950208" y="42976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全バケット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PublicBlock ✅</a:t>
            </a:r>
            <a:endParaRPr lang="en-US" sz="650" dirty="0"/>
          </a:p>
        </p:txBody>
      </p:sp>
      <p:sp>
        <p:nvSpPr>
          <p:cNvPr id="52" name="Shape 47"/>
          <p:cNvSpPr/>
          <p:nvPr/>
        </p:nvSpPr>
        <p:spPr>
          <a:xfrm>
            <a:off x="5577840" y="4297680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596128" y="4297680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 / SNS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(EventBridge)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非同期連携</a:t>
            </a:r>
            <a:endParaRPr lang="en-US" sz="650" dirty="0"/>
          </a:p>
        </p:txBody>
      </p:sp>
      <p:sp>
        <p:nvSpPr>
          <p:cNvPr id="54" name="Shape 49"/>
          <p:cNvSpPr/>
          <p:nvPr/>
        </p:nvSpPr>
        <p:spPr>
          <a:xfrm>
            <a:off x="7040880" y="4297680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059168" y="4297680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KMS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暗号化 ✅</a:t>
            </a:r>
            <a:endParaRPr lang="en-US" sz="650" dirty="0"/>
          </a:p>
        </p:txBody>
      </p:sp>
      <p:sp>
        <p:nvSpPr>
          <p:cNvPr id="56" name="Shape 51"/>
          <p:cNvSpPr/>
          <p:nvPr/>
        </p:nvSpPr>
        <p:spPr>
          <a:xfrm>
            <a:off x="8138160" y="4297680"/>
            <a:ext cx="15087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156448" y="4297680"/>
            <a:ext cx="1472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(VPC EP) ✅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コンテナ管理</a:t>
            </a:r>
            <a:endParaRPr lang="en-US" sz="650" dirty="0"/>
          </a:p>
        </p:txBody>
      </p:sp>
      <p:sp>
        <p:nvSpPr>
          <p:cNvPr id="58" name="Shape 53"/>
          <p:cNvSpPr/>
          <p:nvPr/>
        </p:nvSpPr>
        <p:spPr>
          <a:xfrm>
            <a:off x="182880" y="4901184"/>
            <a:ext cx="9509760" cy="548640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dash"/>
          </a:ln>
        </p:spPr>
      </p:sp>
      <p:sp>
        <p:nvSpPr>
          <p:cNvPr id="59" name="Text 54"/>
          <p:cNvSpPr/>
          <p:nvPr/>
        </p:nvSpPr>
        <p:spPr>
          <a:xfrm>
            <a:off x="228600" y="49103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監視・運用 / Giám sát &amp; Vận hành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274320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92608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CloudWatch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(STG/PRD)</a:t>
            </a:r>
            <a:endParaRPr lang="en-US" sz="650" dirty="0"/>
          </a:p>
        </p:txBody>
      </p:sp>
      <p:sp>
        <p:nvSpPr>
          <p:cNvPr id="62" name="Shape 57"/>
          <p:cNvSpPr/>
          <p:nvPr/>
        </p:nvSpPr>
        <p:spPr>
          <a:xfrm>
            <a:off x="1847088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1865376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CloudTrail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🔴STGなし</a:t>
            </a:r>
            <a:endParaRPr lang="en-US" sz="650" dirty="0"/>
          </a:p>
        </p:txBody>
      </p:sp>
      <p:sp>
        <p:nvSpPr>
          <p:cNvPr id="64" name="Shape 59"/>
          <p:cNvSpPr/>
          <p:nvPr/>
        </p:nvSpPr>
        <p:spPr>
          <a:xfrm>
            <a:off x="3419856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3438144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GuardDuty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🔴STG無効</a:t>
            </a:r>
            <a:endParaRPr lang="en-US" sz="650" dirty="0"/>
          </a:p>
        </p:txBody>
      </p:sp>
      <p:sp>
        <p:nvSpPr>
          <p:cNvPr id="66" name="Shape 61"/>
          <p:cNvSpPr/>
          <p:nvPr/>
        </p:nvSpPr>
        <p:spPr>
          <a:xfrm>
            <a:off x="4992624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5010912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Security Hub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✅PRD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🔴STG無効</a:t>
            </a:r>
            <a:endParaRPr lang="en-US" sz="650" dirty="0"/>
          </a:p>
        </p:txBody>
      </p:sp>
      <p:sp>
        <p:nvSpPr>
          <p:cNvPr id="68" name="Shape 63"/>
          <p:cNvSpPr/>
          <p:nvPr/>
        </p:nvSpPr>
        <p:spPr>
          <a:xfrm>
            <a:off x="6565392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6583680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 Logs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⚠️PRD REJECT</a:t>
            </a:r>
            <a:endParaRPr lang="en-US" sz="650" dirty="0"/>
          </a:p>
        </p:txBody>
      </p:sp>
      <p:sp>
        <p:nvSpPr>
          <p:cNvPr id="70" name="Shape 65"/>
          <p:cNvSpPr/>
          <p:nvPr/>
        </p:nvSpPr>
        <p:spPr>
          <a:xfrm>
            <a:off x="8138160" y="5102352"/>
            <a:ext cx="148132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8156448" y="51023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SSM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Session Mgr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(Bastion代替)</a:t>
            </a:r>
            <a:endParaRPr lang="en-US" sz="650" dirty="0"/>
          </a:p>
        </p:txBody>
      </p:sp>
      <p:sp>
        <p:nvSpPr>
          <p:cNvPr id="72" name="Shape 67"/>
          <p:cNvSpPr/>
          <p:nvPr/>
        </p:nvSpPr>
        <p:spPr>
          <a:xfrm>
            <a:off x="182880" y="5504688"/>
            <a:ext cx="3200400" cy="45720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201168" y="5504688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 172.21.10.0/24  ─  RDS TCP 3306へVPNルート経由でアクセス / Truy cập RDS qua VPN Route</a:t>
            </a:r>
            <a:endParaRPr lang="en-US" sz="700" dirty="0"/>
          </a:p>
        </p:txBody>
      </p:sp>
      <p:sp>
        <p:nvSpPr>
          <p:cNvPr id="74" name="Shape 69"/>
          <p:cNvSpPr/>
          <p:nvPr/>
        </p:nvSpPr>
        <p:spPr>
          <a:xfrm>
            <a:off x="1234440" y="4901184"/>
            <a:ext cx="0" cy="603504"/>
          </a:xfrm>
          <a:prstGeom prst="line">
            <a:avLst/>
          </a:prstGeom>
          <a:noFill/>
          <a:ln w="19050">
            <a:solidFill>
              <a:srgbClr val="8866BB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STG環境 — セキュリティ現状と問題影響 / Môi trường STG — Trạng thái &amp; Tác động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750735758916　|　🔴 = 対応しないと発生するリスク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609344"/>
          <a:ext cx="9418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920240"/>
                <a:gridCol w="5669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Hạng mục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Trạng thái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対応しないと発生する問題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Vấn đề nếu không xử lý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GuardDuty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無効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Vô hiệu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不正アクセス・マルウェア活動を検知できず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侵害発生後に気づかない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CloudTrail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証跡なし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Không có log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誰がいつ何をしたか追跡不可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インシデント調査・監査が不可能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web-be SG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ALL許可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0.0.0.0/0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全ポート開放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全ポート・全プロトコルへの外部接続が可能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スキャン・ブルートフォース・RCE攻撃の直接入口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api-be ALB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internet-facing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BE直接公開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Công khai trực tiếp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APIが認証なしで外部スキャン可能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レート制限なければDoS攻撃のリスク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MFA未設定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 người chưa MFA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パスワード漏洩1件でAWSアカウント乗っ取り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IAM操作ログを消去・バックドア設置が可能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PowerUserAccess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lmd ロール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ほぼ全サービス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Lambda侵害時にEC2/RDS/S3/IAM等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全リソースへの横展開が可能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Flow Logs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ログなし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Không có log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不審な通信パターンを検知・事後分析できず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サイバー攻撃の痕跡が消える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VPN PSK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ログ露出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に平文露出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第三者がVPNトンネルに侵入し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内部RDS・ECSへの不正アクセスが可能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F9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228600" y="617220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安全確認: S3パブリックブロック / RDS非公開 / Transfer Family VPC EP / Root MFA有効 / SSMセッション本人のみ / NAT通信量正常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PRD環境 — セキュリティ現状と問題影響 / Môi trường PRD — Trạng thái &amp; Tác động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アカウント: 332802448674　|　本番環境のため影響が特に大きい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609344"/>
          <a:ext cx="9418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920240"/>
                <a:gridCol w="5669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Hạng mục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Trạng thái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対応しないと発生する問題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Vấn đề nếu không xử lý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MFA未設定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 người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パスワード漏洩1件で本番DBへの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フルアクセス権限を持つアカウント乗っ取り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PowerUserAccess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lmd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ほぼ全サービス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フルアクセス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Lambda侵害→本番RDS/顧客データ/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S3全データへの横展開・削除が可能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Root使用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(GuardDuty検知)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 / 2026-02-04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Luvina IP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rootが習慣化すると誤操作でアカウント削除等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の重大インシデントが発生するリスク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VPN PSK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ログ露出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に平文露出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本番VPNへの不正侵入→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本番RDS・機密データへの直接アクセス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Flow Logs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REJECTのみ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REJECT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のみ記録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許可された通信が記録されず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内部からのデータ持ち出しを検知できない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アクセスキー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200日超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daisuke: 225日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kiyohara: 207日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長期未ローテーションキーは漏洩リスクが高く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漏洩時の影響期間が長くなる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ECSロール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 ReadWrite ⚠️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書き込み権限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0702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が過剰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ECSタスク侵害時にシークレット値を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書き換えられサービス全体が停止するリスク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パスワード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ポリシーなし 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未設定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Chưa thiết lập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短いパスワード・使いまわしが許容され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ブルートフォース攻撃に対して脆弱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228600" y="617220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安全確認: ALBなし(内部のみ) / S3パブリックブロック / RDS非公開 / Bastion PLリスト / CloudTrail有効 / GuardDuty有効 / Root MFA有効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外部連携データフロー全体図（OC / SG / SH） / Sơ đồ luồng dữ liệu liên kết ngoài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受信: Transfer Family SFTP → S3 → EventBridge → Step Functions / Lambda　|　送信: Lambda FTP → USMH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274320" y="1572768"/>
            <a:ext cx="128016" cy="128016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3" name="Text 8"/>
          <p:cNvSpPr/>
          <p:nvPr/>
        </p:nvSpPr>
        <p:spPr>
          <a:xfrm>
            <a:off x="438912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OC系 (BIPROGY)</a:t>
            </a:r>
            <a:endParaRPr lang="en-US" sz="700" dirty="0"/>
          </a:p>
        </p:txBody>
      </p:sp>
      <p:sp>
        <p:nvSpPr>
          <p:cNvPr id="14" name="Shape 9"/>
          <p:cNvSpPr/>
          <p:nvPr/>
        </p:nvSpPr>
        <p:spPr>
          <a:xfrm>
            <a:off x="1847088" y="1572768"/>
            <a:ext cx="128016" cy="128016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5" name="Text 10"/>
          <p:cNvSpPr/>
          <p:nvPr/>
        </p:nvSpPr>
        <p:spPr>
          <a:xfrm>
            <a:off x="2011680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SG系 (VINX)</a:t>
            </a:r>
            <a:endParaRPr lang="en-US" sz="700" dirty="0"/>
          </a:p>
        </p:txBody>
      </p:sp>
      <p:sp>
        <p:nvSpPr>
          <p:cNvPr id="16" name="Shape 11"/>
          <p:cNvSpPr/>
          <p:nvPr/>
        </p:nvSpPr>
        <p:spPr>
          <a:xfrm>
            <a:off x="3419856" y="1572768"/>
            <a:ext cx="128016" cy="128016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17" name="Text 12"/>
          <p:cNvSpPr/>
          <p:nvPr/>
        </p:nvSpPr>
        <p:spPr>
          <a:xfrm>
            <a:off x="3584448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SH系 (SHARP)</a:t>
            </a:r>
            <a:endParaRPr lang="en-US" sz="700" dirty="0"/>
          </a:p>
        </p:txBody>
      </p:sp>
      <p:sp>
        <p:nvSpPr>
          <p:cNvPr id="18" name="Shape 13"/>
          <p:cNvSpPr/>
          <p:nvPr/>
        </p:nvSpPr>
        <p:spPr>
          <a:xfrm>
            <a:off x="4992624" y="1572768"/>
            <a:ext cx="128016" cy="128016"/>
          </a:xfrm>
          <a:prstGeom prst="rect">
            <a:avLst/>
          </a:prstGeom>
          <a:solidFill>
            <a:srgbClr val="9966BB"/>
          </a:solidFill>
          <a:ln/>
        </p:spPr>
      </p:sp>
      <p:sp>
        <p:nvSpPr>
          <p:cNvPr id="19" name="Text 14"/>
          <p:cNvSpPr/>
          <p:nvPr/>
        </p:nvSpPr>
        <p:spPr>
          <a:xfrm>
            <a:off x="5157216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夜間バッチ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6565392" y="1572768"/>
            <a:ext cx="128016" cy="12801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1" name="Text 16"/>
          <p:cNvSpPr/>
          <p:nvPr/>
        </p:nvSpPr>
        <p:spPr>
          <a:xfrm>
            <a:off x="6729984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ギフト決済</a:t>
            </a:r>
            <a:endParaRPr lang="en-US" sz="700" dirty="0"/>
          </a:p>
        </p:txBody>
      </p:sp>
      <p:sp>
        <p:nvSpPr>
          <p:cNvPr id="22" name="Shape 17"/>
          <p:cNvSpPr/>
          <p:nvPr/>
        </p:nvSpPr>
        <p:spPr>
          <a:xfrm>
            <a:off x="8138160" y="1572768"/>
            <a:ext cx="128016" cy="128016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3" name="Text 18"/>
          <p:cNvSpPr/>
          <p:nvPr/>
        </p:nvSpPr>
        <p:spPr>
          <a:xfrm>
            <a:off x="8302752" y="1554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送信フロー</a:t>
            </a:r>
            <a:endParaRPr lang="en-US" sz="700" dirty="0"/>
          </a:p>
        </p:txBody>
      </p:sp>
      <p:sp>
        <p:nvSpPr>
          <p:cNvPr id="24" name="Shape 19"/>
          <p:cNvSpPr/>
          <p:nvPr/>
        </p:nvSpPr>
        <p:spPr>
          <a:xfrm>
            <a:off x="182880" y="1792224"/>
            <a:ext cx="1554480" cy="36576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8288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外部送信元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Nguồn bên ngoài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1828800" y="1792224"/>
            <a:ext cx="1554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82880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(SFTP受信 / VPC EP)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3474720" y="1792224"/>
            <a:ext cx="1554480" cy="365760"/>
          </a:xfrm>
          <a:prstGeom prst="rect">
            <a:avLst/>
          </a:prstGeom>
          <a:solidFill>
            <a:srgbClr val="E3F2F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347472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(prd/stg-ignica-ksm)</a:t>
            </a:r>
            <a:endParaRPr lang="en-US" sz="700" dirty="0"/>
          </a:p>
        </p:txBody>
      </p:sp>
      <p:sp>
        <p:nvSpPr>
          <p:cNvPr id="30" name="Shape 25"/>
          <p:cNvSpPr/>
          <p:nvPr/>
        </p:nvSpPr>
        <p:spPr>
          <a:xfrm>
            <a:off x="5120640" y="1792224"/>
            <a:ext cx="15544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512064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→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Functions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6766560" y="1792224"/>
            <a:ext cx="1554480" cy="365760"/>
          </a:xfrm>
          <a:prstGeom prst="rect">
            <a:avLst/>
          </a:prstGeom>
          <a:solidFill>
            <a:srgbClr val="FCE4E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766560" y="17922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/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8412480" y="1792224"/>
            <a:ext cx="1280160" cy="365760"/>
          </a:xfrm>
          <a:prstGeom prst="rect">
            <a:avLst/>
          </a:prstGeom>
          <a:solidFill>
            <a:srgbClr val="F3E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412480" y="17922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出力先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Đích đến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201168" y="2249424"/>
            <a:ext cx="1517904" cy="365760"/>
          </a:xfrm>
          <a:prstGeom prst="rect">
            <a:avLst/>
          </a:prstGeom>
          <a:solidFill>
            <a:srgbClr val="EBF3FB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(OpenCentral)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1719072" y="2432304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682496" y="23317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1847088" y="2249424"/>
            <a:ext cx="1517904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187452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10.238.2.221/3.138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3364992" y="2432304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328416" y="23317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3493008" y="2249424"/>
            <a:ext cx="1517904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52044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 / *.END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5010912" y="2432304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4974336" y="23317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5138928" y="2249424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516636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receive-oc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6656832" y="2432304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620256" y="23317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52" name="Shape 47"/>
          <p:cNvSpPr/>
          <p:nvPr/>
        </p:nvSpPr>
        <p:spPr>
          <a:xfrm>
            <a:off x="6784848" y="2249424"/>
            <a:ext cx="1517904" cy="365760"/>
          </a:xfrm>
          <a:prstGeom prst="rect">
            <a:avLst/>
          </a:prstGeom>
          <a:solidFill>
            <a:srgbClr val="FCE4EC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681228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import-oc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Aurora MySQL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8302752" y="2432304"/>
            <a:ext cx="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66176" y="23317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</a:rPr>
              <a:t>▶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8430768" y="2249424"/>
            <a:ext cx="1243584" cy="365760"/>
          </a:xfrm>
          <a:prstGeom prst="rect">
            <a:avLst/>
          </a:prstGeom>
          <a:solidFill>
            <a:srgbClr val="EBF3FB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45820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MySQL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72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</a:t>
            </a:r>
            <a:endParaRPr lang="en-US" sz="700" dirty="0"/>
          </a:p>
        </p:txBody>
      </p:sp>
      <p:sp>
        <p:nvSpPr>
          <p:cNvPr id="58" name="Shape 53"/>
          <p:cNvSpPr/>
          <p:nvPr/>
        </p:nvSpPr>
        <p:spPr>
          <a:xfrm>
            <a:off x="201168" y="2706624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228600" y="2706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(P003)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1719072" y="2889504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1682496" y="27889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1847088" y="2706624"/>
            <a:ext cx="1517904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1874520" y="2706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10.238.2.184/3.139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3364992" y="2889504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3328416" y="27889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66" name="Shape 61"/>
          <p:cNvSpPr/>
          <p:nvPr/>
        </p:nvSpPr>
        <p:spPr>
          <a:xfrm>
            <a:off x="3493008" y="2706624"/>
            <a:ext cx="1517904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3520440" y="2706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 / *.END</a:t>
            </a:r>
            <a:endParaRPr lang="en-US" sz="700" dirty="0"/>
          </a:p>
        </p:txBody>
      </p:sp>
      <p:sp>
        <p:nvSpPr>
          <p:cNvPr id="68" name="Shape 63"/>
          <p:cNvSpPr/>
          <p:nvPr/>
        </p:nvSpPr>
        <p:spPr>
          <a:xfrm>
            <a:off x="5010912" y="2889504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4974336" y="27889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5138928" y="2706624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5166360" y="2706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import-sh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6656832" y="2889504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6620256" y="27889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6784848" y="2706624"/>
            <a:ext cx="1517904" cy="365760"/>
          </a:xfrm>
          <a:prstGeom prst="rect">
            <a:avLst/>
          </a:prstGeom>
          <a:solidFill>
            <a:srgbClr val="FCE4EC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812280" y="2706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import-sh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Aurora MySQL</a:t>
            </a:r>
            <a:endParaRPr lang="en-US" sz="700" dirty="0"/>
          </a:p>
        </p:txBody>
      </p:sp>
      <p:sp>
        <p:nvSpPr>
          <p:cNvPr id="76" name="Shape 71"/>
          <p:cNvSpPr/>
          <p:nvPr/>
        </p:nvSpPr>
        <p:spPr>
          <a:xfrm>
            <a:off x="8302752" y="2889504"/>
            <a:ext cx="0" cy="0"/>
          </a:xfrm>
          <a:prstGeom prst="line">
            <a:avLst/>
          </a:prstGeom>
          <a:noFill/>
          <a:ln w="19050">
            <a:solidFill>
              <a:srgbClr val="ED7D31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8266176" y="27889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7D31"/>
                </a:solidFill>
              </a:rPr>
              <a:t>▶</a:t>
            </a:r>
            <a:endParaRPr lang="en-US" sz="900" dirty="0"/>
          </a:p>
        </p:txBody>
      </p:sp>
      <p:sp>
        <p:nvSpPr>
          <p:cNvPr id="78" name="Shape 73"/>
          <p:cNvSpPr/>
          <p:nvPr/>
        </p:nvSpPr>
        <p:spPr>
          <a:xfrm>
            <a:off x="8430768" y="2706624"/>
            <a:ext cx="124358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8458200" y="2706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MySQL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D7D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</a:t>
            </a:r>
            <a:endParaRPr lang="en-US" sz="700" dirty="0"/>
          </a:p>
        </p:txBody>
      </p:sp>
      <p:sp>
        <p:nvSpPr>
          <p:cNvPr id="80" name="Shape 75"/>
          <p:cNvSpPr/>
          <p:nvPr/>
        </p:nvSpPr>
        <p:spPr>
          <a:xfrm>
            <a:off x="201168" y="3163824"/>
            <a:ext cx="1517904" cy="365760"/>
          </a:xfrm>
          <a:prstGeom prst="rect">
            <a:avLst/>
          </a:prstGeom>
          <a:solidFill>
            <a:srgbClr val="F1F8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22860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(POS Server)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1719072" y="334670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1682496" y="32461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1847088" y="3163824"/>
            <a:ext cx="1517904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187452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tf-server-sg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10.238.2.234/3.215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364992" y="334670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87" name="Text 82"/>
          <p:cNvSpPr/>
          <p:nvPr/>
        </p:nvSpPr>
        <p:spPr>
          <a:xfrm>
            <a:off x="3328416" y="32461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88" name="Shape 83"/>
          <p:cNvSpPr/>
          <p:nvPr/>
        </p:nvSpPr>
        <p:spPr>
          <a:xfrm>
            <a:off x="3493008" y="3163824"/>
            <a:ext cx="1517904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9" name="Text 84"/>
          <p:cNvSpPr/>
          <p:nvPr/>
        </p:nvSpPr>
        <p:spPr>
          <a:xfrm>
            <a:off x="35204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sg/receive/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*.zip / *.ZIP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5010912" y="334670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4974336" y="32461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92" name="Shape 87"/>
          <p:cNvSpPr/>
          <p:nvPr/>
        </p:nvSpPr>
        <p:spPr>
          <a:xfrm>
            <a:off x="5138928" y="3163824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3" name="Text 88"/>
          <p:cNvSpPr/>
          <p:nvPr/>
        </p:nvSpPr>
        <p:spPr>
          <a:xfrm>
            <a:off x="516636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eb-rule-receive-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pos-master-sg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receive-sg</a:t>
            </a:r>
            <a:endParaRPr lang="en-US" sz="700" dirty="0"/>
          </a:p>
        </p:txBody>
      </p:sp>
      <p:sp>
        <p:nvSpPr>
          <p:cNvPr id="94" name="Shape 89"/>
          <p:cNvSpPr/>
          <p:nvPr/>
        </p:nvSpPr>
        <p:spPr>
          <a:xfrm>
            <a:off x="6656832" y="3346704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95" name="Text 90"/>
          <p:cNvSpPr/>
          <p:nvPr/>
        </p:nvSpPr>
        <p:spPr>
          <a:xfrm>
            <a:off x="6620256" y="324612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96" name="Shape 91"/>
          <p:cNvSpPr/>
          <p:nvPr/>
        </p:nvSpPr>
        <p:spPr>
          <a:xfrm>
            <a:off x="6784848" y="3163824"/>
            <a:ext cx="1517904" cy="365760"/>
          </a:xfrm>
          <a:prstGeom prst="rect">
            <a:avLst/>
          </a:prstGeom>
          <a:solidFill>
            <a:srgbClr val="F1F8E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7" name="Text 92"/>
          <p:cNvSpPr/>
          <p:nvPr/>
        </p:nvSpPr>
        <p:spPr>
          <a:xfrm>
            <a:off x="681228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sg/csv/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*/*.ENDEXPORT</a:t>
            </a:r>
            <a:endParaRPr lang="en-US" sz="700" dirty="0"/>
          </a:p>
        </p:txBody>
      </p:sp>
      <p:sp>
        <p:nvSpPr>
          <p:cNvPr id="98" name="Shape 93"/>
          <p:cNvSpPr/>
          <p:nvPr/>
        </p:nvSpPr>
        <p:spPr>
          <a:xfrm>
            <a:off x="7543800" y="3529584"/>
            <a:ext cx="0" cy="201168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7461504" y="36758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▼</a:t>
            </a:r>
            <a:endParaRPr lang="en-US" sz="900" dirty="0"/>
          </a:p>
        </p:txBody>
      </p:sp>
      <p:sp>
        <p:nvSpPr>
          <p:cNvPr id="100" name="Shape 95"/>
          <p:cNvSpPr/>
          <p:nvPr/>
        </p:nvSpPr>
        <p:spPr>
          <a:xfrm>
            <a:off x="201168" y="3730752"/>
            <a:ext cx="1517904" cy="365760"/>
          </a:xfrm>
          <a:prstGeom prst="rect">
            <a:avLst/>
          </a:prstGeom>
          <a:solidFill>
            <a:srgbClr val="F5F0FF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101" name="Text 96"/>
          <p:cNvSpPr/>
          <p:nvPr/>
        </p:nvSpPr>
        <p:spPr>
          <a:xfrm>
            <a:off x="22860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cron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JST 05:30毎日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(night-export-sg)</a:t>
            </a:r>
            <a:endParaRPr lang="en-US" sz="650" dirty="0"/>
          </a:p>
        </p:txBody>
      </p:sp>
      <p:sp>
        <p:nvSpPr>
          <p:cNvPr id="102" name="Shape 97"/>
          <p:cNvSpPr/>
          <p:nvPr/>
        </p:nvSpPr>
        <p:spPr>
          <a:xfrm>
            <a:off x="1719072" y="3913632"/>
            <a:ext cx="0" cy="0"/>
          </a:xfrm>
          <a:prstGeom prst="line">
            <a:avLst/>
          </a:prstGeom>
          <a:noFill/>
          <a:ln w="19050">
            <a:solidFill>
              <a:srgbClr val="9966BB"/>
            </a:solidFill>
            <a:prstDash val="solid"/>
          </a:ln>
        </p:spPr>
      </p:sp>
      <p:sp>
        <p:nvSpPr>
          <p:cNvPr id="103" name="Text 98"/>
          <p:cNvSpPr/>
          <p:nvPr/>
        </p:nvSpPr>
        <p:spPr>
          <a:xfrm>
            <a:off x="1682496" y="38130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66BB"/>
                </a:solidFill>
              </a:rPr>
              <a:t>▶</a:t>
            </a:r>
            <a:endParaRPr lang="en-US" sz="900" dirty="0"/>
          </a:p>
        </p:txBody>
      </p:sp>
      <p:sp>
        <p:nvSpPr>
          <p:cNvPr id="104" name="Shape 99"/>
          <p:cNvSpPr/>
          <p:nvPr/>
        </p:nvSpPr>
        <p:spPr>
          <a:xfrm>
            <a:off x="1847088" y="3730752"/>
            <a:ext cx="1517904" cy="365760"/>
          </a:xfrm>
          <a:prstGeom prst="rect">
            <a:avLst/>
          </a:prstGeom>
          <a:solidFill>
            <a:srgbClr val="F5F0FF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105" name="Text 100"/>
          <p:cNvSpPr/>
          <p:nvPr/>
        </p:nvSpPr>
        <p:spPr>
          <a:xfrm>
            <a:off x="187452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create-file-end-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for-night</a:t>
            </a:r>
            <a:endParaRPr lang="en-US" sz="650" dirty="0"/>
          </a:p>
        </p:txBody>
      </p:sp>
      <p:sp>
        <p:nvSpPr>
          <p:cNvPr id="106" name="Shape 101"/>
          <p:cNvSpPr/>
          <p:nvPr/>
        </p:nvSpPr>
        <p:spPr>
          <a:xfrm>
            <a:off x="3364992" y="3913632"/>
            <a:ext cx="0" cy="0"/>
          </a:xfrm>
          <a:prstGeom prst="line">
            <a:avLst/>
          </a:prstGeom>
          <a:noFill/>
          <a:ln w="19050">
            <a:solidFill>
              <a:srgbClr val="9966BB"/>
            </a:solidFill>
            <a:prstDash val="solid"/>
          </a:ln>
        </p:spPr>
      </p:sp>
      <p:sp>
        <p:nvSpPr>
          <p:cNvPr id="107" name="Text 102"/>
          <p:cNvSpPr/>
          <p:nvPr/>
        </p:nvSpPr>
        <p:spPr>
          <a:xfrm>
            <a:off x="3328416" y="38130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66BB"/>
                </a:solidFill>
              </a:rPr>
              <a:t>▶</a:t>
            </a:r>
            <a:endParaRPr lang="en-US" sz="900" dirty="0"/>
          </a:p>
        </p:txBody>
      </p:sp>
      <p:sp>
        <p:nvSpPr>
          <p:cNvPr id="108" name="Shape 103"/>
          <p:cNvSpPr/>
          <p:nvPr/>
        </p:nvSpPr>
        <p:spPr>
          <a:xfrm>
            <a:off x="3493008" y="3730752"/>
            <a:ext cx="1517904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9966BB"/>
            </a:solidFill>
            <a:prstDash val="solid"/>
          </a:ln>
        </p:spPr>
      </p:sp>
      <p:sp>
        <p:nvSpPr>
          <p:cNvPr id="109" name="Text 104"/>
          <p:cNvSpPr/>
          <p:nvPr/>
        </p:nvSpPr>
        <p:spPr>
          <a:xfrm>
            <a:off x="352044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sg/csv/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SG_night_export_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*.ENDEXPORT</a:t>
            </a:r>
            <a:endParaRPr lang="en-US" sz="650" dirty="0"/>
          </a:p>
        </p:txBody>
      </p:sp>
      <p:sp>
        <p:nvSpPr>
          <p:cNvPr id="110" name="Shape 105"/>
          <p:cNvSpPr/>
          <p:nvPr/>
        </p:nvSpPr>
        <p:spPr>
          <a:xfrm>
            <a:off x="5010912" y="3913632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111" name="Text 106"/>
          <p:cNvSpPr/>
          <p:nvPr/>
        </p:nvSpPr>
        <p:spPr>
          <a:xfrm>
            <a:off x="4974336" y="38130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112" name="Shape 107"/>
          <p:cNvSpPr/>
          <p:nvPr/>
        </p:nvSpPr>
        <p:spPr>
          <a:xfrm>
            <a:off x="5138928" y="3730752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516636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eb-rule-create-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txt-file-sg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0AD4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SF: create-txt</a:t>
            </a:r>
            <a:endParaRPr lang="en-US" sz="650" dirty="0"/>
          </a:p>
        </p:txBody>
      </p:sp>
      <p:sp>
        <p:nvSpPr>
          <p:cNvPr id="114" name="Shape 109"/>
          <p:cNvSpPr/>
          <p:nvPr/>
        </p:nvSpPr>
        <p:spPr>
          <a:xfrm>
            <a:off x="6656832" y="3913632"/>
            <a:ext cx="0" cy="0"/>
          </a:xfrm>
          <a:prstGeom prst="line">
            <a:avLst/>
          </a:prstGeom>
          <a:noFill/>
          <a:ln w="19050">
            <a:solidFill>
              <a:srgbClr val="70AD47"/>
            </a:solidFill>
            <a:prstDash val="solid"/>
          </a:ln>
        </p:spPr>
      </p:sp>
      <p:sp>
        <p:nvSpPr>
          <p:cNvPr id="115" name="Text 110"/>
          <p:cNvSpPr/>
          <p:nvPr/>
        </p:nvSpPr>
        <p:spPr>
          <a:xfrm>
            <a:off x="6620256" y="38130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AD47"/>
                </a:solidFill>
              </a:rPr>
              <a:t>▶</a:t>
            </a:r>
            <a:endParaRPr lang="en-US" sz="900" dirty="0"/>
          </a:p>
        </p:txBody>
      </p:sp>
      <p:sp>
        <p:nvSpPr>
          <p:cNvPr id="116" name="Shape 111"/>
          <p:cNvSpPr/>
          <p:nvPr/>
        </p:nvSpPr>
        <p:spPr>
          <a:xfrm>
            <a:off x="6784848" y="3730752"/>
            <a:ext cx="1517904" cy="365760"/>
          </a:xfrm>
          <a:prstGeom prst="rect">
            <a:avLst/>
          </a:prstGeom>
          <a:solidFill>
            <a:srgbClr val="FCE4EC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7" name="Text 112"/>
          <p:cNvSpPr/>
          <p:nvPr/>
        </p:nvSpPr>
        <p:spPr>
          <a:xfrm>
            <a:off x="681228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Lambda: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sent-txt-file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平文FTP (Commons)</a:t>
            </a:r>
            <a:endParaRPr lang="en-US" sz="650" dirty="0"/>
          </a:p>
        </p:txBody>
      </p:sp>
      <p:sp>
        <p:nvSpPr>
          <p:cNvPr id="118" name="Shape 113"/>
          <p:cNvSpPr/>
          <p:nvPr/>
        </p:nvSpPr>
        <p:spPr>
          <a:xfrm>
            <a:off x="8302752" y="3913632"/>
            <a:ext cx="0" cy="0"/>
          </a:xfrm>
          <a:prstGeom prst="line">
            <a:avLst/>
          </a:prstGeom>
          <a:noFill/>
          <a:ln w="19050">
            <a:solidFill>
              <a:srgbClr val="C8102E"/>
            </a:solidFill>
            <a:prstDash val="solid"/>
          </a:ln>
        </p:spPr>
      </p:sp>
      <p:sp>
        <p:nvSpPr>
          <p:cNvPr id="119" name="Text 114"/>
          <p:cNvSpPr/>
          <p:nvPr/>
        </p:nvSpPr>
        <p:spPr>
          <a:xfrm>
            <a:off x="8266176" y="38130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102E"/>
                </a:solidFill>
              </a:rPr>
              <a:t>▶</a:t>
            </a:r>
            <a:endParaRPr lang="en-US" sz="900" dirty="0"/>
          </a:p>
        </p:txBody>
      </p:sp>
      <p:sp>
        <p:nvSpPr>
          <p:cNvPr id="120" name="Shape 115"/>
          <p:cNvSpPr/>
          <p:nvPr/>
        </p:nvSpPr>
        <p:spPr>
          <a:xfrm>
            <a:off x="8430768" y="3730752"/>
            <a:ext cx="1243584" cy="365760"/>
          </a:xfrm>
          <a:prstGeom prst="rect">
            <a:avLst/>
          </a:prstGeom>
          <a:solidFill>
            <a:srgbClr val="FCE4EC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1" name="Text 116"/>
          <p:cNvSpPr/>
          <p:nvPr/>
        </p:nvSpPr>
        <p:spPr>
          <a:xfrm>
            <a:off x="8458200" y="3730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FTP Server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/{store}/Recv</a:t>
            </a:r>
            <a:endParaRPr lang="en-US" sz="650" dirty="0"/>
          </a:p>
        </p:txBody>
      </p:sp>
      <p:sp>
        <p:nvSpPr>
          <p:cNvPr id="122" name="Text 117"/>
          <p:cNvSpPr/>
          <p:nvPr/>
        </p:nvSpPr>
        <p:spPr>
          <a:xfrm>
            <a:off x="1847088" y="4114800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store_list(SyncFlag=1)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DB(Secrets Manager)</a:t>
            </a:r>
            <a:endParaRPr lang="en-US" sz="650" dirty="0"/>
          </a:p>
        </p:txBody>
      </p:sp>
      <p:sp>
        <p:nvSpPr>
          <p:cNvPr id="123" name="Shape 118"/>
          <p:cNvSpPr/>
          <p:nvPr/>
        </p:nvSpPr>
        <p:spPr>
          <a:xfrm>
            <a:off x="182880" y="4279392"/>
            <a:ext cx="9509760" cy="128016"/>
          </a:xfrm>
          <a:prstGeom prst="rect">
            <a:avLst/>
          </a:prstGeom>
          <a:solidFill>
            <a:srgbClr val="FFF9E6"/>
          </a:solidFill>
          <a:ln w="6350">
            <a:solidFill>
              <a:srgbClr val="D4A017"/>
            </a:solidFill>
            <a:prstDash val="solid"/>
          </a:ln>
        </p:spPr>
      </p:sp>
      <p:sp>
        <p:nvSpPr>
          <p:cNvPr id="124" name="Text 119"/>
          <p:cNvSpPr/>
          <p:nvPr/>
        </p:nvSpPr>
        <p:spPr>
          <a:xfrm>
            <a:off x="237744" y="4279392"/>
            <a:ext cx="9400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ギフトカード決済データ送信 / Gửi dữ liệu thanh toán Gift Card</a:t>
            </a:r>
            <a:endParaRPr lang="en-US" sz="700" dirty="0"/>
          </a:p>
        </p:txBody>
      </p:sp>
      <p:sp>
        <p:nvSpPr>
          <p:cNvPr id="125" name="Shape 120"/>
          <p:cNvSpPr/>
          <p:nvPr/>
        </p:nvSpPr>
        <p:spPr>
          <a:xfrm>
            <a:off x="201168" y="4425696"/>
            <a:ext cx="1517904" cy="365760"/>
          </a:xfrm>
          <a:prstGeom prst="rect">
            <a:avLst/>
          </a:prstGeom>
          <a:solidFill>
            <a:srgbClr val="FFFDE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22860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(Spring Boot)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cron 09:00</a:t>
            </a:r>
            <a:endParaRPr lang="en-US" sz="650" dirty="0"/>
          </a:p>
        </p:txBody>
      </p:sp>
      <p:sp>
        <p:nvSpPr>
          <p:cNvPr id="127" name="Shape 122"/>
          <p:cNvSpPr/>
          <p:nvPr/>
        </p:nvSpPr>
        <p:spPr>
          <a:xfrm>
            <a:off x="1719072" y="4608576"/>
            <a:ext cx="0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28" name="Text 123"/>
          <p:cNvSpPr/>
          <p:nvPr/>
        </p:nvSpPr>
        <p:spPr>
          <a:xfrm>
            <a:off x="1682496" y="4507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017"/>
                </a:solidFill>
              </a:rPr>
              <a:t>▶</a:t>
            </a:r>
            <a:endParaRPr lang="en-US" sz="900" dirty="0"/>
          </a:p>
        </p:txBody>
      </p:sp>
      <p:sp>
        <p:nvSpPr>
          <p:cNvPr id="129" name="Shape 124"/>
          <p:cNvSpPr/>
          <p:nvPr/>
        </p:nvSpPr>
        <p:spPr>
          <a:xfrm>
            <a:off x="1847088" y="4425696"/>
            <a:ext cx="1517904" cy="365760"/>
          </a:xfrm>
          <a:prstGeom prst="rect">
            <a:avLst/>
          </a:prstGeom>
          <a:solidFill>
            <a:srgbClr val="FFFDE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0" name="Text 125"/>
          <p:cNvSpPr/>
          <p:nvPr/>
        </p:nvSpPr>
        <p:spPr>
          <a:xfrm>
            <a:off x="187452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取引データ取得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(settlement_history)</a:t>
            </a:r>
            <a:endParaRPr lang="en-US" sz="650" dirty="0"/>
          </a:p>
        </p:txBody>
      </p:sp>
      <p:sp>
        <p:nvSpPr>
          <p:cNvPr id="131" name="Shape 126"/>
          <p:cNvSpPr/>
          <p:nvPr/>
        </p:nvSpPr>
        <p:spPr>
          <a:xfrm>
            <a:off x="3364992" y="4608576"/>
            <a:ext cx="0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32" name="Text 127"/>
          <p:cNvSpPr/>
          <p:nvPr/>
        </p:nvSpPr>
        <p:spPr>
          <a:xfrm>
            <a:off x="3328416" y="4507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017"/>
                </a:solidFill>
              </a:rPr>
              <a:t>▶</a:t>
            </a:r>
            <a:endParaRPr lang="en-US" sz="900" dirty="0"/>
          </a:p>
        </p:txBody>
      </p:sp>
      <p:sp>
        <p:nvSpPr>
          <p:cNvPr id="133" name="Shape 128"/>
          <p:cNvSpPr/>
          <p:nvPr/>
        </p:nvSpPr>
        <p:spPr>
          <a:xfrm>
            <a:off x="3493008" y="4425696"/>
            <a:ext cx="1517904" cy="365760"/>
          </a:xfrm>
          <a:prstGeom prst="rect">
            <a:avLst/>
          </a:prstGeom>
          <a:solidFill>
            <a:srgbClr val="FFFDE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4" name="Text 129"/>
          <p:cNvSpPr/>
          <p:nvPr/>
        </p:nvSpPr>
        <p:spPr>
          <a:xfrm>
            <a:off x="352044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EBCDICファイル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生成(/tmp)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6301900000_*</a:t>
            </a:r>
            <a:endParaRPr lang="en-US" sz="650" dirty="0"/>
          </a:p>
        </p:txBody>
      </p:sp>
      <p:sp>
        <p:nvSpPr>
          <p:cNvPr id="135" name="Shape 130"/>
          <p:cNvSpPr/>
          <p:nvPr/>
        </p:nvSpPr>
        <p:spPr>
          <a:xfrm>
            <a:off x="5010912" y="4608576"/>
            <a:ext cx="0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36" name="Text 131"/>
          <p:cNvSpPr/>
          <p:nvPr/>
        </p:nvSpPr>
        <p:spPr>
          <a:xfrm>
            <a:off x="4974336" y="4507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017"/>
                </a:solidFill>
              </a:rPr>
              <a:t>▶</a:t>
            </a:r>
            <a:endParaRPr lang="en-US" sz="900" dirty="0"/>
          </a:p>
        </p:txBody>
      </p:sp>
      <p:sp>
        <p:nvSpPr>
          <p:cNvPr id="137" name="Shape 132"/>
          <p:cNvSpPr/>
          <p:nvPr/>
        </p:nvSpPr>
        <p:spPr>
          <a:xfrm>
            <a:off x="5138928" y="4425696"/>
            <a:ext cx="1517904" cy="365760"/>
          </a:xfrm>
          <a:prstGeom prst="rect">
            <a:avLst/>
          </a:prstGeom>
          <a:solidFill>
            <a:srgbClr val="FFFDE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8" name="Text 133"/>
          <p:cNvSpPr/>
          <p:nvPr/>
        </p:nvSpPr>
        <p:spPr>
          <a:xfrm>
            <a:off x="516636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SftpService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(JSch / SSH鍵認証)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GW経由</a:t>
            </a:r>
            <a:endParaRPr lang="en-US" sz="650" dirty="0"/>
          </a:p>
        </p:txBody>
      </p:sp>
      <p:sp>
        <p:nvSpPr>
          <p:cNvPr id="139" name="Shape 134"/>
          <p:cNvSpPr/>
          <p:nvPr/>
        </p:nvSpPr>
        <p:spPr>
          <a:xfrm>
            <a:off x="6656832" y="4608576"/>
            <a:ext cx="0" cy="0"/>
          </a:xfrm>
          <a:prstGeom prst="line">
            <a:avLst/>
          </a:prstGeom>
          <a:noFill/>
          <a:ln w="19050">
            <a:solidFill>
              <a:srgbClr val="C8102E"/>
            </a:solidFill>
            <a:prstDash val="solid"/>
          </a:ln>
        </p:spPr>
      </p:sp>
      <p:sp>
        <p:nvSpPr>
          <p:cNvPr id="140" name="Text 135"/>
          <p:cNvSpPr/>
          <p:nvPr/>
        </p:nvSpPr>
        <p:spPr>
          <a:xfrm>
            <a:off x="6620256" y="4507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102E"/>
                </a:solidFill>
              </a:rPr>
              <a:t>▶</a:t>
            </a:r>
            <a:endParaRPr lang="en-US" sz="900" dirty="0"/>
          </a:p>
        </p:txBody>
      </p:sp>
      <p:sp>
        <p:nvSpPr>
          <p:cNvPr id="141" name="Shape 136"/>
          <p:cNvSpPr/>
          <p:nvPr/>
        </p:nvSpPr>
        <p:spPr>
          <a:xfrm>
            <a:off x="6784848" y="4425696"/>
            <a:ext cx="1517904" cy="365760"/>
          </a:xfrm>
          <a:prstGeom prst="rect">
            <a:avLst/>
          </a:prstGeom>
          <a:solidFill>
            <a:srgbClr val="FFF3E0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2" name="Text 137"/>
          <p:cNvSpPr/>
          <p:nvPr/>
        </p:nvSpPr>
        <p:spPr>
          <a:xfrm>
            <a:off x="681228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(NAT GW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57.182.174.110)</a:t>
            </a:r>
            <a:endParaRPr lang="en-US" sz="650" dirty="0"/>
          </a:p>
        </p:txBody>
      </p:sp>
      <p:sp>
        <p:nvSpPr>
          <p:cNvPr id="143" name="Shape 138"/>
          <p:cNvSpPr/>
          <p:nvPr/>
        </p:nvSpPr>
        <p:spPr>
          <a:xfrm>
            <a:off x="8302752" y="4608576"/>
            <a:ext cx="0" cy="0"/>
          </a:xfrm>
          <a:prstGeom prst="line">
            <a:avLst/>
          </a:prstGeom>
          <a:noFill/>
          <a:ln w="19050">
            <a:solidFill>
              <a:srgbClr val="C8102E"/>
            </a:solidFill>
            <a:prstDash val="solid"/>
          </a:ln>
        </p:spPr>
      </p:sp>
      <p:sp>
        <p:nvSpPr>
          <p:cNvPr id="144" name="Text 139"/>
          <p:cNvSpPr/>
          <p:nvPr/>
        </p:nvSpPr>
        <p:spPr>
          <a:xfrm>
            <a:off x="8266176" y="4507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102E"/>
                </a:solidFill>
              </a:rPr>
              <a:t>▶</a:t>
            </a:r>
            <a:endParaRPr lang="en-US" sz="900" dirty="0"/>
          </a:p>
        </p:txBody>
      </p:sp>
      <p:sp>
        <p:nvSpPr>
          <p:cNvPr id="145" name="Shape 140"/>
          <p:cNvSpPr/>
          <p:nvPr/>
        </p:nvSpPr>
        <p:spPr>
          <a:xfrm>
            <a:off x="8430768" y="4425696"/>
            <a:ext cx="1243584" cy="365760"/>
          </a:xfrm>
          <a:prstGeom prst="rect">
            <a:avLst/>
          </a:prstGeom>
          <a:solidFill>
            <a:srgbClr val="FCE4EC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6" name="Text 141"/>
          <p:cNvSpPr/>
          <p:nvPr/>
        </p:nvSpPr>
        <p:spPr>
          <a:xfrm>
            <a:off x="8458200" y="44256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210.144.93.17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22 (SFTP)</a:t>
            </a:r>
            <a:endParaRPr lang="en-US" sz="650" dirty="0"/>
          </a:p>
        </p:txBody>
      </p:sp>
      <p:sp>
        <p:nvSpPr>
          <p:cNvPr id="147" name="Shape 142"/>
          <p:cNvSpPr/>
          <p:nvPr/>
        </p:nvSpPr>
        <p:spPr>
          <a:xfrm>
            <a:off x="182880" y="4901184"/>
            <a:ext cx="9509760" cy="237744"/>
          </a:xfrm>
          <a:prstGeom prst="rect">
            <a:avLst/>
          </a:prstGeom>
          <a:solidFill>
            <a:srgbClr val="FFF8E1"/>
          </a:solidFill>
          <a:ln w="6350">
            <a:solidFill>
              <a:srgbClr val="E8A040"/>
            </a:solidFill>
            <a:prstDash val="solid"/>
          </a:ln>
        </p:spPr>
      </p:sp>
      <p:sp>
        <p:nvSpPr>
          <p:cNvPr id="148" name="Text 143"/>
          <p:cNvSpPr/>
          <p:nvPr/>
        </p:nvSpPr>
        <p:spPr>
          <a:xfrm>
            <a:off x="237744" y="4901184"/>
            <a:ext cx="9400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sent-txt-file Lambda は平文FTP（Apache Commons Net）を使用。VPN内通信のため実害は低いが、将来的なFTPS化を推奨。</a:t>
            </a:r>
            <a:endParaRPr lang="en-US" sz="700" dirty="0"/>
          </a:p>
        </p:txBody>
      </p:sp>
      <p:sp>
        <p:nvSpPr>
          <p:cNvPr id="149" name="Shape 144"/>
          <p:cNvSpPr/>
          <p:nvPr/>
        </p:nvSpPr>
        <p:spPr>
          <a:xfrm>
            <a:off x="182880" y="5175504"/>
            <a:ext cx="9509760" cy="237744"/>
          </a:xfrm>
          <a:prstGeom prst="rect">
            <a:avLst/>
          </a:prstGeom>
          <a:solidFill>
            <a:srgbClr val="F1F8E9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50" name="Text 145"/>
          <p:cNvSpPr/>
          <p:nvPr/>
        </p:nvSpPr>
        <p:spPr>
          <a:xfrm>
            <a:off x="237744" y="5175504"/>
            <a:ext cx="9400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SG受信フロー: VINX→SFTP PUT→tf-server-sg→S3→EB→SF(import) → S3(.ENDEXPORT) → EB → SF(create-txt) → Lambda FTP送信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182880" y="5449824"/>
            <a:ext cx="9509760" cy="237744"/>
          </a:xfrm>
          <a:prstGeom prst="rect">
            <a:avLst/>
          </a:prstGeom>
          <a:solidFill>
            <a:srgbClr val="FFFDE7"/>
          </a:solidFill>
          <a:ln w="6350">
            <a:solidFill>
              <a:srgbClr val="D4A017"/>
            </a:solidFill>
            <a:prstDash val="solid"/>
          </a:ln>
        </p:spPr>
      </p:sp>
      <p:sp>
        <p:nvSpPr>
          <p:cNvPr id="152" name="Text 147"/>
          <p:cNvSpPr/>
          <p:nvPr/>
        </p:nvSpPr>
        <p:spPr>
          <a:xfrm>
            <a:off x="237744" y="5449824"/>
            <a:ext cx="9400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4A01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🎁 ギフト決済フロー: EC2 giftcard cron(09:00) → Aurora MySQL(取引データ) → EBCDICファイル生成 → JSch SFTP(SSH鍵) → NTT DATA CDS(210.144.93.17:22) ※インターネット経由</a:t>
            </a:r>
            <a:endParaRPr lang="en-US" sz="700" dirty="0"/>
          </a:p>
        </p:txBody>
      </p:sp>
      <p:sp>
        <p:nvSpPr>
          <p:cNvPr id="153" name="Shape 148"/>
          <p:cNvSpPr/>
          <p:nvPr/>
        </p:nvSpPr>
        <p:spPr>
          <a:xfrm>
            <a:off x="182880" y="5724144"/>
            <a:ext cx="9509760" cy="237744"/>
          </a:xfrm>
          <a:prstGeom prst="rect">
            <a:avLst/>
          </a:prstGeom>
          <a:solidFill>
            <a:srgbClr val="F5F0FF"/>
          </a:solidFill>
          <a:ln w="6350">
            <a:solidFill>
              <a:srgbClr val="9966BB"/>
            </a:solidFill>
            <a:prstDash val="solid"/>
          </a:ln>
        </p:spPr>
      </p:sp>
      <p:sp>
        <p:nvSpPr>
          <p:cNvPr id="154" name="Text 149"/>
          <p:cNvSpPr/>
          <p:nvPr/>
        </p:nvSpPr>
        <p:spPr>
          <a:xfrm>
            <a:off x="237744" y="5724144"/>
            <a:ext cx="9400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66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🌙 夜間バッチ: EventBridge cron(05:30) → Lambda(create-file-end-for-night) → DB(store_list取得) → 各店舗分.ENDEXPORTをS3に生成 → 送信フローに合流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 本番環境・検証環境 差異一覧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Danh sách sự khác biệt PRD / STG  |  AWSアカウント: PRD=332802448674 / STG=750735758916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182880" y="1627632"/>
            <a:ext cx="1170432" cy="256032"/>
          </a:xfrm>
          <a:prstGeom prst="rect">
            <a:avLst/>
          </a:prstGeom>
          <a:solidFill>
            <a:srgbClr val="2E4057"/>
          </a:solidFill>
          <a:ln/>
        </p:spPr>
      </p:sp>
      <p:sp>
        <p:nvSpPr>
          <p:cNvPr id="13" name="Text 8"/>
          <p:cNvSpPr/>
          <p:nvPr/>
        </p:nvSpPr>
        <p:spPr>
          <a:xfrm>
            <a:off x="182880" y="162763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1371600" y="1627632"/>
            <a:ext cx="2359152" cy="256032"/>
          </a:xfrm>
          <a:prstGeom prst="rect">
            <a:avLst/>
          </a:prstGeom>
          <a:solidFill>
            <a:srgbClr val="2E4057"/>
          </a:solidFill>
          <a:ln/>
        </p:spPr>
      </p:sp>
      <p:sp>
        <p:nvSpPr>
          <p:cNvPr id="15" name="Text 10"/>
          <p:cNvSpPr/>
          <p:nvPr/>
        </p:nvSpPr>
        <p:spPr>
          <a:xfrm>
            <a:off x="1371600" y="16276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3749040" y="1627632"/>
            <a:ext cx="2633472" cy="256032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7" name="Text 12"/>
          <p:cNvSpPr/>
          <p:nvPr/>
        </p:nvSpPr>
        <p:spPr>
          <a:xfrm>
            <a:off x="3749040" y="16276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🟦 PRD（本番）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400800" y="1627632"/>
            <a:ext cx="2633472" cy="256032"/>
          </a:xfrm>
          <a:prstGeom prst="rect">
            <a:avLst/>
          </a:prstGeom>
          <a:solidFill>
            <a:srgbClr val="7B4000"/>
          </a:solidFill>
          <a:ln/>
        </p:spPr>
      </p:sp>
      <p:sp>
        <p:nvSpPr>
          <p:cNvPr id="19" name="Text 14"/>
          <p:cNvSpPr/>
          <p:nvPr/>
        </p:nvSpPr>
        <p:spPr>
          <a:xfrm>
            <a:off x="6400800" y="16276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🟧 STG（検証）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182880" y="1883664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82880" y="1883664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基本情報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1371600" y="1883664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426464" y="1883664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3749040" y="1883664"/>
            <a:ext cx="2633472" cy="233172"/>
          </a:xfrm>
          <a:prstGeom prst="rect">
            <a:avLst/>
          </a:prstGeom>
          <a:solidFill>
            <a:srgbClr val="E8F0FB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803904" y="188366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332802448674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6400800" y="1883664"/>
            <a:ext cx="2633472" cy="233172"/>
          </a:xfrm>
          <a:prstGeom prst="rect">
            <a:avLst/>
          </a:prstGeom>
          <a:solidFill>
            <a:srgbClr val="FFF3E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455664" y="188366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750735758916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182880" y="2116836"/>
            <a:ext cx="117043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371600" y="2116836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426464" y="2116836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 CIDR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3749040" y="2116836"/>
            <a:ext cx="2633472" cy="233172"/>
          </a:xfrm>
          <a:prstGeom prst="rect">
            <a:avLst/>
          </a:prstGeom>
          <a:solidFill>
            <a:srgbClr val="E8F0FB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803904" y="211683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10.238.0.0/16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6400800" y="2116836"/>
            <a:ext cx="2633472" cy="233172"/>
          </a:xfrm>
          <a:prstGeom prst="rect">
            <a:avLst/>
          </a:prstGeom>
          <a:solidFill>
            <a:srgbClr val="FFF3E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455664" y="211683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10.239.0.0/16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182880" y="2350008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371600" y="2350008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1426464" y="2350008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S3バケット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3749040" y="2350008"/>
            <a:ext cx="2633472" cy="233172"/>
          </a:xfrm>
          <a:prstGeom prst="rect">
            <a:avLst/>
          </a:prstGeom>
          <a:solidFill>
            <a:srgbClr val="E8F0FB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803904" y="235000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6400800" y="2350008"/>
            <a:ext cx="2633472" cy="233172"/>
          </a:xfrm>
          <a:prstGeom prst="rect">
            <a:avLst/>
          </a:prstGeom>
          <a:solidFill>
            <a:srgbClr val="FFF3E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455664" y="235000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stg-ignica-ksm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182880" y="2583180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182880" y="2583180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1371600" y="2583180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1426464" y="2583180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 IP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749040" y="2583180"/>
            <a:ext cx="2633472" cy="233172"/>
          </a:xfrm>
          <a:prstGeom prst="rect">
            <a:avLst/>
          </a:prstGeom>
          <a:solidFill>
            <a:srgbClr val="E8F0FB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803904" y="258318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6400800" y="2583180"/>
            <a:ext cx="2633472" cy="233172"/>
          </a:xfrm>
          <a:prstGeom prst="rect">
            <a:avLst/>
          </a:prstGeom>
          <a:solidFill>
            <a:srgbClr val="FFF3E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455664" y="258318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10.239.2.4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82880" y="2816352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371600" y="2816352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1426464" y="2816352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giftcard IP</a:t>
            </a:r>
            <a:endParaRPr lang="en-US" sz="750" dirty="0"/>
          </a:p>
        </p:txBody>
      </p:sp>
      <p:sp>
        <p:nvSpPr>
          <p:cNvPr id="53" name="Shape 48"/>
          <p:cNvSpPr/>
          <p:nvPr/>
        </p:nvSpPr>
        <p:spPr>
          <a:xfrm>
            <a:off x="3749040" y="2816352"/>
            <a:ext cx="2633472" cy="233172"/>
          </a:xfrm>
          <a:prstGeom prst="rect">
            <a:avLst/>
          </a:prstGeom>
          <a:solidFill>
            <a:srgbClr val="E8F0FB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803904" y="281635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 (t2.large)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6400800" y="2816352"/>
            <a:ext cx="2633472" cy="233172"/>
          </a:xfrm>
          <a:prstGeom prst="rect">
            <a:avLst/>
          </a:prstGeom>
          <a:solidFill>
            <a:srgbClr val="FFF3E0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455664" y="281635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10.239.2.193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182880" y="3049524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182880" y="3049524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</a:t>
            </a:r>
            <a:endParaRPr lang="en-US" sz="750" dirty="0"/>
          </a:p>
        </p:txBody>
      </p:sp>
      <p:sp>
        <p:nvSpPr>
          <p:cNvPr id="59" name="Shape 54"/>
          <p:cNvSpPr/>
          <p:nvPr/>
        </p:nvSpPr>
        <p:spPr>
          <a:xfrm>
            <a:off x="1371600" y="3049524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1426464" y="3049524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GuardDuty</a:t>
            </a:r>
            <a:endParaRPr lang="en-US" sz="750" dirty="0"/>
          </a:p>
        </p:txBody>
      </p:sp>
      <p:sp>
        <p:nvSpPr>
          <p:cNvPr id="61" name="Shape 56"/>
          <p:cNvSpPr/>
          <p:nvPr/>
        </p:nvSpPr>
        <p:spPr>
          <a:xfrm>
            <a:off x="3749040" y="3049524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3803904" y="304952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有効</a:t>
            </a:r>
            <a:endParaRPr lang="en-US" sz="700" dirty="0"/>
          </a:p>
        </p:txBody>
      </p:sp>
      <p:sp>
        <p:nvSpPr>
          <p:cNvPr id="63" name="Shape 58"/>
          <p:cNvSpPr/>
          <p:nvPr/>
        </p:nvSpPr>
        <p:spPr>
          <a:xfrm>
            <a:off x="6400800" y="3049524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455664" y="304952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無効</a:t>
            </a:r>
            <a:endParaRPr lang="en-US" sz="700" dirty="0"/>
          </a:p>
        </p:txBody>
      </p:sp>
      <p:sp>
        <p:nvSpPr>
          <p:cNvPr id="65" name="Shape 60"/>
          <p:cNvSpPr/>
          <p:nvPr/>
        </p:nvSpPr>
        <p:spPr>
          <a:xfrm>
            <a:off x="182880" y="3282696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1371600" y="3282696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1426464" y="3282696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CloudTrail</a:t>
            </a:r>
            <a:endParaRPr lang="en-US" sz="750" dirty="0"/>
          </a:p>
        </p:txBody>
      </p:sp>
      <p:sp>
        <p:nvSpPr>
          <p:cNvPr id="68" name="Shape 63"/>
          <p:cNvSpPr/>
          <p:nvPr/>
        </p:nvSpPr>
        <p:spPr>
          <a:xfrm>
            <a:off x="3749040" y="3282696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3803904" y="328269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有効</a:t>
            </a:r>
            <a:endParaRPr lang="en-US" sz="700" dirty="0"/>
          </a:p>
        </p:txBody>
      </p:sp>
      <p:sp>
        <p:nvSpPr>
          <p:cNvPr id="70" name="Shape 65"/>
          <p:cNvSpPr/>
          <p:nvPr/>
        </p:nvSpPr>
        <p:spPr>
          <a:xfrm>
            <a:off x="6400800" y="3282696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6455664" y="328269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無効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182880" y="3515868"/>
            <a:ext cx="117043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1371600" y="3515868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1426464" y="3515868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Security Hub</a:t>
            </a:r>
            <a:endParaRPr lang="en-US" sz="750" dirty="0"/>
          </a:p>
        </p:txBody>
      </p:sp>
      <p:sp>
        <p:nvSpPr>
          <p:cNvPr id="75" name="Shape 70"/>
          <p:cNvSpPr/>
          <p:nvPr/>
        </p:nvSpPr>
        <p:spPr>
          <a:xfrm>
            <a:off x="3749040" y="3515868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3803904" y="351586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有効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6400800" y="3515868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8" name="Text 73"/>
          <p:cNvSpPr/>
          <p:nvPr/>
        </p:nvSpPr>
        <p:spPr>
          <a:xfrm>
            <a:off x="6455664" y="351586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無効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182880" y="3749040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1371600" y="3749040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1426464" y="3749040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MFA強制</a:t>
            </a:r>
            <a:endParaRPr lang="en-US" sz="750" dirty="0"/>
          </a:p>
        </p:txBody>
      </p:sp>
      <p:sp>
        <p:nvSpPr>
          <p:cNvPr id="82" name="Shape 77"/>
          <p:cNvSpPr/>
          <p:nvPr/>
        </p:nvSpPr>
        <p:spPr>
          <a:xfrm>
            <a:off x="3749040" y="3749040"/>
            <a:ext cx="2633472" cy="233172"/>
          </a:xfrm>
          <a:prstGeom prst="rect">
            <a:avLst/>
          </a:prstGeom>
          <a:solidFill>
            <a:srgbClr val="FFF8E1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3803904" y="374904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未強制（両環境共通）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6400800" y="3749040"/>
            <a:ext cx="2633472" cy="233172"/>
          </a:xfrm>
          <a:prstGeom prst="rect">
            <a:avLst/>
          </a:prstGeom>
          <a:solidFill>
            <a:srgbClr val="FFF8E1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6455664" y="374904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未強制（両環境共通）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182880" y="3982212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7" name="Text 82"/>
          <p:cNvSpPr/>
          <p:nvPr/>
        </p:nvSpPr>
        <p:spPr>
          <a:xfrm>
            <a:off x="182880" y="3982212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</a:t>
            </a:r>
            <a:endParaRPr lang="en-US" sz="750" dirty="0"/>
          </a:p>
        </p:txBody>
      </p:sp>
      <p:sp>
        <p:nvSpPr>
          <p:cNvPr id="88" name="Shape 83"/>
          <p:cNvSpPr/>
          <p:nvPr/>
        </p:nvSpPr>
        <p:spPr>
          <a:xfrm>
            <a:off x="1371600" y="3982212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89" name="Text 84"/>
          <p:cNvSpPr/>
          <p:nvPr/>
        </p:nvSpPr>
        <p:spPr>
          <a:xfrm>
            <a:off x="1426464" y="3982212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SG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3749040" y="3982212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3803904" y="398221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USMH閉域網のみ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6400800" y="3982212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93" name="Text 88"/>
          <p:cNvSpPr/>
          <p:nvPr/>
        </p:nvSpPr>
        <p:spPr>
          <a:xfrm>
            <a:off x="6455664" y="398221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Bastion許可(テスト残骸)</a:t>
            </a:r>
            <a:endParaRPr lang="en-US" sz="700" dirty="0"/>
          </a:p>
        </p:txBody>
      </p:sp>
      <p:sp>
        <p:nvSpPr>
          <p:cNvPr id="94" name="Shape 89"/>
          <p:cNvSpPr/>
          <p:nvPr/>
        </p:nvSpPr>
        <p:spPr>
          <a:xfrm>
            <a:off x="182880" y="4215384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1371600" y="4215384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1426464" y="4215384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</a:t>
            </a:r>
            <a:endParaRPr lang="en-US" sz="750" dirty="0"/>
          </a:p>
        </p:txBody>
      </p:sp>
      <p:sp>
        <p:nvSpPr>
          <p:cNvPr id="97" name="Shape 92"/>
          <p:cNvSpPr/>
          <p:nvPr/>
        </p:nvSpPr>
        <p:spPr>
          <a:xfrm>
            <a:off x="3749040" y="4215384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3803904" y="421538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正常（該当リソースなし）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6400800" y="4215384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00" name="Text 95"/>
          <p:cNvSpPr/>
          <p:nvPr/>
        </p:nvSpPr>
        <p:spPr>
          <a:xfrm>
            <a:off x="6455664" y="421538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全通信許可(-1)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182880" y="4448556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02" name="Text 97"/>
          <p:cNvSpPr/>
          <p:nvPr/>
        </p:nvSpPr>
        <p:spPr>
          <a:xfrm>
            <a:off x="182880" y="4448556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</a:t>
            </a:r>
            <a:endParaRPr lang="en-US" sz="750" dirty="0"/>
          </a:p>
        </p:txBody>
      </p:sp>
      <p:sp>
        <p:nvSpPr>
          <p:cNvPr id="103" name="Shape 98"/>
          <p:cNvSpPr/>
          <p:nvPr/>
        </p:nvSpPr>
        <p:spPr>
          <a:xfrm>
            <a:off x="1371600" y="4448556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04" name="Text 99"/>
          <p:cNvSpPr/>
          <p:nvPr/>
        </p:nvSpPr>
        <p:spPr>
          <a:xfrm>
            <a:off x="1426464" y="4448556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-9233系ルール</a:t>
            </a:r>
            <a:endParaRPr lang="en-US" sz="750" dirty="0"/>
          </a:p>
        </p:txBody>
      </p:sp>
      <p:sp>
        <p:nvSpPr>
          <p:cNvPr id="105" name="Shape 100"/>
          <p:cNvSpPr/>
          <p:nvPr/>
        </p:nvSpPr>
        <p:spPr>
          <a:xfrm>
            <a:off x="3749040" y="4448556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06" name="Text 101"/>
          <p:cNvSpPr/>
          <p:nvPr/>
        </p:nvSpPr>
        <p:spPr>
          <a:xfrm>
            <a:off x="3803904" y="444855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存在しない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6400800" y="4448556"/>
            <a:ext cx="2633472" cy="233172"/>
          </a:xfrm>
          <a:prstGeom prst="rect">
            <a:avLst/>
          </a:prstGeom>
          <a:solidFill>
            <a:srgbClr val="FFF8E1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08" name="Text 103"/>
          <p:cNvSpPr/>
          <p:nvPr/>
        </p:nvSpPr>
        <p:spPr>
          <a:xfrm>
            <a:off x="6455664" y="444855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DISABLED残骸3本あり</a:t>
            </a:r>
            <a:endParaRPr lang="en-US" sz="700" dirty="0"/>
          </a:p>
        </p:txBody>
      </p:sp>
      <p:sp>
        <p:nvSpPr>
          <p:cNvPr id="109" name="Shape 104"/>
          <p:cNvSpPr/>
          <p:nvPr/>
        </p:nvSpPr>
        <p:spPr>
          <a:xfrm>
            <a:off x="182880" y="4681728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1371600" y="4681728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1" name="Text 106"/>
          <p:cNvSpPr/>
          <p:nvPr/>
        </p:nvSpPr>
        <p:spPr>
          <a:xfrm>
            <a:off x="1426464" y="4681728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check-price</a:t>
            </a:r>
            <a:endParaRPr lang="en-US" sz="750" dirty="0"/>
          </a:p>
        </p:txBody>
      </p:sp>
      <p:sp>
        <p:nvSpPr>
          <p:cNvPr id="112" name="Shape 107"/>
          <p:cNvSpPr/>
          <p:nvPr/>
        </p:nvSpPr>
        <p:spPr>
          <a:xfrm>
            <a:off x="3749040" y="4681728"/>
            <a:ext cx="2633472" cy="233172"/>
          </a:xfrm>
          <a:prstGeom prst="rect">
            <a:avLst/>
          </a:prstGeom>
          <a:solidFill>
            <a:srgbClr val="F5F5F5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3803904" y="468172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DISABLED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6400800" y="4681728"/>
            <a:ext cx="2633472" cy="233172"/>
          </a:xfrm>
          <a:prstGeom prst="rect">
            <a:avLst/>
          </a:prstGeom>
          <a:solidFill>
            <a:srgbClr val="FFF8E1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5" name="Text 110"/>
          <p:cNvSpPr/>
          <p:nvPr/>
        </p:nvSpPr>
        <p:spPr>
          <a:xfrm>
            <a:off x="6455664" y="468172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ENABLED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182880" y="4914900"/>
            <a:ext cx="117043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1371600" y="4914900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18" name="Text 113"/>
          <p:cNvSpPr/>
          <p:nvPr/>
        </p:nvSpPr>
        <p:spPr>
          <a:xfrm>
            <a:off x="1426464" y="4914900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AmazonInspector系</a:t>
            </a:r>
            <a:endParaRPr lang="en-US" sz="750" dirty="0"/>
          </a:p>
        </p:txBody>
      </p:sp>
      <p:sp>
        <p:nvSpPr>
          <p:cNvPr id="119" name="Shape 114"/>
          <p:cNvSpPr/>
          <p:nvPr/>
        </p:nvSpPr>
        <p:spPr>
          <a:xfrm>
            <a:off x="3749040" y="4914900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0" name="Text 115"/>
          <p:cNvSpPr/>
          <p:nvPr/>
        </p:nvSpPr>
        <p:spPr>
          <a:xfrm>
            <a:off x="3803904" y="491490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6本あり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6400800" y="4914900"/>
            <a:ext cx="2633472" cy="233172"/>
          </a:xfrm>
          <a:prstGeom prst="rect">
            <a:avLst/>
          </a:prstGeom>
          <a:solidFill>
            <a:srgbClr val="F5F5F5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2" name="Text 117"/>
          <p:cNvSpPr/>
          <p:nvPr/>
        </p:nvSpPr>
        <p:spPr>
          <a:xfrm>
            <a:off x="6455664" y="491490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なし</a:t>
            </a:r>
            <a:endParaRPr lang="en-US" sz="700" dirty="0"/>
          </a:p>
        </p:txBody>
      </p:sp>
      <p:sp>
        <p:nvSpPr>
          <p:cNvPr id="123" name="Shape 118"/>
          <p:cNvSpPr/>
          <p:nvPr/>
        </p:nvSpPr>
        <p:spPr>
          <a:xfrm>
            <a:off x="182880" y="5148072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1371600" y="5148072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5" name="Text 120"/>
          <p:cNvSpPr/>
          <p:nvPr/>
        </p:nvSpPr>
        <p:spPr>
          <a:xfrm>
            <a:off x="1426464" y="5148072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night-export-sg</a:t>
            </a:r>
            <a:endParaRPr lang="en-US" sz="750" dirty="0"/>
          </a:p>
        </p:txBody>
      </p:sp>
      <p:sp>
        <p:nvSpPr>
          <p:cNvPr id="126" name="Shape 121"/>
          <p:cNvSpPr/>
          <p:nvPr/>
        </p:nvSpPr>
        <p:spPr>
          <a:xfrm>
            <a:off x="3749040" y="5148072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7" name="Text 122"/>
          <p:cNvSpPr/>
          <p:nvPr/>
        </p:nvSpPr>
        <p:spPr>
          <a:xfrm>
            <a:off x="3803904" y="514807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ENABLED (JST 05:30)</a:t>
            </a:r>
            <a:endParaRPr lang="en-US" sz="700" dirty="0"/>
          </a:p>
        </p:txBody>
      </p:sp>
      <p:sp>
        <p:nvSpPr>
          <p:cNvPr id="128" name="Shape 123"/>
          <p:cNvSpPr/>
          <p:nvPr/>
        </p:nvSpPr>
        <p:spPr>
          <a:xfrm>
            <a:off x="6400800" y="5148072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29" name="Text 124"/>
          <p:cNvSpPr/>
          <p:nvPr/>
        </p:nvSpPr>
        <p:spPr>
          <a:xfrm>
            <a:off x="6455664" y="5148072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ENABLED (JST 05:30)</a:t>
            </a:r>
            <a:endParaRPr lang="en-US" sz="700" dirty="0"/>
          </a:p>
        </p:txBody>
      </p:sp>
      <p:sp>
        <p:nvSpPr>
          <p:cNvPr id="130" name="Shape 125"/>
          <p:cNvSpPr/>
          <p:nvPr/>
        </p:nvSpPr>
        <p:spPr>
          <a:xfrm>
            <a:off x="182880" y="5381244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1" name="Text 126"/>
          <p:cNvSpPr/>
          <p:nvPr/>
        </p:nvSpPr>
        <p:spPr>
          <a:xfrm>
            <a:off x="182880" y="5381244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750" dirty="0"/>
          </a:p>
        </p:txBody>
      </p:sp>
      <p:sp>
        <p:nvSpPr>
          <p:cNvPr id="132" name="Shape 127"/>
          <p:cNvSpPr/>
          <p:nvPr/>
        </p:nvSpPr>
        <p:spPr>
          <a:xfrm>
            <a:off x="1371600" y="5381244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3" name="Text 128"/>
          <p:cNvSpPr/>
          <p:nvPr/>
        </p:nvSpPr>
        <p:spPr>
          <a:xfrm>
            <a:off x="1426464" y="5381244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PRD命名誤りLambda</a:t>
            </a:r>
            <a:endParaRPr lang="en-US" sz="750" dirty="0"/>
          </a:p>
        </p:txBody>
      </p:sp>
      <p:sp>
        <p:nvSpPr>
          <p:cNvPr id="134" name="Shape 129"/>
          <p:cNvSpPr/>
          <p:nvPr/>
        </p:nvSpPr>
        <p:spPr>
          <a:xfrm>
            <a:off x="3749040" y="5381244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5" name="Text 130"/>
          <p:cNvSpPr/>
          <p:nvPr/>
        </p:nvSpPr>
        <p:spPr>
          <a:xfrm>
            <a:off x="3803904" y="538124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ksm-posstg-lmd-export-polling が存在</a:t>
            </a:r>
            <a:endParaRPr lang="en-US" sz="700" dirty="0"/>
          </a:p>
        </p:txBody>
      </p:sp>
      <p:sp>
        <p:nvSpPr>
          <p:cNvPr id="136" name="Shape 131"/>
          <p:cNvSpPr/>
          <p:nvPr/>
        </p:nvSpPr>
        <p:spPr>
          <a:xfrm>
            <a:off x="6400800" y="5381244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7" name="Text 132"/>
          <p:cNvSpPr/>
          <p:nvPr/>
        </p:nvSpPr>
        <p:spPr>
          <a:xfrm>
            <a:off x="6455664" y="5381244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正常</a:t>
            </a:r>
            <a:endParaRPr lang="en-US" sz="700" dirty="0"/>
          </a:p>
        </p:txBody>
      </p:sp>
      <p:sp>
        <p:nvSpPr>
          <p:cNvPr id="138" name="Shape 133"/>
          <p:cNvSpPr/>
          <p:nvPr/>
        </p:nvSpPr>
        <p:spPr>
          <a:xfrm>
            <a:off x="182880" y="5614416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1371600" y="5614416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0" name="Text 135"/>
          <p:cNvSpPr/>
          <p:nvPr/>
        </p:nvSpPr>
        <p:spPr>
          <a:xfrm>
            <a:off x="1426464" y="5614416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CWLogsカバレッジ</a:t>
            </a:r>
            <a:endParaRPr lang="en-US" sz="750" dirty="0"/>
          </a:p>
        </p:txBody>
      </p:sp>
      <p:sp>
        <p:nvSpPr>
          <p:cNvPr id="141" name="Shape 136"/>
          <p:cNvSpPr/>
          <p:nvPr/>
        </p:nvSpPr>
        <p:spPr>
          <a:xfrm>
            <a:off x="3749040" y="5614416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2" name="Text 137"/>
          <p:cNvSpPr/>
          <p:nvPr/>
        </p:nvSpPr>
        <p:spPr>
          <a:xfrm>
            <a:off x="3803904" y="561441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ksm-posprd-lmd-* 全Lambda</a:t>
            </a:r>
            <a:endParaRPr lang="en-US" sz="700" dirty="0"/>
          </a:p>
        </p:txBody>
      </p:sp>
      <p:sp>
        <p:nvSpPr>
          <p:cNvPr id="143" name="Shape 138"/>
          <p:cNvSpPr/>
          <p:nvPr/>
        </p:nvSpPr>
        <p:spPr>
          <a:xfrm>
            <a:off x="6400800" y="5614416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4" name="Text 139"/>
          <p:cNvSpPr/>
          <p:nvPr/>
        </p:nvSpPr>
        <p:spPr>
          <a:xfrm>
            <a:off x="6455664" y="5614416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同様</a:t>
            </a:r>
            <a:endParaRPr lang="en-US" sz="700" dirty="0"/>
          </a:p>
        </p:txBody>
      </p:sp>
      <p:sp>
        <p:nvSpPr>
          <p:cNvPr id="145" name="Shape 140"/>
          <p:cNvSpPr/>
          <p:nvPr/>
        </p:nvSpPr>
        <p:spPr>
          <a:xfrm>
            <a:off x="182880" y="5847588"/>
            <a:ext cx="1170432" cy="233172"/>
          </a:xfrm>
          <a:prstGeom prst="rect">
            <a:avLst/>
          </a:prstGeom>
          <a:solidFill>
            <a:srgbClr val="E0E7E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6" name="Text 141"/>
          <p:cNvSpPr/>
          <p:nvPr/>
        </p:nvSpPr>
        <p:spPr>
          <a:xfrm>
            <a:off x="182880" y="5847588"/>
            <a:ext cx="1170432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40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750" dirty="0"/>
          </a:p>
        </p:txBody>
      </p:sp>
      <p:sp>
        <p:nvSpPr>
          <p:cNvPr id="147" name="Shape 142"/>
          <p:cNvSpPr/>
          <p:nvPr/>
        </p:nvSpPr>
        <p:spPr>
          <a:xfrm>
            <a:off x="1371600" y="5847588"/>
            <a:ext cx="2359152" cy="2331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48" name="Text 143"/>
          <p:cNvSpPr/>
          <p:nvPr/>
        </p:nvSpPr>
        <p:spPr>
          <a:xfrm>
            <a:off x="1426464" y="5847588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Tunnel1 (T1)</a:t>
            </a:r>
            <a:endParaRPr lang="en-US" sz="750" dirty="0"/>
          </a:p>
        </p:txBody>
      </p:sp>
      <p:sp>
        <p:nvSpPr>
          <p:cNvPr id="149" name="Shape 144"/>
          <p:cNvSpPr/>
          <p:nvPr/>
        </p:nvSpPr>
        <p:spPr>
          <a:xfrm>
            <a:off x="3749040" y="5847588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0" name="Text 145"/>
          <p:cNvSpPr/>
          <p:nvPr/>
        </p:nvSpPr>
        <p:spPr>
          <a:xfrm>
            <a:off x="3803904" y="584758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UP (35.79.95.18)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6400800" y="5847588"/>
            <a:ext cx="2633472" cy="233172"/>
          </a:xfrm>
          <a:prstGeom prst="rect">
            <a:avLst/>
          </a:prstGeom>
          <a:solidFill>
            <a:srgbClr val="E8F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2" name="Text 147"/>
          <p:cNvSpPr/>
          <p:nvPr/>
        </p:nvSpPr>
        <p:spPr>
          <a:xfrm>
            <a:off x="6455664" y="5847588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UP</a:t>
            </a:r>
            <a:endParaRPr lang="en-US" sz="700" dirty="0"/>
          </a:p>
        </p:txBody>
      </p:sp>
      <p:sp>
        <p:nvSpPr>
          <p:cNvPr id="153" name="Shape 148"/>
          <p:cNvSpPr/>
          <p:nvPr/>
        </p:nvSpPr>
        <p:spPr>
          <a:xfrm>
            <a:off x="182880" y="6080760"/>
            <a:ext cx="117043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4" name="Shape 149"/>
          <p:cNvSpPr/>
          <p:nvPr/>
        </p:nvSpPr>
        <p:spPr>
          <a:xfrm>
            <a:off x="1371600" y="6080760"/>
            <a:ext cx="2359152" cy="233172"/>
          </a:xfrm>
          <a:prstGeom prst="rect">
            <a:avLst/>
          </a:prstGeom>
          <a:solidFill>
            <a:srgbClr val="FAFAFA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5" name="Text 150"/>
          <p:cNvSpPr/>
          <p:nvPr/>
        </p:nvSpPr>
        <p:spPr>
          <a:xfrm>
            <a:off x="1426464" y="6080760"/>
            <a:ext cx="22860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Tunnel2 (T2)</a:t>
            </a:r>
            <a:endParaRPr lang="en-US" sz="750" dirty="0"/>
          </a:p>
        </p:txBody>
      </p:sp>
      <p:sp>
        <p:nvSpPr>
          <p:cNvPr id="156" name="Shape 151"/>
          <p:cNvSpPr/>
          <p:nvPr/>
        </p:nvSpPr>
        <p:spPr>
          <a:xfrm>
            <a:off x="3749040" y="6080760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7" name="Text 152"/>
          <p:cNvSpPr/>
          <p:nvPr/>
        </p:nvSpPr>
        <p:spPr>
          <a:xfrm>
            <a:off x="3803904" y="608076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DOWN (2026-02-19～)</a:t>
            </a:r>
            <a:endParaRPr lang="en-US" sz="700" dirty="0"/>
          </a:p>
        </p:txBody>
      </p:sp>
      <p:sp>
        <p:nvSpPr>
          <p:cNvPr id="158" name="Shape 153"/>
          <p:cNvSpPr/>
          <p:nvPr/>
        </p:nvSpPr>
        <p:spPr>
          <a:xfrm>
            <a:off x="6400800" y="6080760"/>
            <a:ext cx="2633472" cy="233172"/>
          </a:xfrm>
          <a:prstGeom prst="rect">
            <a:avLst/>
          </a:prstGeom>
          <a:solidFill>
            <a:srgbClr val="FFE8E8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59" name="Text 154"/>
          <p:cNvSpPr/>
          <p:nvPr/>
        </p:nvSpPr>
        <p:spPr>
          <a:xfrm>
            <a:off x="6455664" y="6080760"/>
            <a:ext cx="25603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DOWN</a:t>
            </a:r>
            <a:endParaRPr lang="en-US" sz="700" dirty="0"/>
          </a:p>
        </p:txBody>
      </p:sp>
      <p:sp>
        <p:nvSpPr>
          <p:cNvPr id="160" name="Shape 155"/>
          <p:cNvSpPr/>
          <p:nvPr/>
        </p:nvSpPr>
        <p:spPr>
          <a:xfrm>
            <a:off x="182880" y="6368796"/>
            <a:ext cx="2286000" cy="201168"/>
          </a:xfrm>
          <a:prstGeom prst="rect">
            <a:avLst/>
          </a:prstGeom>
          <a:solidFill>
            <a:srgbClr val="FFE8E8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1" name="Text 156"/>
          <p:cNvSpPr/>
          <p:nvPr/>
        </p:nvSpPr>
        <p:spPr>
          <a:xfrm>
            <a:off x="201168" y="636879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STGのみの問題・要対応</a:t>
            </a:r>
            <a:endParaRPr lang="en-US" sz="700" dirty="0"/>
          </a:p>
        </p:txBody>
      </p:sp>
      <p:sp>
        <p:nvSpPr>
          <p:cNvPr id="162" name="Shape 157"/>
          <p:cNvSpPr/>
          <p:nvPr/>
        </p:nvSpPr>
        <p:spPr>
          <a:xfrm>
            <a:off x="2578608" y="6368796"/>
            <a:ext cx="2286000" cy="201168"/>
          </a:xfrm>
          <a:prstGeom prst="rect">
            <a:avLst/>
          </a:prstGeom>
          <a:solidFill>
            <a:srgbClr val="FFF8E1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3" name="Text 158"/>
          <p:cNvSpPr/>
          <p:nvPr/>
        </p:nvSpPr>
        <p:spPr>
          <a:xfrm>
            <a:off x="2596896" y="636879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両環境共通の課題</a:t>
            </a:r>
            <a:endParaRPr lang="en-US" sz="700" dirty="0"/>
          </a:p>
        </p:txBody>
      </p:sp>
      <p:sp>
        <p:nvSpPr>
          <p:cNvPr id="164" name="Shape 159"/>
          <p:cNvSpPr/>
          <p:nvPr/>
        </p:nvSpPr>
        <p:spPr>
          <a:xfrm>
            <a:off x="4974336" y="6368796"/>
            <a:ext cx="2286000" cy="201168"/>
          </a:xfrm>
          <a:prstGeom prst="rect">
            <a:avLst/>
          </a:prstGeom>
          <a:solidFill>
            <a:srgbClr val="E8F8E8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5" name="Text 160"/>
          <p:cNvSpPr/>
          <p:nvPr/>
        </p:nvSpPr>
        <p:spPr>
          <a:xfrm>
            <a:off x="4992624" y="636879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PRD正常 / STG問題</a:t>
            </a:r>
            <a:endParaRPr lang="en-US" sz="700" dirty="0"/>
          </a:p>
        </p:txBody>
      </p:sp>
      <p:sp>
        <p:nvSpPr>
          <p:cNvPr id="166" name="Shape 161"/>
          <p:cNvSpPr/>
          <p:nvPr/>
        </p:nvSpPr>
        <p:spPr>
          <a:xfrm>
            <a:off x="7370064" y="6368796"/>
            <a:ext cx="228600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7" name="Text 162"/>
          <p:cNvSpPr/>
          <p:nvPr/>
        </p:nvSpPr>
        <p:spPr>
          <a:xfrm>
            <a:off x="7388352" y="636879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通常の環境差異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対応ロードマップ / Lộ trình ứng phó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2026年3月〜4月 / Tháng 3〜4 năm 2026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31520" y="656539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KASUMI POS  AWS構成資料　|　Confidential　|　2026-03-09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274320" y="1572768"/>
            <a:ext cx="3017520" cy="53035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2743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今週中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2743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Tuần này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743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74320" y="2212848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7" name="Text 12"/>
          <p:cNvSpPr/>
          <p:nvPr/>
        </p:nvSpPr>
        <p:spPr>
          <a:xfrm>
            <a:off x="3840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MFA 全ユーザー強制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3840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アカウント乗っ取り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274320" y="2889504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3840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 (-1) 削除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3840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全ポート外部公開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74320" y="3566160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3840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GuardDuty 有効化(STG)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3840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攻撃に気づかない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74320" y="4242816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3840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CloudTrail 有効化(STG)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3840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証跡ゼロ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43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274320" y="4919472"/>
            <a:ext cx="54864" cy="603504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840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PowerUserAccess 削除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3840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全リソース横展開可</a:t>
            </a:r>
            <a:endParaRPr lang="en-US" sz="750" dirty="0"/>
          </a:p>
        </p:txBody>
      </p:sp>
      <p:sp>
        <p:nvSpPr>
          <p:cNvPr id="35" name="Shape 30"/>
          <p:cNvSpPr/>
          <p:nvPr/>
        </p:nvSpPr>
        <p:spPr>
          <a:xfrm>
            <a:off x="3474720" y="1572768"/>
            <a:ext cx="3017520" cy="530352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36" name="Text 31"/>
          <p:cNvSpPr/>
          <p:nvPr/>
        </p:nvSpPr>
        <p:spPr>
          <a:xfrm>
            <a:off x="34747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3月中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34747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Tháng 3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34747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3474720" y="2212848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0" name="Text 35"/>
          <p:cNvSpPr/>
          <p:nvPr/>
        </p:nvSpPr>
        <p:spPr>
          <a:xfrm>
            <a:off x="35844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パスワードポリシー設定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35844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弱パスワード許容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747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3474720" y="2889504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4" name="Text 39"/>
          <p:cNvSpPr/>
          <p:nvPr/>
        </p:nvSpPr>
        <p:spPr>
          <a:xfrm>
            <a:off x="35844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 Flow Logs 整備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35844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通信の証跡なし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747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474720" y="3566160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48" name="Text 43"/>
          <p:cNvSpPr/>
          <p:nvPr/>
        </p:nvSpPr>
        <p:spPr>
          <a:xfrm>
            <a:off x="35844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api-be ALB → internal</a:t>
            </a:r>
            <a:endParaRPr lang="en-US" sz="850" dirty="0"/>
          </a:p>
        </p:txBody>
      </p:sp>
      <p:sp>
        <p:nvSpPr>
          <p:cNvPr id="49" name="Text 44"/>
          <p:cNvSpPr/>
          <p:nvPr/>
        </p:nvSpPr>
        <p:spPr>
          <a:xfrm>
            <a:off x="35844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BE直接スキャン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747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3474720" y="4242816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52" name="Text 47"/>
          <p:cNvSpPr/>
          <p:nvPr/>
        </p:nvSpPr>
        <p:spPr>
          <a:xfrm>
            <a:off x="35844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アクセスキーローテーション</a:t>
            </a:r>
            <a:endParaRPr lang="en-US" sz="850" dirty="0"/>
          </a:p>
        </p:txBody>
      </p:sp>
      <p:sp>
        <p:nvSpPr>
          <p:cNvPr id="53" name="Text 48"/>
          <p:cNvSpPr/>
          <p:nvPr/>
        </p:nvSpPr>
        <p:spPr>
          <a:xfrm>
            <a:off x="35844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漏洩リスク増大</a:t>
            </a:r>
            <a:endParaRPr lang="en-US" sz="750" dirty="0"/>
          </a:p>
        </p:txBody>
      </p:sp>
      <p:sp>
        <p:nvSpPr>
          <p:cNvPr id="54" name="Shape 49"/>
          <p:cNvSpPr/>
          <p:nvPr/>
        </p:nvSpPr>
        <p:spPr>
          <a:xfrm>
            <a:off x="34747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474720" y="4919472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56" name="Text 51"/>
          <p:cNvSpPr/>
          <p:nvPr/>
        </p:nvSpPr>
        <p:spPr>
          <a:xfrm>
            <a:off x="35844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Security Hub 有効化(STG)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35844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設定ミス検知不可</a:t>
            </a:r>
            <a:endParaRPr lang="en-US" sz="750" dirty="0"/>
          </a:p>
        </p:txBody>
      </p:sp>
      <p:sp>
        <p:nvSpPr>
          <p:cNvPr id="58" name="Shape 53"/>
          <p:cNvSpPr/>
          <p:nvPr/>
        </p:nvSpPr>
        <p:spPr>
          <a:xfrm>
            <a:off x="3474720" y="559612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3474720" y="5596128"/>
            <a:ext cx="54864" cy="603504"/>
          </a:xfrm>
          <a:prstGeom prst="rect">
            <a:avLst/>
          </a:prstGeom>
          <a:solidFill>
            <a:srgbClr val="E8A040"/>
          </a:solidFill>
          <a:ln/>
        </p:spPr>
      </p:sp>
      <p:sp>
        <p:nvSpPr>
          <p:cNvPr id="60" name="Text 55"/>
          <p:cNvSpPr/>
          <p:nvPr/>
        </p:nvSpPr>
        <p:spPr>
          <a:xfrm>
            <a:off x="3584448" y="563270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ECSロール ReadOnly化</a:t>
            </a:r>
            <a:endParaRPr lang="en-US" sz="850" dirty="0"/>
          </a:p>
        </p:txBody>
      </p:sp>
      <p:sp>
        <p:nvSpPr>
          <p:cNvPr id="61" name="Text 56"/>
          <p:cNvSpPr/>
          <p:nvPr/>
        </p:nvSpPr>
        <p:spPr>
          <a:xfrm>
            <a:off x="3584448" y="590702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シークレット書換可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6675120" y="1572768"/>
            <a:ext cx="3017520" cy="530352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3" name="Text 58"/>
          <p:cNvSpPr/>
          <p:nvPr/>
        </p:nvSpPr>
        <p:spPr>
          <a:xfrm>
            <a:off x="66751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4月中</a:t>
            </a:r>
            <a:endParaRPr lang="en-US" sz="1300" dirty="0"/>
          </a:p>
        </p:txBody>
      </p:sp>
      <p:sp>
        <p:nvSpPr>
          <p:cNvPr id="64" name="Text 59"/>
          <p:cNvSpPr/>
          <p:nvPr/>
        </p:nvSpPr>
        <p:spPr>
          <a:xfrm>
            <a:off x="6675120" y="19385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Tháng 4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6675120" y="221284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6675120" y="2212848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7" name="Text 62"/>
          <p:cNvSpPr/>
          <p:nvPr/>
        </p:nvSpPr>
        <p:spPr>
          <a:xfrm>
            <a:off x="6784848" y="224942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 T2 復旧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6784848" y="25237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冗長性ゼロ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675120" y="2889504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6675120" y="2889504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1" name="Text 66"/>
          <p:cNvSpPr/>
          <p:nvPr/>
        </p:nvSpPr>
        <p:spPr>
          <a:xfrm>
            <a:off x="6784848" y="292608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CGW Vangle残骸 削除</a:t>
            </a:r>
            <a:endParaRPr lang="en-US" sz="850" dirty="0"/>
          </a:p>
        </p:txBody>
      </p:sp>
      <p:sp>
        <p:nvSpPr>
          <p:cNvPr id="72" name="Text 67"/>
          <p:cNvSpPr/>
          <p:nvPr/>
        </p:nvSpPr>
        <p:spPr>
          <a:xfrm>
            <a:off x="6784848" y="32004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不審リソース残存</a:t>
            </a:r>
            <a:endParaRPr lang="en-US" sz="750" dirty="0"/>
          </a:p>
        </p:txBody>
      </p:sp>
      <p:sp>
        <p:nvSpPr>
          <p:cNvPr id="73" name="Shape 68"/>
          <p:cNvSpPr/>
          <p:nvPr/>
        </p:nvSpPr>
        <p:spPr>
          <a:xfrm>
            <a:off x="6675120" y="3566160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6675120" y="3566160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5" name="Text 70"/>
          <p:cNvSpPr/>
          <p:nvPr/>
        </p:nvSpPr>
        <p:spPr>
          <a:xfrm>
            <a:off x="6784848" y="36027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S3ポリシー最小権限化</a:t>
            </a:r>
            <a:endParaRPr lang="en-US" sz="850" dirty="0"/>
          </a:p>
        </p:txBody>
      </p:sp>
      <p:sp>
        <p:nvSpPr>
          <p:cNvPr id="76" name="Text 71"/>
          <p:cNvSpPr/>
          <p:nvPr/>
        </p:nvSpPr>
        <p:spPr>
          <a:xfrm>
            <a:off x="6784848" y="387705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過剰なアクセス許可</a:t>
            </a:r>
            <a:endParaRPr lang="en-US" sz="750" dirty="0"/>
          </a:p>
        </p:txBody>
      </p:sp>
      <p:sp>
        <p:nvSpPr>
          <p:cNvPr id="77" name="Shape 72"/>
          <p:cNvSpPr/>
          <p:nvPr/>
        </p:nvSpPr>
        <p:spPr>
          <a:xfrm>
            <a:off x="6675120" y="4242816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6675120" y="4242816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9" name="Text 74"/>
          <p:cNvSpPr/>
          <p:nvPr/>
        </p:nvSpPr>
        <p:spPr>
          <a:xfrm>
            <a:off x="6784848" y="427939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VPC配置検討</a:t>
            </a:r>
            <a:endParaRPr lang="en-US" sz="850" dirty="0"/>
          </a:p>
        </p:txBody>
      </p:sp>
      <p:sp>
        <p:nvSpPr>
          <p:cNvPr id="80" name="Text 75"/>
          <p:cNvSpPr/>
          <p:nvPr/>
        </p:nvSpPr>
        <p:spPr>
          <a:xfrm>
            <a:off x="6784848" y="455371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放置: VPC外通信が残る</a:t>
            </a:r>
            <a:endParaRPr lang="en-US" sz="750" dirty="0"/>
          </a:p>
        </p:txBody>
      </p:sp>
      <p:sp>
        <p:nvSpPr>
          <p:cNvPr id="81" name="Shape 76"/>
          <p:cNvSpPr/>
          <p:nvPr/>
        </p:nvSpPr>
        <p:spPr>
          <a:xfrm>
            <a:off x="6675120" y="4919472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6675120" y="4919472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83" name="Text 78"/>
          <p:cNvSpPr/>
          <p:nvPr/>
        </p:nvSpPr>
        <p:spPr>
          <a:xfrm>
            <a:off x="6784848" y="49560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週次チェック運用開始</a:t>
            </a:r>
            <a:endParaRPr lang="en-US" sz="850" dirty="0"/>
          </a:p>
        </p:txBody>
      </p:sp>
      <p:sp>
        <p:nvSpPr>
          <p:cNvPr id="84" name="Text 79"/>
          <p:cNvSpPr/>
          <p:nvPr/>
        </p:nvSpPr>
        <p:spPr>
          <a:xfrm>
            <a:off x="6784848" y="52303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設定変化を継続監視</a:t>
            </a:r>
            <a:endParaRPr lang="en-US" sz="750" dirty="0"/>
          </a:p>
        </p:txBody>
      </p:sp>
      <p:sp>
        <p:nvSpPr>
          <p:cNvPr id="85" name="Shape 80"/>
          <p:cNvSpPr/>
          <p:nvPr/>
        </p:nvSpPr>
        <p:spPr>
          <a:xfrm>
            <a:off x="6675120" y="5596128"/>
            <a:ext cx="3017520" cy="60350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6675120" y="5596128"/>
            <a:ext cx="54864" cy="603504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87" name="Text 82"/>
          <p:cNvSpPr/>
          <p:nvPr/>
        </p:nvSpPr>
        <p:spPr>
          <a:xfrm>
            <a:off x="6784848" y="5632704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STG/PRD定期レビュー</a:t>
            </a:r>
            <a:endParaRPr lang="en-US" sz="850" dirty="0"/>
          </a:p>
        </p:txBody>
      </p:sp>
      <p:sp>
        <p:nvSpPr>
          <p:cNvPr id="88" name="Text 83"/>
          <p:cNvSpPr/>
          <p:nvPr/>
        </p:nvSpPr>
        <p:spPr>
          <a:xfrm>
            <a:off x="6784848" y="590702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月1回現状確認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カスミPOS AWS構成資料</dc:title>
  <dc:subject>PptxGenJS Presentation</dc:subject>
  <dc:creator>Thanh Nguyên</dc:creator>
  <cp:lastModifiedBy>Thanh Nguyên</cp:lastModifiedBy>
  <cp:revision>1</cp:revision>
  <dcterms:created xsi:type="dcterms:W3CDTF">2026-03-09T15:47:27Z</dcterms:created>
  <dcterms:modified xsi:type="dcterms:W3CDTF">2026-03-09T15:47:27Z</dcterms:modified>
</cp:coreProperties>
</file>