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libri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200" dirty="0"/>
          </a:p>
        </p:txBody>
      </p:sp>
      <p:sp>
        <p:nvSpPr>
          <p:cNvPr id="9" name="Text 4"/>
          <p:cNvSpPr/>
          <p:nvPr/>
        </p:nvSpPr>
        <p:spPr>
          <a:xfrm>
            <a:off x="457200" y="2240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3600" dirty="0"/>
          </a:p>
        </p:txBody>
      </p:sp>
      <p:sp>
        <p:nvSpPr>
          <p:cNvPr id="10" name="Text 5"/>
          <p:cNvSpPr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303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512064" y="1773936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12064" y="17739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115568" y="16733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115568" y="20391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65760" y="2532888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12064" y="2706624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512064" y="2706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15568" y="26060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15568" y="297180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65760" y="3465576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12064" y="3639312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512064" y="36393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115568" y="35387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1115568" y="39044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セキュリティグループ設定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365760" y="4398264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12064" y="4572000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12064" y="4572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115568" y="44714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115568" y="48371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EC2インスタンス・Tomcat・セキュリティグループ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365760" y="5330952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512064" y="5504688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512064" y="55046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1115568" y="54041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1115568" y="576986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RDS Proxy / DBスキーマ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5120640" y="1600200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5266944" y="1773936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5266944" y="17739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5870448" y="16733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 / EBS）設定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5870448" y="20391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S3バケット構成・フォルダ構造・EBSボリューム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5120640" y="2532888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5266944" y="2706624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266944" y="2706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5870448" y="26060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400" dirty="0"/>
          </a:p>
        </p:txBody>
      </p:sp>
      <p:sp>
        <p:nvSpPr>
          <p:cNvPr id="45" name="Text 40"/>
          <p:cNvSpPr/>
          <p:nvPr/>
        </p:nvSpPr>
        <p:spPr>
          <a:xfrm>
            <a:off x="5870448" y="297180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ESL連携 12モジュール構成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5120640" y="3465576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5266944" y="3639312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5266944" y="36393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5870448" y="35387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400" dirty="0"/>
          </a:p>
        </p:txBody>
      </p:sp>
      <p:sp>
        <p:nvSpPr>
          <p:cNvPr id="50" name="Text 45"/>
          <p:cNvSpPr/>
          <p:nvPr/>
        </p:nvSpPr>
        <p:spPr>
          <a:xfrm>
            <a:off x="5870448" y="39044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アラーム / ログ管理 / EventBridgeスケジュール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5120640" y="4398264"/>
            <a:ext cx="448056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2" name="Shape 47"/>
          <p:cNvSpPr/>
          <p:nvPr/>
        </p:nvSpPr>
        <p:spPr>
          <a:xfrm>
            <a:off x="5266944" y="4572000"/>
            <a:ext cx="493776" cy="49377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5266944" y="4572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5870448" y="44714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環境別比較（STG / 本番）</a:t>
            </a:r>
            <a:endParaRPr lang="en-US" sz="1400" dirty="0"/>
          </a:p>
        </p:txBody>
      </p:sp>
      <p:sp>
        <p:nvSpPr>
          <p:cNvPr id="55" name="Text 50"/>
          <p:cNvSpPr/>
          <p:nvPr/>
        </p:nvSpPr>
        <p:spPr>
          <a:xfrm>
            <a:off x="5870448" y="48371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本番・ステージング環境差分・設定値一覧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9171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東京リージョン（ap-northeast-1）上に構築されたクラウドネイティブなPOSプラットフォームです。本番・ステージングの2環境を運用し、Java/Tomcat ベースのアプリケーションサーバーと PostgreSQL データベースを中核に、電子棚札（ESL）連携・ギフトカード処理・Scan&amp;Go 機能を提供しています。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65760" y="2304288"/>
            <a:ext cx="1719072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0232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365760" y="2304288"/>
            <a:ext cx="1719072" cy="10972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365760" y="24871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65760" y="2962656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2203704" y="2304288"/>
            <a:ext cx="1719072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488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203704" y="2304288"/>
            <a:ext cx="1719072" cy="109728"/>
          </a:xfrm>
          <a:prstGeom prst="rect">
            <a:avLst/>
          </a:prstGeom>
          <a:solidFill>
            <a:srgbClr val="4488CC"/>
          </a:solidFill>
          <a:ln/>
        </p:spPr>
      </p:sp>
      <p:sp>
        <p:nvSpPr>
          <p:cNvPr id="18" name="Text 13"/>
          <p:cNvSpPr/>
          <p:nvPr/>
        </p:nvSpPr>
        <p:spPr>
          <a:xfrm>
            <a:off x="2203704" y="24871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2203704" y="2962656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/ ISHIDA連携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041648" y="2304288"/>
            <a:ext cx="1719072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4AA6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041648" y="2304288"/>
            <a:ext cx="1719072" cy="109728"/>
          </a:xfrm>
          <a:prstGeom prst="rect">
            <a:avLst/>
          </a:prstGeom>
          <a:solidFill>
            <a:srgbClr val="44AA66"/>
          </a:solidFill>
          <a:ln/>
        </p:spPr>
      </p:sp>
      <p:sp>
        <p:nvSpPr>
          <p:cNvPr id="22" name="Text 17"/>
          <p:cNvSpPr/>
          <p:nvPr/>
        </p:nvSpPr>
        <p:spPr>
          <a:xfrm>
            <a:off x="4041648" y="24871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041648" y="2962656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879592" y="2304288"/>
            <a:ext cx="1719072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A0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879592" y="2304288"/>
            <a:ext cx="1719072" cy="109728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26" name="Text 21"/>
          <p:cNvSpPr/>
          <p:nvPr/>
        </p:nvSpPr>
        <p:spPr>
          <a:xfrm>
            <a:off x="5879592" y="24871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879592" y="2962656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7717536" y="2304288"/>
            <a:ext cx="1719072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8866B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717536" y="2304288"/>
            <a:ext cx="1719072" cy="109728"/>
          </a:xfrm>
          <a:prstGeom prst="rect">
            <a:avLst/>
          </a:prstGeom>
          <a:solidFill>
            <a:srgbClr val="8866BB"/>
          </a:solidFill>
          <a:ln/>
        </p:spPr>
      </p:sp>
      <p:sp>
        <p:nvSpPr>
          <p:cNvPr id="30" name="Text 25"/>
          <p:cNvSpPr/>
          <p:nvPr/>
        </p:nvSpPr>
        <p:spPr>
          <a:xfrm>
            <a:off x="7717536" y="24871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7717536" y="2962656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65760" y="3858768"/>
            <a:ext cx="1828800" cy="29260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65760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 URL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365760" y="4224528"/>
            <a:ext cx="9171432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365760" y="4224528"/>
            <a:ext cx="91440" cy="548640"/>
          </a:xfrm>
          <a:prstGeom prst="rect">
            <a:avLst/>
          </a:prstGeom>
          <a:solidFill>
            <a:srgbClr val="44AA66"/>
          </a:solidFill>
          <a:ln/>
        </p:spPr>
      </p:sp>
      <p:sp>
        <p:nvSpPr>
          <p:cNvPr id="36" name="Text 31"/>
          <p:cNvSpPr/>
          <p:nvPr/>
        </p:nvSpPr>
        <p:spPr>
          <a:xfrm>
            <a:off x="548640" y="42245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本番（Production）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2926080" y="422452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https://www.ignicapos.com/login</a:t>
            </a:r>
            <a:endParaRPr lang="en-US" sz="1100" dirty="0"/>
          </a:p>
        </p:txBody>
      </p:sp>
      <p:sp>
        <p:nvSpPr>
          <p:cNvPr id="38" name="Shape 33"/>
          <p:cNvSpPr/>
          <p:nvPr/>
        </p:nvSpPr>
        <p:spPr>
          <a:xfrm>
            <a:off x="365760" y="4846320"/>
            <a:ext cx="91714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365760" y="4846320"/>
            <a:ext cx="91440" cy="548640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0" name="Text 35"/>
          <p:cNvSpPr/>
          <p:nvPr/>
        </p:nvSpPr>
        <p:spPr>
          <a:xfrm>
            <a:off x="548640" y="4846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ステージング（STG）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2926080" y="484632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https://stg.ignicapos.com/login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全サービスの配置・レイヤー別カラー構成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 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ap-northeast-1（東京）レイヤー別構成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75488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75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3776" y="2075688"/>
            <a:ext cx="8915400" cy="13716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75688"/>
            <a:ext cx="8915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▼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493776" y="2231136"/>
            <a:ext cx="8915400" cy="36576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58568"/>
            <a:ext cx="1481328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58568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ALB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5973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5973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ALB（Application Load Balancer）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2798064" y="245973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5973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WAF（AWS WAF）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001768" y="245973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5973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Route53（DNS）</a:t>
            </a:r>
            <a:endParaRPr lang="en-US" sz="750" dirty="0"/>
          </a:p>
        </p:txBody>
      </p:sp>
      <p:sp>
        <p:nvSpPr>
          <p:cNvPr id="35" name="Shape 30"/>
          <p:cNvSpPr/>
          <p:nvPr/>
        </p:nvSpPr>
        <p:spPr>
          <a:xfrm>
            <a:off x="7205472" y="245973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5973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ACM（証明書）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93776" y="2624328"/>
            <a:ext cx="8915400" cy="13716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624328"/>
            <a:ext cx="8915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▼</a:t>
            </a:r>
            <a:endParaRPr lang="en-US" sz="700" dirty="0"/>
          </a:p>
        </p:txBody>
      </p:sp>
      <p:sp>
        <p:nvSpPr>
          <p:cNvPr id="39" name="Shape 34"/>
          <p:cNvSpPr/>
          <p:nvPr/>
        </p:nvSpPr>
        <p:spPr>
          <a:xfrm>
            <a:off x="493776" y="2770632"/>
            <a:ext cx="8915400" cy="804672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9806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9806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9923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992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App Server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Tomcat 9.x (t3.medium)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2798064" y="299923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992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Batch Server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OC/SG処理 (t3.medium)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5001768" y="299923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992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12モジュール構成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7205472" y="299923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992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ギフトカード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残高照会・売上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594360" y="330098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30098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EventBridge（定期実行: 00:00 P001チェック / 05:30 ItemMaster / 06:00 ESLDATA）</a:t>
            </a:r>
            <a:endParaRPr lang="en-US" sz="750" dirty="0"/>
          </a:p>
        </p:txBody>
      </p:sp>
      <p:sp>
        <p:nvSpPr>
          <p:cNvPr id="52" name="Shape 47"/>
          <p:cNvSpPr/>
          <p:nvPr/>
        </p:nvSpPr>
        <p:spPr>
          <a:xfrm>
            <a:off x="5006340" y="330098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30098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+ Teams Webhook（エラー通知・アラーム）</a:t>
            </a:r>
            <a:endParaRPr lang="en-US" sz="750" dirty="0"/>
          </a:p>
        </p:txBody>
      </p:sp>
      <p:sp>
        <p:nvSpPr>
          <p:cNvPr id="54" name="Shape 49"/>
          <p:cNvSpPr/>
          <p:nvPr/>
        </p:nvSpPr>
        <p:spPr>
          <a:xfrm>
            <a:off x="493776" y="3611880"/>
            <a:ext cx="8915400" cy="13716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611880"/>
            <a:ext cx="8915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▼</a:t>
            </a:r>
            <a:endParaRPr lang="en-US" sz="700" dirty="0"/>
          </a:p>
        </p:txBody>
      </p:sp>
      <p:sp>
        <p:nvSpPr>
          <p:cNvPr id="56" name="Shape 51"/>
          <p:cNvSpPr/>
          <p:nvPr/>
        </p:nvSpPr>
        <p:spPr>
          <a:xfrm>
            <a:off x="493776" y="3758184"/>
            <a:ext cx="8915400" cy="731520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785616"/>
            <a:ext cx="109728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785616"/>
            <a:ext cx="109728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986784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986784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14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(Multi-AZ / db.t3.medium)</a:t>
            </a:r>
            <a:endParaRPr lang="en-US" sz="750" dirty="0"/>
          </a:p>
        </p:txBody>
      </p:sp>
      <p:sp>
        <p:nvSpPr>
          <p:cNvPr id="61" name="Shape 56"/>
          <p:cNvSpPr/>
          <p:nvPr/>
        </p:nvSpPr>
        <p:spPr>
          <a:xfrm>
            <a:off x="2798064" y="3986784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825496" y="3986784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Proxy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接続プーリング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5001768" y="3986784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5029200" y="3986784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pos-master-prod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OC/SG/ISHIDA/ログ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7205472" y="3986784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7232904" y="3986784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EBS gp3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OS/App/Log ボリューム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493776" y="4517136"/>
            <a:ext cx="8915400" cy="13716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68" name="Text 63"/>
          <p:cNvSpPr/>
          <p:nvPr/>
        </p:nvSpPr>
        <p:spPr>
          <a:xfrm>
            <a:off x="493776" y="4517136"/>
            <a:ext cx="8915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▼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93776" y="4663440"/>
            <a:ext cx="8915400" cy="365760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>
            <a:off x="548640" y="4690872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1" name="Text 66"/>
          <p:cNvSpPr/>
          <p:nvPr/>
        </p:nvSpPr>
        <p:spPr>
          <a:xfrm>
            <a:off x="548640" y="4690872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2" name="Shape 67"/>
          <p:cNvSpPr/>
          <p:nvPr/>
        </p:nvSpPr>
        <p:spPr>
          <a:xfrm>
            <a:off x="594360" y="4892040"/>
            <a:ext cx="136855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621792" y="4892040"/>
            <a:ext cx="1313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監視・アラーム</a:t>
            </a:r>
            <a:endParaRPr lang="en-US" sz="750" dirty="0"/>
          </a:p>
        </p:txBody>
      </p:sp>
      <p:sp>
        <p:nvSpPr>
          <p:cNvPr id="74" name="Shape 69"/>
          <p:cNvSpPr/>
          <p:nvPr/>
        </p:nvSpPr>
        <p:spPr>
          <a:xfrm>
            <a:off x="2063496" y="4892040"/>
            <a:ext cx="136855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2090928" y="4892040"/>
            <a:ext cx="1313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監査ログ</a:t>
            </a:r>
            <a:endParaRPr lang="en-US" sz="750" dirty="0"/>
          </a:p>
        </p:txBody>
      </p:sp>
      <p:sp>
        <p:nvSpPr>
          <p:cNvPr id="76" name="Shape 71"/>
          <p:cNvSpPr/>
          <p:nvPr/>
        </p:nvSpPr>
        <p:spPr>
          <a:xfrm>
            <a:off x="3532632" y="4892040"/>
            <a:ext cx="136855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3560064" y="4892040"/>
            <a:ext cx="1313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暗号化</a:t>
            </a:r>
            <a:endParaRPr lang="en-US" sz="750" dirty="0"/>
          </a:p>
        </p:txBody>
      </p:sp>
      <p:sp>
        <p:nvSpPr>
          <p:cNvPr id="78" name="Shape 73"/>
          <p:cNvSpPr/>
          <p:nvPr/>
        </p:nvSpPr>
        <p:spPr>
          <a:xfrm>
            <a:off x="5001768" y="4892040"/>
            <a:ext cx="136855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5029200" y="4892040"/>
            <a:ext cx="1313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権限管理</a:t>
            </a:r>
            <a:endParaRPr lang="en-US" sz="750" dirty="0"/>
          </a:p>
        </p:txBody>
      </p:sp>
      <p:sp>
        <p:nvSpPr>
          <p:cNvPr id="80" name="Shape 75"/>
          <p:cNvSpPr/>
          <p:nvPr/>
        </p:nvSpPr>
        <p:spPr>
          <a:xfrm>
            <a:off x="6470904" y="4892040"/>
            <a:ext cx="136855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6498336" y="4892040"/>
            <a:ext cx="1313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バックアップ</a:t>
            </a:r>
            <a:endParaRPr lang="en-US" sz="750" dirty="0"/>
          </a:p>
        </p:txBody>
      </p:sp>
      <p:sp>
        <p:nvSpPr>
          <p:cNvPr id="82" name="Shape 77"/>
          <p:cNvSpPr/>
          <p:nvPr/>
        </p:nvSpPr>
        <p:spPr>
          <a:xfrm>
            <a:off x="7940040" y="4892040"/>
            <a:ext cx="136855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7967472" y="4892040"/>
            <a:ext cx="1313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DB認証情報</a:t>
            </a:r>
            <a:endParaRPr lang="en-US" sz="750" dirty="0"/>
          </a:p>
        </p:txBody>
      </p:sp>
      <p:sp>
        <p:nvSpPr>
          <p:cNvPr id="84" name="Shape 79"/>
          <p:cNvSpPr/>
          <p:nvPr/>
        </p:nvSpPr>
        <p:spPr>
          <a:xfrm>
            <a:off x="493776" y="5065776"/>
            <a:ext cx="8915400" cy="365760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548640" y="5093208"/>
            <a:ext cx="109728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6" name="Text 81"/>
          <p:cNvSpPr/>
          <p:nvPr/>
        </p:nvSpPr>
        <p:spPr>
          <a:xfrm>
            <a:off x="548640" y="5093208"/>
            <a:ext cx="109728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7" name="Shape 82"/>
          <p:cNvSpPr/>
          <p:nvPr/>
        </p:nvSpPr>
        <p:spPr>
          <a:xfrm>
            <a:off x="594360" y="529437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88" name="Text 83"/>
          <p:cNvSpPr/>
          <p:nvPr/>
        </p:nvSpPr>
        <p:spPr>
          <a:xfrm>
            <a:off x="621792" y="529437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750" dirty="0"/>
          </a:p>
        </p:txBody>
      </p:sp>
      <p:sp>
        <p:nvSpPr>
          <p:cNvPr id="89" name="Shape 84"/>
          <p:cNvSpPr/>
          <p:nvPr/>
        </p:nvSpPr>
        <p:spPr>
          <a:xfrm>
            <a:off x="2798064" y="529437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2825496" y="529437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ESL機器送信</a:t>
            </a:r>
            <a:endParaRPr lang="en-US" sz="750" dirty="0"/>
          </a:p>
        </p:txBody>
      </p:sp>
      <p:sp>
        <p:nvSpPr>
          <p:cNvPr id="91" name="Shape 86"/>
          <p:cNvSpPr/>
          <p:nvPr/>
        </p:nvSpPr>
        <p:spPr>
          <a:xfrm>
            <a:off x="5001768" y="529437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5029200" y="529437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750" dirty="0"/>
          </a:p>
        </p:txBody>
      </p:sp>
      <p:sp>
        <p:nvSpPr>
          <p:cNvPr id="93" name="Shape 88"/>
          <p:cNvSpPr/>
          <p:nvPr/>
        </p:nvSpPr>
        <p:spPr>
          <a:xfrm>
            <a:off x="7205472" y="5294376"/>
            <a:ext cx="21031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7232904" y="5294376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SFTP送信</a:t>
            </a:r>
            <a:endParaRPr lang="en-US" sz="750" dirty="0"/>
          </a:p>
        </p:txBody>
      </p:sp>
      <p:sp>
        <p:nvSpPr>
          <p:cNvPr id="95" name="Text 90"/>
          <p:cNvSpPr/>
          <p:nvPr/>
        </p:nvSpPr>
        <p:spPr>
          <a:xfrm>
            <a:off x="493776" y="548640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EC2・RDS は Private/Public Subnet 内に配置。VPC: 10.238.0.0/16（本番） / 10.239.0.0/16（STG）。本番はMulti-AZ構成。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セキュリティグループ設定値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2194560"/>
                <a:gridCol w="222199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本番環境（Production）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STG環境（Staging）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備考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10.239.0.0/16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IPv4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Publicサブネット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10.238.2.0/24 (Multi-AZ)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10.239.1.0/24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EC2 配置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Privateサブネット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10.238.10.0/24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10.238.11.0/24 (Multi-AZ)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10.239.10.0/24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/ Lambda 配置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Private IP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10.238.1.x（2台）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10.239.2.193（1台）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Luvinaサーバー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オフショア拠点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AFS接続先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Subnet 内（本番）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Subnet 内（STG）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Private→Outbound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Gateway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本番VPC に付与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 VPC に付与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インターネット接続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 インバウンド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80(ALB), 443(ALB), 8080(ALB), 22(管理IP)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SG設定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 アウトバウンド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traffic 0.0.0.0/0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有効（AWS WAF）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無効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本番のみ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インスタンス仕様・Tomcat・RDS Proxy 設定値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536192"/>
            <a:ext cx="1645920" cy="2743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2" name="Text 7"/>
          <p:cNvSpPr/>
          <p:nvPr/>
        </p:nvSpPr>
        <p:spPr>
          <a:xfrm>
            <a:off x="365760" y="1536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インスタンス設定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4480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t3.medium（本番）/ t3.small（STG）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Linux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アプリケーション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Tomcat 9.x + OpenJDK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Tomcatポート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8080 (HTTP) / 8443 (HTTPS)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IAMロール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EC2-POS-Role（S3/CloudWatch権限）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配置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Subnet（ALB経由）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EBSボリューム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gp3 / OS:20GB / App:50GB / Log:30GB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EC2台数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 2台（Multi-AZ）/ STG: 1台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5056632" y="1536192"/>
            <a:ext cx="1645920" cy="2743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5" name="Text 9"/>
          <p:cNvSpPr/>
          <p:nvPr/>
        </p:nvSpPr>
        <p:spPr>
          <a:xfrm>
            <a:off x="5056632" y="1536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/ RDS Proxy 設定</a:t>
            </a:r>
            <a:endParaRPr lang="en-US" sz="10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56632" y="1828800"/>
          <a:ext cx="4480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エンジン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db.t3.medium（本番）/ db.t3.small（STG）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デプロイ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Multi-AZ（本番）/ Single-AZ（STG）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ストレージ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gp3 / 100GB（本番）/ 50GB（STG）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自動バックアップ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7日間（本番）/ 3日間（STG）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暗号化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 (AES-256 / KMS)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配置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Subnet (10.238.10.0/24)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 / TLS必須 / タイムアウト120秒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365760" y="5120640"/>
            <a:ext cx="1645920" cy="25603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8" name="Text 11"/>
          <p:cNvSpPr/>
          <p:nvPr/>
        </p:nvSpPr>
        <p:spPr>
          <a:xfrm>
            <a:off x="365760" y="51206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主要DBスキーマ（POS-SERVER）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365760" y="5422392"/>
            <a:ext cx="21945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365760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pos_main</a:t>
            </a:r>
            <a:endParaRPr lang="en-US" sz="1050" dirty="0"/>
          </a:p>
        </p:txBody>
      </p:sp>
      <p:sp>
        <p:nvSpPr>
          <p:cNvPr id="21" name="Text 14"/>
          <p:cNvSpPr/>
          <p:nvPr/>
        </p:nvSpPr>
        <p:spPr>
          <a:xfrm>
            <a:off x="365760" y="576986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売上・取引データ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2697480" y="5422392"/>
            <a:ext cx="21945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2697480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pos_master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2697480" y="576986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商品・店舗マスタ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5029200" y="5422392"/>
            <a:ext cx="21945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29200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esl_data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029200" y="576986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電子棚札連携</a:t>
            </a:r>
            <a:endParaRPr lang="en-US" sz="900" dirty="0"/>
          </a:p>
        </p:txBody>
      </p:sp>
      <p:sp>
        <p:nvSpPr>
          <p:cNvPr id="28" name="Shape 21"/>
          <p:cNvSpPr/>
          <p:nvPr/>
        </p:nvSpPr>
        <p:spPr>
          <a:xfrm>
            <a:off x="7360920" y="5422392"/>
            <a:ext cx="21945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360920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gift_card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7360920" y="576986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ギフトカード管理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S3バケット構成・ESL 12モジュール Lambdaアーキテクチャ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536192"/>
            <a:ext cx="1188720" cy="25603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2" name="Text 7"/>
          <p:cNvSpPr/>
          <p:nvPr/>
        </p:nvSpPr>
        <p:spPr>
          <a:xfrm>
            <a:off x="365760" y="1536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19656"/>
          <a:ext cx="4480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08760"/>
                <a:gridCol w="10515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OC/SG受信・ESL処理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（本番）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versioning有効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pos-master-stg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STG環境 同構成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versioning有効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pos-logs-prod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アクセス・エラーログ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lifecycle: 90日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pos-backup-prod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DBスナップショット転送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lifecycle: 365日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5056632" y="1536192"/>
            <a:ext cx="1463040" cy="25603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5" name="Text 9"/>
          <p:cNvSpPr/>
          <p:nvPr/>
        </p:nvSpPr>
        <p:spPr>
          <a:xfrm>
            <a:off x="5056632" y="1536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 12モジュール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056632" y="181965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5056632" y="18196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①ZIP解凍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5056632" y="209397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PutObject (.end)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6601968" y="181965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601968" y="18196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②ENDチェック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6601968" y="209397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S3イベント駆動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8147304" y="181965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147304" y="18196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③CSV分割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8147304" y="209397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同期呼出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056632" y="236829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5056632" y="236829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④DB取込 P001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056632" y="264261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CSV処理後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6601968" y="236829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601968" y="236829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⑤DB取込 ItemMaster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6601968" y="264261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CSV処理後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8147304" y="236829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8147304" y="236829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⑥DB取込 SpecialPrice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8147304" y="264261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CSV処理後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5056632" y="291693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5056632" y="29169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⑦DB取込 ForcePrice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5056632" y="319125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CSV処理後</a:t>
            </a:r>
            <a:endParaRPr lang="en-US" sz="800" dirty="0"/>
          </a:p>
        </p:txBody>
      </p:sp>
      <p:sp>
        <p:nvSpPr>
          <p:cNvPr id="37" name="Shape 31"/>
          <p:cNvSpPr/>
          <p:nvPr/>
        </p:nvSpPr>
        <p:spPr>
          <a:xfrm>
            <a:off x="6601968" y="291693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6601968" y="29169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⑧SHOHIN生成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601968" y="319125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05:30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8147304" y="291693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147304" y="29169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⑨ESLDATA生成</a:t>
            </a:r>
            <a:endParaRPr lang="en-US" sz="950" dirty="0"/>
          </a:p>
        </p:txBody>
      </p:sp>
      <p:sp>
        <p:nvSpPr>
          <p:cNvPr id="42" name="Text 36"/>
          <p:cNvSpPr/>
          <p:nvPr/>
        </p:nvSpPr>
        <p:spPr>
          <a:xfrm>
            <a:off x="8147304" y="319125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05:30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5056632" y="346557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5056632" y="34655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⑩ISHIDA送信</a:t>
            </a:r>
            <a:endParaRPr lang="en-US" sz="950" dirty="0"/>
          </a:p>
        </p:txBody>
      </p:sp>
      <p:sp>
        <p:nvSpPr>
          <p:cNvPr id="45" name="Text 39"/>
          <p:cNvSpPr/>
          <p:nvPr/>
        </p:nvSpPr>
        <p:spPr>
          <a:xfrm>
            <a:off x="5056632" y="373989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6601968" y="346557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6601968" y="34655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⑪監視バッチ</a:t>
            </a:r>
            <a:endParaRPr lang="en-US" sz="950" dirty="0"/>
          </a:p>
        </p:txBody>
      </p:sp>
      <p:sp>
        <p:nvSpPr>
          <p:cNvPr id="48" name="Text 42"/>
          <p:cNvSpPr/>
          <p:nvPr/>
        </p:nvSpPr>
        <p:spPr>
          <a:xfrm>
            <a:off x="6601968" y="373989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00:00/05:30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8147304" y="3465576"/>
            <a:ext cx="1481328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8147304" y="34655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⑫レポート集計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8147304" y="373989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日次自動集計</a:t>
            </a:r>
            <a:endParaRPr lang="en-US" sz="800" dirty="0"/>
          </a:p>
        </p:txBody>
      </p:sp>
      <p:sp>
        <p:nvSpPr>
          <p:cNvPr id="52" name="Shape 46"/>
          <p:cNvSpPr/>
          <p:nvPr/>
        </p:nvSpPr>
        <p:spPr>
          <a:xfrm>
            <a:off x="365760" y="3931920"/>
            <a:ext cx="1371600" cy="25603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3" name="Text 47"/>
          <p:cNvSpPr/>
          <p:nvPr/>
        </p:nvSpPr>
        <p:spPr>
          <a:xfrm>
            <a:off x="365760" y="3931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共通設定</a:t>
            </a:r>
            <a:endParaRPr lang="en-US" sz="10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224528"/>
          <a:ext cx="91714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0683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ランタイム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タイムアウト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300秒（最大）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メモリ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512MB〜1024MB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VPC配置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Subnet（RDSアクセス）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ENDファイル命名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GHPLUM_YYYYMMDD.end（.csvを.endに置換）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CloudWatchアラーム・ログ管理・定期実行スケジュール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536192"/>
            <a:ext cx="1645920" cy="25603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2" name="Text 7"/>
          <p:cNvSpPr/>
          <p:nvPr/>
        </p:nvSpPr>
        <p:spPr>
          <a:xfrm>
            <a:off x="365760" y="1536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19656"/>
          <a:ext cx="917143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1097280"/>
                <a:gridCol w="395935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メトリクス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閾値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期間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アクション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CPU使用率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SNS通知 + Teams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メモリ使用率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SNS通知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CPU使用率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SNS通知 + Teams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空きストレージ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SNS通知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DB接続数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SNS通知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エラー率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Teams Webhook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 ディスク使用率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5分間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SNS通知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365760" y="4636008"/>
            <a:ext cx="2011680" cy="25603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5" name="Text 9"/>
          <p:cNvSpPr/>
          <p:nvPr/>
        </p:nvSpPr>
        <p:spPr>
          <a:xfrm>
            <a:off x="365760" y="4636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定期実行スケジュール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365760" y="4937760"/>
            <a:ext cx="2221992" cy="1124712"/>
          </a:xfrm>
          <a:prstGeom prst="rect">
            <a:avLst/>
          </a:prstGeom>
          <a:solidFill>
            <a:srgbClr val="FF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1275588" y="498348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2"/>
          <p:cNvSpPr/>
          <p:nvPr/>
        </p:nvSpPr>
        <p:spPr>
          <a:xfrm>
            <a:off x="1275588" y="4983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365760" y="544068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 00:00 JST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365760" y="573328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P001連携チェックバッチ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2697480" y="4937760"/>
            <a:ext cx="2221992" cy="1124712"/>
          </a:xfrm>
          <a:prstGeom prst="rect">
            <a:avLst/>
          </a:prstGeom>
          <a:solidFill>
            <a:srgbClr val="FF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607308" y="498348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7"/>
          <p:cNvSpPr/>
          <p:nvPr/>
        </p:nvSpPr>
        <p:spPr>
          <a:xfrm>
            <a:off x="3607308" y="4983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2697480" y="544068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 05:30 JST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697480" y="573328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ItemMaster連携 / SHOHIN生成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5029200" y="4937760"/>
            <a:ext cx="2221992" cy="1124712"/>
          </a:xfrm>
          <a:prstGeom prst="rect">
            <a:avLst/>
          </a:prstGeom>
          <a:solidFill>
            <a:srgbClr val="FF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939028" y="498348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2"/>
          <p:cNvSpPr/>
          <p:nvPr/>
        </p:nvSpPr>
        <p:spPr>
          <a:xfrm>
            <a:off x="5939028" y="4983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5029200" y="544068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 06:00 JST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5029200" y="573328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ESLDATA生成 / ISHIDA送信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7360920" y="4937760"/>
            <a:ext cx="2221992" cy="1124712"/>
          </a:xfrm>
          <a:prstGeom prst="rect">
            <a:avLst/>
          </a:prstGeom>
          <a:solidFill>
            <a:srgbClr val="FF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8270748" y="498348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7"/>
          <p:cNvSpPr/>
          <p:nvPr/>
        </p:nvSpPr>
        <p:spPr>
          <a:xfrm>
            <a:off x="8270748" y="4983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7360920" y="544068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 07:00 JST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360920" y="573328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レポート集計・不一致通知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環境別比較（本番 / ステージング）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本番・STG 環境差分・設定値一覧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72768"/>
          <a:ext cx="9171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834640"/>
                <a:gridCol w="267919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カテゴリ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設定項目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STG（Staging）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ログインURL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ネットワーク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10.239.0.0/16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ネットワーク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Private IP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コンピュート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EC2インスタンス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コンピュート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EC2台数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2台（Multi-AZ）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データベース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RDSクラス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データベース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無効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データベース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自動バックアップ保持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7日間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3日間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ストレージ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EBS（アプリ）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gp3 / 50GB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gp3 / 30GB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ストレージ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S3バケット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pos-master-stg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監視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CloudWatch詳細監視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有効（1分間隔）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有効（5分間隔）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セキュリティ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有効（AWS WAF）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無効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2026-03-07T17:20:54Z</dcterms:created>
  <dcterms:modified xsi:type="dcterms:W3CDTF">2026-03-07T17:20:54Z</dcterms:modified>
</cp:coreProperties>
</file>