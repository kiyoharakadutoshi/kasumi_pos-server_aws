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8" name="Text 3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</a:t>
            </a:r>
            <a:endParaRPr lang="en-US" sz="3600" dirty="0"/>
          </a:p>
        </p:txBody>
      </p:sp>
      <p:sp>
        <p:nvSpPr>
          <p:cNvPr id="9" name="Text 4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構成資料</a:t>
            </a:r>
            <a:endParaRPr lang="en-US" sz="2800" dirty="0"/>
          </a:p>
        </p:txBody>
      </p:sp>
      <p:sp>
        <p:nvSpPr>
          <p:cNvPr id="10" name="Text 5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Web Services（ap-northeast-1 東京リージョン）　リポジトリ: POS-SERVER</a:t>
            </a:r>
            <a:endParaRPr lang="en-US" sz="1300" dirty="0"/>
          </a:p>
        </p:txBody>
      </p:sp>
      <p:sp>
        <p:nvSpPr>
          <p:cNvPr id="11" name="Text 6"/>
          <p:cNvSpPr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本番環境: https://www.ignicapos.com/login　　STG環境: https://stg.ignicapos.com/login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57200" y="3749040"/>
            <a:ext cx="82296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ルビナソフトウェア株式会社　LUVINA Software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57200" y="5212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　　Ver0.1（お客様確認中）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本資料の構成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572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669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669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0241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10241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全体像・関連システム・環境URL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32004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33101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18" name="Text 13"/>
          <p:cNvSpPr/>
          <p:nvPr/>
        </p:nvSpPr>
        <p:spPr>
          <a:xfrm>
            <a:off x="33101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673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7673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全サービスの配置・レイヤー別構成（実態）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5943600" y="155448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053328" y="168249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3" name="Text 18"/>
          <p:cNvSpPr/>
          <p:nvPr/>
        </p:nvSpPr>
        <p:spPr>
          <a:xfrm>
            <a:off x="6053328" y="16824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19"/>
          <p:cNvSpPr/>
          <p:nvPr/>
        </p:nvSpPr>
        <p:spPr>
          <a:xfrm>
            <a:off x="6510528" y="160934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ネットワーク構成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510528" y="186537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572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669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28" name="Text 23"/>
          <p:cNvSpPr/>
          <p:nvPr/>
        </p:nvSpPr>
        <p:spPr>
          <a:xfrm>
            <a:off x="5669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10241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コンピュート（EC2）設定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10241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 / Giftcard EC2インスタンス仕様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32004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33101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3" name="Text 28"/>
          <p:cNvSpPr/>
          <p:nvPr/>
        </p:nvSpPr>
        <p:spPr>
          <a:xfrm>
            <a:off x="33101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29"/>
          <p:cNvSpPr/>
          <p:nvPr/>
        </p:nvSpPr>
        <p:spPr>
          <a:xfrm>
            <a:off x="37673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データベース（RDS）設定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37673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/ 2クラスター構成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5943600" y="228600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053328" y="241401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6053328" y="24140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4"/>
          <p:cNvSpPr/>
          <p:nvPr/>
        </p:nvSpPr>
        <p:spPr>
          <a:xfrm>
            <a:off x="6510528" y="234086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ストレージ（S3）設定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6510528" y="259689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S3バケット構成・実際のバケット一覧</a:t>
            </a:r>
            <a:endParaRPr lang="en-US" sz="800" dirty="0"/>
          </a:p>
        </p:txBody>
      </p:sp>
      <p:sp>
        <p:nvSpPr>
          <p:cNvPr id="41" name="Shape 36"/>
          <p:cNvSpPr/>
          <p:nvPr/>
        </p:nvSpPr>
        <p:spPr>
          <a:xfrm>
            <a:off x="4572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669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3" name="Text 38"/>
          <p:cNvSpPr/>
          <p:nvPr/>
        </p:nvSpPr>
        <p:spPr>
          <a:xfrm>
            <a:off x="5669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44" name="Text 39"/>
          <p:cNvSpPr/>
          <p:nvPr/>
        </p:nvSpPr>
        <p:spPr>
          <a:xfrm>
            <a:off x="10241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サーバーレス（Lambda）設定</a:t>
            </a:r>
            <a:endParaRPr lang="en-US" sz="1100" dirty="0"/>
          </a:p>
        </p:txBody>
      </p:sp>
      <p:sp>
        <p:nvSpPr>
          <p:cNvPr id="45" name="Text 40"/>
          <p:cNvSpPr/>
          <p:nvPr/>
        </p:nvSpPr>
        <p:spPr>
          <a:xfrm>
            <a:off x="10241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Java17主体 21関数構成・ESL連携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32004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33101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48" name="Text 43"/>
          <p:cNvSpPr/>
          <p:nvPr/>
        </p:nvSpPr>
        <p:spPr>
          <a:xfrm>
            <a:off x="33101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49" name="Text 44"/>
          <p:cNvSpPr/>
          <p:nvPr/>
        </p:nvSpPr>
        <p:spPr>
          <a:xfrm>
            <a:off x="37673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監視・運用</a:t>
            </a:r>
            <a:endParaRPr lang="en-US" sz="1100" dirty="0"/>
          </a:p>
        </p:txBody>
      </p:sp>
      <p:sp>
        <p:nvSpPr>
          <p:cNvPr id="50" name="Text 45"/>
          <p:cNvSpPr/>
          <p:nvPr/>
        </p:nvSpPr>
        <p:spPr>
          <a:xfrm>
            <a:off x="37673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/ EventBridgeスケジュール</a:t>
            </a:r>
            <a:endParaRPr lang="en-US" sz="800" dirty="0"/>
          </a:p>
        </p:txBody>
      </p:sp>
      <p:sp>
        <p:nvSpPr>
          <p:cNvPr id="51" name="Shape 46"/>
          <p:cNvSpPr/>
          <p:nvPr/>
        </p:nvSpPr>
        <p:spPr>
          <a:xfrm>
            <a:off x="5943600" y="301752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Shape 47"/>
          <p:cNvSpPr/>
          <p:nvPr/>
        </p:nvSpPr>
        <p:spPr>
          <a:xfrm>
            <a:off x="6053328" y="314553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3" name="Text 48"/>
          <p:cNvSpPr/>
          <p:nvPr/>
        </p:nvSpPr>
        <p:spPr>
          <a:xfrm>
            <a:off x="6053328" y="3145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54" name="Text 49"/>
          <p:cNvSpPr/>
          <p:nvPr/>
        </p:nvSpPr>
        <p:spPr>
          <a:xfrm>
            <a:off x="6510528" y="307238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外部連携（USMH接続詳細）</a:t>
            </a:r>
            <a:endParaRPr lang="en-US" sz="1100" dirty="0"/>
          </a:p>
        </p:txBody>
      </p:sp>
      <p:sp>
        <p:nvSpPr>
          <p:cNvPr id="55" name="Text 50"/>
          <p:cNvSpPr/>
          <p:nvPr/>
        </p:nvSpPr>
        <p:spPr>
          <a:xfrm>
            <a:off x="6510528" y="332841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Connect経路・NAT変換仕様・通信フロー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57200" y="3749040"/>
            <a:ext cx="2670048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66928" y="3877056"/>
            <a:ext cx="365760" cy="365760"/>
          </a:xfrm>
          <a:prstGeom prst="ellipse">
            <a:avLst/>
          </a:prstGeom>
          <a:solidFill>
            <a:srgbClr val="D0232A"/>
          </a:solidFill>
          <a:ln/>
        </p:spPr>
      </p:sp>
      <p:sp>
        <p:nvSpPr>
          <p:cNvPr id="58" name="Text 53"/>
          <p:cNvSpPr/>
          <p:nvPr/>
        </p:nvSpPr>
        <p:spPr>
          <a:xfrm>
            <a:off x="566928" y="3877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59" name="Text 54"/>
          <p:cNvSpPr/>
          <p:nvPr/>
        </p:nvSpPr>
        <p:spPr>
          <a:xfrm>
            <a:off x="1024128" y="3803904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外部連携ファイル受信→MySQLインポートフロー</a:t>
            </a:r>
            <a:endParaRPr lang="en-US" sz="1100" dirty="0"/>
          </a:p>
        </p:txBody>
      </p:sp>
      <p:sp>
        <p:nvSpPr>
          <p:cNvPr id="60" name="Text 55"/>
          <p:cNvSpPr/>
          <p:nvPr/>
        </p:nvSpPr>
        <p:spPr>
          <a:xfrm>
            <a:off x="1024128" y="4059936"/>
            <a:ext cx="202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OC(基幹/BIPROGY) / SG(POS/VINX) / SH(棚情報/SHARP)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1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システム概要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 全体像 / 関連システム / 環境URL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システム概要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関連システム・環境URL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1554480"/>
            <a:ext cx="8988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カスミ様向け POSシステム（POS-SERVER）は、AWS 東京リージョン（ap-northeast-1）上に構築されたシステムです。Java/Tomcat ベースのアプリケーション、Aurora MySQL 8.0 データベースを中核に、電子棚札（ESL）連携・ギフトカード処理・Scan&amp;Go 機能を提供しています。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475488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548640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POS-SERVER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548640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コアPOSサーバー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/ Tomcat 9.x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2267712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340864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電子棚札（ESL）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2340864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(Java17)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/ ISHIDA連携</a:t>
            </a:r>
            <a:endParaRPr lang="en-US" sz="900" dirty="0"/>
          </a:p>
        </p:txBody>
      </p:sp>
      <p:sp>
        <p:nvSpPr>
          <p:cNvPr id="18" name="Shape 13"/>
          <p:cNvSpPr/>
          <p:nvPr/>
        </p:nvSpPr>
        <p:spPr>
          <a:xfrm>
            <a:off x="4059936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33088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133088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AFS連携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オーソリ処理</a:t>
            </a:r>
            <a:endParaRPr lang="en-US" sz="900" dirty="0"/>
          </a:p>
        </p:txBody>
      </p:sp>
      <p:sp>
        <p:nvSpPr>
          <p:cNvPr id="21" name="Shape 16"/>
          <p:cNvSpPr/>
          <p:nvPr/>
        </p:nvSpPr>
        <p:spPr>
          <a:xfrm>
            <a:off x="5852160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5925312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25312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スキャン決済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S3連携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7644384" y="2194560"/>
            <a:ext cx="1691640" cy="109728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7717536" y="230428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7717536" y="2651760"/>
            <a:ext cx="1545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基幹(BIPROGY)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POS(VINX)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棚情報(SHARP)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" y="3456432"/>
          <a:ext cx="8951976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665976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環境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本番（Production）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https://www.ignicapos.com/login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ステージング（STG）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https://stg.ignicapos.com/login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8" name="Shape 3"/>
          <p:cNvSpPr/>
          <p:nvPr/>
        </p:nvSpPr>
        <p:spPr>
          <a:xfrm>
            <a:off x="0" y="722376"/>
            <a:ext cx="9902952" cy="3602736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9" name="Text 4"/>
          <p:cNvSpPr/>
          <p:nvPr/>
        </p:nvSpPr>
        <p:spPr>
          <a:xfrm>
            <a:off x="54864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PART 2</a:t>
            </a:r>
            <a:endParaRPr lang="en-US" sz="4800" dirty="0"/>
          </a:p>
        </p:txBody>
      </p:sp>
      <p:sp>
        <p:nvSpPr>
          <p:cNvPr id="10" name="Text 5"/>
          <p:cNvSpPr/>
          <p:nvPr/>
        </p:nvSpPr>
        <p:spPr>
          <a:xfrm>
            <a:off x="548640" y="2103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AWSアーキテクチャ構成図</a:t>
            </a:r>
            <a:endParaRPr lang="en-US" sz="2400" dirty="0"/>
          </a:p>
        </p:txBody>
      </p:sp>
      <p:sp>
        <p:nvSpPr>
          <p:cNvPr id="11" name="Shape 6"/>
          <p:cNvSpPr/>
          <p:nvPr/>
        </p:nvSpPr>
        <p:spPr>
          <a:xfrm>
            <a:off x="548640" y="2926080"/>
            <a:ext cx="27432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実際のAWS設定に基づくレイヤー別構成（2026年3月調査）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AWSアーキテクチャ構成図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 POS-SERVER — ap-northeast-1（東京）実構成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93776" y="1572768"/>
            <a:ext cx="891540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3" name="Text 8"/>
          <p:cNvSpPr/>
          <p:nvPr/>
        </p:nvSpPr>
        <p:spPr>
          <a:xfrm>
            <a:off x="548640" y="1600200"/>
            <a:ext cx="115214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クライアント層</a:t>
            </a:r>
            <a:endParaRPr lang="en-US" sz="900" dirty="0"/>
          </a:p>
        </p:txBody>
      </p:sp>
      <p:sp>
        <p:nvSpPr>
          <p:cNvPr id="14" name="Shape 9"/>
          <p:cNvSpPr/>
          <p:nvPr/>
        </p:nvSpPr>
        <p:spPr>
          <a:xfrm>
            <a:off x="59436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2179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カスミ各店舗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POS端末</a:t>
            </a:r>
            <a:endParaRPr lang="en-US" sz="800" dirty="0"/>
          </a:p>
        </p:txBody>
      </p:sp>
      <p:sp>
        <p:nvSpPr>
          <p:cNvPr id="16" name="Shape 11"/>
          <p:cNvSpPr/>
          <p:nvPr/>
        </p:nvSpPr>
        <p:spPr>
          <a:xfrm>
            <a:off x="235732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38475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本社・管理者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</a:t>
            </a:r>
            <a:endParaRPr lang="en-US" sz="800" dirty="0"/>
          </a:p>
        </p:txBody>
      </p:sp>
      <p:sp>
        <p:nvSpPr>
          <p:cNvPr id="18" name="Shape 13"/>
          <p:cNvSpPr/>
          <p:nvPr/>
        </p:nvSpPr>
        <p:spPr>
          <a:xfrm>
            <a:off x="4120286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4147718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照会ページ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5883250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10682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Scan&amp;Go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スキャン端末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7646213" y="180136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7673645" y="180136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ISHIDA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ESL機器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25" name="Text 20"/>
          <p:cNvSpPr/>
          <p:nvPr/>
        </p:nvSpPr>
        <p:spPr>
          <a:xfrm>
            <a:off x="493776" y="2048256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493776" y="2203704"/>
            <a:ext cx="8915400" cy="347472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solidFill>
            <a:srgbClr val="B07020"/>
          </a:solidFill>
          <a:ln/>
        </p:spPr>
      </p:sp>
      <p:sp>
        <p:nvSpPr>
          <p:cNvPr id="28" name="Text 23"/>
          <p:cNvSpPr/>
          <p:nvPr/>
        </p:nvSpPr>
        <p:spPr>
          <a:xfrm>
            <a:off x="548640" y="2231136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エッジ / ネットワーク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594360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21792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Route53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(ignicapos.com)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2798064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2825496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 Gateway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(57.182.174.110)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5001768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029200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Gateway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7205472" y="2432304"/>
            <a:ext cx="2103120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C080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232904" y="2432304"/>
            <a:ext cx="20482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→Direct Connect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(USMH網)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38" name="Text 33"/>
          <p:cNvSpPr/>
          <p:nvPr/>
        </p:nvSpPr>
        <p:spPr>
          <a:xfrm>
            <a:off x="493776" y="256946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493776" y="2724912"/>
            <a:ext cx="8915400" cy="749808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solidFill>
            <a:srgbClr val="2266AA"/>
          </a:solidFill>
          <a:ln/>
        </p:spPr>
      </p:sp>
      <p:sp>
        <p:nvSpPr>
          <p:cNvPr id="41" name="Text 36"/>
          <p:cNvSpPr/>
          <p:nvPr/>
        </p:nvSpPr>
        <p:spPr>
          <a:xfrm>
            <a:off x="548640" y="2752344"/>
            <a:ext cx="1481328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アプリケーション層</a:t>
            </a:r>
            <a:endParaRPr lang="en-US" sz="900" dirty="0"/>
          </a:p>
        </p:txBody>
      </p:sp>
      <p:sp>
        <p:nvSpPr>
          <p:cNvPr id="42" name="Shape 37"/>
          <p:cNvSpPr/>
          <p:nvPr/>
        </p:nvSpPr>
        <p:spPr>
          <a:xfrm>
            <a:off x="594360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621792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Bastion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t3.xlarge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(10.238.2.39)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798064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2825496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t2.large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(10.238.2.198)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5001768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5029200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ESL連携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/ 18関数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7205472" y="2953512"/>
            <a:ext cx="210312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7232904" y="2953512"/>
            <a:ext cx="2048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Giftcard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</a:t>
            </a:r>
            <a:endParaRPr lang="en-US" sz="800" dirty="0"/>
          </a:p>
        </p:txBody>
      </p:sp>
      <p:sp>
        <p:nvSpPr>
          <p:cNvPr id="50" name="Shape 45"/>
          <p:cNvSpPr/>
          <p:nvPr/>
        </p:nvSpPr>
        <p:spPr>
          <a:xfrm>
            <a:off x="59436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62179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EventBridge（cron: 00:00 JST P001監視 / 05:30 JST ItemMaster連携）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5006340" y="3255264"/>
            <a:ext cx="4302252" cy="155448"/>
          </a:xfrm>
          <a:prstGeom prst="rect">
            <a:avLst/>
          </a:prstGeom>
          <a:solidFill>
            <a:srgbClr val="EBF5FF"/>
          </a:solidFill>
          <a:ln w="12700">
            <a:solidFill>
              <a:srgbClr val="AACCEE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033772" y="3255264"/>
            <a:ext cx="42473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6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SQS（trigger-sqs-export/import-sg）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55" name="Text 50"/>
          <p:cNvSpPr/>
          <p:nvPr/>
        </p:nvSpPr>
        <p:spPr>
          <a:xfrm>
            <a:off x="493776" y="3502152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493776" y="3657600"/>
            <a:ext cx="8915400" cy="749808"/>
          </a:xfrm>
          <a:prstGeom prst="rect">
            <a:avLst/>
          </a:prstGeom>
          <a:solidFill>
            <a:srgbClr val="F0FFF0"/>
          </a:solidFill>
          <a:ln w="12700">
            <a:solidFill>
              <a:srgbClr val="44AA66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solidFill>
            <a:srgbClr val="228844"/>
          </a:solidFill>
          <a:ln/>
        </p:spPr>
      </p:sp>
      <p:sp>
        <p:nvSpPr>
          <p:cNvPr id="58" name="Text 53"/>
          <p:cNvSpPr/>
          <p:nvPr/>
        </p:nvSpPr>
        <p:spPr>
          <a:xfrm>
            <a:off x="548640" y="3685032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データ層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59436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0" name="Text 55"/>
          <p:cNvSpPr/>
          <p:nvPr/>
        </p:nvSpPr>
        <p:spPr>
          <a:xfrm>
            <a:off x="62179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1" name="Shape 56"/>
          <p:cNvSpPr/>
          <p:nvPr/>
        </p:nvSpPr>
        <p:spPr>
          <a:xfrm>
            <a:off x="235732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2" name="Text 57"/>
          <p:cNvSpPr/>
          <p:nvPr/>
        </p:nvSpPr>
        <p:spPr>
          <a:xfrm>
            <a:off x="238475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instance-1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3" name="Shape 58"/>
          <p:cNvSpPr/>
          <p:nvPr/>
        </p:nvSpPr>
        <p:spPr>
          <a:xfrm>
            <a:off x="4120286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4" name="Text 59"/>
          <p:cNvSpPr/>
          <p:nvPr/>
        </p:nvSpPr>
        <p:spPr>
          <a:xfrm>
            <a:off x="4147718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Primary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db.r5.2xlarge</a:t>
            </a:r>
            <a:endParaRPr lang="en-US" sz="800" dirty="0"/>
          </a:p>
        </p:txBody>
      </p:sp>
      <p:sp>
        <p:nvSpPr>
          <p:cNvPr id="65" name="Shape 60"/>
          <p:cNvSpPr/>
          <p:nvPr/>
        </p:nvSpPr>
        <p:spPr>
          <a:xfrm>
            <a:off x="5883250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6" name="Text 61"/>
          <p:cNvSpPr/>
          <p:nvPr/>
        </p:nvSpPr>
        <p:spPr>
          <a:xfrm>
            <a:off x="5910682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instance-2 Replica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db.t3.medium</a:t>
            </a:r>
            <a:endParaRPr lang="en-US" sz="800" dirty="0"/>
          </a:p>
        </p:txBody>
      </p:sp>
      <p:sp>
        <p:nvSpPr>
          <p:cNvPr id="67" name="Shape 62"/>
          <p:cNvSpPr/>
          <p:nvPr/>
        </p:nvSpPr>
        <p:spPr>
          <a:xfrm>
            <a:off x="7646213" y="3886200"/>
            <a:ext cx="1662379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8CC99"/>
            </a:solidFill>
            <a:prstDash val="solid"/>
          </a:ln>
        </p:spPr>
      </p:sp>
      <p:sp>
        <p:nvSpPr>
          <p:cNvPr id="68" name="Text 63"/>
          <p:cNvSpPr/>
          <p:nvPr/>
        </p:nvSpPr>
        <p:spPr>
          <a:xfrm>
            <a:off x="7673645" y="3886200"/>
            <a:ext cx="16075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prd-ignica-ksm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(メインバケット)</a:t>
            </a:r>
            <a:endParaRPr lang="en-US" sz="800" dirty="0"/>
          </a:p>
        </p:txBody>
      </p:sp>
      <p:sp>
        <p:nvSpPr>
          <p:cNvPr id="69" name="Shape 64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0" name="Text 65"/>
          <p:cNvSpPr/>
          <p:nvPr/>
        </p:nvSpPr>
        <p:spPr>
          <a:xfrm>
            <a:off x="493776" y="4434840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▼</a:t>
            </a:r>
            <a:endParaRPr lang="en-US" sz="800" dirty="0"/>
          </a:p>
        </p:txBody>
      </p:sp>
      <p:sp>
        <p:nvSpPr>
          <p:cNvPr id="71" name="Shape 66"/>
          <p:cNvSpPr/>
          <p:nvPr/>
        </p:nvSpPr>
        <p:spPr>
          <a:xfrm>
            <a:off x="493776" y="4590288"/>
            <a:ext cx="8915400" cy="347472"/>
          </a:xfrm>
          <a:prstGeom prst="rect">
            <a:avLst/>
          </a:prstGeom>
          <a:solidFill>
            <a:srgbClr val="F5F0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72" name="Shape 67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solidFill>
            <a:srgbClr val="6644AA"/>
          </a:solidFill>
          <a:ln/>
        </p:spPr>
      </p:sp>
      <p:sp>
        <p:nvSpPr>
          <p:cNvPr id="73" name="Text 68"/>
          <p:cNvSpPr/>
          <p:nvPr/>
        </p:nvSpPr>
        <p:spPr>
          <a:xfrm>
            <a:off x="548640" y="4617720"/>
            <a:ext cx="1975104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運用・監視・セキュリティ</a:t>
            </a:r>
            <a:endParaRPr lang="en-US" sz="900" dirty="0"/>
          </a:p>
        </p:txBody>
      </p:sp>
      <p:sp>
        <p:nvSpPr>
          <p:cNvPr id="74" name="Shape 69"/>
          <p:cNvSpPr/>
          <p:nvPr/>
        </p:nvSpPr>
        <p:spPr>
          <a:xfrm>
            <a:off x="59436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5" name="Text 70"/>
          <p:cNvSpPr/>
          <p:nvPr/>
        </p:nvSpPr>
        <p:spPr>
          <a:xfrm>
            <a:off x="62179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(19アラーム)</a:t>
            </a:r>
            <a:endParaRPr lang="en-US" sz="800" dirty="0"/>
          </a:p>
        </p:txBody>
      </p:sp>
      <p:sp>
        <p:nvSpPr>
          <p:cNvPr id="76" name="Shape 71"/>
          <p:cNvSpPr/>
          <p:nvPr/>
        </p:nvSpPr>
        <p:spPr>
          <a:xfrm>
            <a:off x="2063496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7" name="Text 72"/>
          <p:cNvSpPr/>
          <p:nvPr/>
        </p:nvSpPr>
        <p:spPr>
          <a:xfrm>
            <a:off x="2090928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CloudTrail</a:t>
            </a:r>
            <a:endParaRPr lang="en-US" sz="800" dirty="0"/>
          </a:p>
        </p:txBody>
      </p:sp>
      <p:sp>
        <p:nvSpPr>
          <p:cNvPr id="78" name="Shape 73"/>
          <p:cNvSpPr/>
          <p:nvPr/>
        </p:nvSpPr>
        <p:spPr>
          <a:xfrm>
            <a:off x="3532632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79" name="Text 74"/>
          <p:cNvSpPr/>
          <p:nvPr/>
        </p:nvSpPr>
        <p:spPr>
          <a:xfrm>
            <a:off x="3560064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(7シークレット)</a:t>
            </a:r>
            <a:endParaRPr lang="en-US" sz="800" dirty="0"/>
          </a:p>
        </p:txBody>
      </p:sp>
      <p:sp>
        <p:nvSpPr>
          <p:cNvPr id="80" name="Shape 75"/>
          <p:cNvSpPr/>
          <p:nvPr/>
        </p:nvSpPr>
        <p:spPr>
          <a:xfrm>
            <a:off x="5001768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1" name="Text 76"/>
          <p:cNvSpPr/>
          <p:nvPr/>
        </p:nvSpPr>
        <p:spPr>
          <a:xfrm>
            <a:off x="5029200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</a:t>
            </a:r>
            <a:endParaRPr lang="en-US" sz="800" dirty="0"/>
          </a:p>
        </p:txBody>
      </p:sp>
      <p:sp>
        <p:nvSpPr>
          <p:cNvPr id="82" name="Shape 77"/>
          <p:cNvSpPr/>
          <p:nvPr/>
        </p:nvSpPr>
        <p:spPr>
          <a:xfrm>
            <a:off x="6470904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3" name="Text 78"/>
          <p:cNvSpPr/>
          <p:nvPr/>
        </p:nvSpPr>
        <p:spPr>
          <a:xfrm>
            <a:off x="6498336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800" dirty="0"/>
          </a:p>
        </p:txBody>
      </p:sp>
      <p:sp>
        <p:nvSpPr>
          <p:cNvPr id="84" name="Shape 79"/>
          <p:cNvSpPr/>
          <p:nvPr/>
        </p:nvSpPr>
        <p:spPr>
          <a:xfrm>
            <a:off x="7940040" y="4818888"/>
            <a:ext cx="1368552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BB99DD"/>
            </a:solidFill>
            <a:prstDash val="solid"/>
          </a:ln>
        </p:spPr>
      </p:sp>
      <p:sp>
        <p:nvSpPr>
          <p:cNvPr id="85" name="Text 80"/>
          <p:cNvSpPr/>
          <p:nvPr/>
        </p:nvSpPr>
        <p:spPr>
          <a:xfrm>
            <a:off x="7967472" y="4818888"/>
            <a:ext cx="1313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Backup</a:t>
            </a:r>
            <a:endParaRPr lang="en-US" sz="800" dirty="0"/>
          </a:p>
        </p:txBody>
      </p:sp>
      <p:sp>
        <p:nvSpPr>
          <p:cNvPr id="86" name="Shape 81"/>
          <p:cNvSpPr/>
          <p:nvPr/>
        </p:nvSpPr>
        <p:spPr>
          <a:xfrm>
            <a:off x="493776" y="4956048"/>
            <a:ext cx="8915400" cy="347472"/>
          </a:xfrm>
          <a:prstGeom prst="rect">
            <a:avLst/>
          </a:prstGeom>
          <a:solidFill>
            <a:srgbClr val="FFF8F0"/>
          </a:solidFill>
          <a:ln w="12700">
            <a:solidFill>
              <a:srgbClr val="CC8844"/>
            </a:solidFill>
            <a:prstDash val="solid"/>
          </a:ln>
        </p:spPr>
      </p:sp>
      <p:sp>
        <p:nvSpPr>
          <p:cNvPr id="87" name="Shape 82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solidFill>
            <a:srgbClr val="AA6622"/>
          </a:solidFill>
          <a:ln/>
        </p:spPr>
      </p:sp>
      <p:sp>
        <p:nvSpPr>
          <p:cNvPr id="88" name="Text 83"/>
          <p:cNvSpPr/>
          <p:nvPr/>
        </p:nvSpPr>
        <p:spPr>
          <a:xfrm>
            <a:off x="548640" y="4983480"/>
            <a:ext cx="1005840" cy="155448"/>
          </a:xfrm>
          <a:prstGeom prst="rect">
            <a:avLst/>
          </a:prstGeom>
          <a:noFill/>
          <a:ln/>
        </p:spPr>
        <p:txBody>
          <a:bodyPr wrap="square" lIns="0" tIns="50800" rIns="5080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外部連携</a:t>
            </a:r>
            <a:endParaRPr lang="en-US" sz="900" dirty="0"/>
          </a:p>
        </p:txBody>
      </p:sp>
      <p:sp>
        <p:nvSpPr>
          <p:cNvPr id="89" name="Shape 84"/>
          <p:cNvSpPr/>
          <p:nvPr/>
        </p:nvSpPr>
        <p:spPr>
          <a:xfrm>
            <a:off x="59436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0" name="Text 85"/>
          <p:cNvSpPr/>
          <p:nvPr/>
        </p:nvSpPr>
        <p:spPr>
          <a:xfrm>
            <a:off x="62179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OC: 基幹データ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BIPROGY/OpenCentral</a:t>
            </a:r>
            <a:endParaRPr lang="en-US" sz="800" dirty="0"/>
          </a:p>
        </p:txBody>
      </p:sp>
      <p:sp>
        <p:nvSpPr>
          <p:cNvPr id="91" name="Shape 86"/>
          <p:cNvSpPr/>
          <p:nvPr/>
        </p:nvSpPr>
        <p:spPr>
          <a:xfrm>
            <a:off x="235732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2" name="Text 87"/>
          <p:cNvSpPr/>
          <p:nvPr/>
        </p:nvSpPr>
        <p:spPr>
          <a:xfrm>
            <a:off x="238475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SG: POSデータ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VINX/PosSserver</a:t>
            </a:r>
            <a:endParaRPr lang="en-US" sz="800" dirty="0"/>
          </a:p>
        </p:txBody>
      </p:sp>
      <p:sp>
        <p:nvSpPr>
          <p:cNvPr id="93" name="Shape 88"/>
          <p:cNvSpPr/>
          <p:nvPr/>
        </p:nvSpPr>
        <p:spPr>
          <a:xfrm>
            <a:off x="4120286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4" name="Text 89"/>
          <p:cNvSpPr/>
          <p:nvPr/>
        </p:nvSpPr>
        <p:spPr>
          <a:xfrm>
            <a:off x="4147718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SH: 棚情報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SHARP/P003</a:t>
            </a:r>
            <a:endParaRPr lang="en-US" sz="800" dirty="0"/>
          </a:p>
        </p:txBody>
      </p:sp>
      <p:sp>
        <p:nvSpPr>
          <p:cNvPr id="95" name="Shape 90"/>
          <p:cNvSpPr/>
          <p:nvPr/>
        </p:nvSpPr>
        <p:spPr>
          <a:xfrm>
            <a:off x="5883250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6" name="Text 91"/>
          <p:cNvSpPr/>
          <p:nvPr/>
        </p:nvSpPr>
        <p:spPr>
          <a:xfrm>
            <a:off x="5910682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オーソリサーバー</a:t>
            </a:r>
            <a:endParaRPr lang="en-US" sz="800" dirty="0"/>
          </a:p>
        </p:txBody>
      </p:sp>
      <p:sp>
        <p:nvSpPr>
          <p:cNvPr id="97" name="Shape 92"/>
          <p:cNvSpPr/>
          <p:nvPr/>
        </p:nvSpPr>
        <p:spPr>
          <a:xfrm>
            <a:off x="7646213" y="5184648"/>
            <a:ext cx="1662379" cy="182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BB88"/>
            </a:solidFill>
            <a:prstDash val="solid"/>
          </a:ln>
        </p:spPr>
      </p:sp>
      <p:sp>
        <p:nvSpPr>
          <p:cNvPr id="98" name="Text 93"/>
          <p:cNvSpPr/>
          <p:nvPr/>
        </p:nvSpPr>
        <p:spPr>
          <a:xfrm>
            <a:off x="7673645" y="5184648"/>
            <a:ext cx="16075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Family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SFTP(3サーバー)</a:t>
            </a:r>
            <a:endParaRPr lang="en-US" sz="800" dirty="0"/>
          </a:p>
        </p:txBody>
      </p:sp>
      <p:sp>
        <p:nvSpPr>
          <p:cNvPr id="99" name="Text 94"/>
          <p:cNvSpPr/>
          <p:nvPr/>
        </p:nvSpPr>
        <p:spPr>
          <a:xfrm>
            <a:off x="493776" y="5358384"/>
            <a:ext cx="8915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ALB/WAFは未設置。EC2はBastionとGiftcardの2台。DBはRDS Proxyなし。USMH接続はDirect Connect(Gateway VPC経由)→VPN GW。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ネットワーク構成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 / セキュリティグループ / USMH接続（IPSec VPN + Direct Connect）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/ サブネット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7315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CIDR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com-posprd-vpc（VPC）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1a+1c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subnet-public-1c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subnet-private-1c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10.238.3.128/25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subnet-protected-1c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10.238.3.64/26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subnet-common-1c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10.238.1.0/26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USMH網接続（IPSec VPN + Direct Connect）</a:t>
            </a:r>
            <a:endParaRPr lang="en-US" sz="12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651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値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VPN接続ID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vpn-0ea9b7895f78e4c7e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カスタマーGW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14.224.146.153（USMH側）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BGP ASN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65000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仮想プライベートGW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vgw-06d8981903cf33c62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接続帯域（カスミ）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10Mbps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Connect経路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USMH閉域網→SmartVPN→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Direct Connect(100Mbps)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→Gateway VPC→VPN GW→カスミVPC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CIDR(DB)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172.21.10.0/24 → RDS 3306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CIDR(GW)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10.156.96.0/24 → Giftcard 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 CIDR(SFTP)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10.156.96.192/26 → Transfer 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365760" y="5166360"/>
            <a:ext cx="9171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VPC（別AWSアカウント）で終端。カスミVPCへはVPN Gatewayで接続。カスミへの帯域は10Mbps。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コンピュート（EC2）/ 5. データベース（RDS）設定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インスタンス仕様・Aurora MySQL 8.0 クラスター構成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インスタンス（2台）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822960"/>
                <a:gridCol w="1005840"/>
                <a:gridCol w="6400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名称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タイプ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t3.xlarge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t2.large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26517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Bastion=ギフトカード管理サーバー(PRD: 10.238.2.39)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Giftcard=管理サーバー(PRD: 10.238.2.198 / STG: 10.239.2.193)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365760" y="32461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— Aurora MySQL 8.0（2クラスター）</a:t>
            </a:r>
            <a:endParaRPr lang="en-US" sz="12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520440"/>
          <a:ext cx="4389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8229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インスタンスID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クラス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役割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ksm-posprd-db-instance-1-replica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ksm-posprd-db-instance-2-replica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365760" y="48920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エンジン: aurora-mysql 8.0.mysql_aurora.3.08.2　|　Multi-AZ: False　|　RDS Proxy: なし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主要セキュリティグループ</a:t>
            </a:r>
            <a:endParaRPr lang="en-US" sz="1200" dirty="0"/>
          </a:p>
        </p:txBody>
      </p:sp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sg-ec2-bastion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 (UDP 1194 / OpenVPN)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sg-ec2-giftcard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Giftcard (TCP 80←USMH, TCP 3389)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(TCP 3306 ← 172.21.10.0/24)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sg-lmd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 (TCP 22 ← USMH)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sg-ep-ecr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 Endpoint (TCP 443)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sg-ep-cw-logs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 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sg-ep-kms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KMS Endpoint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sg-ecs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ECS用（予備）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sg-kasumi-charge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Kasumi Charge用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ストレージ（S3）/ 7. サーバーレス（Lambda）設定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S3バケット構成・Lambda 21関数（Java17主体）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バケット（全11バケット）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3774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バケット名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用途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メインバケット（oc:基幹/sg:POS/sh:棚情報/ログ）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prd-ignica-ksm-master-backup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マスターバックアップ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prd-ignica-ksm-pmlogs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prd-ignica-com-lmd-jar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JARファイル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prd-aeon-gift-card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ギフトカード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prd-ignica-com-configrecord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設定レコード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aws-cloudtrail-logs-*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CloudTrail監査ログ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phongbt-auditor-production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監査用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3657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※「pos-master-prod」は存在しない。実際は「prd-ignica-ksm」</a:t>
            </a:r>
            <a:endParaRPr lang="en-US" sz="800" dirty="0"/>
          </a:p>
        </p:txBody>
      </p:sp>
      <p:sp>
        <p:nvSpPr>
          <p:cNvPr id="14" name="Text 8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関数（21関数 / ksm-posprd系18 + その他3）</a:t>
            </a:r>
            <a:endParaRPr lang="en-US" sz="12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関数名（簡略）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split-csv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create-file-end-for-night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split-txt-by-sent-time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import-pos-master-sh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oc-import-data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get-sync-store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sent-email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sent-txt-file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unzip-file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1024MB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zipfile-polling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export-polling(stg)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trigger-sqs-export-sg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trigger-sqs-import-sg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python3.13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128MB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6" name="Text 9"/>
          <p:cNvSpPr/>
          <p:nvPr/>
        </p:nvSpPr>
        <p:spPr>
          <a:xfrm>
            <a:off x="502920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主ランタイムはJava 17。タイムアウト900s（大半）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監視・運用（CloudWatch / EventBridge / Secrets Manager）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アラーム・スケジュール・シークレット管理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365760" y="157276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CloudWatch アラーム（19件 / 全OK）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438912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9144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アラーム名（簡略）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状態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db-aborted-clients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db-acu-cluster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db-cpu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db-dml-rejected-writer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db-free-local-storage-replica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db-freeable-memory (cluster/replica)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db-serverless-capacity-cluster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ec2-audit-log / dnf-log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ec2-messages / secure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ec2-statuscheck (instance/system)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tf-oc / tf-sg (Transfer Family)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/>
          <p:nvPr/>
        </p:nvSpPr>
        <p:spPr>
          <a:xfrm>
            <a:off x="5029200" y="1572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EventBridge 定期実行（確認済み）</a:t>
            </a:r>
            <a:endParaRPr lang="en-US" sz="12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847088"/>
          <a:ext cx="4572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554480"/>
                <a:gridCol w="731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ルール名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スケジュール(UTC)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p001-import-monitoring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cron(00 15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00:00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itemmaster-import-monitoring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night-export-sg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cron(30 20 * * ? *)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05:30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copy-backup-sg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create-txt-file-sg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receive-pos-master-oc/sg/sh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S3イベント駆動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5" name="Text 8"/>
          <p:cNvSpPr/>
          <p:nvPr/>
        </p:nvSpPr>
        <p:spPr>
          <a:xfrm>
            <a:off x="5029200" y="3886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4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06:00(ESLDATA)・07:00(レポート)のルールは確認されず</a:t>
            </a:r>
            <a:endParaRPr lang="en-US" sz="800" dirty="0"/>
          </a:p>
        </p:txBody>
      </p:sp>
      <p:sp>
        <p:nvSpPr>
          <p:cNvPr id="16" name="Text 9"/>
          <p:cNvSpPr/>
          <p:nvPr/>
        </p:nvSpPr>
        <p:spPr>
          <a:xfrm>
            <a:off x="5029200" y="41879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25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StepFunctions: 7SM (oc系×3 / sg系×2 / sh系×1 / 共通sent-txt-file×1)  SQS: 2 FIFOキュー (sg専用)</a:t>
            </a:r>
            <a:endParaRPr lang="en-US" sz="800" dirty="0"/>
          </a:p>
        </p:txBody>
      </p:sp>
      <p:sp>
        <p:nvSpPr>
          <p:cNvPr id="17" name="Text 10"/>
          <p:cNvSpPr/>
          <p:nvPr/>
        </p:nvSpPr>
        <p:spPr>
          <a:xfrm>
            <a:off x="50292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Manager（7件）</a:t>
            </a:r>
            <a:endParaRPr lang="en-US" sz="1200" dirty="0"/>
          </a:p>
        </p:txBody>
      </p:sp>
      <p:graphicFrame>
        <p:nvGraphicFramePr>
          <p:cNvPr id="3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4480560"/>
          <a:ext cx="4572000" cy="914400"/>
        </p:xfrm>
        <a:graphic>
          <a:graphicData uri="http://schemas.openxmlformats.org/drawingml/2006/table">
            <a:tbl>
              <a:tblPr/>
              <a:tblGrid>
                <a:gridCol w="45720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シークレット名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ksm-posprd-sm-db-replica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ksm-posprd-sm-sftp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prd/Mail_Kasumi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prd/Batch_Kasumi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prd/Replica_Kasumi_RO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外部連携ファイル受信 → MySQL インポートフロー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pos-original/ の3系統（OC / SG / SH）を Aurora MySQL へインポート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320040" y="1508760"/>
            <a:ext cx="2834640" cy="274320"/>
          </a:xfrm>
          <a:prstGeom prst="rect">
            <a:avLst/>
          </a:prstGeom>
          <a:solidFill>
            <a:srgbClr val="1E6E9F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320040" y="1508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 フロー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20040" y="1828800"/>
            <a:ext cx="2834640" cy="502920"/>
          </a:xfrm>
          <a:prstGeom prst="rect">
            <a:avLst/>
          </a:prstGeom>
          <a:solidFill>
            <a:srgbClr val="EBF5FB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365760" y="1847088"/>
            <a:ext cx="2743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6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基幹データ / BIPROGY・OpenCentral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320040" y="2377440"/>
            <a:ext cx="2834640" cy="32004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65760" y="23957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pos-original/oc/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320040" y="2743200"/>
            <a:ext cx="2834640" cy="320040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365760" y="276148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Created: P001.END ファイル着地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320040" y="309981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EventBridge → StepFunction</a:t>
            </a:r>
            <a:endParaRPr lang="en-US" sz="800" dirty="0"/>
          </a:p>
        </p:txBody>
      </p:sp>
      <p:sp>
        <p:nvSpPr>
          <p:cNvPr id="20" name="Shape 15"/>
          <p:cNvSpPr/>
          <p:nvPr/>
        </p:nvSpPr>
        <p:spPr>
          <a:xfrm>
            <a:off x="320040" y="3346704"/>
            <a:ext cx="2834640" cy="960120"/>
          </a:xfrm>
          <a:prstGeom prst="rect">
            <a:avLst/>
          </a:prstGeom>
          <a:solidFill>
            <a:srgbClr val="F0FFF0"/>
          </a:solidFill>
          <a:ln w="12700">
            <a:solidFill>
              <a:srgbClr val="1E6E9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365760" y="3364992"/>
            <a:ext cx="27432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SF: receive-pos-master-oc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SF: import-pos-master-oc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Aurora MySQL INSERT/UPDATE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SF: create-txt-file-oc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SF: sent-txt-file → BOX-PC</a:t>
            </a:r>
            <a:endParaRPr lang="en-US" sz="850" dirty="0"/>
          </a:p>
        </p:txBody>
      </p:sp>
      <p:sp>
        <p:nvSpPr>
          <p:cNvPr id="22" name="Text 17"/>
          <p:cNvSpPr/>
          <p:nvPr/>
        </p:nvSpPr>
        <p:spPr>
          <a:xfrm>
            <a:off x="320040" y="4343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6E9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320040" y="4544568"/>
            <a:ext cx="2834640" cy="347472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320040" y="454456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(Replica_Kasumi)</a:t>
            </a:r>
            <a:endParaRPr lang="en-US" sz="850" dirty="0"/>
          </a:p>
        </p:txBody>
      </p:sp>
      <p:sp>
        <p:nvSpPr>
          <p:cNvPr id="25" name="Shape 20"/>
          <p:cNvSpPr/>
          <p:nvPr/>
        </p:nvSpPr>
        <p:spPr>
          <a:xfrm>
            <a:off x="3429000" y="1508760"/>
            <a:ext cx="2834640" cy="2743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429000" y="1508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フロー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3429000" y="1828800"/>
            <a:ext cx="2834640" cy="502920"/>
          </a:xfrm>
          <a:prstGeom prst="rect">
            <a:avLst/>
          </a:prstGeom>
          <a:solidFill>
            <a:srgbClr val="EBF5FB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3474720" y="1847088"/>
            <a:ext cx="2743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POSデータ / VINX・PosSserver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3429000" y="2377440"/>
            <a:ext cx="2834640" cy="32004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474720" y="23957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pos-original/sg/receive/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3429000" y="2743200"/>
            <a:ext cx="2834640" cy="320040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3474720" y="276148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Created: *.ZIP ファイル着地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3429000" y="309981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EventBridge → StepFunction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3429000" y="3346704"/>
            <a:ext cx="2834640" cy="960120"/>
          </a:xfrm>
          <a:prstGeom prst="rect">
            <a:avLst/>
          </a:prstGeom>
          <a:solidFill>
            <a:srgbClr val="F0FFF0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3474720" y="3364992"/>
            <a:ext cx="27432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SF: receive-and-import-pos-master-sg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SQS: store-code-queue-sg.fifo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Aurora MySQL INSERT/UPDATE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SQS: export-queue-sg.fifo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SF: create-txt-file-sg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SF: sent-txt-file → BOX-PC</a:t>
            </a:r>
            <a:endParaRPr lang="en-US" sz="850" dirty="0"/>
          </a:p>
        </p:txBody>
      </p:sp>
      <p:sp>
        <p:nvSpPr>
          <p:cNvPr id="36" name="Text 31"/>
          <p:cNvSpPr/>
          <p:nvPr/>
        </p:nvSpPr>
        <p:spPr>
          <a:xfrm>
            <a:off x="3429000" y="4343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3429000" y="4544568"/>
            <a:ext cx="2834640" cy="347472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3429000" y="454456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(Replica_Kasumi)</a:t>
            </a:r>
            <a:endParaRPr lang="en-US" sz="850" dirty="0"/>
          </a:p>
        </p:txBody>
      </p:sp>
      <p:sp>
        <p:nvSpPr>
          <p:cNvPr id="39" name="Shape 34"/>
          <p:cNvSpPr/>
          <p:nvPr/>
        </p:nvSpPr>
        <p:spPr>
          <a:xfrm>
            <a:off x="6537960" y="1508760"/>
            <a:ext cx="2834640" cy="274320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6537960" y="1508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フロー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537960" y="1828800"/>
            <a:ext cx="2834640" cy="502920"/>
          </a:xfrm>
          <a:prstGeom prst="rect">
            <a:avLst/>
          </a:prstGeom>
          <a:solidFill>
            <a:srgbClr val="EBF5FB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6583680" y="1847088"/>
            <a:ext cx="2743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連携元: 棚情報 / SHARP・P003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6537960" y="2377440"/>
            <a:ext cx="2834640" cy="320040"/>
          </a:xfrm>
          <a:prstGeom prst="rect">
            <a:avLst/>
          </a:prstGeom>
          <a:solidFill>
            <a:srgbClr val="FFF9E6"/>
          </a:solidFill>
          <a:ln w="12700">
            <a:solidFill>
              <a:srgbClr val="CCAA00"/>
            </a:solidFill>
            <a:prstDash val="solid"/>
          </a:ln>
        </p:spPr>
      </p:sp>
      <p:sp>
        <p:nvSpPr>
          <p:cNvPr id="44" name="Text 39"/>
          <p:cNvSpPr/>
          <p:nvPr/>
        </p:nvSpPr>
        <p:spPr>
          <a:xfrm>
            <a:off x="6583680" y="239572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6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S3: pos-original/sh/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6537960" y="2743200"/>
            <a:ext cx="2834640" cy="320040"/>
          </a:xfrm>
          <a:prstGeom prst="rect">
            <a:avLst/>
          </a:prstGeom>
          <a:solidFill>
            <a:srgbClr val="FDEDEC"/>
          </a:solidFill>
          <a:ln w="12700">
            <a:solidFill>
              <a:srgbClr val="E74C3C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6583680" y="2761488"/>
            <a:ext cx="2743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Created: .end/.END ファイル着地</a:t>
            </a:r>
            <a:endParaRPr lang="en-US" sz="850" dirty="0"/>
          </a:p>
        </p:txBody>
      </p:sp>
      <p:sp>
        <p:nvSpPr>
          <p:cNvPr id="47" name="Text 42"/>
          <p:cNvSpPr/>
          <p:nvPr/>
        </p:nvSpPr>
        <p:spPr>
          <a:xfrm>
            <a:off x="6537960" y="3099816"/>
            <a:ext cx="2834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EventBridge → StepFunction</a:t>
            </a:r>
            <a:endParaRPr lang="en-US" sz="800" dirty="0"/>
          </a:p>
        </p:txBody>
      </p:sp>
      <p:sp>
        <p:nvSpPr>
          <p:cNvPr id="48" name="Shape 43"/>
          <p:cNvSpPr/>
          <p:nvPr/>
        </p:nvSpPr>
        <p:spPr>
          <a:xfrm>
            <a:off x="6537960" y="3346704"/>
            <a:ext cx="2834640" cy="960120"/>
          </a:xfrm>
          <a:prstGeom prst="rect">
            <a:avLst/>
          </a:prstGeom>
          <a:solidFill>
            <a:srgbClr val="F0FFF0"/>
          </a:solidFill>
          <a:ln w="12700">
            <a:solidFill>
              <a:srgbClr val="7B3F00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583680" y="3364992"/>
            <a:ext cx="27432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SF: import-pos-master-sh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Aurora MySQL INSERT/UPDATE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SF: sent-txt-file → BOX-PC</a:t>
            </a:r>
            <a:endParaRPr lang="en-US" sz="850" dirty="0"/>
          </a:p>
        </p:txBody>
      </p:sp>
      <p:sp>
        <p:nvSpPr>
          <p:cNvPr id="50" name="Text 45"/>
          <p:cNvSpPr/>
          <p:nvPr/>
        </p:nvSpPr>
        <p:spPr>
          <a:xfrm>
            <a:off x="6537960" y="4343400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000" dirty="0"/>
          </a:p>
        </p:txBody>
      </p:sp>
      <p:sp>
        <p:nvSpPr>
          <p:cNvPr id="51" name="Shape 46"/>
          <p:cNvSpPr/>
          <p:nvPr/>
        </p:nvSpPr>
        <p:spPr>
          <a:xfrm>
            <a:off x="6537960" y="4544568"/>
            <a:ext cx="2834640" cy="347472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52" name="Text 47"/>
          <p:cNvSpPr/>
          <p:nvPr/>
        </p:nvSpPr>
        <p:spPr>
          <a:xfrm>
            <a:off x="6537960" y="454456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MySQL 8.0 (Replica_Kasumi)</a:t>
            </a:r>
            <a:endParaRPr lang="en-US" sz="850" dirty="0"/>
          </a:p>
        </p:txBody>
      </p:sp>
      <p:sp>
        <p:nvSpPr>
          <p:cNvPr id="53" name="Text 48"/>
          <p:cNvSpPr/>
          <p:nvPr/>
        </p:nvSpPr>
        <p:spPr>
          <a:xfrm>
            <a:off x="320040" y="498348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共通: S3バケット = prd-ignica-ksm  /  バックアップ先 = pos-original/{oc|sg|sh}/backup/  /  監視 = CloudWatch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9-1. 外部連携 — USMH閉域網とLUVINA AWS環境の接続構成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Connect(100Mbps) → Gateway VPC → VPN GW → カスミ本番VPC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solidFill>
            <a:srgbClr val="FFE8E8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28600" y="18288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カスミ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10Mbps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228600" y="24231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マルエツ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800" dirty="0"/>
          </a:p>
        </p:txBody>
      </p:sp>
      <p:sp>
        <p:nvSpPr>
          <p:cNvPr id="15" name="Shape 10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22860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いなげや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50Mbps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solidFill>
            <a:srgbClr val="FFF5EB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228600" y="36118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MV関東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100Mbps(BE)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137160" y="1627632"/>
            <a:ext cx="1371600" cy="2606040"/>
          </a:xfrm>
          <a:prstGeom prst="rect">
            <a:avLst/>
          </a:prstGeom>
          <a:solidFill>
            <a:srgbClr val="000000"/>
          </a:solidFill>
          <a:ln w="12700">
            <a:solidFill>
              <a:srgbClr val="888888"/>
            </a:solidFill>
            <a:prstDash val="dash"/>
          </a:ln>
        </p:spPr>
      </p:sp>
      <p:sp>
        <p:nvSpPr>
          <p:cNvPr id="20" name="Text 15"/>
          <p:cNvSpPr/>
          <p:nvPr/>
        </p:nvSpPr>
        <p:spPr>
          <a:xfrm>
            <a:off x="137160" y="164592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USMH閉域網</a:t>
            </a:r>
            <a:endParaRPr lang="en-US" sz="800" dirty="0"/>
          </a:p>
        </p:txBody>
      </p:sp>
      <p:sp>
        <p:nvSpPr>
          <p:cNvPr id="21" name="Shape 16"/>
          <p:cNvSpPr/>
          <p:nvPr/>
        </p:nvSpPr>
        <p:spPr>
          <a:xfrm>
            <a:off x="1828800" y="2606040"/>
            <a:ext cx="1005840" cy="457200"/>
          </a:xfrm>
          <a:prstGeom prst="rect">
            <a:avLst/>
          </a:prstGeom>
          <a:solidFill>
            <a:srgbClr val="F5F5FF"/>
          </a:solidFill>
          <a:ln w="12700">
            <a:solidFill>
              <a:srgbClr val="8866BB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865376" y="2642616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SmartVPN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1508760" y="2834640"/>
            <a:ext cx="320040" cy="0"/>
          </a:xfrm>
          <a:prstGeom prst="line">
            <a:avLst/>
          </a:prstGeom>
          <a:noFill/>
          <a:ln w="12700">
            <a:solidFill>
              <a:srgbClr val="888888"/>
            </a:solidFill>
            <a:prstDash val="solid"/>
            <a:tailEnd type="arrow"/>
          </a:ln>
        </p:spPr>
      </p:sp>
      <p:sp>
        <p:nvSpPr>
          <p:cNvPr id="24" name="Shape 19"/>
          <p:cNvSpPr/>
          <p:nvPr/>
        </p:nvSpPr>
        <p:spPr>
          <a:xfrm>
            <a:off x="3108960" y="2487168"/>
            <a:ext cx="1371600" cy="6858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3145536" y="2523744"/>
            <a:ext cx="12984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Direct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100Mbps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2834640" y="2834640"/>
            <a:ext cx="27432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27" name="Shape 22"/>
          <p:cNvSpPr/>
          <p:nvPr/>
        </p:nvSpPr>
        <p:spPr>
          <a:xfrm>
            <a:off x="4663440" y="2103120"/>
            <a:ext cx="1645920" cy="1371600"/>
          </a:xfrm>
          <a:prstGeom prst="rect">
            <a:avLst/>
          </a:prstGeom>
          <a:solidFill>
            <a:srgbClr val="F0FAFF"/>
          </a:solidFill>
          <a:ln w="19050">
            <a:solidFill>
              <a:srgbClr val="4488CC"/>
            </a:solidFill>
            <a:prstDash val="dash"/>
          </a:ln>
        </p:spPr>
      </p:sp>
      <p:sp>
        <p:nvSpPr>
          <p:cNvPr id="28" name="Text 23"/>
          <p:cNvSpPr/>
          <p:nvPr/>
        </p:nvSpPr>
        <p:spPr>
          <a:xfrm>
            <a:off x="4663440" y="212140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（別AWSアカウント）</a:t>
            </a:r>
            <a:endParaRPr lang="en-US" sz="800" dirty="0"/>
          </a:p>
        </p:txBody>
      </p:sp>
      <p:sp>
        <p:nvSpPr>
          <p:cNvPr id="29" name="Shape 24"/>
          <p:cNvSpPr/>
          <p:nvPr/>
        </p:nvSpPr>
        <p:spPr>
          <a:xfrm>
            <a:off x="4800600" y="2487168"/>
            <a:ext cx="1371600" cy="457200"/>
          </a:xfrm>
          <a:prstGeom prst="rect">
            <a:avLst/>
          </a:prstGeom>
          <a:solidFill>
            <a:srgbClr val="EBF5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837176" y="2523744"/>
            <a:ext cx="12984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/ GW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4480560" y="2834640"/>
            <a:ext cx="320040" cy="0"/>
          </a:xfrm>
          <a:prstGeom prst="line">
            <a:avLst/>
          </a:prstGeom>
          <a:noFill/>
          <a:ln w="19050">
            <a:solidFill>
              <a:srgbClr val="4488CC"/>
            </a:solidFill>
            <a:prstDash val="solid"/>
            <a:tailEnd type="arrow"/>
          </a:ln>
        </p:spPr>
      </p:sp>
      <p:sp>
        <p:nvSpPr>
          <p:cNvPr id="32" name="Shape 27"/>
          <p:cNvSpPr/>
          <p:nvPr/>
        </p:nvSpPr>
        <p:spPr>
          <a:xfrm>
            <a:off x="6309360" y="2834640"/>
            <a:ext cx="27432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3" name="Shape 28"/>
          <p:cNvSpPr/>
          <p:nvPr/>
        </p:nvSpPr>
        <p:spPr>
          <a:xfrm>
            <a:off x="6583680" y="2487168"/>
            <a:ext cx="1097280" cy="457200"/>
          </a:xfrm>
          <a:prstGeom prst="rect">
            <a:avLst/>
          </a:prstGeom>
          <a:solidFill>
            <a:srgbClr val="FFF0F0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20256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(vgw-06d8981903cf33c62)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7863840" y="1572768"/>
            <a:ext cx="1874520" cy="2926080"/>
          </a:xfrm>
          <a:prstGeom prst="rect">
            <a:avLst/>
          </a:prstGeom>
          <a:solidFill>
            <a:srgbClr val="FFF8F8"/>
          </a:solidFill>
          <a:ln w="19050">
            <a:solidFill>
              <a:srgbClr val="D0232A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7863840" y="1591056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AWS本番VPC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D023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10.238.0.0/16</a:t>
            </a:r>
            <a:endParaRPr lang="en-US" sz="800" dirty="0"/>
          </a:p>
        </p:txBody>
      </p:sp>
      <p:sp>
        <p:nvSpPr>
          <p:cNvPr id="37" name="Shape 32"/>
          <p:cNvSpPr/>
          <p:nvPr/>
        </p:nvSpPr>
        <p:spPr>
          <a:xfrm>
            <a:off x="7680960" y="2834640"/>
            <a:ext cx="182880" cy="0"/>
          </a:xfrm>
          <a:prstGeom prst="line">
            <a:avLst/>
          </a:prstGeom>
          <a:noFill/>
          <a:ln w="19050">
            <a:solidFill>
              <a:srgbClr val="D0232A"/>
            </a:solidFill>
            <a:prstDash val="solid"/>
            <a:tailEnd type="arrow"/>
          </a:ln>
        </p:spPr>
      </p:sp>
      <p:sp>
        <p:nvSpPr>
          <p:cNvPr id="38" name="Shape 33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7936992" y="196596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Bastion(VPN GW)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10.238.2.39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solidFill>
            <a:srgbClr val="FFE8E8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7936992" y="248716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Giftcard管理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10.238.2.198</a:t>
            </a:r>
            <a:endParaRPr lang="en-US" sz="700" dirty="0"/>
          </a:p>
        </p:txBody>
      </p:sp>
      <p:sp>
        <p:nvSpPr>
          <p:cNvPr id="42" name="Shape 37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solidFill>
            <a:srgbClr val="F0FFF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936992" y="3017520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Aurora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700" dirty="0"/>
          </a:p>
        </p:txBody>
      </p:sp>
      <p:sp>
        <p:nvSpPr>
          <p:cNvPr id="44" name="Shape 39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solidFill>
            <a:srgbClr val="EBF5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7936992" y="3538728"/>
            <a:ext cx="1719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(端末→AWS接続)</a:t>
            </a:r>
            <a:endParaRPr lang="en-US" sz="700" dirty="0"/>
          </a:p>
        </p:txBody>
      </p:sp>
      <p:sp>
        <p:nvSpPr>
          <p:cNvPr id="46" name="Shape 41"/>
          <p:cNvSpPr/>
          <p:nvPr/>
        </p:nvSpPr>
        <p:spPr>
          <a:xfrm>
            <a:off x="6492240" y="4206240"/>
            <a:ext cx="1874520" cy="822960"/>
          </a:xfrm>
          <a:prstGeom prst="rect">
            <a:avLst/>
          </a:prstGeom>
          <a:solidFill>
            <a:srgbClr val="F5F8FF"/>
          </a:solidFill>
          <a:ln w="12700">
            <a:solidFill>
              <a:srgbClr val="4488CC"/>
            </a:solidFill>
            <a:prstDash val="dash"/>
          </a:ln>
        </p:spPr>
      </p:sp>
      <p:sp>
        <p:nvSpPr>
          <p:cNvPr id="47" name="Text 42"/>
          <p:cNvSpPr/>
          <p:nvPr/>
        </p:nvSpPr>
        <p:spPr>
          <a:xfrm>
            <a:off x="6492240" y="4224528"/>
            <a:ext cx="1874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STG VPC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10.239.0.0/16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(STG: 10.239.2.4 / 10.239.2.193)</a:t>
            </a:r>
            <a:endParaRPr lang="en-US" sz="700" dirty="0"/>
          </a:p>
        </p:txBody>
      </p:sp>
      <p:sp>
        <p:nvSpPr>
          <p:cNvPr id="48" name="Shape 43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solidFill>
            <a:srgbClr val="F0F8FF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182880" y="45720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LUVINA開発端末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STG:10.239.2.4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PRD:10.238.2.39</a:t>
            </a:r>
            <a:endParaRPr lang="en-US" sz="700" dirty="0"/>
          </a:p>
        </p:txBody>
      </p:sp>
      <p:sp>
        <p:nvSpPr>
          <p:cNvPr id="50" name="Shape 45"/>
          <p:cNvSpPr/>
          <p:nvPr/>
        </p:nvSpPr>
        <p:spPr>
          <a:xfrm>
            <a:off x="1554480" y="4937760"/>
            <a:ext cx="4937760" cy="0"/>
          </a:xfrm>
          <a:prstGeom prst="line">
            <a:avLst/>
          </a:prstGeom>
          <a:noFill/>
          <a:ln w="12700">
            <a:solidFill>
              <a:srgbClr val="4488CC"/>
            </a:solidFill>
            <a:prstDash val="dash"/>
            <a:tailEnd type="arrow"/>
          </a:ln>
        </p:spPr>
      </p:sp>
      <p:sp>
        <p:nvSpPr>
          <p:cNvPr id="51" name="Text 46"/>
          <p:cNvSpPr/>
          <p:nvPr/>
        </p:nvSpPr>
        <p:spPr>
          <a:xfrm>
            <a:off x="3017520" y="475488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48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Client VPN</a:t>
            </a:r>
            <a:endParaRPr lang="en-US" sz="700" dirty="0"/>
          </a:p>
        </p:txBody>
      </p:sp>
      <p:sp>
        <p:nvSpPr>
          <p:cNvPr id="52" name="Text 47"/>
          <p:cNvSpPr/>
          <p:nvPr/>
        </p:nvSpPr>
        <p:spPr>
          <a:xfrm>
            <a:off x="274320" y="566928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Direct ConnectはGateway VPC（別AWSアカウント）で終端後、VPN GatewayでカスミVPCへルーティング。カスミは10Mbps帯域。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9-2. 外部連携 — 通信仕様（NAT変換・通信フロー）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ギフトカード端末↔AFS / ギフト端末↔LuvinaAWS / AWS↔CDSセンタ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solidFill>
            <a:srgbClr val="D0232A"/>
          </a:solidFill>
          <a:ln w="12700">
            <a:solidFill>
              <a:srgbClr val="D0232A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274320" y="1572768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LuvinaAWS環境 → AFSオーソリサーバーへのTCPIP＋ソケット通信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828800"/>
                <a:gridCol w="368503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AFS オーソリサーバー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0D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ギフト端末(本番)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ギフト端末(開発)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192.168.134.70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オーソリサーバー開発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D023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192.168.60.100:1501-1508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solidFill>
            <a:srgbClr val="E8A040"/>
          </a:solidFill>
          <a:ln w="12700">
            <a:solidFill>
              <a:srgbClr val="E8A040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274320" y="2788920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ギフト端末（店頭） → LuvinaAWS環境へのWebAPI通信</a:t>
            </a:r>
            <a:endParaRPr lang="en-US" sz="10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044952"/>
          <a:ext cx="93543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560320"/>
                <a:gridCol w="295351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カスミ端末リソース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USMH側IP（送信元）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カスミ側IP（NAT後送信先）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LuvinaAWS管理サーバー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8C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(MS管理サーバー)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E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ギフト端末(店頭)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10.156.96.214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10.30.120.35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(ST管理サーバー)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AA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AEB"/>
                    </a:solidFill>
                  </a:tcPr>
                </a:tc>
              </a:tr>
            </a:tbl>
          </a:graphicData>
        </a:graphic>
      </p:graphicFrame>
      <p:sp>
        <p:nvSpPr>
          <p:cNvPr id="17" name="Shape 10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solidFill>
            <a:srgbClr val="4488CC"/>
          </a:solidFill>
          <a:ln w="12700">
            <a:solidFill>
              <a:srgbClr val="4488CC"/>
            </a:solidFill>
            <a:prstDash val="solid"/>
          </a:ln>
        </p:spPr>
      </p:sp>
      <p:sp>
        <p:nvSpPr>
          <p:cNvPr id="18" name="Text 11"/>
          <p:cNvSpPr/>
          <p:nvPr/>
        </p:nvSpPr>
        <p:spPr>
          <a:xfrm>
            <a:off x="274320" y="3986784"/>
            <a:ext cx="9354312" cy="2286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LuvinaAWS環境 → NTT DATA様CDSセンタへのインターネット経由SFTP通信</a:t>
            </a:r>
            <a:endParaRPr lang="en-US" sz="1000" dirty="0"/>
          </a:p>
        </p:txBody>
      </p:sp>
      <p:graphicFrame>
        <p:nvGraphicFramePr>
          <p:cNvPr id="4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4242816"/>
          <a:ext cx="935431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401568"/>
                <a:gridCol w="3392424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外部インターネットIP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NTT DATA様リソース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10.238.2.198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(57.182.174.110)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ギフトサーバー本番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8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LuvinaAWS開発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10.239.2.193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GW経由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(STG側IP)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※要確認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ギフトサーバー検証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488C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(IPアドレス未確定)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BFF"/>
                    </a:solidFill>
                  </a:tcPr>
                </a:tc>
              </a:tr>
            </a:tbl>
          </a:graphicData>
        </a:graphic>
      </p:graphicFrame>
      <p:sp>
        <p:nvSpPr>
          <p:cNvPr id="20" name="Text 12"/>
          <p:cNvSpPr/>
          <p:nvPr/>
        </p:nvSpPr>
        <p:spPr>
          <a:xfrm>
            <a:off x="274320" y="5669280"/>
            <a:ext cx="9354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③のNTT DATA様CDSセンタへの送信元IPおよび宛先IPは要確認。NAT GW Public IP: 57.182.174.110（本番）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skills/user/luvina-ppt/assets/decoration_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3904488" cy="2880360"/>
          </a:xfrm>
          <a:prstGeom prst="rect">
            <a:avLst/>
          </a:prstGeom>
        </p:spPr>
      </p:pic>
      <p:pic>
        <p:nvPicPr>
          <p:cNvPr id="3" name="Image 1" descr="/mnt/skills/user/luvina-ppt/assets/luvina_ba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" y="109728"/>
            <a:ext cx="1874520" cy="4663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38912" y="173736"/>
            <a:ext cx="1216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LUVINA</a:t>
            </a:r>
            <a:endParaRPr lang="en-US" sz="1600" dirty="0"/>
          </a:p>
        </p:txBody>
      </p:sp>
      <p:pic>
        <p:nvPicPr>
          <p:cNvPr id="5" name="Image 2" descr="/mnt/skills/user/luvina-ppt/assets/luvina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4" y="109728"/>
            <a:ext cx="932688" cy="46634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0" y="640080"/>
            <a:ext cx="9902952" cy="548640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7" name="Text 2"/>
          <p:cNvSpPr/>
          <p:nvPr/>
        </p:nvSpPr>
        <p:spPr>
          <a:xfrm>
            <a:off x="301752" y="786384"/>
            <a:ext cx="9144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調査結果サマリー — PPTX旧版との差異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93776" y="1307592"/>
            <a:ext cx="8915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2026年3月 AWS CloudShell調査・資料確認に基づく修正点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0" y="6483096"/>
            <a:ext cx="9902952" cy="393192"/>
          </a:xfrm>
          <a:prstGeom prst="rect">
            <a:avLst/>
          </a:prstGeom>
          <a:solidFill>
            <a:srgbClr val="D0232A"/>
          </a:solidFill>
          <a:ln/>
        </p:spPr>
      </p:sp>
      <p:sp>
        <p:nvSpPr>
          <p:cNvPr id="10" name="Text 5"/>
          <p:cNvSpPr/>
          <p:nvPr/>
        </p:nvSpPr>
        <p:spPr>
          <a:xfrm>
            <a:off x="109728" y="6583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917143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2926080"/>
                <a:gridCol w="667512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項目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旧PPTX記載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実際の設定（本資料）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判定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232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DBエンジン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MySQL 8.0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Primary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db.t3.medium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db.r5.2xlarge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Multi-AZ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Proxy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EC2構成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App/Batch Server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Bastion(t3.xlarge)+Giftcard(t2.large)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Lambda Runtime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 17が主体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S3メインバケット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pos-master-prod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prd-ignica-ksm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ALB / WAF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なし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❌修正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USMH接続方式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 Connect（推定）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IPSec VPN + Direct Connect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(Gateway VPC経由→VPN GW)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17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✅確認済み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オーソリ宛先(本番)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192.168.60.10:1501-1508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NAT変換後送信元IP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本番:10.156.96.220 / 開発:10.156.96.221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ギフト端末CIDR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未記載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10.0.0.0/8 (USMH側: 10.156.96.214)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66A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✅新規追加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VPC CIDR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10.238.0.0/16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Transfer Family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あり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3サーバー(VPC/S3/ONLINE)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CloudWatch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設定済み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19アラーム / 全OK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2288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✅一致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ルビナソフトウェア株式会社</dc:creator>
  <cp:lastModifiedBy>ルビナソフトウェア株式会社</cp:lastModifiedBy>
  <cp:revision>1</cp:revision>
  <dcterms:created xsi:type="dcterms:W3CDTF">2026-03-07T19:12:35Z</dcterms:created>
  <dcterms:modified xsi:type="dcterms:W3CDTF">2026-03-07T19:12:35Z</dcterms:modified>
</cp:coreProperties>
</file>