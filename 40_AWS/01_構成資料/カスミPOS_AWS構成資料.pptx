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0" r:id="rId21"/>
    <p:sldId id="267" r:id="rId13"/>
    <p:sldId id="268" r:id="rId14"/>
    <p:sldId id="269" r:id="rId15"/>
  </p:sldIdLst>
  <p:notesMasterIdLst>
    <p:notesMasterId r:id="rId16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</a:t>
            </a:r>
            <a:endParaRPr lang="en-US" sz="3600" dirty="0"/>
          </a:p>
        </p:txBody>
      </p:sp>
      <p:sp>
        <p:nvSpPr>
          <p:cNvPr id="9" name="Text 4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構成資料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Web Services（ap-northeast-1 東京リージョン）　リポジトリ: POS-SERVER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本番環境: https://www.ignicapos.com/login　　STG環境: https://stg.ignicapos.com/login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ルビナソフトウェア株式会社　LUVINA Software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　　Ver0.1（お客様確認中）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本資料の構成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572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669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669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241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10241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全体像・関連システム・環境URL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32004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33101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33101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673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7673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全サービスの配置・レイヤー別構成（実態）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9436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0533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3" name="Text 18"/>
          <p:cNvSpPr/>
          <p:nvPr/>
        </p:nvSpPr>
        <p:spPr>
          <a:xfrm>
            <a:off x="60533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5105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ネットワーク構成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5105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572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669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8" name="Text 23"/>
          <p:cNvSpPr/>
          <p:nvPr/>
        </p:nvSpPr>
        <p:spPr>
          <a:xfrm>
            <a:off x="5669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0241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コンピュート（EC2）設定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10241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 / Giftcard EC2インスタンス仕様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32004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3101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3" name="Text 28"/>
          <p:cNvSpPr/>
          <p:nvPr/>
        </p:nvSpPr>
        <p:spPr>
          <a:xfrm>
            <a:off x="33101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37673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データベース（RDS）設定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37673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 / 2クラスター構成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59436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0533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60533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4"/>
          <p:cNvSpPr/>
          <p:nvPr/>
        </p:nvSpPr>
        <p:spPr>
          <a:xfrm>
            <a:off x="65105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ストレージ（S3）設定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65105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S3バケット構成・実際のバケット一覧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4572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669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3" name="Text 38"/>
          <p:cNvSpPr/>
          <p:nvPr/>
        </p:nvSpPr>
        <p:spPr>
          <a:xfrm>
            <a:off x="5669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10241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サーバーレス（Lambda）設定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10241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Java17主体 21関数構成・ESL連携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32004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33101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8" name="Text 43"/>
          <p:cNvSpPr/>
          <p:nvPr/>
        </p:nvSpPr>
        <p:spPr>
          <a:xfrm>
            <a:off x="33101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9" name="Text 44"/>
          <p:cNvSpPr/>
          <p:nvPr/>
        </p:nvSpPr>
        <p:spPr>
          <a:xfrm>
            <a:off x="37673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監視・運用</a:t>
            </a:r>
            <a:endParaRPr lang="en-US" sz="1100" dirty="0"/>
          </a:p>
        </p:txBody>
      </p:sp>
      <p:sp>
        <p:nvSpPr>
          <p:cNvPr id="50" name="Text 45"/>
          <p:cNvSpPr/>
          <p:nvPr/>
        </p:nvSpPr>
        <p:spPr>
          <a:xfrm>
            <a:off x="37673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/ EventBridgeスケジュール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59436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60533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3" name="Text 48"/>
          <p:cNvSpPr/>
          <p:nvPr/>
        </p:nvSpPr>
        <p:spPr>
          <a:xfrm>
            <a:off x="60533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54" name="Text 49"/>
          <p:cNvSpPr/>
          <p:nvPr/>
        </p:nvSpPr>
        <p:spPr>
          <a:xfrm>
            <a:off x="65105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外部連携（USMH接続詳細）</a:t>
            </a:r>
            <a:endParaRPr lang="en-US" sz="1100" dirty="0"/>
          </a:p>
        </p:txBody>
      </p:sp>
      <p:sp>
        <p:nvSpPr>
          <p:cNvPr id="55" name="Text 50"/>
          <p:cNvSpPr/>
          <p:nvPr/>
        </p:nvSpPr>
        <p:spPr>
          <a:xfrm>
            <a:off x="65105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Connect経路・NAT変換仕様・通信フロー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57200" y="374904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66928" y="387705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8" name="Text 53"/>
          <p:cNvSpPr/>
          <p:nvPr/>
        </p:nvSpPr>
        <p:spPr>
          <a:xfrm>
            <a:off x="566928" y="3877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59" name="Text 54"/>
          <p:cNvSpPr/>
          <p:nvPr/>
        </p:nvSpPr>
        <p:spPr>
          <a:xfrm>
            <a:off x="1024128" y="380390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外部連携ファイル受信→MySQLインポートフロー</a:t>
            </a:r>
            <a:endParaRPr lang="en-US" sz="1100" dirty="0"/>
          </a:p>
        </p:txBody>
      </p:sp>
      <p:sp>
        <p:nvSpPr>
          <p:cNvPr id="60" name="Text 55"/>
          <p:cNvSpPr/>
          <p:nvPr/>
        </p:nvSpPr>
        <p:spPr>
          <a:xfrm>
            <a:off x="1024128" y="405993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OC(基幹/BIPROGY) / SG(POS/VINX) / SH(棚情報/SHARP)　11. OC取込定義（GHマスタ）: GHPLUM(実装済) / GHDISCOUNTM・GHBUNDLEM・GHEVENTM・GMMDSEM(未実装)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 / 関連システム / 環境URL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システム概要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関連システム・環境URL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1554480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カスミ様向け POSシステム（POS-SERVER）は、AWS 東京リージョン（ap-northeast-1）上に構築されたシステムです。Java/Tomcat ベースのアプリケーション、Aurora MySQL 8.0 データベースを中核に、電子棚札（ESL）連携・ギフトカード処理・Scan&amp;Go 機能を提供しています。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475488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48640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48640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コアPOSサーバー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Tomcat 9.x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267712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40864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電子棚札（ESL）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2340864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(Java17)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/ ISHIDA連携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4059936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33088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133088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AFS連携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オーソリ処理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852160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925312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25312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スキャン決済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S3連携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7644384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717536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717536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OC: 基幹(BIPROGY)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POS(VINX)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SH: 棚情報(SHARP)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3456432"/>
          <a:ext cx="895197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66597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環境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本番（Production）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https://www.ignicapos.com/login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ステージング（STG）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https://stg.ignicapos.com/login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実際のAWS設定に基づくレイヤー別構成（2026年3月調査）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AWSアーキテクチャ構成図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ap-northeast-1（東京）実構成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93776" y="1572768"/>
            <a:ext cx="891540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クライアント層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59436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179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カスミ各店舗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POS端末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235732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38475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本社・管理者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4120286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47718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照会ページ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588325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1068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スキャン端末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764621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67364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5" name="Text 20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93776" y="2203704"/>
            <a:ext cx="8915400" cy="347472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28" name="Text 23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エッジ / ネットワーク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4360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21792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Route53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(ignicapos.com)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2798064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2825496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(57.182.174.110)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001768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029200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7205472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232904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→Direct Connect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(USMH網)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493776" y="2724912"/>
            <a:ext cx="8915400" cy="749808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41" name="Text 36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アプリケーション層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594360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621792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Bastion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t3.xlarge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(10.238.2.39)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2798064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2825496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t2.large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(10.238.2.198)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5001768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029200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ESL連携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/ 18関数</a:t>
            </a:r>
            <a:endParaRPr lang="en-US" sz="800" dirty="0"/>
          </a:p>
        </p:txBody>
      </p:sp>
      <p:sp>
        <p:nvSpPr>
          <p:cNvPr id="48" name="Shape 43"/>
          <p:cNvSpPr/>
          <p:nvPr/>
        </p:nvSpPr>
        <p:spPr>
          <a:xfrm>
            <a:off x="7205472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232904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</a:t>
            </a:r>
            <a:endParaRPr lang="en-US" sz="800" dirty="0"/>
          </a:p>
        </p:txBody>
      </p:sp>
      <p:sp>
        <p:nvSpPr>
          <p:cNvPr id="50" name="Shape 45"/>
          <p:cNvSpPr/>
          <p:nvPr/>
        </p:nvSpPr>
        <p:spPr>
          <a:xfrm>
            <a:off x="59436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2179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EventBridge（cron: 00:00 JST P001監視 / 05:30 JST ItemMaster連携）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500634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03377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SQS（trigger-sqs-export/import-sg）</a:t>
            </a:r>
            <a:endParaRPr lang="en-US" sz="800" dirty="0"/>
          </a:p>
        </p:txBody>
      </p:sp>
      <p:sp>
        <p:nvSpPr>
          <p:cNvPr id="54" name="Shape 49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5" name="Text 50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93776" y="3657600"/>
            <a:ext cx="8915400" cy="749808"/>
          </a:xfrm>
          <a:prstGeom prst="rect">
            <a:avLst/>
          </a:prstGeom>
          <a:solidFill>
            <a:srgbClr val="F0FFF0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58" name="Text 53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データ層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59436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2179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235732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238475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3" name="Shape 58"/>
          <p:cNvSpPr/>
          <p:nvPr/>
        </p:nvSpPr>
        <p:spPr>
          <a:xfrm>
            <a:off x="4120286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4147718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588325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591068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7" name="Shape 62"/>
          <p:cNvSpPr/>
          <p:nvPr/>
        </p:nvSpPr>
        <p:spPr>
          <a:xfrm>
            <a:off x="764621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767364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prd-ignica-ksm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(メインバケット)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0" name="Text 65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71" name="Shape 66"/>
          <p:cNvSpPr/>
          <p:nvPr/>
        </p:nvSpPr>
        <p:spPr>
          <a:xfrm>
            <a:off x="493776" y="4590288"/>
            <a:ext cx="8915400" cy="347472"/>
          </a:xfrm>
          <a:prstGeom prst="rect">
            <a:avLst/>
          </a:prstGeom>
          <a:solidFill>
            <a:srgbClr val="F5F0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73" name="Text 68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運用・監視・セキュリティ</a:t>
            </a:r>
            <a:endParaRPr 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59436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2179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(19アラーム)</a:t>
            </a:r>
            <a:endParaRPr lang="en-US" sz="800" dirty="0"/>
          </a:p>
        </p:txBody>
      </p:sp>
      <p:sp>
        <p:nvSpPr>
          <p:cNvPr id="76" name="Shape 71"/>
          <p:cNvSpPr/>
          <p:nvPr/>
        </p:nvSpPr>
        <p:spPr>
          <a:xfrm>
            <a:off x="2063496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2090928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</a:t>
            </a:r>
            <a:endParaRPr lang="en-US" sz="800" dirty="0"/>
          </a:p>
        </p:txBody>
      </p:sp>
      <p:sp>
        <p:nvSpPr>
          <p:cNvPr id="78" name="Shape 73"/>
          <p:cNvSpPr/>
          <p:nvPr/>
        </p:nvSpPr>
        <p:spPr>
          <a:xfrm>
            <a:off x="3532632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3560064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(7シークレット)</a:t>
            </a:r>
            <a:endParaRPr lang="en-US" sz="800" dirty="0"/>
          </a:p>
        </p:txBody>
      </p:sp>
      <p:sp>
        <p:nvSpPr>
          <p:cNvPr id="80" name="Shape 75"/>
          <p:cNvSpPr/>
          <p:nvPr/>
        </p:nvSpPr>
        <p:spPr>
          <a:xfrm>
            <a:off x="5001768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5029200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800" dirty="0"/>
          </a:p>
        </p:txBody>
      </p:sp>
      <p:sp>
        <p:nvSpPr>
          <p:cNvPr id="82" name="Shape 77"/>
          <p:cNvSpPr/>
          <p:nvPr/>
        </p:nvSpPr>
        <p:spPr>
          <a:xfrm>
            <a:off x="6470904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6498336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800" dirty="0"/>
          </a:p>
        </p:txBody>
      </p:sp>
      <p:sp>
        <p:nvSpPr>
          <p:cNvPr id="84" name="Shape 79"/>
          <p:cNvSpPr/>
          <p:nvPr/>
        </p:nvSpPr>
        <p:spPr>
          <a:xfrm>
            <a:off x="794004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796747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</a:t>
            </a:r>
            <a:endParaRPr lang="en-US" sz="800" dirty="0"/>
          </a:p>
        </p:txBody>
      </p:sp>
      <p:sp>
        <p:nvSpPr>
          <p:cNvPr id="86" name="Shape 81"/>
          <p:cNvSpPr/>
          <p:nvPr/>
        </p:nvSpPr>
        <p:spPr>
          <a:xfrm>
            <a:off x="493776" y="4956048"/>
            <a:ext cx="8915400" cy="347472"/>
          </a:xfrm>
          <a:prstGeom prst="rect">
            <a:avLst/>
          </a:prstGeom>
          <a:solidFill>
            <a:srgbClr val="FFF8F0"/>
          </a:solidFill>
          <a:ln w="12700">
            <a:solidFill>
              <a:srgbClr val="CC8844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solidFill>
            <a:srgbClr val="AA6622"/>
          </a:solidFill>
          <a:ln/>
        </p:spPr>
      </p:sp>
      <p:sp>
        <p:nvSpPr>
          <p:cNvPr id="88" name="Text 83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900" dirty="0"/>
          </a:p>
        </p:txBody>
      </p:sp>
      <p:sp>
        <p:nvSpPr>
          <p:cNvPr id="89" name="Shape 84"/>
          <p:cNvSpPr/>
          <p:nvPr/>
        </p:nvSpPr>
        <p:spPr>
          <a:xfrm>
            <a:off x="59436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0" name="Text 85"/>
          <p:cNvSpPr/>
          <p:nvPr/>
        </p:nvSpPr>
        <p:spPr>
          <a:xfrm>
            <a:off x="62179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OC: 基幹データ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BIPROGY/OpenCentral</a:t>
            </a:r>
            <a:endParaRPr lang="en-US" sz="800" dirty="0"/>
          </a:p>
        </p:txBody>
      </p:sp>
      <p:sp>
        <p:nvSpPr>
          <p:cNvPr id="91" name="Shape 86"/>
          <p:cNvSpPr/>
          <p:nvPr/>
        </p:nvSpPr>
        <p:spPr>
          <a:xfrm>
            <a:off x="235732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2" name="Text 87"/>
          <p:cNvSpPr/>
          <p:nvPr/>
        </p:nvSpPr>
        <p:spPr>
          <a:xfrm>
            <a:off x="238475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POSデータ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VINX/PosSserver</a:t>
            </a:r>
            <a:endParaRPr lang="en-US" sz="800" dirty="0"/>
          </a:p>
        </p:txBody>
      </p:sp>
      <p:sp>
        <p:nvSpPr>
          <p:cNvPr id="93" name="Shape 88"/>
          <p:cNvSpPr/>
          <p:nvPr/>
        </p:nvSpPr>
        <p:spPr>
          <a:xfrm>
            <a:off x="4120286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4147718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SH: 棚情報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SHARP/P003</a:t>
            </a:r>
            <a:endParaRPr lang="en-US" sz="800" dirty="0"/>
          </a:p>
        </p:txBody>
      </p:sp>
      <p:sp>
        <p:nvSpPr>
          <p:cNvPr id="95" name="Shape 90"/>
          <p:cNvSpPr/>
          <p:nvPr/>
        </p:nvSpPr>
        <p:spPr>
          <a:xfrm>
            <a:off x="588325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6" name="Text 91"/>
          <p:cNvSpPr/>
          <p:nvPr/>
        </p:nvSpPr>
        <p:spPr>
          <a:xfrm>
            <a:off x="591068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オーソリサーバー</a:t>
            </a:r>
            <a:endParaRPr lang="en-US" sz="800" dirty="0"/>
          </a:p>
        </p:txBody>
      </p:sp>
      <p:sp>
        <p:nvSpPr>
          <p:cNvPr id="97" name="Shape 92"/>
          <p:cNvSpPr/>
          <p:nvPr/>
        </p:nvSpPr>
        <p:spPr>
          <a:xfrm>
            <a:off x="764621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8" name="Text 93"/>
          <p:cNvSpPr/>
          <p:nvPr/>
        </p:nvSpPr>
        <p:spPr>
          <a:xfrm>
            <a:off x="767364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SFTP(3サーバー)</a:t>
            </a:r>
            <a:endParaRPr lang="en-US" sz="800" dirty="0"/>
          </a:p>
        </p:txBody>
      </p:sp>
      <p:sp>
        <p:nvSpPr>
          <p:cNvPr id="99" name="Text 94"/>
          <p:cNvSpPr/>
          <p:nvPr/>
        </p:nvSpPr>
        <p:spPr>
          <a:xfrm>
            <a:off x="493776" y="535838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ALB/WAFは未設置。EC2はBastionとGiftcardの2台。DBはRDS Proxyなし。USMH接続はDirect Connect(Gateway VPC経由)→VPN GW。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ネットワーク構成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USMH接続（IPSec VPN + Direct Connect）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7315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com-posprd-vpc（VPC）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1a+1c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USMH網接続（IPSec VPN + Direct Connect）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651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VPN接続ID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vpn-0ea9b7895f78e4c7e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カスタマーGW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14.224.146.153（USMH側）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BGP ASN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仮想プライベートGW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vgw-06d8981903cf33c62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接続帯域（カスミ）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10Mbps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Connect経路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USMH閉域網→SmartVPN→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Direct Connect(100Mbps)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→Gateway VPC→VPN GW→カスミVPC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CIDR(DB)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172.21.10.0/24 → RDS 3306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CIDR(GW)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10.156.96.0/24 → Giftcard 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CIDR(SFTP)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10.156.96.192/26 → Transfer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365760" y="5166360"/>
            <a:ext cx="9171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VPC（別AWSアカウント）で終端。カスミVPCへはVPN Gatewayで接続。カスミへの帯域は10Mbps。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コンピュート（EC2）/ 5. データベース（RDS）設定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インスタンス仕様・Aurora MySQL 8.0 クラスター構成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インスタンス（2台）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1005840"/>
                <a:gridCol w="640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タイプ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t3.xlarge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t2.large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26517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Bastion=ギフトカード管理サーバー(PRD: 10.238.2.39)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Giftcard=管理サーバー(PRD: 10.238.2.198 / STG: 10.239.2.193)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365760" y="32461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— Aurora MySQL 8.0（2クラスター）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20440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インスタンスID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クラス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役割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365760" y="489204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エンジン: aurora-mysql 8.0.mysql_aurora.3.08.2　|　Multi-AZ: False　|　RDS Proxy: なし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主要セキュリティグループ</a:t>
            </a:r>
            <a:endParaRPr lang="en-US" sz="12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 (UDP 1194 / OpenVPN)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Giftcard (TCP 80←USMH, TCP 3389)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(TCP 3306 ← 172.21.10.0/24)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sg-lmd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 (TCP 22 ← USMH)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sg-ep-ecr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 Endpoint (TCP 443)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sg-ep-cw-logs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 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sg-ep-kms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KMS Endpoint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ECS用（予備）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sg-kasumi-charge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Kasumi Charge用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ストレージ（S3）/ 7. サーバーレス（Lambda）設定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S3バケット構成・Lambda 21関数（Java17主体）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バケット（全11バケット）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バケット名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メインバケット（oc:基幹/sg:POS/sh:棚情報/ログ）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prd-ignica-ksm-master-backup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マスターバックアップ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prd-ignica-ksm-pmlogs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prd-ignica-com-lmd-jar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JARファイル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prd-aeon-gift-card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ギフトカード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prd-ignica-com-configrecord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設定レコード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aws-cloudtrail-logs-*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CloudTrail監査ログ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phongbt-auditor-production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監査用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※「pos-master-prod」は存在しない。実際は「prd-ignica-ksm」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関数（21関数 / ksm-posprd系18 + その他3）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関数名（簡略）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split-csv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create-file-end-for-night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split-txt-by-sent-time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import-pos-master-sh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get-sync-store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sent-email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sent-txt-file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unzip-file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zipfile-polling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export-polling(stg)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trigger-sqs-export-sg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trigger-sqs-import-sg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502920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主ランタイムはJava 17。タイムアウト900s（大半）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監視・運用（CloudWatch / EventBridge / Secrets Manager）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アラーム・スケジュール・シークレット管理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アラーム（19件 / 全OK）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アラーム名（簡略）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状態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db-aborted-clients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db-acu-cluster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db-cpu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db-dml-rejected-writer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db-free-local-storage-replica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db-freeable-memory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db-serverless-capacity-cluster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ec2-audit-log / dnf-log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ec2-messages / secure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ec2-statuscheck (instance/system)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tf-oc / tf-sg (Transfer Family)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定期実行（確認済み）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731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ルール名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スケジュール(UTC)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cron(00 15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00:00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night-export-sg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copy-backup-sg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create-txt-file-sg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receive-pos-master-oc/sg/sh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502920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06:00(ESLDATA)・07:00(レポート)のルールは確認されず</a:t>
            </a:r>
            <a:endParaRPr lang="en-US" sz="800" dirty="0"/>
          </a:p>
        </p:txBody>
      </p:sp>
      <p:sp>
        <p:nvSpPr>
          <p:cNvPr id="16" name="Text 9"/>
          <p:cNvSpPr/>
          <p:nvPr/>
        </p:nvSpPr>
        <p:spPr>
          <a:xfrm>
            <a:off x="5029200" y="4187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StepFunctions: 7SM (oc系×3 / sg系×2 / sh系×1 / 共通sent-txt-file×1)  SQS: 2 FIFOキュー (sg専用)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44622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FARGATE: OC=posprd-cluster(TaskDef:oc-export-data:2, HB:300s) / SG=ksm-posprd-ecs-cluster(TaskDef:sg-export-data:5, HB/TO:2400s)  SM QueryLang: JSONata</a:t>
            </a:r>
            <a:endParaRPr lang="en-US" sz="800" dirty="0"/>
          </a:p>
        </p:txBody>
      </p:sp>
      <p:sp>
        <p:nvSpPr>
          <p:cNvPr id="18" name="Text 11"/>
          <p:cNvSpPr/>
          <p:nvPr/>
        </p:nvSpPr>
        <p:spPr>
          <a:xfrm>
            <a:off x="50292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Manager（7件）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4480560"/>
          <a:ext cx="4572000" cy="914400"/>
        </p:xfrm>
        <a:graphic>
          <a:graphicData uri="http://schemas.openxmlformats.org/drawingml/2006/table">
            <a:tbl>
              <a:tblPr/>
              <a:tblGrid>
                <a:gridCol w="45720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シークレット名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ksm-posprd-sm-sftp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prd/Mail_Kasumi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prd/Batch_Kasumi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prd/Replica_Kasumi_RO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外部連携ファイル受信 → MySQL インポートフロー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pos-original/ の3系統（OC / SG / SH）を Aurora MySQL へインポート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481328"/>
            <a:ext cx="2944368" cy="256032"/>
          </a:xfrm>
          <a:prstGeom prst="rect">
            <a:avLst/>
          </a:prstGeom>
          <a:solidFill>
            <a:srgbClr val="1E6E9F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 フロー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274320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310896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6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基幹データ / BIPROGY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74320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10896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undefined</a:t>
            </a:r>
            <a:endParaRPr lang="en-US" sz="750" dirty="0"/>
          </a:p>
        </p:txBody>
      </p:sp>
      <p:sp>
        <p:nvSpPr>
          <p:cNvPr id="17" name="Shape 12"/>
          <p:cNvSpPr/>
          <p:nvPr/>
        </p:nvSpPr>
        <p:spPr>
          <a:xfrm>
            <a:off x="274320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10896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EB: *.END着地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receive-pos-master-oc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274320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10896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① receive-pos-master-oc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split-csv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[Parallel]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①backup-file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②Map: create-file-end(.ENDIMPORT生成)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274320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10896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② import-pos-master-oc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oc-import-data:$LATEST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Replica_Kasumi.41_P001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Catch: DBConnectionException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  S3DownloadException</a:t>
            </a:r>
            <a:endParaRPr lang="en-US" sz="750" dirty="0"/>
          </a:p>
        </p:txBody>
      </p:sp>
      <p:sp>
        <p:nvSpPr>
          <p:cNvPr id="23" name="Shape 18"/>
          <p:cNvSpPr/>
          <p:nvPr/>
        </p:nvSpPr>
        <p:spPr>
          <a:xfrm>
            <a:off x="274320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10896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③ create-txt-file-oc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get-sync-store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FARGATE: oc-export-data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Cluster: posprd-cluster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TaskDef: oc-export-data:2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Heartbeat: 300s</a:t>
            </a:r>
            <a:endParaRPr lang="en-US" sz="750" dirty="0"/>
          </a:p>
        </p:txBody>
      </p:sp>
      <p:sp>
        <p:nvSpPr>
          <p:cNvPr id="25" name="Shape 20"/>
          <p:cNvSpPr/>
          <p:nvPr/>
        </p:nvSpPr>
        <p:spPr>
          <a:xfrm>
            <a:off x="274320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0896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Lambda: split-txt-by-sent-time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(TXT分割+EBスケジュール生成)</a:t>
            </a:r>
            <a:endParaRPr lang="en-US" sz="750" dirty="0"/>
          </a:p>
        </p:txBody>
      </p:sp>
      <p:sp>
        <p:nvSpPr>
          <p:cNvPr id="27" name="Shape 22"/>
          <p:cNvSpPr/>
          <p:nvPr/>
        </p:nvSpPr>
        <p:spPr>
          <a:xfrm>
            <a:off x="274320" y="47823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10896" y="47914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④ sent-txt-file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get-sync-store(Retry:なし)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sent-txt-file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FTP先: SftpHost/Port/User/Pass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(DB動的取得)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backup-file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310896" y="5065776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Subnet: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subnet-0d125718b8c5c5a23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subnet-030f7db5506682c07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sg-053d249f0086f8733</a:t>
            </a:r>
            <a:endParaRPr lang="en-US" sz="650" dirty="0"/>
          </a:p>
        </p:txBody>
      </p:sp>
      <p:sp>
        <p:nvSpPr>
          <p:cNvPr id="30" name="Shape 25"/>
          <p:cNvSpPr/>
          <p:nvPr/>
        </p:nvSpPr>
        <p:spPr>
          <a:xfrm>
            <a:off x="274320" y="5449824"/>
            <a:ext cx="2944368" cy="402336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310896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Replica_Kasumi: 41_P001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274320" y="5779008"/>
            <a:ext cx="2944368" cy="228600"/>
          </a:xfrm>
          <a:prstGeom prst="rect">
            <a:avLst/>
          </a:prstGeom>
          <a:solidFill>
            <a:srgbClr val="1E6E9F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310896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SHOHIN.TXT → BOX-PC FTP</a:t>
            </a:r>
            <a:endParaRPr lang="en-US" sz="750" dirty="0"/>
          </a:p>
        </p:txBody>
      </p:sp>
      <p:sp>
        <p:nvSpPr>
          <p:cNvPr id="34" name="Shape 29"/>
          <p:cNvSpPr/>
          <p:nvPr/>
        </p:nvSpPr>
        <p:spPr>
          <a:xfrm>
            <a:off x="3401568" y="1481328"/>
            <a:ext cx="2944368" cy="25603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3401568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フロー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3401568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3438144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POSデータ / VINX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3401568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438144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undefined</a:t>
            </a:r>
            <a:endParaRPr lang="en-US" sz="750" dirty="0"/>
          </a:p>
        </p:txBody>
      </p:sp>
      <p:sp>
        <p:nvSpPr>
          <p:cNvPr id="40" name="Shape 35"/>
          <p:cNvSpPr/>
          <p:nvPr/>
        </p:nvSpPr>
        <p:spPr>
          <a:xfrm>
            <a:off x="3401568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438144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EB: *.ZIP着地 → Lambda: trigger-sqs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SQS: store-code-queue.fifo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receive-and-import-sg</a:t>
            </a:r>
            <a:endParaRPr lang="en-US" sz="750" dirty="0"/>
          </a:p>
        </p:txBody>
      </p:sp>
      <p:sp>
        <p:nvSpPr>
          <p:cNvPr id="42" name="Shape 37"/>
          <p:cNvSpPr/>
          <p:nvPr/>
        </p:nvSpPr>
        <p:spPr>
          <a:xfrm>
            <a:off x="3401568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3438144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① receive-and-import-sg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unzip-file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LogStream: object.etag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[Parallel]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①backup-file(エラー→SQS del)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②Map: sg-import-data:$LATEST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(エラー→SQS del)</a:t>
            </a:r>
            <a:endParaRPr lang="en-US" sz="750" dirty="0"/>
          </a:p>
        </p:txBody>
      </p:sp>
      <p:sp>
        <p:nvSpPr>
          <p:cNvPr id="44" name="Shape 39"/>
          <p:cNvSpPr/>
          <p:nvPr/>
        </p:nvSpPr>
        <p:spPr>
          <a:xfrm>
            <a:off x="3401568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438144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Replica_Kasumi: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11_ItemMaster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13_SpecialPriceMaster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16_ForcePriceMaster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.ENDEXPORT生成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SQS: export-queue.fifo</a:t>
            </a:r>
            <a:endParaRPr lang="en-US" sz="750" dirty="0"/>
          </a:p>
        </p:txBody>
      </p:sp>
      <p:sp>
        <p:nvSpPr>
          <p:cNvPr id="46" name="Shape 41"/>
          <p:cNvSpPr/>
          <p:nvPr/>
        </p:nvSpPr>
        <p:spPr>
          <a:xfrm>
            <a:off x="3401568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3438144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② create-txt-file-sg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get-sync-store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FARGATE: sg-export-data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Cluster: ksm-posprd-ecs-cluster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★OCと別クラスター★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TaskDef: sg-export-data:5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Heartbeat/Timeout: 2400s</a:t>
            </a:r>
            <a:endParaRPr lang="en-US" sz="750" dirty="0"/>
          </a:p>
        </p:txBody>
      </p:sp>
      <p:sp>
        <p:nvSpPr>
          <p:cNvPr id="48" name="Shape 43"/>
          <p:cNvSpPr/>
          <p:nvPr/>
        </p:nvSpPr>
        <p:spPr>
          <a:xfrm>
            <a:off x="3401568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438144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ECS env: DB_BATCH=prd/Batch_Kasumi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    DB_KASUMI=prd/Replica_Kasumi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split-txt-by-sent-time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成功/失敗 全てSQS deleteMessage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(export-queue-sg.fifo)</a:t>
            </a:r>
            <a:endParaRPr lang="en-US" sz="750" dirty="0"/>
          </a:p>
        </p:txBody>
      </p:sp>
      <p:sp>
        <p:nvSpPr>
          <p:cNvPr id="50" name="Shape 45"/>
          <p:cNvSpPr/>
          <p:nvPr/>
        </p:nvSpPr>
        <p:spPr>
          <a:xfrm>
            <a:off x="3401568" y="47823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438144" y="47914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③ sent-txt-file（OC/SGで共用）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FTP情報: get-sync-storeから動的取得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(SftpHost/Port/UserName/Password)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送信後: backup-file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Log: /pos/log/sent/all|error</a:t>
            </a:r>
            <a:endParaRPr lang="en-US" sz="750" dirty="0"/>
          </a:p>
        </p:txBody>
      </p:sp>
      <p:sp>
        <p:nvSpPr>
          <p:cNvPr id="52" name="Text 47"/>
          <p:cNvSpPr/>
          <p:nvPr/>
        </p:nvSpPr>
        <p:spPr>
          <a:xfrm>
            <a:off x="3438144" y="5065776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 deleteMessage: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全エラーパスと成功時に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export-queue-sg.fifoから削除</a:t>
            </a:r>
            <a:endParaRPr lang="en-US" sz="650" dirty="0"/>
          </a:p>
        </p:txBody>
      </p:sp>
      <p:sp>
        <p:nvSpPr>
          <p:cNvPr id="53" name="Shape 48"/>
          <p:cNvSpPr/>
          <p:nvPr/>
        </p:nvSpPr>
        <p:spPr>
          <a:xfrm>
            <a:off x="3401568" y="5449824"/>
            <a:ext cx="2944368" cy="402336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3438144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Replica_Kasumi: 11/13/16</a:t>
            </a:r>
            <a:endParaRPr lang="en-US" sz="750" dirty="0"/>
          </a:p>
        </p:txBody>
      </p:sp>
      <p:sp>
        <p:nvSpPr>
          <p:cNvPr id="55" name="Shape 50"/>
          <p:cNvSpPr/>
          <p:nvPr/>
        </p:nvSpPr>
        <p:spPr>
          <a:xfrm>
            <a:off x="3401568" y="5779008"/>
            <a:ext cx="2944368" cy="2286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3438144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ESLDATA.TXT → BOX-PC FTP</a:t>
            </a:r>
            <a:endParaRPr lang="en-US" sz="750" dirty="0"/>
          </a:p>
        </p:txBody>
      </p:sp>
      <p:sp>
        <p:nvSpPr>
          <p:cNvPr id="57" name="Shape 52"/>
          <p:cNvSpPr/>
          <p:nvPr/>
        </p:nvSpPr>
        <p:spPr>
          <a:xfrm>
            <a:off x="6528816" y="1481328"/>
            <a:ext cx="2944368" cy="256032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6528816" y="148132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フロー</a:t>
            </a:r>
            <a:endParaRPr lang="en-US" sz="1050" dirty="0"/>
          </a:p>
        </p:txBody>
      </p:sp>
      <p:sp>
        <p:nvSpPr>
          <p:cNvPr id="59" name="Shape 54"/>
          <p:cNvSpPr/>
          <p:nvPr/>
        </p:nvSpPr>
        <p:spPr>
          <a:xfrm>
            <a:off x="6528816" y="1764792"/>
            <a:ext cx="2944368" cy="384048"/>
          </a:xfrm>
          <a:prstGeom prst="rect">
            <a:avLst/>
          </a:prstGeom>
          <a:solidFill>
            <a:srgbClr val="EBF5FB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565392" y="1783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棚情報 / SHARP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6528816" y="2176272"/>
            <a:ext cx="2944368" cy="36576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6565392" y="2194560"/>
            <a:ext cx="2871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undefined</a:t>
            </a:r>
            <a:endParaRPr lang="en-US" sz="750" dirty="0"/>
          </a:p>
        </p:txBody>
      </p:sp>
      <p:sp>
        <p:nvSpPr>
          <p:cNvPr id="63" name="Shape 58"/>
          <p:cNvSpPr/>
          <p:nvPr/>
        </p:nvSpPr>
        <p:spPr>
          <a:xfrm>
            <a:off x="6528816" y="2569464"/>
            <a:ext cx="2944368" cy="347472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6565392" y="258775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EB: *.END着地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SF: import-pos-master-sh</a:t>
            </a:r>
            <a:endParaRPr lang="en-US" sz="750" dirty="0"/>
          </a:p>
        </p:txBody>
      </p:sp>
      <p:sp>
        <p:nvSpPr>
          <p:cNvPr id="65" name="Shape 60"/>
          <p:cNvSpPr/>
          <p:nvPr/>
        </p:nvSpPr>
        <p:spPr>
          <a:xfrm>
            <a:off x="6528816" y="29535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6565392" y="29626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① import-pos-master-sh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lmd-import-pos-master-sh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★他は lmd-function-xxx★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★store_code = 'None'(固定)★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table_name: path[3]</a:t>
            </a:r>
            <a:endParaRPr lang="en-US" sz="750" dirty="0"/>
          </a:p>
        </p:txBody>
      </p:sp>
      <p:sp>
        <p:nvSpPr>
          <p:cNvPr id="67" name="Shape 62"/>
          <p:cNvSpPr/>
          <p:nvPr/>
        </p:nvSpPr>
        <p:spPr>
          <a:xfrm>
            <a:off x="6528816" y="34107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6565392" y="34198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Catch: DBConnectionException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  S3DownloadException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  States.ALL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Replica_Kasumi.41_P001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INSERT/UPDATE</a:t>
            </a:r>
            <a:endParaRPr lang="en-US" sz="750" dirty="0"/>
          </a:p>
        </p:txBody>
      </p:sp>
      <p:sp>
        <p:nvSpPr>
          <p:cNvPr id="69" name="Shape 64"/>
          <p:cNvSpPr/>
          <p:nvPr/>
        </p:nvSpPr>
        <p:spPr>
          <a:xfrm>
            <a:off x="6528816" y="3867912"/>
            <a:ext cx="2944368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6565392" y="38770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Batch_Kasumi.batch_convert_history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backup-file（内部処理）</a:t>
            </a:r>
            <a:endParaRPr lang="en-US" sz="750" dirty="0"/>
          </a:p>
        </p:txBody>
      </p:sp>
      <p:sp>
        <p:nvSpPr>
          <p:cNvPr id="71" name="Shape 66"/>
          <p:cNvSpPr/>
          <p:nvPr/>
        </p:nvSpPr>
        <p:spPr>
          <a:xfrm>
            <a:off x="6528816" y="4325112"/>
            <a:ext cx="2944368" cy="429768"/>
          </a:xfrm>
          <a:prstGeom prst="rect">
            <a:avLst/>
          </a:prstGeom>
          <a:solidFill>
            <a:srgbClr val="E8F8E8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2" name="Text 67"/>
          <p:cNvSpPr/>
          <p:nvPr/>
        </p:nvSpPr>
        <p:spPr>
          <a:xfrm>
            <a:off x="6565392" y="4334256"/>
            <a:ext cx="28712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※ TXTエクスポートなし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BOX-PC送信なし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作成日: 2026-01-13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(OC/SGより後に追加)</a:t>
            </a:r>
            <a:endParaRPr lang="en-US" sz="750" dirty="0"/>
          </a:p>
        </p:txBody>
      </p:sp>
      <p:sp>
        <p:nvSpPr>
          <p:cNvPr id="73" name="Text 68"/>
          <p:cNvSpPr/>
          <p:nvPr/>
        </p:nvSpPr>
        <p:spPr>
          <a:xfrm>
            <a:off x="6565392" y="5065776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は import のみ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ECS不使用 / SQS不使用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store_codeなし（全店舗共通）</a:t>
            </a:r>
            <a:endParaRPr lang="en-US" sz="650" dirty="0"/>
          </a:p>
        </p:txBody>
      </p:sp>
      <p:sp>
        <p:nvSpPr>
          <p:cNvPr id="74" name="Shape 69"/>
          <p:cNvSpPr/>
          <p:nvPr/>
        </p:nvSpPr>
        <p:spPr>
          <a:xfrm>
            <a:off x="6528816" y="5449824"/>
            <a:ext cx="2944368" cy="402336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565392" y="5321808"/>
            <a:ext cx="2871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 Replica_Kasumi: 41_P001</a:t>
            </a:r>
            <a:endParaRPr lang="en-US" sz="750" dirty="0"/>
          </a:p>
        </p:txBody>
      </p:sp>
      <p:sp>
        <p:nvSpPr>
          <p:cNvPr id="76" name="Shape 71"/>
          <p:cNvSpPr/>
          <p:nvPr/>
        </p:nvSpPr>
        <p:spPr>
          <a:xfrm>
            <a:off x="6528816" y="5779008"/>
            <a:ext cx="2944368" cy="228600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6565392" y="5779008"/>
            <a:ext cx="2871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出力: （送信なし）</a:t>
            </a:r>
            <a:endParaRPr lang="en-US" sz="750" dirty="0"/>
          </a:p>
        </p:txBody>
      </p:sp>
      <p:sp>
        <p:nvSpPr>
          <p:cNvPr id="78" name="Text 73"/>
          <p:cNvSpPr/>
          <p:nvPr/>
        </p:nvSpPr>
        <p:spPr>
          <a:xfrm>
            <a:off x="274320" y="6144768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BOX-PC FTP送信先: PRD=10.156.96.210 / STG=10.156.96.211  |  FTP ID/PW: ishida/ishida  |  Sent path: /{store_code 5char}/Recv/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9-1. 外部連携 — USMH閉域網とLUVINA AWS環境の接続構成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Connect(100Mbps) → Gateway VPC → VPN GW → カスミ本番VPC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solidFill>
            <a:srgbClr val="FFE8E8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10Mbps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マルエツ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いなげや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50Mbps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MV関東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100Mbps(BE)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137160" y="1627632"/>
            <a:ext cx="1371600" cy="2606040"/>
          </a:xfrm>
          <a:prstGeom prst="rect">
            <a:avLst/>
          </a:prstGeom>
          <a:solidFill>
            <a:srgbClr val="000000"/>
          </a:solidFill>
          <a:ln w="12700">
            <a:solidFill>
              <a:srgbClr val="888888"/>
            </a:solidFill>
            <a:prstDash val="dash"/>
          </a:ln>
        </p:spPr>
      </p:sp>
      <p:sp>
        <p:nvSpPr>
          <p:cNvPr id="20" name="Text 15"/>
          <p:cNvSpPr/>
          <p:nvPr/>
        </p:nvSpPr>
        <p:spPr>
          <a:xfrm>
            <a:off x="137160" y="16459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USMH閉域網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1828800" y="2606040"/>
            <a:ext cx="1005840" cy="457200"/>
          </a:xfrm>
          <a:prstGeom prst="rect">
            <a:avLst/>
          </a:prstGeom>
          <a:solidFill>
            <a:srgbClr val="F5F5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865376" y="2642616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SmartVPN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1508760" y="2834640"/>
            <a:ext cx="32004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24" name="Shape 19"/>
          <p:cNvSpPr/>
          <p:nvPr/>
        </p:nvSpPr>
        <p:spPr>
          <a:xfrm>
            <a:off x="3108960" y="2487168"/>
            <a:ext cx="1371600" cy="6858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145536" y="2523744"/>
            <a:ext cx="12984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Direct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2834640" y="2834640"/>
            <a:ext cx="27432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27" name="Shape 22"/>
          <p:cNvSpPr/>
          <p:nvPr/>
        </p:nvSpPr>
        <p:spPr>
          <a:xfrm>
            <a:off x="4663440" y="2103120"/>
            <a:ext cx="1645920" cy="1371600"/>
          </a:xfrm>
          <a:prstGeom prst="rect">
            <a:avLst/>
          </a:prstGeom>
          <a:solidFill>
            <a:srgbClr val="F0FAFF"/>
          </a:solidFill>
          <a:ln w="19050">
            <a:solidFill>
              <a:srgbClr val="4488CC"/>
            </a:solidFill>
            <a:prstDash val="dash"/>
          </a:ln>
        </p:spPr>
      </p:sp>
      <p:sp>
        <p:nvSpPr>
          <p:cNvPr id="28" name="Text 23"/>
          <p:cNvSpPr/>
          <p:nvPr/>
        </p:nvSpPr>
        <p:spPr>
          <a:xfrm>
            <a:off x="4663440" y="212140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（別AWSアカウント）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4800600" y="2487168"/>
            <a:ext cx="137160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837176" y="252374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/ GW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4480560" y="2834640"/>
            <a:ext cx="32004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32" name="Shape 27"/>
          <p:cNvSpPr/>
          <p:nvPr/>
        </p:nvSpPr>
        <p:spPr>
          <a:xfrm>
            <a:off x="6309360" y="2834640"/>
            <a:ext cx="27432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3" name="Shape 28"/>
          <p:cNvSpPr/>
          <p:nvPr/>
        </p:nvSpPr>
        <p:spPr>
          <a:xfrm>
            <a:off x="6583680" y="2487168"/>
            <a:ext cx="109728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620256" y="252374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(vgw-06d8981903cf33c62)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7863840" y="1572768"/>
            <a:ext cx="1874520" cy="2926080"/>
          </a:xfrm>
          <a:prstGeom prst="rect">
            <a:avLst/>
          </a:prstGeom>
          <a:solidFill>
            <a:srgbClr val="FFF8F8"/>
          </a:solidFill>
          <a:ln w="19050">
            <a:solidFill>
              <a:srgbClr val="D0232A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863840" y="159105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AWS本番VPC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10.238.0.0/16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680960" y="2834640"/>
            <a:ext cx="18288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8" name="Shape 33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Bastion(VPN GW)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10.238.2.39</a:t>
            </a:r>
            <a:endParaRPr lang="en-US" sz="700" dirty="0"/>
          </a:p>
        </p:txBody>
      </p:sp>
      <p:sp>
        <p:nvSpPr>
          <p:cNvPr id="40" name="Shape 35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Giftcard管理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10.238.2.198</a:t>
            </a:r>
            <a:endParaRPr lang="en-US" sz="700" dirty="0"/>
          </a:p>
        </p:txBody>
      </p:sp>
      <p:sp>
        <p:nvSpPr>
          <p:cNvPr id="42" name="Shape 37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Aurora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700" dirty="0"/>
          </a:p>
        </p:txBody>
      </p:sp>
      <p:sp>
        <p:nvSpPr>
          <p:cNvPr id="44" name="Shape 39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solidFill>
            <a:srgbClr val="EBF5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(端末→AWS接続)</a:t>
            </a:r>
            <a:endParaRPr lang="en-US" sz="700" dirty="0"/>
          </a:p>
        </p:txBody>
      </p:sp>
      <p:sp>
        <p:nvSpPr>
          <p:cNvPr id="46" name="Shape 41"/>
          <p:cNvSpPr/>
          <p:nvPr/>
        </p:nvSpPr>
        <p:spPr>
          <a:xfrm>
            <a:off x="6492240" y="4206240"/>
            <a:ext cx="1874520" cy="822960"/>
          </a:xfrm>
          <a:prstGeom prst="rect">
            <a:avLst/>
          </a:prstGeom>
          <a:solidFill>
            <a:srgbClr val="F5F8FF"/>
          </a:solidFill>
          <a:ln w="12700">
            <a:solidFill>
              <a:srgbClr val="4488CC"/>
            </a:solidFill>
            <a:prstDash val="dash"/>
          </a:ln>
        </p:spPr>
      </p:sp>
      <p:sp>
        <p:nvSpPr>
          <p:cNvPr id="47" name="Text 42"/>
          <p:cNvSpPr/>
          <p:nvPr/>
        </p:nvSpPr>
        <p:spPr>
          <a:xfrm>
            <a:off x="6492240" y="4224528"/>
            <a:ext cx="1874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STG VPC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10.239.0.0/16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(STG: 10.239.2.4 / 10.239.2.193)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LUVINA開発端末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STG:10.239.2.4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PRD:10.238.2.39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1554480" y="4937760"/>
            <a:ext cx="4937760" cy="0"/>
          </a:xfrm>
          <a:prstGeom prst="line">
            <a:avLst/>
          </a:prstGeom>
          <a:noFill/>
          <a:ln w="12700">
            <a:solidFill>
              <a:srgbClr val="4488CC"/>
            </a:solidFill>
            <a:prstDash val="dash"/>
            <a:tailEnd type="arrow"/>
          </a:ln>
        </p:spPr>
      </p:sp>
      <p:sp>
        <p:nvSpPr>
          <p:cNvPr id="51" name="Text 46"/>
          <p:cNvSpPr/>
          <p:nvPr/>
        </p:nvSpPr>
        <p:spPr>
          <a:xfrm>
            <a:off x="3017520" y="4754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</p:txBody>
      </p:sp>
      <p:sp>
        <p:nvSpPr>
          <p:cNvPr id="52" name="Text 47"/>
          <p:cNvSpPr/>
          <p:nvPr/>
        </p:nvSpPr>
        <p:spPr>
          <a:xfrm>
            <a:off x="274320" y="566928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VPC（別AWSアカウント）で終端後、VPN GatewayでカスミVPCへルーティング。カスミは10Mbps帯域。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9-2. 外部連携 — 通信仕様（NAT変換・通信フロー）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ギフトカード端末↔AFS / ギフト端末↔LuvinaAWS / AWS↔CDSセンタ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LuvinaAWS環境 → AFSオーソリサーバーへのTCPIP＋ソケット通信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36850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AFS オーソリサーバー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ギフト端末(本番)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ギフト端末(開発)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solidFill>
            <a:srgbClr val="E8A040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ギフト端末（店頭） → LuvinaAWS環境へのWebAPI通信</a:t>
            </a:r>
            <a:endParaRPr lang="en-US" sz="10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044952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560320"/>
                <a:gridCol w="295351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カスミ端末リソース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カスミ側IP（NAT後送信先）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LuvinaAWS管理サーバー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(MS管理サーバー)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</a:tr>
            </a:tbl>
          </a:graphicData>
        </a:graphic>
      </p:graphicFrame>
      <p:sp>
        <p:nvSpPr>
          <p:cNvPr id="17" name="Shape 10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solidFill>
            <a:srgbClr val="4488CC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LuvinaAWS環境 → NTT DATA様CDSセンタへのインターネット経由SFTP通信</a:t>
            </a:r>
            <a:endParaRPr lang="en-US" sz="1000" dirty="0"/>
          </a:p>
        </p:txBody>
      </p:sp>
      <p:graphicFrame>
        <p:nvGraphicFramePr>
          <p:cNvPr id="4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242816"/>
          <a:ext cx="935431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401568"/>
                <a:gridCol w="3392424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外部インターネットIP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NTT DATA様リソース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(57.182.174.110)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(STG側IP)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ギフトサーバー検証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</a:tbl>
          </a:graphicData>
        </a:graphic>
      </p:graphicFrame>
      <p:sp>
        <p:nvSpPr>
          <p:cNvPr id="20" name="Text 12"/>
          <p:cNvSpPr/>
          <p:nvPr/>
        </p:nvSpPr>
        <p:spPr>
          <a:xfrm>
            <a:off x="274320" y="5669280"/>
            <a:ext cx="9354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③のNTT DATA様CDSセンタへの送信元IPおよび宛先IPは要確認。NAT GW Public IP: 57.182.174.110（本番）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調査結果サマリー — PPTX旧版との差異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 AWS CloudShell調査・資料確認に基づく修正点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91714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2926080"/>
                <a:gridCol w="66751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旧PPTX記載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実際の設定（本資料）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DBエンジン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 MySQL 8.0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Primary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Multi-AZ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Proxy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EC2構成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App/Batch Server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Bastion(t3.xlarge)+Giftcard(t2.large)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17が主体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S3メインバケット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pos-master-prod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 / WAF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USMH接続方式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Connect（推定）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IPSec VPN + Direct Connect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(Gateway VPC経由→VPN GW)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✅確認済み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オーソリ宛先(本番)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NAT変換後送信元IP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本番:10.156.96.220 / 開発:10.156.96.221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 (USMH側: 10.156.96.214)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3サーバー(VPC/S3/ONLINE)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19アラーム / 全OK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OC取込定義 — GHマスタ取込テーブル一覧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外部連携（BIPROGY/OpenCentral）→ Replica_Kasumi_CHK 取込テーブル（5種類）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GH取込テーブル一覧（取込順）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テーブル名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内容・主キー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01_GHPLUM  ✅実装済み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PLU/商品マスタ  PK: STR_ID + SCAN_ID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02_GHDISCOUNTM  【未実装】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特売値引マスタ  PK: STR_ID + EVNT_NBR + MBR_FG + PLU_ID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03_GHBUNDLEM  【未実装】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組合せ(M&amp;M)マスタ  PK: STR_ID + EVNT_NBR + PLU_ID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04_GHEVENTM  【未実装】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企画マスタ  PK: STR_ID + EVNT_NBR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05_GMMDSEM  【未実装】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商品階層マスタ  PK: STR_ID + MDSE_NBR1〜6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41_P001 は別途 OC フローで使用（PRD Aurora 実装済み）  開発環境テーブル名: MST_プレフィックス付き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01_GHPLUM 主要カラム定義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カラム名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型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内容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STR_ID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店舗コード (PK)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SCAN_ID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varchar(24)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スキャンコード (PK)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PLU_ID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varchar(24)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商品コード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DSPL_DESCR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varchar(40)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単品名称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DCPT_DESCR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varchar(20)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レシート記述名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RTL_PRC NV_CD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売価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UNT_CST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decimal(9,2)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単位原価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REG_PRC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定価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GSFD_MBR_PRC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会員価格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PRCS_TYP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varchar(1)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処理区分（A:登録/U:更新/D:削除）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PRCS_FG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varchar(1)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処理フラグ（0:未処理）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P_SCAN_ID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varchar(24)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販売コード（親JAN）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TAXBLTY_CD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税種別コード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SCAN_TYP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smallint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PLUタイプ（0:JAN-13/1:EAN-13...）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PRCS_DT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varchar(8)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処理日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RCV_DT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varchar(8)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受信日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502920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取込順序: 01→02→03→04→05  /  02〜05 は将来実装予定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2026-03-07T19:30:33Z</dcterms:created>
  <dcterms:modified xsi:type="dcterms:W3CDTF">2026-03-07T19:30:33Z</dcterms:modified>
</cp:coreProperties>
</file>