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61" r:id="rId5"/>
  </p:sldIdLst>
  <p:sldSz cx="12192000" cy="6858000"/>
  <p:notesSz cx="6877050" cy="100028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D53F22"/>
    <a:srgbClr val="EF3F22"/>
    <a:srgbClr val="EF4023"/>
    <a:srgbClr val="99CCFF"/>
    <a:srgbClr val="C5D8E9"/>
    <a:srgbClr val="FF3300"/>
    <a:srgbClr val="FFFFCC"/>
    <a:srgbClr val="E9560D"/>
    <a:srgbClr val="CE4D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156A1D-DDF5-450F-91AB-FA70E0589BDB}" v="1" dt="2025-06-03T06:44:33.8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904" autoAdjust="0"/>
    <p:restoredTop sz="95867" autoAdjust="0"/>
  </p:normalViewPr>
  <p:slideViewPr>
    <p:cSldViewPr snapToGrid="0">
      <p:cViewPr varScale="1">
        <p:scale>
          <a:sx n="102" d="100"/>
          <a:sy n="102" d="100"/>
        </p:scale>
        <p:origin x="1476" y="318"/>
      </p:cViewPr>
      <p:guideLst/>
    </p:cSldViewPr>
  </p:slideViewPr>
  <p:outlineViewPr>
    <p:cViewPr>
      <p:scale>
        <a:sx n="33" d="100"/>
        <a:sy n="33" d="100"/>
      </p:scale>
      <p:origin x="0" y="-2562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新川 太陽" userId="12bc61ad-d6d0-41e2-af59-cbf405dca161" providerId="ADAL" clId="{AF156A1D-DDF5-450F-91AB-FA70E0589BDB}"/>
    <pc:docChg chg="addSld delSld modSld">
      <pc:chgData name="新川 太陽" userId="12bc61ad-d6d0-41e2-af59-cbf405dca161" providerId="ADAL" clId="{AF156A1D-DDF5-450F-91AB-FA70E0589BDB}" dt="2025-06-03T06:46:15.888" v="46" actId="207"/>
      <pc:docMkLst>
        <pc:docMk/>
      </pc:docMkLst>
      <pc:sldChg chg="del">
        <pc:chgData name="新川 太陽" userId="12bc61ad-d6d0-41e2-af59-cbf405dca161" providerId="ADAL" clId="{AF156A1D-DDF5-450F-91AB-FA70E0589BDB}" dt="2025-06-03T06:44:36.037" v="1" actId="47"/>
        <pc:sldMkLst>
          <pc:docMk/>
          <pc:sldMk cId="4214417439" sldId="260"/>
        </pc:sldMkLst>
      </pc:sldChg>
      <pc:sldChg chg="modSp add mod">
        <pc:chgData name="新川 太陽" userId="12bc61ad-d6d0-41e2-af59-cbf405dca161" providerId="ADAL" clId="{AF156A1D-DDF5-450F-91AB-FA70E0589BDB}" dt="2025-06-03T06:46:15.888" v="46" actId="207"/>
        <pc:sldMkLst>
          <pc:docMk/>
          <pc:sldMk cId="3354796738" sldId="261"/>
        </pc:sldMkLst>
        <pc:spChg chg="mod">
          <ac:chgData name="新川 太陽" userId="12bc61ad-d6d0-41e2-af59-cbf405dca161" providerId="ADAL" clId="{AF156A1D-DDF5-450F-91AB-FA70E0589BDB}" dt="2025-06-03T06:46:08.993" v="45" actId="20577"/>
          <ac:spMkLst>
            <pc:docMk/>
            <pc:sldMk cId="3354796738" sldId="261"/>
            <ac:spMk id="13" creationId="{6347305E-9EF7-C2BB-8D02-79B658131C46}"/>
          </ac:spMkLst>
        </pc:spChg>
        <pc:spChg chg="mod">
          <ac:chgData name="新川 太陽" userId="12bc61ad-d6d0-41e2-af59-cbf405dca161" providerId="ADAL" clId="{AF156A1D-DDF5-450F-91AB-FA70E0589BDB}" dt="2025-06-03T06:45:01.006" v="20" actId="20577"/>
          <ac:spMkLst>
            <pc:docMk/>
            <pc:sldMk cId="3354796738" sldId="261"/>
            <ac:spMk id="22" creationId="{93BDAFA6-9A8A-1399-D063-07DF66406155}"/>
          </ac:spMkLst>
        </pc:spChg>
        <pc:spChg chg="mod">
          <ac:chgData name="新川 太陽" userId="12bc61ad-d6d0-41e2-af59-cbf405dca161" providerId="ADAL" clId="{AF156A1D-DDF5-450F-91AB-FA70E0589BDB}" dt="2025-06-03T06:45:25.624" v="22" actId="207"/>
          <ac:spMkLst>
            <pc:docMk/>
            <pc:sldMk cId="3354796738" sldId="261"/>
            <ac:spMk id="33" creationId="{D7E57729-153B-ECB4-EC2B-FB0E3E7E0DF1}"/>
          </ac:spMkLst>
        </pc:spChg>
        <pc:spChg chg="mod">
          <ac:chgData name="新川 太陽" userId="12bc61ad-d6d0-41e2-af59-cbf405dca161" providerId="ADAL" clId="{AF156A1D-DDF5-450F-91AB-FA70E0589BDB}" dt="2025-06-03T06:45:49.845" v="25" actId="1076"/>
          <ac:spMkLst>
            <pc:docMk/>
            <pc:sldMk cId="3354796738" sldId="261"/>
            <ac:spMk id="36" creationId="{97B12105-74EA-C501-B437-34C1635A745A}"/>
          </ac:spMkLst>
        </pc:spChg>
        <pc:spChg chg="mod">
          <ac:chgData name="新川 太陽" userId="12bc61ad-d6d0-41e2-af59-cbf405dca161" providerId="ADAL" clId="{AF156A1D-DDF5-450F-91AB-FA70E0589BDB}" dt="2025-06-03T06:45:31.106" v="24" actId="20577"/>
          <ac:spMkLst>
            <pc:docMk/>
            <pc:sldMk cId="3354796738" sldId="261"/>
            <ac:spMk id="37" creationId="{D91E1957-B8B5-744C-455E-B704B54BFA30}"/>
          </ac:spMkLst>
        </pc:spChg>
        <pc:spChg chg="mod">
          <ac:chgData name="新川 太陽" userId="12bc61ad-d6d0-41e2-af59-cbf405dca161" providerId="ADAL" clId="{AF156A1D-DDF5-450F-91AB-FA70E0589BDB}" dt="2025-06-03T06:46:15.888" v="46" actId="207"/>
          <ac:spMkLst>
            <pc:docMk/>
            <pc:sldMk cId="3354796738" sldId="261"/>
            <ac:spMk id="60" creationId="{6CB2953D-9BD7-48BD-D316-CB5061D9A79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0055" cy="501879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95404" y="0"/>
            <a:ext cx="2980055" cy="501879"/>
          </a:xfrm>
          <a:prstGeom prst="rect">
            <a:avLst/>
          </a:prstGeom>
        </p:spPr>
        <p:txBody>
          <a:bodyPr vert="horz" lIns="96451" tIns="48225" rIns="96451" bIns="48225" rtlCol="0"/>
          <a:lstStyle>
            <a:lvl1pPr algn="r">
              <a:defRPr sz="1300"/>
            </a:lvl1pPr>
          </a:lstStyle>
          <a:p>
            <a:fld id="{8C610505-29F3-4817-A654-B55014098BEF}" type="datetimeFigureOut">
              <a:rPr kumimoji="1" lang="ja-JP" altLang="en-US" smtClean="0"/>
              <a:t>2025/6/3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0950"/>
            <a:ext cx="5997575" cy="33750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451" tIns="48225" rIns="96451" bIns="48225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7705" y="4813866"/>
            <a:ext cx="5501640" cy="3938617"/>
          </a:xfrm>
          <a:prstGeom prst="rect">
            <a:avLst/>
          </a:prstGeom>
        </p:spPr>
        <p:txBody>
          <a:bodyPr vert="horz" lIns="96451" tIns="48225" rIns="96451" bIns="48225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500961"/>
            <a:ext cx="2980055" cy="501878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l">
              <a:defRPr sz="13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95404" y="9500961"/>
            <a:ext cx="2980055" cy="501878"/>
          </a:xfrm>
          <a:prstGeom prst="rect">
            <a:avLst/>
          </a:prstGeom>
        </p:spPr>
        <p:txBody>
          <a:bodyPr vert="horz" lIns="96451" tIns="48225" rIns="96451" bIns="48225" rtlCol="0" anchor="b"/>
          <a:lstStyle>
            <a:lvl1pPr algn="r">
              <a:defRPr sz="1300"/>
            </a:lvl1pPr>
          </a:lstStyle>
          <a:p>
            <a:fld id="{5A993335-684B-4E69-98A7-E833F276909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9670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914400" y="2173292"/>
            <a:ext cx="10363200" cy="1470025"/>
          </a:xfrm>
        </p:spPr>
        <p:txBody>
          <a:bodyPr/>
          <a:lstStyle>
            <a:lvl1pPr algn="ctr">
              <a:defRPr sz="3300" b="1"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3524232" y="4176730"/>
            <a:ext cx="6838968" cy="1752600"/>
          </a:xfrm>
        </p:spPr>
        <p:txBody>
          <a:bodyPr anchor="b"/>
          <a:lstStyle>
            <a:lvl1pPr marL="0" indent="0" algn="r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ja-JP" altLang="en-US" dirty="0"/>
          </a:p>
        </p:txBody>
      </p:sp>
      <p:sp>
        <p:nvSpPr>
          <p:cNvPr id="39" name="AutoShape 4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rgbClr val="595959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lIns="68571" tIns="34286" rIns="68571" bIns="34286" anchor="ctr"/>
          <a:lstStyle>
            <a:lvl1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912813"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algn="l" defTabSz="912813" fontAlgn="base"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defTabSz="912813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pPr algn="ctr" fontAlgn="ctr">
              <a:defRPr/>
            </a:pPr>
            <a:endParaRPr lang="en-GB" altLang="ja-JP" sz="750">
              <a:latin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1381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A813C8-AA99-9510-5B57-CCDDC618DD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3" name="コンテンツ プレースホルダ 2">
            <a:extLst>
              <a:ext uri="{FF2B5EF4-FFF2-40B4-BE49-F238E27FC236}">
                <a16:creationId xmlns:a16="http://schemas.microsoft.com/office/drawing/2014/main" id="{B4D88CEF-5B7E-7883-F540-F9863042D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5760" y="863600"/>
            <a:ext cx="7764558" cy="5641528"/>
          </a:xfrm>
        </p:spPr>
        <p:txBody>
          <a:bodyPr/>
          <a:lstStyle>
            <a:lvl1pPr marL="257175" indent="-257175">
              <a:buFont typeface="Wingdings" panose="05000000000000000000" pitchFamily="2" charset="2"/>
              <a:buChar char="n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  <a:lvl2pPr marL="557213" indent="-214313">
              <a:buFont typeface="Wingdings" panose="05000000000000000000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F8C57FCF-28ED-7827-A87D-D43B9DFC7995}"/>
              </a:ext>
            </a:extLst>
          </p:cNvPr>
          <p:cNvSpPr/>
          <p:nvPr userDrawn="1"/>
        </p:nvSpPr>
        <p:spPr>
          <a:xfrm>
            <a:off x="690880" y="863600"/>
            <a:ext cx="2092960" cy="5641528"/>
          </a:xfrm>
          <a:prstGeom prst="rect">
            <a:avLst/>
          </a:prstGeom>
          <a:solidFill>
            <a:srgbClr val="EF3F22">
              <a:alpha val="94000"/>
            </a:srgbClr>
          </a:solidFill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pic>
        <p:nvPicPr>
          <p:cNvPr id="9" name="図 8" descr="ロゴ が含まれている画像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432F39C-0BE5-226E-6FE7-AC22940DFA7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47" t="23594" r="19246" b="21431"/>
          <a:stretch/>
        </p:blipFill>
        <p:spPr>
          <a:xfrm>
            <a:off x="772160" y="965200"/>
            <a:ext cx="1852930" cy="690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8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57175" indent="-257175">
              <a:buFont typeface="Wingdings" panose="05000000000000000000" pitchFamily="2" charset="2"/>
              <a:buChar char="n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  <a:lvl2pPr marL="557213" indent="-214313">
              <a:buFont typeface="Wingdings" panose="05000000000000000000" pitchFamily="2" charset="2"/>
              <a:buChar char="l"/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113483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276203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262B8AA-7EE8-032A-DE10-7E1A34B4DE43}"/>
              </a:ext>
            </a:extLst>
          </p:cNvPr>
          <p:cNvSpPr txBox="1"/>
          <p:nvPr userDrawn="1"/>
        </p:nvSpPr>
        <p:spPr>
          <a:xfrm>
            <a:off x="9645535" y="719514"/>
            <a:ext cx="23460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デジタル本部</a:t>
            </a:r>
            <a:endParaRPr kumimoji="1" lang="en-US" altLang="ja-JP" dirty="0">
              <a:solidFill>
                <a:schemeClr val="bg1">
                  <a:lumMod val="50000"/>
                </a:schemeClr>
              </a:solidFill>
              <a:latin typeface="UD デジタル 教科書体 N" panose="02020400000000000000" pitchFamily="17" charset="-128"/>
              <a:ea typeface="UD デジタル 教科書体 N" panose="02020400000000000000" pitchFamily="17" charset="-128"/>
            </a:endParaRPr>
          </a:p>
          <a:p>
            <a:pPr algn="r"/>
            <a:r>
              <a:rPr kumimoji="1" lang="ja-JP" altLang="en-US" dirty="0">
                <a:solidFill>
                  <a:schemeClr val="bg1">
                    <a:lumMod val="50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rPr>
              <a:t>システム開発部</a:t>
            </a:r>
          </a:p>
        </p:txBody>
      </p:sp>
      <p:sp>
        <p:nvSpPr>
          <p:cNvPr id="4" name="タイトル 1">
            <a:extLst>
              <a:ext uri="{FF2B5EF4-FFF2-40B4-BE49-F238E27FC236}">
                <a16:creationId xmlns:a16="http://schemas.microsoft.com/office/drawing/2014/main" id="{2064A385-AC97-C2D2-DE0D-8EDDAF5F8F4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693987"/>
            <a:ext cx="10363200" cy="1470025"/>
          </a:xfrm>
          <a:ln>
            <a:noFill/>
          </a:ln>
        </p:spPr>
        <p:txBody>
          <a:bodyPr/>
          <a:lstStyle>
            <a:lvl1pPr algn="l">
              <a:defRPr sz="3300" b="1">
                <a:solidFill>
                  <a:schemeClr val="tx1">
                    <a:lumMod val="75000"/>
                    <a:lumOff val="25000"/>
                  </a:schemeClr>
                </a:solidFill>
                <a:latin typeface="UD デジタル 教科書体 N" panose="02020400000000000000" pitchFamily="17" charset="-128"/>
                <a:ea typeface="UD デジタル 教科書体 N" panose="02020400000000000000" pitchFamily="17" charset="-128"/>
              </a:defRPr>
            </a:lvl1pPr>
          </a:lstStyle>
          <a:p>
            <a:r>
              <a:rPr lang="en-US" altLang="ja-JP" dirty="0"/>
              <a:t>End Of Documents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68747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0" y="0"/>
            <a:ext cx="9385072" cy="668695"/>
          </a:xfrm>
          <a:prstGeom prst="rect">
            <a:avLst/>
          </a:prstGeom>
          <a:noFill/>
          <a:ln w="19050">
            <a:noFill/>
          </a:ln>
          <a:effectLst/>
        </p:spPr>
        <p:txBody>
          <a:bodyPr vert="horz" lIns="360000" tIns="45720" rIns="91440" bIns="45720" rtlCol="0" anchor="ctr">
            <a:noAutofit/>
          </a:bodyPr>
          <a:lstStyle/>
          <a:p>
            <a:r>
              <a:rPr lang="ja-JP" altLang="en-US" dirty="0"/>
              <a:t>マスタ タイトルの書式設定</a:t>
            </a:r>
          </a:p>
        </p:txBody>
      </p:sp>
      <p:sp>
        <p:nvSpPr>
          <p:cNvPr id="1029" name="テキスト プレースホルダ 2"/>
          <p:cNvSpPr>
            <a:spLocks noGrp="1"/>
          </p:cNvSpPr>
          <p:nvPr>
            <p:ph type="body" idx="1"/>
          </p:nvPr>
        </p:nvSpPr>
        <p:spPr bwMode="auto">
          <a:xfrm>
            <a:off x="341842" y="744071"/>
            <a:ext cx="11588316" cy="57610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  <p:sp>
        <p:nvSpPr>
          <p:cNvPr id="1032" name="テキスト ボックス 11"/>
          <p:cNvSpPr txBox="1">
            <a:spLocks noChangeArrowheads="1"/>
          </p:cNvSpPr>
          <p:nvPr/>
        </p:nvSpPr>
        <p:spPr bwMode="auto">
          <a:xfrm>
            <a:off x="3141442" y="6621288"/>
            <a:ext cx="4894289" cy="2308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HGPｺﾞｼｯｸE" panose="020B0900000000000000" pitchFamily="34" charset="-128"/>
              </a:defRPr>
            </a:lvl9pPr>
          </a:lstStyle>
          <a:p>
            <a:pPr>
              <a:defRPr/>
            </a:pPr>
            <a:r>
              <a:rPr lang="en-US" altLang="ja-JP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Microsoft Sans Serif" panose="020B0604020202020204" pitchFamily="34" charset="0"/>
              </a:rPr>
              <a:t>CONFIDENTIAL.</a:t>
            </a:r>
            <a:r>
              <a:rPr lang="ja-JP" altLang="en-US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en-US" altLang="ja-JP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Microsoft Sans Serif" panose="020B0604020202020204" pitchFamily="34" charset="0"/>
              </a:rPr>
              <a:t> </a:t>
            </a:r>
            <a:r>
              <a:rPr lang="ja-JP" altLang="en-US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  <a:cs typeface="Microsoft Sans Serif" panose="020B0604020202020204" pitchFamily="34" charset="0"/>
              </a:rPr>
              <a:t>　</a:t>
            </a:r>
            <a:r>
              <a:rPr lang="en-US" altLang="ja-JP" sz="900" i="0" dirty="0">
                <a:solidFill>
                  <a:schemeClr val="tx1"/>
                </a:solidFill>
                <a:latin typeface="+mn-lt"/>
                <a:ea typeface="Microsoft JhengHei" panose="020B0604030504040204" pitchFamily="34" charset="-120"/>
              </a:rPr>
              <a:t>Copyright © United Super Market Holdings Inc. All Rights Reserved.</a:t>
            </a:r>
          </a:p>
        </p:txBody>
      </p:sp>
      <p:sp>
        <p:nvSpPr>
          <p:cNvPr id="12" name="AutoShape 6"/>
          <p:cNvSpPr>
            <a:spLocks noChangeArrowheads="1"/>
          </p:cNvSpPr>
          <p:nvPr/>
        </p:nvSpPr>
        <p:spPr bwMode="gray">
          <a:xfrm>
            <a:off x="6060019" y="0"/>
            <a:ext cx="71967" cy="44450"/>
          </a:xfrm>
          <a:prstGeom prst="triangle">
            <a:avLst>
              <a:gd name="adj" fmla="val 50000"/>
            </a:avLst>
          </a:prstGeom>
          <a:solidFill>
            <a:srgbClr val="C0C0C0"/>
          </a:solidFill>
          <a:ln w="9525" algn="ctr">
            <a:noFill/>
            <a:miter lim="800000"/>
            <a:headEnd/>
            <a:tailEnd/>
          </a:ln>
          <a:effectLst/>
        </p:spPr>
        <p:txBody>
          <a:bodyPr lIns="68571" tIns="34286" rIns="68571" bIns="34286" anchor="ctr"/>
          <a:lstStyle>
            <a:lvl1pPr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algn="l" defTabSz="912813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defTabSz="91281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algn="ctr" eaLnBrk="1" fontAlgn="ctr" hangingPunct="1">
              <a:defRPr/>
            </a:pPr>
            <a:endParaRPr lang="en-GB" altLang="ja-JP" sz="1350">
              <a:effectLst/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pic>
        <p:nvPicPr>
          <p:cNvPr id="13" name="Picture 3"/>
          <p:cNvPicPr>
            <a:picLocks noChangeAspect="1" noChangeArrowheads="1"/>
          </p:cNvPicPr>
          <p:nvPr userDrawn="1"/>
        </p:nvPicPr>
        <p:blipFill>
          <a:blip r:embed="rId7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35105" y="182987"/>
            <a:ext cx="2517973" cy="342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3B729407-4A9A-69C4-86E0-8AF43D18CCE8}"/>
              </a:ext>
            </a:extLst>
          </p:cNvPr>
          <p:cNvCxnSpPr>
            <a:cxnSpLocks/>
          </p:cNvCxnSpPr>
          <p:nvPr userDrawn="1"/>
        </p:nvCxnSpPr>
        <p:spPr>
          <a:xfrm>
            <a:off x="1848" y="687167"/>
            <a:ext cx="12192000" cy="0"/>
          </a:xfrm>
          <a:prstGeom prst="line">
            <a:avLst/>
          </a:prstGeom>
          <a:ln w="38100">
            <a:solidFill>
              <a:srgbClr val="EF40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0790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8" r:id="rId2"/>
    <p:sldLayoutId id="2147483662" r:id="rId3"/>
    <p:sldLayoutId id="2147483666" r:id="rId4"/>
    <p:sldLayoutId id="2147483667" r:id="rId5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2400" b="1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kumimoji="1" sz="2400">
          <a:solidFill>
            <a:schemeClr val="tx1"/>
          </a:solidFill>
          <a:latin typeface="Arial" panose="020B0604020202020204" pitchFamily="34" charset="0"/>
          <a:ea typeface="HGPｺﾞｼｯｸE" panose="020B0900000000000000" pitchFamily="34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n"/>
        <a:defRPr kumimoji="1" sz="24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Wingdings" panose="05000000000000000000" pitchFamily="2" charset="2"/>
        <a:buChar char="l"/>
        <a:defRPr kumimoji="1" sz="20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umimoji="1" sz="18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umimoji="1" sz="1800" kern="1200">
          <a:solidFill>
            <a:schemeClr val="tx1"/>
          </a:solidFill>
          <a:latin typeface="UD デジタル 教科書体 N" panose="02020400000000000000" pitchFamily="17" charset="-128"/>
          <a:ea typeface="UD デジタル 教科書体 N" panose="02020400000000000000" pitchFamily="17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031A4-4836-762E-C735-61869035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523A71-DCB0-20BB-C4DF-8AA9D1A8C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新規</a:t>
            </a:r>
            <a:r>
              <a:rPr lang="en-US" altLang="ja-JP" dirty="0"/>
              <a:t>NAT</a:t>
            </a:r>
            <a:r>
              <a:rPr lang="ja-JP" altLang="en-US" dirty="0"/>
              <a:t>が必要</a:t>
            </a:r>
            <a:endParaRPr kumimoji="1" lang="ja-JP" altLang="en-US" dirty="0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EEB856D-B13F-3F19-81E9-EC9A6C638ACF}"/>
              </a:ext>
            </a:extLst>
          </p:cNvPr>
          <p:cNvSpPr/>
          <p:nvPr/>
        </p:nvSpPr>
        <p:spPr>
          <a:xfrm>
            <a:off x="886120" y="1131217"/>
            <a:ext cx="1734532" cy="18099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カスミ</a:t>
            </a:r>
            <a:endParaRPr kumimoji="1" lang="en-US" altLang="ja-JP" dirty="0"/>
          </a:p>
          <a:p>
            <a:pPr algn="ctr"/>
            <a:endParaRPr lang="en-US" altLang="ja-JP" dirty="0"/>
          </a:p>
          <a:p>
            <a:pPr algn="ctr"/>
            <a:r>
              <a:rPr kumimoji="1" lang="ja-JP" altLang="en-US" dirty="0"/>
              <a:t>クライアント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AF16019-E5A9-3EF2-6A15-A07AE7E65EE1}"/>
              </a:ext>
            </a:extLst>
          </p:cNvPr>
          <p:cNvSpPr txBox="1"/>
          <p:nvPr/>
        </p:nvSpPr>
        <p:spPr>
          <a:xfrm>
            <a:off x="886120" y="2901268"/>
            <a:ext cx="18570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OC</a:t>
            </a:r>
            <a:r>
              <a:rPr kumimoji="1" lang="ja-JP" altLang="en-US" dirty="0"/>
              <a:t>の</a:t>
            </a:r>
            <a:r>
              <a:rPr kumimoji="1" lang="en-US" altLang="ja-JP" dirty="0"/>
              <a:t>IP</a:t>
            </a:r>
            <a:r>
              <a:rPr kumimoji="1" lang="ja-JP" altLang="en-US" dirty="0"/>
              <a:t>：</a:t>
            </a:r>
            <a:r>
              <a:rPr lang="en-US" altLang="ja-JP" dirty="0"/>
              <a:t>10.19.1.161</a:t>
            </a:r>
            <a:endParaRPr kumimoji="1" lang="ja-JP" altLang="en-US" dirty="0"/>
          </a:p>
        </p:txBody>
      </p:sp>
      <p:sp>
        <p:nvSpPr>
          <p:cNvPr id="6" name="フローチャート: 和接合 5">
            <a:extLst>
              <a:ext uri="{FF2B5EF4-FFF2-40B4-BE49-F238E27FC236}">
                <a16:creationId xmlns:a16="http://schemas.microsoft.com/office/drawing/2014/main" id="{9FDDA72D-8E1F-79F9-E398-B060B5C08ABA}"/>
              </a:ext>
            </a:extLst>
          </p:cNvPr>
          <p:cNvSpPr/>
          <p:nvPr/>
        </p:nvSpPr>
        <p:spPr>
          <a:xfrm>
            <a:off x="3110845" y="1639814"/>
            <a:ext cx="895546" cy="791852"/>
          </a:xfrm>
          <a:prstGeom prst="flowChartSummingJunct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D9953A0-BEF5-762C-E274-B5A5F1B1E54E}"/>
              </a:ext>
            </a:extLst>
          </p:cNvPr>
          <p:cNvSpPr txBox="1"/>
          <p:nvPr/>
        </p:nvSpPr>
        <p:spPr>
          <a:xfrm>
            <a:off x="3040143" y="1851074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カスミ網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F4A35F08-CE8E-4C9E-32D7-12EBB14700B2}"/>
              </a:ext>
            </a:extLst>
          </p:cNvPr>
          <p:cNvSpPr/>
          <p:nvPr/>
        </p:nvSpPr>
        <p:spPr>
          <a:xfrm>
            <a:off x="4692979" y="1131217"/>
            <a:ext cx="1734532" cy="18099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カスミ</a:t>
            </a:r>
            <a:r>
              <a:rPr kumimoji="1" lang="en-US" altLang="ja-JP" dirty="0"/>
              <a:t>FW</a:t>
            </a:r>
          </a:p>
          <a:p>
            <a:pPr algn="ctr"/>
            <a:r>
              <a:rPr kumimoji="1" lang="en-US" altLang="ja-JP" dirty="0"/>
              <a:t>NAT</a:t>
            </a:r>
          </a:p>
          <a:p>
            <a:pPr algn="ctr"/>
            <a:r>
              <a:rPr lang="ja-JP" altLang="en-US" dirty="0"/>
              <a:t>（港北</a:t>
            </a:r>
            <a:r>
              <a:rPr lang="en-US" altLang="ja-JP" dirty="0"/>
              <a:t>DC</a:t>
            </a:r>
            <a:r>
              <a:rPr lang="ja-JP" altLang="en-US" dirty="0"/>
              <a:t>）</a:t>
            </a:r>
            <a:endParaRPr kumimoji="1" lang="ja-JP" altLang="en-US" dirty="0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E27F6ED2-0225-B49D-E814-399EA8330F50}"/>
              </a:ext>
            </a:extLst>
          </p:cNvPr>
          <p:cNvCxnSpPr>
            <a:stCxn id="4" idx="3"/>
            <a:endCxn id="7" idx="1"/>
          </p:cNvCxnSpPr>
          <p:nvPr/>
        </p:nvCxnSpPr>
        <p:spPr>
          <a:xfrm flipV="1">
            <a:off x="2620652" y="2035740"/>
            <a:ext cx="419491" cy="4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DB3C8865-63B6-E27D-A2D3-E8A05BEF7F6E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4179412" y="2036190"/>
            <a:ext cx="5135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フローチャート: 和接合 15">
            <a:extLst>
              <a:ext uri="{FF2B5EF4-FFF2-40B4-BE49-F238E27FC236}">
                <a16:creationId xmlns:a16="http://schemas.microsoft.com/office/drawing/2014/main" id="{10BB7300-F8E4-37EC-94E0-8BFFFF643E56}"/>
              </a:ext>
            </a:extLst>
          </p:cNvPr>
          <p:cNvSpPr/>
          <p:nvPr/>
        </p:nvSpPr>
        <p:spPr>
          <a:xfrm>
            <a:off x="7365479" y="1604566"/>
            <a:ext cx="895546" cy="791852"/>
          </a:xfrm>
          <a:prstGeom prst="flowChartSummingJunction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B18B353-8651-CFB9-84AC-0E76BEFBABA3}"/>
              </a:ext>
            </a:extLst>
          </p:cNvPr>
          <p:cNvSpPr txBox="1"/>
          <p:nvPr/>
        </p:nvSpPr>
        <p:spPr>
          <a:xfrm>
            <a:off x="7294777" y="1847642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USMH</a:t>
            </a:r>
            <a:r>
              <a:rPr kumimoji="1" lang="ja-JP" altLang="en-US" dirty="0"/>
              <a:t>網</a:t>
            </a:r>
          </a:p>
        </p:txBody>
      </p: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C0CCCCA5-2341-E24D-A38E-D5814E4921F2}"/>
              </a:ext>
            </a:extLst>
          </p:cNvPr>
          <p:cNvCxnSpPr>
            <a:cxnSpLocks/>
            <a:stCxn id="8" idx="3"/>
            <a:endCxn id="17" idx="1"/>
          </p:cNvCxnSpPr>
          <p:nvPr/>
        </p:nvCxnSpPr>
        <p:spPr>
          <a:xfrm flipV="1">
            <a:off x="6427511" y="2032308"/>
            <a:ext cx="867266" cy="3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3BDAFA6-9A8A-1399-D063-07DF66406155}"/>
              </a:ext>
            </a:extLst>
          </p:cNvPr>
          <p:cNvSpPr/>
          <p:nvPr/>
        </p:nvSpPr>
        <p:spPr>
          <a:xfrm>
            <a:off x="9418954" y="1131217"/>
            <a:ext cx="1734532" cy="180994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/>
              <a:t>AWS</a:t>
            </a:r>
          </a:p>
          <a:p>
            <a:pPr algn="ctr"/>
            <a:r>
              <a:rPr kumimoji="1" lang="ja-JP" altLang="en-US" dirty="0"/>
              <a:t>ルビナスパイク環境</a:t>
            </a:r>
            <a:endParaRPr kumimoji="1" lang="en-US" altLang="ja-JP" dirty="0"/>
          </a:p>
          <a:p>
            <a:pPr algn="ctr"/>
            <a:r>
              <a:rPr kumimoji="1" lang="en-US" altLang="ja-JP" dirty="0"/>
              <a:t>SFTP</a:t>
            </a:r>
            <a:r>
              <a:rPr kumimoji="1" lang="ja-JP" altLang="en-US" dirty="0"/>
              <a:t>サーバ</a:t>
            </a:r>
            <a:endParaRPr kumimoji="1" lang="en-US" altLang="ja-JP" dirty="0"/>
          </a:p>
          <a:p>
            <a:pPr algn="ctr"/>
            <a:r>
              <a:rPr lang="ja-JP" altLang="en-US" dirty="0"/>
              <a:t>新規</a:t>
            </a:r>
            <a:r>
              <a:rPr lang="en-US" altLang="ja-JP" dirty="0"/>
              <a:t>IP2</a:t>
            </a:r>
            <a:r>
              <a:rPr lang="ja-JP" altLang="en-US" dirty="0"/>
              <a:t>点</a:t>
            </a:r>
            <a:endParaRPr kumimoji="1" lang="ja-JP" altLang="en-US" dirty="0"/>
          </a:p>
        </p:txBody>
      </p:sp>
      <p:cxnSp>
        <p:nvCxnSpPr>
          <p:cNvPr id="23" name="直線コネクタ 22">
            <a:extLst>
              <a:ext uri="{FF2B5EF4-FFF2-40B4-BE49-F238E27FC236}">
                <a16:creationId xmlns:a16="http://schemas.microsoft.com/office/drawing/2014/main" id="{E2E0ED0F-8DB3-ED2E-1010-C72315A2DAB7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8270065" y="2018038"/>
            <a:ext cx="1148889" cy="181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A4DA4F2-89B8-3A58-650F-26CF86CE6BEC}"/>
              </a:ext>
            </a:extLst>
          </p:cNvPr>
          <p:cNvSpPr txBox="1"/>
          <p:nvPr/>
        </p:nvSpPr>
        <p:spPr>
          <a:xfrm>
            <a:off x="10030550" y="2941163"/>
            <a:ext cx="2781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IP</a:t>
            </a:r>
            <a:r>
              <a:rPr kumimoji="1" lang="ja-JP" altLang="en-US" sz="1200" dirty="0"/>
              <a:t>①：</a:t>
            </a:r>
            <a:r>
              <a:rPr kumimoji="1" lang="en-US" altLang="ja-JP" sz="1200" dirty="0"/>
              <a:t>10.226.51.75/32</a:t>
            </a:r>
          </a:p>
          <a:p>
            <a:r>
              <a:rPr kumimoji="1" lang="en-US" altLang="ja-JP" sz="1200" dirty="0"/>
              <a:t>IP</a:t>
            </a:r>
            <a:r>
              <a:rPr kumimoji="1" lang="ja-JP" altLang="en-US" sz="1200" dirty="0"/>
              <a:t>②：</a:t>
            </a:r>
            <a:r>
              <a:rPr kumimoji="1" lang="en-US" altLang="ja-JP" sz="1200" dirty="0"/>
              <a:t>10.226.51.225/32</a:t>
            </a:r>
            <a:endParaRPr kumimoji="1" lang="ja-JP" altLang="en-US" sz="1200" dirty="0"/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5D4C3210-B71E-59A2-3FFB-2EE31845530A}"/>
              </a:ext>
            </a:extLst>
          </p:cNvPr>
          <p:cNvSpPr txBox="1"/>
          <p:nvPr/>
        </p:nvSpPr>
        <p:spPr>
          <a:xfrm>
            <a:off x="9418954" y="761885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10.226.51.0/24 </a:t>
            </a:r>
            <a:endParaRPr kumimoji="1" lang="ja-JP" altLang="en-US" dirty="0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D7E57729-153B-ECB4-EC2B-FB0E3E7E0DF1}"/>
              </a:ext>
            </a:extLst>
          </p:cNvPr>
          <p:cNvSpPr txBox="1"/>
          <p:nvPr/>
        </p:nvSpPr>
        <p:spPr>
          <a:xfrm>
            <a:off x="6321694" y="2701615"/>
            <a:ext cx="1355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u="sng" dirty="0">
                <a:solidFill>
                  <a:srgbClr val="FF0000"/>
                </a:solidFill>
              </a:rPr>
              <a:t>★</a:t>
            </a:r>
            <a:r>
              <a:rPr kumimoji="1" lang="en-US" altLang="ja-JP" sz="1600" b="1" u="sng" dirty="0">
                <a:solidFill>
                  <a:srgbClr val="FF0000"/>
                </a:solidFill>
              </a:rPr>
              <a:t>NAT</a:t>
            </a:r>
            <a:r>
              <a:rPr kumimoji="1" lang="ja-JP" altLang="en-US" sz="1600" b="1" u="sng" dirty="0">
                <a:solidFill>
                  <a:srgbClr val="FF0000"/>
                </a:solidFill>
              </a:rPr>
              <a:t>設定</a:t>
            </a:r>
          </a:p>
        </p:txBody>
      </p:sp>
      <p:sp>
        <p:nvSpPr>
          <p:cNvPr id="12" name="吹き出し: 線 11">
            <a:extLst>
              <a:ext uri="{FF2B5EF4-FFF2-40B4-BE49-F238E27FC236}">
                <a16:creationId xmlns:a16="http://schemas.microsoft.com/office/drawing/2014/main" id="{D2DDB815-547C-C811-2E25-CAF117A4FF64}"/>
              </a:ext>
            </a:extLst>
          </p:cNvPr>
          <p:cNvSpPr/>
          <p:nvPr/>
        </p:nvSpPr>
        <p:spPr>
          <a:xfrm>
            <a:off x="775586" y="4712410"/>
            <a:ext cx="2092750" cy="844307"/>
          </a:xfrm>
          <a:prstGeom prst="borderCallout1">
            <a:avLst>
              <a:gd name="adj1" fmla="val -3905"/>
              <a:gd name="adj2" fmla="val 90494"/>
              <a:gd name="adj3" fmla="val -98219"/>
              <a:gd name="adj4" fmla="val 207321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sz="1400" dirty="0"/>
              <a:t>USMH</a:t>
            </a:r>
            <a:r>
              <a:rPr lang="ja-JP" altLang="en-US" sz="1400" dirty="0"/>
              <a:t>網から渡している</a:t>
            </a:r>
            <a:r>
              <a:rPr lang="en-US" altLang="ja-JP" sz="1400" dirty="0"/>
              <a:t>10.156.96.192/26</a:t>
            </a:r>
            <a:endParaRPr lang="ja-JP" altLang="en-US" sz="1400" dirty="0"/>
          </a:p>
          <a:p>
            <a:pPr algn="ctr"/>
            <a:r>
              <a:rPr kumimoji="1" lang="ja-JP" altLang="en-US" sz="1400" dirty="0"/>
              <a:t>の中から割当てる</a:t>
            </a:r>
            <a:endParaRPr kumimoji="1" lang="en-US" altLang="ja-JP" sz="1400" dirty="0"/>
          </a:p>
        </p:txBody>
      </p:sp>
      <p:sp>
        <p:nvSpPr>
          <p:cNvPr id="15" name="吹き出し: 線 14">
            <a:extLst>
              <a:ext uri="{FF2B5EF4-FFF2-40B4-BE49-F238E27FC236}">
                <a16:creationId xmlns:a16="http://schemas.microsoft.com/office/drawing/2014/main" id="{205203BB-9771-5967-11B3-262E78DD02EC}"/>
              </a:ext>
            </a:extLst>
          </p:cNvPr>
          <p:cNvSpPr/>
          <p:nvPr/>
        </p:nvSpPr>
        <p:spPr>
          <a:xfrm>
            <a:off x="3518871" y="5207224"/>
            <a:ext cx="2092750" cy="844307"/>
          </a:xfrm>
          <a:prstGeom prst="borderCallout1">
            <a:avLst>
              <a:gd name="adj1" fmla="val -26997"/>
              <a:gd name="adj2" fmla="val 43072"/>
              <a:gd name="adj3" fmla="val -200057"/>
              <a:gd name="adj4" fmla="val 42556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カスミ網内のアドレス</a:t>
            </a:r>
            <a:r>
              <a:rPr kumimoji="1" lang="ja-JP" altLang="en-US" sz="1600" dirty="0"/>
              <a:t>から変換前の宛先を割当てる</a:t>
            </a:r>
            <a:endParaRPr kumimoji="1" lang="en-US" altLang="ja-JP" sz="1600" dirty="0"/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70CBCC8-0D7B-888D-0837-0C4765219807}"/>
              </a:ext>
            </a:extLst>
          </p:cNvPr>
          <p:cNvSpPr txBox="1"/>
          <p:nvPr/>
        </p:nvSpPr>
        <p:spPr>
          <a:xfrm>
            <a:off x="4128940" y="2910257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IP</a:t>
            </a:r>
            <a:r>
              <a:rPr kumimoji="1" lang="ja-JP" altLang="en-US" b="1" dirty="0">
                <a:solidFill>
                  <a:srgbClr val="FF0000"/>
                </a:solidFill>
              </a:rPr>
              <a:t>：</a:t>
            </a:r>
            <a:r>
              <a:rPr kumimoji="1" lang="en-US" altLang="ja-JP" b="1" dirty="0">
                <a:solidFill>
                  <a:srgbClr val="FF0000"/>
                </a:solidFill>
              </a:rPr>
              <a:t>xxx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A8AC008-5FA7-3ED6-C5D1-1FC221CB2309}"/>
              </a:ext>
            </a:extLst>
          </p:cNvPr>
          <p:cNvSpPr txBox="1"/>
          <p:nvPr/>
        </p:nvSpPr>
        <p:spPr>
          <a:xfrm>
            <a:off x="4891231" y="3591611"/>
            <a:ext cx="33320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b="1" dirty="0"/>
              <a:t>変換後の送信元</a:t>
            </a:r>
            <a:r>
              <a:rPr kumimoji="1" lang="en-US" altLang="ja-JP" sz="1400" b="1" dirty="0"/>
              <a:t>IP</a:t>
            </a:r>
            <a:r>
              <a:rPr kumimoji="1" lang="ja-JP" altLang="en-US" sz="1400" b="1" dirty="0"/>
              <a:t>：</a:t>
            </a:r>
            <a:r>
              <a:rPr kumimoji="1" lang="en-US" altLang="ja-JP" sz="1400" b="1" dirty="0"/>
              <a:t>10.156.96.202</a:t>
            </a:r>
            <a:endParaRPr kumimoji="1" lang="ja-JP" altLang="en-US" sz="1400" b="1" dirty="0"/>
          </a:p>
        </p:txBody>
      </p:sp>
      <p:sp>
        <p:nvSpPr>
          <p:cNvPr id="35" name="右中かっこ 34">
            <a:extLst>
              <a:ext uri="{FF2B5EF4-FFF2-40B4-BE49-F238E27FC236}">
                <a16:creationId xmlns:a16="http://schemas.microsoft.com/office/drawing/2014/main" id="{534CAD5C-884B-C50D-1A82-FFC68E340ECA}"/>
              </a:ext>
            </a:extLst>
          </p:cNvPr>
          <p:cNvSpPr/>
          <p:nvPr/>
        </p:nvSpPr>
        <p:spPr>
          <a:xfrm rot="5400000">
            <a:off x="4416817" y="2334924"/>
            <a:ext cx="189470" cy="7758185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97B12105-74EA-C501-B437-34C1635A745A}"/>
              </a:ext>
            </a:extLst>
          </p:cNvPr>
          <p:cNvSpPr txBox="1"/>
          <p:nvPr/>
        </p:nvSpPr>
        <p:spPr>
          <a:xfrm>
            <a:off x="2281761" y="6298305"/>
            <a:ext cx="50062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400" dirty="0"/>
              <a:t>アイネス（港北</a:t>
            </a:r>
            <a:r>
              <a:rPr kumimoji="1" lang="en-US" altLang="ja-JP" sz="1400" dirty="0"/>
              <a:t>DC</a:t>
            </a:r>
            <a:r>
              <a:rPr kumimoji="1" lang="ja-JP" altLang="en-US" sz="1400" dirty="0"/>
              <a:t>）の</a:t>
            </a:r>
            <a:r>
              <a:rPr kumimoji="1" lang="en-US" altLang="ja-JP" sz="1400" dirty="0"/>
              <a:t>FW</a:t>
            </a:r>
            <a:r>
              <a:rPr kumimoji="1" lang="ja-JP" altLang="en-US" sz="1400" dirty="0"/>
              <a:t>にて</a:t>
            </a:r>
            <a:r>
              <a:rPr kumimoji="1" lang="en-US" altLang="ja-JP" sz="1400" dirty="0"/>
              <a:t>NAT</a:t>
            </a:r>
            <a:r>
              <a:rPr kumimoji="1" lang="ja-JP" altLang="en-US" sz="1400" dirty="0"/>
              <a:t>（アイネス社管理）</a:t>
            </a: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D91E1957-B8B5-744C-455E-B704B54BFA30}"/>
              </a:ext>
            </a:extLst>
          </p:cNvPr>
          <p:cNvSpPr txBox="1"/>
          <p:nvPr/>
        </p:nvSpPr>
        <p:spPr>
          <a:xfrm>
            <a:off x="556070" y="4091438"/>
            <a:ext cx="1355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u="sng" dirty="0"/>
              <a:t>マッピング</a:t>
            </a:r>
            <a:endParaRPr kumimoji="1" lang="en-US" altLang="ja-JP" sz="1400" u="sng" dirty="0"/>
          </a:p>
          <a:p>
            <a:pPr algn="ctr"/>
            <a:r>
              <a:rPr lang="ja-JP" altLang="en-US" sz="1400" u="sng" dirty="0"/>
              <a:t>設計</a:t>
            </a:r>
            <a:endParaRPr kumimoji="1" lang="ja-JP" altLang="en-US" sz="1400" u="sng" dirty="0"/>
          </a:p>
        </p:txBody>
      </p:sp>
      <p:cxnSp>
        <p:nvCxnSpPr>
          <p:cNvPr id="38" name="直線矢印コネクタ 37">
            <a:extLst>
              <a:ext uri="{FF2B5EF4-FFF2-40B4-BE49-F238E27FC236}">
                <a16:creationId xmlns:a16="http://schemas.microsoft.com/office/drawing/2014/main" id="{65932F9F-2BE5-114A-5E53-2C5844C2629A}"/>
              </a:ext>
            </a:extLst>
          </p:cNvPr>
          <p:cNvCxnSpPr>
            <a:cxnSpLocks/>
          </p:cNvCxnSpPr>
          <p:nvPr/>
        </p:nvCxnSpPr>
        <p:spPr>
          <a:xfrm>
            <a:off x="1233779" y="3562135"/>
            <a:ext cx="0" cy="115027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矢印コネクタ 48">
            <a:extLst>
              <a:ext uri="{FF2B5EF4-FFF2-40B4-BE49-F238E27FC236}">
                <a16:creationId xmlns:a16="http://schemas.microsoft.com/office/drawing/2014/main" id="{55EBAD78-A8CB-9E23-1211-F6D381294839}"/>
              </a:ext>
            </a:extLst>
          </p:cNvPr>
          <p:cNvCxnSpPr>
            <a:cxnSpLocks/>
          </p:cNvCxnSpPr>
          <p:nvPr/>
        </p:nvCxnSpPr>
        <p:spPr>
          <a:xfrm>
            <a:off x="2477908" y="3212722"/>
            <a:ext cx="1561462" cy="57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F4CA663E-F09E-BE58-D10F-0810FF8FC451}"/>
              </a:ext>
            </a:extLst>
          </p:cNvPr>
          <p:cNvSpPr txBox="1"/>
          <p:nvPr/>
        </p:nvSpPr>
        <p:spPr>
          <a:xfrm>
            <a:off x="329153" y="5537657"/>
            <a:ext cx="2781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 err="1"/>
              <a:t>OpenCentral</a:t>
            </a:r>
            <a:r>
              <a:rPr lang="ja-JP" altLang="en-US" sz="1200" dirty="0"/>
              <a:t>　</a:t>
            </a:r>
            <a:r>
              <a:rPr lang="en-US" altLang="ja-JP" sz="1200" dirty="0"/>
              <a:t>DB</a:t>
            </a:r>
            <a:r>
              <a:rPr lang="ja-JP" altLang="en-US" sz="1200" dirty="0"/>
              <a:t>（開発）として</a:t>
            </a:r>
            <a:endParaRPr lang="en-US" altLang="ja-JP" sz="1200" dirty="0"/>
          </a:p>
          <a:p>
            <a:r>
              <a:rPr kumimoji="1" lang="ja-JP" altLang="en-US" sz="1200" dirty="0"/>
              <a:t>　</a:t>
            </a:r>
            <a:r>
              <a:rPr kumimoji="1" lang="en-US" altLang="ja-JP" sz="1200" dirty="0"/>
              <a:t>2023</a:t>
            </a:r>
            <a:r>
              <a:rPr kumimoji="1" lang="ja-JP" altLang="en-US" sz="1200" dirty="0"/>
              <a:t>年に割り当て済のようです。</a:t>
            </a:r>
          </a:p>
        </p:txBody>
      </p:sp>
      <p:cxnSp>
        <p:nvCxnSpPr>
          <p:cNvPr id="52" name="直線矢印コネクタ 51">
            <a:extLst>
              <a:ext uri="{FF2B5EF4-FFF2-40B4-BE49-F238E27FC236}">
                <a16:creationId xmlns:a16="http://schemas.microsoft.com/office/drawing/2014/main" id="{440CDE39-2E51-FFEF-6A09-95F22A712BAE}"/>
              </a:ext>
            </a:extLst>
          </p:cNvPr>
          <p:cNvCxnSpPr>
            <a:cxnSpLocks/>
          </p:cNvCxnSpPr>
          <p:nvPr/>
        </p:nvCxnSpPr>
        <p:spPr>
          <a:xfrm>
            <a:off x="8534400" y="3212722"/>
            <a:ext cx="850672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吹き出し: 線 54">
            <a:extLst>
              <a:ext uri="{FF2B5EF4-FFF2-40B4-BE49-F238E27FC236}">
                <a16:creationId xmlns:a16="http://schemas.microsoft.com/office/drawing/2014/main" id="{32ABB354-28CC-BFC6-2CFC-04D52A084D49}"/>
              </a:ext>
            </a:extLst>
          </p:cNvPr>
          <p:cNvSpPr/>
          <p:nvPr/>
        </p:nvSpPr>
        <p:spPr>
          <a:xfrm>
            <a:off x="9239845" y="5193229"/>
            <a:ext cx="2092750" cy="1188271"/>
          </a:xfrm>
          <a:prstGeom prst="borderCallout1">
            <a:avLst>
              <a:gd name="adj1" fmla="val -2104"/>
              <a:gd name="adj2" fmla="val 84529"/>
              <a:gd name="adj3" fmla="val -123508"/>
              <a:gd name="adj4" fmla="val 70638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200" dirty="0"/>
              <a:t>ルビナスパイク環境は</a:t>
            </a:r>
            <a:r>
              <a:rPr lang="en-US" altLang="ja-JP" sz="1200" dirty="0"/>
              <a:t>10.156.96.202</a:t>
            </a:r>
            <a:r>
              <a:rPr lang="ja-JP" altLang="en-US" sz="1200" dirty="0"/>
              <a:t>に対してセキュリティグループを仕掛けてください。</a:t>
            </a:r>
            <a:endParaRPr kumimoji="1" lang="en-US" altLang="ja-JP" sz="12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89B1862-545A-F816-C872-164A59F4F6A2}"/>
              </a:ext>
            </a:extLst>
          </p:cNvPr>
          <p:cNvSpPr txBox="1"/>
          <p:nvPr/>
        </p:nvSpPr>
        <p:spPr>
          <a:xfrm>
            <a:off x="2322576" y="3285136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通信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DAA2E94-2868-199F-2536-E8BF2563E9EE}"/>
              </a:ext>
            </a:extLst>
          </p:cNvPr>
          <p:cNvSpPr txBox="1"/>
          <p:nvPr/>
        </p:nvSpPr>
        <p:spPr>
          <a:xfrm>
            <a:off x="8695239" y="2978151"/>
            <a:ext cx="71996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通信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347305E-9EF7-C2BB-8D02-79B658131C46}"/>
              </a:ext>
            </a:extLst>
          </p:cNvPr>
          <p:cNvSpPr txBox="1"/>
          <p:nvPr/>
        </p:nvSpPr>
        <p:spPr>
          <a:xfrm>
            <a:off x="3161830" y="4744406"/>
            <a:ext cx="27816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アイネス社のアドレス管理表</a:t>
            </a:r>
            <a:endParaRPr kumimoji="1" lang="en-US" altLang="ja-JP" sz="1200" dirty="0"/>
          </a:p>
          <a:p>
            <a:r>
              <a:rPr lang="ja-JP" altLang="en-US" sz="1200" dirty="0"/>
              <a:t>　</a:t>
            </a:r>
            <a:r>
              <a:rPr lang="ja-JP" altLang="en-US" sz="1200" dirty="0">
                <a:solidFill>
                  <a:srgbClr val="FF0000"/>
                </a:solidFill>
              </a:rPr>
              <a:t>★新規</a:t>
            </a:r>
            <a:r>
              <a:rPr lang="en-US" altLang="ja-JP" sz="1200" dirty="0">
                <a:solidFill>
                  <a:srgbClr val="FF0000"/>
                </a:solidFill>
              </a:rPr>
              <a:t>2</a:t>
            </a:r>
            <a:r>
              <a:rPr lang="ja-JP" altLang="en-US" sz="1200" dirty="0">
                <a:solidFill>
                  <a:srgbClr val="FF0000"/>
                </a:solidFill>
              </a:rPr>
              <a:t>点に対する割り当てが必要</a:t>
            </a:r>
            <a:endParaRPr kumimoji="1" lang="ja-JP" altLang="en-US" sz="1200" dirty="0">
              <a:solidFill>
                <a:srgbClr val="FF0000"/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F3278B2-8711-D48D-230A-7290C441196E}"/>
              </a:ext>
            </a:extLst>
          </p:cNvPr>
          <p:cNvSpPr txBox="1"/>
          <p:nvPr/>
        </p:nvSpPr>
        <p:spPr>
          <a:xfrm>
            <a:off x="4128940" y="3182244"/>
            <a:ext cx="1857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dirty="0">
                <a:solidFill>
                  <a:srgbClr val="FF0000"/>
                </a:solidFill>
              </a:rPr>
              <a:t>IP</a:t>
            </a:r>
            <a:r>
              <a:rPr kumimoji="1" lang="ja-JP" altLang="en-US" b="1" dirty="0">
                <a:solidFill>
                  <a:srgbClr val="FF0000"/>
                </a:solidFill>
              </a:rPr>
              <a:t>：</a:t>
            </a:r>
            <a:r>
              <a:rPr kumimoji="1" lang="en-US" altLang="ja-JP" b="1" dirty="0">
                <a:solidFill>
                  <a:srgbClr val="FF0000"/>
                </a:solidFill>
              </a:rPr>
              <a:t>xxx</a:t>
            </a:r>
            <a:endParaRPr kumimoji="1" lang="ja-JP" altLang="en-US" b="1" dirty="0">
              <a:solidFill>
                <a:srgbClr val="FF0000"/>
              </a:solidFill>
            </a:endParaRP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052C5753-F1A6-BFC0-6772-33958EA1FDCD}"/>
              </a:ext>
            </a:extLst>
          </p:cNvPr>
          <p:cNvCxnSpPr>
            <a:cxnSpLocks/>
          </p:cNvCxnSpPr>
          <p:nvPr/>
        </p:nvCxnSpPr>
        <p:spPr>
          <a:xfrm>
            <a:off x="5107128" y="3094923"/>
            <a:ext cx="5443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6956B6BF-544C-C54B-191D-E42E426F00D6}"/>
              </a:ext>
            </a:extLst>
          </p:cNvPr>
          <p:cNvCxnSpPr>
            <a:cxnSpLocks/>
          </p:cNvCxnSpPr>
          <p:nvPr/>
        </p:nvCxnSpPr>
        <p:spPr>
          <a:xfrm>
            <a:off x="5107128" y="3375095"/>
            <a:ext cx="544398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8FF4E06B-CE74-6DCB-85D6-A50098421BB0}"/>
              </a:ext>
            </a:extLst>
          </p:cNvPr>
          <p:cNvSpPr txBox="1"/>
          <p:nvPr/>
        </p:nvSpPr>
        <p:spPr>
          <a:xfrm>
            <a:off x="5688899" y="3243446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変換後の宛先</a:t>
            </a:r>
            <a:r>
              <a:rPr kumimoji="1" lang="en-US" altLang="ja-JP" sz="1200" dirty="0"/>
              <a:t>IP</a:t>
            </a:r>
            <a:r>
              <a:rPr kumimoji="1" lang="ja-JP" altLang="en-US" sz="1200" dirty="0"/>
              <a:t>②：</a:t>
            </a:r>
            <a:r>
              <a:rPr kumimoji="1" lang="en-US" altLang="ja-JP" sz="1200" dirty="0"/>
              <a:t>10.226.51.225/32</a:t>
            </a:r>
            <a:endParaRPr kumimoji="1" lang="ja-JP" altLang="en-US" sz="1200" dirty="0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7D88AC9-9351-CD01-FE62-B5C2C2061C3F}"/>
              </a:ext>
            </a:extLst>
          </p:cNvPr>
          <p:cNvSpPr txBox="1"/>
          <p:nvPr/>
        </p:nvSpPr>
        <p:spPr>
          <a:xfrm>
            <a:off x="5688899" y="2979565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変換後の宛先</a:t>
            </a:r>
            <a:r>
              <a:rPr kumimoji="1" lang="en-US" altLang="ja-JP" sz="1200" dirty="0"/>
              <a:t>IP</a:t>
            </a:r>
            <a:r>
              <a:rPr kumimoji="1" lang="ja-JP" altLang="en-US" sz="1200" dirty="0"/>
              <a:t>①：</a:t>
            </a:r>
            <a:r>
              <a:rPr kumimoji="1" lang="en-US" altLang="ja-JP" sz="1200" dirty="0"/>
              <a:t>10.226.51.75/32</a:t>
            </a:r>
            <a:endParaRPr kumimoji="1" lang="ja-JP" altLang="en-US" sz="1200" dirty="0"/>
          </a:p>
        </p:txBody>
      </p:sp>
      <p:cxnSp>
        <p:nvCxnSpPr>
          <p:cNvPr id="39" name="コネクタ: カギ線 38">
            <a:extLst>
              <a:ext uri="{FF2B5EF4-FFF2-40B4-BE49-F238E27FC236}">
                <a16:creationId xmlns:a16="http://schemas.microsoft.com/office/drawing/2014/main" id="{86B4C5E7-3921-CFF4-567B-E34F3FF730AE}"/>
              </a:ext>
            </a:extLst>
          </p:cNvPr>
          <p:cNvCxnSpPr>
            <a:endCxn id="31" idx="1"/>
          </p:cNvCxnSpPr>
          <p:nvPr/>
        </p:nvCxnSpPr>
        <p:spPr>
          <a:xfrm>
            <a:off x="1814660" y="3423635"/>
            <a:ext cx="3076571" cy="321865"/>
          </a:xfrm>
          <a:prstGeom prst="bentConnector3">
            <a:avLst>
              <a:gd name="adj1" fmla="val -576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68BEE1E5-D400-FADA-DFD8-6C598C106407}"/>
              </a:ext>
            </a:extLst>
          </p:cNvPr>
          <p:cNvSpPr txBox="1"/>
          <p:nvPr/>
        </p:nvSpPr>
        <p:spPr>
          <a:xfrm>
            <a:off x="2216058" y="3747954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送信元</a:t>
            </a:r>
            <a:r>
              <a:rPr kumimoji="1" lang="en-US" altLang="ja-JP" sz="1200" dirty="0"/>
              <a:t>IP</a:t>
            </a:r>
            <a:r>
              <a:rPr kumimoji="1" lang="ja-JP" altLang="en-US" sz="1200" dirty="0"/>
              <a:t>：</a:t>
            </a:r>
            <a:r>
              <a:rPr kumimoji="1" lang="en-US" altLang="ja-JP" sz="1200" dirty="0"/>
              <a:t>10.19.1.161</a:t>
            </a:r>
            <a:endParaRPr kumimoji="1" lang="ja-JP" altLang="en-US" sz="1200" dirty="0"/>
          </a:p>
        </p:txBody>
      </p:sp>
      <p:cxnSp>
        <p:nvCxnSpPr>
          <p:cNvPr id="43" name="コネクタ: カギ線 42">
            <a:extLst>
              <a:ext uri="{FF2B5EF4-FFF2-40B4-BE49-F238E27FC236}">
                <a16:creationId xmlns:a16="http://schemas.microsoft.com/office/drawing/2014/main" id="{572BC22F-5FA1-A6F9-8F43-C8C0B477543B}"/>
              </a:ext>
            </a:extLst>
          </p:cNvPr>
          <p:cNvCxnSpPr>
            <a:cxnSpLocks/>
            <a:endCxn id="27" idx="2"/>
          </p:cNvCxnSpPr>
          <p:nvPr/>
        </p:nvCxnSpPr>
        <p:spPr>
          <a:xfrm flipV="1">
            <a:off x="7792384" y="3402828"/>
            <a:ext cx="3629012" cy="32446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196CD18-8A1A-B8EF-7D7E-7C6B367987FC}"/>
              </a:ext>
            </a:extLst>
          </p:cNvPr>
          <p:cNvSpPr txBox="1"/>
          <p:nvPr/>
        </p:nvSpPr>
        <p:spPr>
          <a:xfrm>
            <a:off x="3784077" y="2728765"/>
            <a:ext cx="278169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/>
              <a:t>宛先変換</a:t>
            </a:r>
          </a:p>
        </p:txBody>
      </p:sp>
      <p:sp>
        <p:nvSpPr>
          <p:cNvPr id="54" name="吹き出し: 線 53">
            <a:extLst>
              <a:ext uri="{FF2B5EF4-FFF2-40B4-BE49-F238E27FC236}">
                <a16:creationId xmlns:a16="http://schemas.microsoft.com/office/drawing/2014/main" id="{0457DEE4-E067-0265-FDEE-E395DDC3BAB3}"/>
              </a:ext>
            </a:extLst>
          </p:cNvPr>
          <p:cNvSpPr/>
          <p:nvPr/>
        </p:nvSpPr>
        <p:spPr>
          <a:xfrm>
            <a:off x="6460820" y="5207224"/>
            <a:ext cx="1788573" cy="844307"/>
          </a:xfrm>
          <a:prstGeom prst="borderCallout1">
            <a:avLst>
              <a:gd name="adj1" fmla="val -10752"/>
              <a:gd name="adj2" fmla="val 94776"/>
              <a:gd name="adj3" fmla="val -200057"/>
              <a:gd name="adj4" fmla="val 93532"/>
            </a:avLst>
          </a:prstGeom>
          <a:solidFill>
            <a:schemeClr val="bg1"/>
          </a:solidFill>
          <a:ln>
            <a:solidFill>
              <a:schemeClr val="tx1"/>
            </a:solidFill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1600" dirty="0"/>
              <a:t>変換後の</a:t>
            </a:r>
            <a:r>
              <a:rPr lang="en-US" altLang="ja-JP" sz="1600" dirty="0"/>
              <a:t>USMH</a:t>
            </a:r>
            <a:r>
              <a:rPr lang="ja-JP" altLang="en-US" sz="1600" dirty="0"/>
              <a:t>網側のアドレスはこちら</a:t>
            </a:r>
            <a:endParaRPr kumimoji="1" lang="en-US" altLang="ja-JP" sz="1600" dirty="0"/>
          </a:p>
        </p:txBody>
      </p:sp>
      <p:cxnSp>
        <p:nvCxnSpPr>
          <p:cNvPr id="58" name="直線矢印コネクタ 57">
            <a:extLst>
              <a:ext uri="{FF2B5EF4-FFF2-40B4-BE49-F238E27FC236}">
                <a16:creationId xmlns:a16="http://schemas.microsoft.com/office/drawing/2014/main" id="{2907985B-8AD5-8627-13A7-FF182461A8E6}"/>
              </a:ext>
            </a:extLst>
          </p:cNvPr>
          <p:cNvCxnSpPr>
            <a:cxnSpLocks/>
          </p:cNvCxnSpPr>
          <p:nvPr/>
        </p:nvCxnSpPr>
        <p:spPr>
          <a:xfrm flipH="1">
            <a:off x="5688899" y="5606705"/>
            <a:ext cx="738612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6CB2953D-9BD7-48BD-D316-CB5061D9A79D}"/>
              </a:ext>
            </a:extLst>
          </p:cNvPr>
          <p:cNvSpPr txBox="1"/>
          <p:nvPr/>
        </p:nvSpPr>
        <p:spPr>
          <a:xfrm>
            <a:off x="5358512" y="5727655"/>
            <a:ext cx="1355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1400" u="sng" dirty="0">
                <a:solidFill>
                  <a:srgbClr val="FF0000"/>
                </a:solidFill>
              </a:rPr>
              <a:t>★マッピング</a:t>
            </a:r>
            <a:endParaRPr kumimoji="1" lang="en-US" altLang="ja-JP" sz="1400" u="sng" dirty="0">
              <a:solidFill>
                <a:srgbClr val="FF0000"/>
              </a:solidFill>
            </a:endParaRPr>
          </a:p>
          <a:p>
            <a:pPr algn="ctr"/>
            <a:r>
              <a:rPr lang="ja-JP" altLang="en-US" sz="1400" u="sng" dirty="0">
                <a:solidFill>
                  <a:srgbClr val="FF0000"/>
                </a:solidFill>
              </a:rPr>
              <a:t>設計</a:t>
            </a:r>
            <a:endParaRPr kumimoji="1" lang="ja-JP" altLang="en-US" sz="1400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96738"/>
      </p:ext>
    </p:extLst>
  </p:cSld>
  <p:clrMapOvr>
    <a:masterClrMapping/>
  </p:clrMapOvr>
</p:sld>
</file>

<file path=ppt/theme/theme1.xml><?xml version="1.0" encoding="utf-8"?>
<a:theme xmlns:a="http://schemas.openxmlformats.org/drawingml/2006/main" name="agetech201505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ユーザー定義 1">
      <a:majorFont>
        <a:latin typeface="Microsoft JhengHei"/>
        <a:ea typeface="UD デジタル 教科書体 N"/>
        <a:cs typeface=""/>
      </a:majorFont>
      <a:minorFont>
        <a:latin typeface="Microsoft JhengHei"/>
        <a:ea typeface="UD デジタル 教科書体 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</a:ln>
        <a:effectLst/>
      </a:spPr>
      <a:bodyPr rtlCol="0" anchor="ctr"/>
      <a:lstStyle>
        <a:defPPr algn="ctr">
          <a:defRPr kumimoji="1" dirty="0"/>
        </a:defPPr>
      </a:lstStyle>
      <a:style>
        <a:lnRef idx="1">
          <a:schemeClr val="dk1"/>
        </a:lnRef>
        <a:fillRef idx="2">
          <a:schemeClr val="dk1"/>
        </a:fillRef>
        <a:effectRef idx="1">
          <a:schemeClr val="dk1"/>
        </a:effectRef>
        <a:fontRef idx="minor">
          <a:schemeClr val="dk1"/>
        </a:fontRef>
      </a:style>
    </a:spDef>
  </a:objectDefaults>
  <a:extraClrSchemeLst/>
  <a:extLst>
    <a:ext uri="{05A4C25C-085E-4340-85A3-A5531E510DB2}">
      <thm15:themeFamily xmlns:thm15="http://schemas.microsoft.com/office/thememl/2012/main" name="USMH2019W.potx" id="{39A807D5-7227-4637-AD91-A5C09E8F08AE}" vid="{6A0DDF00-6695-42EC-9B19-CA3D202F6EB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5e3b953-5d01-4699-a844-bb594f7e1949" xsi:nil="true"/>
    <lcf76f155ced4ddcb4097134ff3c332f xmlns="72a42bfa-3fae-4fe0-80a8-b57a66450ade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669DB54A0D55A74EB14825655CFEB70C" ma:contentTypeVersion="10" ma:contentTypeDescription="新しいドキュメントを作成します。" ma:contentTypeScope="" ma:versionID="7e18e1d02e21b4dde2e1e64f45b2b82b">
  <xsd:schema xmlns:xsd="http://www.w3.org/2001/XMLSchema" xmlns:xs="http://www.w3.org/2001/XMLSchema" xmlns:p="http://schemas.microsoft.com/office/2006/metadata/properties" xmlns:ns2="72a42bfa-3fae-4fe0-80a8-b57a66450ade" xmlns:ns3="55e3b953-5d01-4699-a844-bb594f7e1949" targetNamespace="http://schemas.microsoft.com/office/2006/metadata/properties" ma:root="true" ma:fieldsID="4464c7c2a0c2b366e2ba019cc890b499" ns2:_="" ns3:_="">
    <xsd:import namespace="72a42bfa-3fae-4fe0-80a8-b57a66450ade"/>
    <xsd:import namespace="55e3b953-5d01-4699-a844-bb594f7e1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a42bfa-3fae-4fe0-80a8-b57a66450a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06bef0e2-ccd2-4e75-9a04-7e89d13ad68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5e3b953-5d01-4699-a844-bb594f7e1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7b1f3b0-8423-4929-ab03-0a086e1f1807}" ma:internalName="TaxCatchAll" ma:showField="CatchAllData" ma:web="55e3b953-5d01-4699-a844-bb594f7e1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D883E2-CEE8-4734-A6C3-16A1C3D618CE}">
  <ds:schemaRefs>
    <ds:schemaRef ds:uri="72a42bfa-3fae-4fe0-80a8-b57a66450ade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55e3b953-5d01-4699-a844-bb594f7e1949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4C558223-B920-4F0C-9A86-93AC8D0082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2a42bfa-3fae-4fe0-80a8-b57a66450ade"/>
    <ds:schemaRef ds:uri="55e3b953-5d01-4699-a844-bb594f7e1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0F43DBB-D9EE-49E6-BA9D-809A03FFCE5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USMH2019W</Template>
  <TotalTime>5497</TotalTime>
  <Words>162</Words>
  <Application>Microsoft Office PowerPoint</Application>
  <PresentationFormat>ワイド画面</PresentationFormat>
  <Paragraphs>41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9" baseType="lpstr">
      <vt:lpstr>Meiryo UI</vt:lpstr>
      <vt:lpstr>Microsoft JhengHei</vt:lpstr>
      <vt:lpstr>ＭＳ Ｐゴシック</vt:lpstr>
      <vt:lpstr>UD デジタル 教科書体 N</vt:lpstr>
      <vt:lpstr>Arial</vt:lpstr>
      <vt:lpstr>Calibri</vt:lpstr>
      <vt:lpstr>Wingdings</vt:lpstr>
      <vt:lpstr>agetech201505</vt:lpstr>
      <vt:lpstr>新規NATが必要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説明資料</dc:title>
  <dc:creator>新川 太陽</dc:creator>
  <cp:lastModifiedBy>新川 太陽</cp:lastModifiedBy>
  <cp:revision>102</cp:revision>
  <dcterms:created xsi:type="dcterms:W3CDTF">2019-12-03T23:56:55Z</dcterms:created>
  <dcterms:modified xsi:type="dcterms:W3CDTF">2025-06-03T06:46:17Z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0x010100669DB54A0D55A74EB14825655CFEB70C</vt:lpwstr>
  </property>
  <property fmtid="{D5CDD505-2E9C-101B-9397-08002B2CF9AE}" pid="3" name="MediaServiceImageTags">
    <vt:lpwstr/>
  </property>
</Properties>
</file>