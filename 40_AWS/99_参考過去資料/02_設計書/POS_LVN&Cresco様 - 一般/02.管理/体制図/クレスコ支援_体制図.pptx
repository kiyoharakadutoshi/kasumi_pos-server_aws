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  <p:sldMasterId id="2147483658" r:id="rId5"/>
  </p:sldMasterIdLst>
  <p:notesMasterIdLst>
    <p:notesMasterId r:id="rId7"/>
  </p:notesMasterIdLst>
  <p:handoutMasterIdLst>
    <p:handoutMasterId r:id="rId8"/>
  </p:handoutMasterIdLst>
  <p:sldIdLst>
    <p:sldId id="354" r:id="rId6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68" y="-5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6876AC1-0BB4-4E06-8846-411199084AC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FA9E1F6-E5D5-409A-9D69-D761A18057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9E8813-2AC7-4164-88EF-D54B994206B4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116B02F-DCF4-4AD1-9086-8D95A4A94A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BFDD066-0D9E-45B5-AC24-6921F12C4D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19C6F-6FEE-4C59-8BE0-A4107FD4776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651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B1C4C-D59C-457D-ACC3-3F531BBD79EE}" type="datetimeFigureOut">
              <a:rPr kumimoji="1" lang="ja-JP" altLang="en-US" smtClean="0"/>
              <a:t>2025/5/15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21844-47FC-4A07-AE86-BC69E5FCF9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477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図 12" descr="図形&#10;&#10;中程度の精度で自動的に生成された説明">
            <a:extLst>
              <a:ext uri="{FF2B5EF4-FFF2-40B4-BE49-F238E27FC236}">
                <a16:creationId xmlns:a16="http://schemas.microsoft.com/office/drawing/2014/main" id="{E02E9073-92E3-4934-8912-3F50AB0B95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88" y="4586085"/>
            <a:ext cx="2714929" cy="77104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4378A25-106C-4BBA-BDEA-A9CD15291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65"/>
          <a:stretch/>
        </p:blipFill>
        <p:spPr>
          <a:xfrm>
            <a:off x="1" y="6457157"/>
            <a:ext cx="9905998" cy="41390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6D111DC-E715-4831-9ABA-FF5E1023EAC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6021" y="2741144"/>
            <a:ext cx="8482500" cy="621503"/>
          </a:xfrm>
        </p:spPr>
        <p:txBody>
          <a:bodyPr anchor="ctr" anchorCtr="0">
            <a:noAutofit/>
          </a:bodyPr>
          <a:lstStyle>
            <a:lvl1pPr algn="l">
              <a:defRPr sz="3200"/>
            </a:lvl1pPr>
          </a:lstStyle>
          <a:p>
            <a:r>
              <a:rPr kumimoji="1" lang="ja-JP" altLang="en-US"/>
              <a:t>タイトル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664747-CBE6-4C7F-A0A2-A3D1607712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6020" y="3412419"/>
            <a:ext cx="8482499" cy="360000"/>
          </a:xfrm>
        </p:spPr>
        <p:txBody>
          <a:bodyPr lIns="0" tIns="72000" rIns="0" bIns="0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サブタイトル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C3D01C-1C21-46AE-B5AB-C3F30D964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08333" y="4213031"/>
            <a:ext cx="1724161" cy="252000"/>
          </a:xfrm>
          <a:prstGeom prst="rect">
            <a:avLst/>
          </a:prstGeom>
        </p:spPr>
        <p:txBody>
          <a:bodyPr lIns="0" tIns="54000" rIns="0" bIns="0">
            <a:noAutofit/>
          </a:bodyPr>
          <a:lstStyle>
            <a:lvl1pPr algn="r">
              <a:defRPr sz="1400" b="1">
                <a:latin typeface="+mj-ea"/>
                <a:ea typeface="+mj-ea"/>
              </a:defRPr>
            </a:lvl1pPr>
          </a:lstStyle>
          <a:p>
            <a:r>
              <a:rPr lang="en-US" altLang="ja-JP"/>
              <a:t>202●</a:t>
            </a:r>
            <a:r>
              <a:rPr lang="ja-JP" altLang="en-US"/>
              <a:t>年●月●●日</a:t>
            </a:r>
          </a:p>
        </p:txBody>
      </p:sp>
    </p:spTree>
    <p:extLst>
      <p:ext uri="{BB962C8B-B14F-4D97-AF65-F5344CB8AC3E}">
        <p14:creationId xmlns:p14="http://schemas.microsoft.com/office/powerpoint/2010/main" val="770625195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D3887-8E85-421A-8629-4D394FE2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目次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551333-68CC-456B-8BD6-412410F5C2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200" y="1090799"/>
            <a:ext cx="9272250" cy="5220000"/>
          </a:xfrm>
        </p:spPr>
        <p:txBody>
          <a:bodyPr t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9497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1">
    <p:bg>
      <p:bgPr>
        <a:solidFill>
          <a:srgbClr val="FF6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E77EAE9-FC03-4E0E-BDED-9C93A0C3E9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306"/>
          <a:stretch/>
        </p:blipFill>
        <p:spPr>
          <a:xfrm>
            <a:off x="1" y="6480537"/>
            <a:ext cx="9905997" cy="39052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804B1C9-8DDE-427C-9F86-24616F287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890" y="2767819"/>
            <a:ext cx="8684221" cy="612000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802B473-0FD5-4CED-BDF6-52B6F498A98F}"/>
              </a:ext>
            </a:extLst>
          </p:cNvPr>
          <p:cNvSpPr txBox="1"/>
          <p:nvPr userDrawn="1"/>
        </p:nvSpPr>
        <p:spPr>
          <a:xfrm>
            <a:off x="35959" y="6585796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3356898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FE77EAE9-FC03-4E0E-BDED-9C93A0C3E9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167"/>
          <a:stretch/>
        </p:blipFill>
        <p:spPr>
          <a:xfrm>
            <a:off x="1" y="6481287"/>
            <a:ext cx="9905997" cy="400050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F4C0D35A-6612-2048-8986-63EE42F415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890" y="2767819"/>
            <a:ext cx="8684221" cy="612000"/>
          </a:xfrm>
        </p:spPr>
        <p:txBody>
          <a:bodyPr>
            <a:noAutofit/>
          </a:bodyPr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r>
              <a:rPr kumimoji="1" lang="ja-JP" altLang="en-US"/>
              <a:t>チャプタータイトル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5902EF1-47CE-4DD0-95EE-9E64E999070D}"/>
              </a:ext>
            </a:extLst>
          </p:cNvPr>
          <p:cNvSpPr txBox="1"/>
          <p:nvPr userDrawn="1"/>
        </p:nvSpPr>
        <p:spPr>
          <a:xfrm>
            <a:off x="35959" y="6585796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414642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5D3887-8E85-421A-8629-4D394FE2D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97551333-68CC-456B-8BD6-412410F5C2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4200" y="1090799"/>
            <a:ext cx="9272250" cy="5220000"/>
          </a:xfrm>
        </p:spPr>
        <p:txBody>
          <a:bodyPr t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2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6EA884A0-2E72-489E-B359-C5E6F5AF9D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965"/>
          <a:stretch/>
        </p:blipFill>
        <p:spPr>
          <a:xfrm>
            <a:off x="1" y="6457157"/>
            <a:ext cx="9905998" cy="413905"/>
          </a:xfrm>
          <a:prstGeom prst="rect">
            <a:avLst/>
          </a:prstGeom>
        </p:spPr>
      </p:pic>
      <p:pic>
        <p:nvPicPr>
          <p:cNvPr id="8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F35D2E46-A04E-4ECF-8392-7D40C7626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789" y="5352492"/>
            <a:ext cx="2349676" cy="667308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1BA4F5B-2DEA-4EF9-9C59-1868188646EC}"/>
              </a:ext>
            </a:extLst>
          </p:cNvPr>
          <p:cNvSpPr txBox="1"/>
          <p:nvPr userDrawn="1"/>
        </p:nvSpPr>
        <p:spPr>
          <a:xfrm>
            <a:off x="3445328" y="5028065"/>
            <a:ext cx="6074299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+mn-ea"/>
              </a:rPr>
              <a:t>【</a:t>
            </a:r>
            <a:r>
              <a:rPr kumimoji="1" lang="ja-JP" altLang="en-US" sz="1200">
                <a:latin typeface="+mn-ea"/>
              </a:rPr>
              <a:t>注意事項</a:t>
            </a:r>
            <a:r>
              <a:rPr kumimoji="1" lang="en-US" altLang="ja-JP" sz="1200">
                <a:latin typeface="+mn-ea"/>
              </a:rPr>
              <a:t>】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本資料上の当社（株式会社クレスコ）ブランドマークは、登録商標です。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本資料のデザインおよび内容の著作権は、当社に帰属します。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ja-JP" altLang="en-US" sz="1200">
                <a:latin typeface="+mn-ea"/>
              </a:rPr>
              <a:t>本資料は信頼できると思われる各種データを使用して作成しておりますが、当社が当該情報全ての正確性を保証するものではありません。本資料はステークホルダーの皆様への情報提供を目的としており、この目的から生じた結果や資料の信頼性に起因する損害について、当社は一切の責任を負いません。</a:t>
            </a:r>
          </a:p>
        </p:txBody>
      </p:sp>
    </p:spTree>
    <p:extLst>
      <p:ext uri="{BB962C8B-B14F-4D97-AF65-F5344CB8AC3E}">
        <p14:creationId xmlns:p14="http://schemas.microsoft.com/office/powerpoint/2010/main" val="283277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78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84B9C9F-288F-49E1-9A05-6902BC09B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60" y="91921"/>
            <a:ext cx="9272250" cy="612000"/>
          </a:xfrm>
          <a:prstGeom prst="rect">
            <a:avLst/>
          </a:prstGeom>
        </p:spPr>
        <p:txBody>
          <a:bodyPr vert="horz" wrap="none" lIns="0" tIns="108000" rIns="0" bIns="0" rtlCol="0" anchor="ctr">
            <a:noAutofit/>
          </a:bodyPr>
          <a:lstStyle/>
          <a:p>
            <a:r>
              <a:rPr kumimoji="1" lang="ja-JP" altLang="en-US"/>
              <a:t>ここにタイトルが入ります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9CBE53-9E83-4BD7-8F58-B026F3103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59" y="1089645"/>
            <a:ext cx="9272249" cy="522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</a:t>
            </a:r>
            <a:r>
              <a:rPr kumimoji="1" lang="en-US" altLang="ja-JP"/>
              <a:t>2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</a:t>
            </a:r>
            <a:r>
              <a:rPr kumimoji="1" lang="en-US" altLang="ja-JP"/>
              <a:t>3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</a:t>
            </a:r>
            <a:r>
              <a:rPr kumimoji="1" lang="en-US" altLang="ja-JP"/>
              <a:t>4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</a:t>
            </a:r>
            <a:r>
              <a:rPr kumimoji="1" lang="en-US" altLang="ja-JP"/>
              <a:t>5</a:t>
            </a:r>
            <a:r>
              <a:rPr kumimoji="1" lang="ja-JP" altLang="en-US"/>
              <a:t>レベル</a:t>
            </a:r>
            <a:r>
              <a:rPr kumimoji="1" lang="en-US" altLang="ja-JP"/>
              <a:t>v</a:t>
            </a:r>
            <a:endParaRPr kumimoji="1" lang="ja-JP" altLang="en-US"/>
          </a:p>
        </p:txBody>
      </p:sp>
      <p:pic>
        <p:nvPicPr>
          <p:cNvPr id="7" name="図 6" descr="図形&#10;&#10;中程度の精度で自動的に生成された説明">
            <a:extLst>
              <a:ext uri="{FF2B5EF4-FFF2-40B4-BE49-F238E27FC236}">
                <a16:creationId xmlns:a16="http://schemas.microsoft.com/office/drawing/2014/main" id="{3A3E1FC3-B323-4638-8A01-A5D8021F874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2411" y="6497580"/>
            <a:ext cx="1235543" cy="350894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D5C6E31-8AD8-451F-84B5-253C32D75962}"/>
              </a:ext>
            </a:extLst>
          </p:cNvPr>
          <p:cNvSpPr txBox="1"/>
          <p:nvPr userDrawn="1"/>
        </p:nvSpPr>
        <p:spPr>
          <a:xfrm>
            <a:off x="35959" y="6572461"/>
            <a:ext cx="41710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lang="en-US" altLang="ja-JP" sz="1050" smtClean="0"/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ja-JP" altLang="en-US" sz="1050"/>
          </a:p>
        </p:txBody>
      </p:sp>
    </p:spTree>
    <p:extLst>
      <p:ext uri="{BB962C8B-B14F-4D97-AF65-F5344CB8AC3E}">
        <p14:creationId xmlns:p14="http://schemas.microsoft.com/office/powerpoint/2010/main" val="1765671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kumimoji="1" sz="32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52000" algn="l" defTabSz="7200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tabLst>
          <a:tab pos="36000" algn="l"/>
        </a:tabLst>
        <a:defRPr kumimoji="1" sz="2800" b="1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1080000" indent="-216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2200" b="1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144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1600" b="1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980000" indent="-108000" algn="l" defTabSz="914400" rtl="0" eaLnBrk="1" latinLnBrk="0" hangingPunct="1">
        <a:lnSpc>
          <a:spcPct val="90000"/>
        </a:lnSpc>
        <a:spcBef>
          <a:spcPts val="500"/>
        </a:spcBef>
        <a:buClr>
          <a:schemeClr val="tx2"/>
        </a:buClr>
        <a:buSzPct val="80000"/>
        <a:buFont typeface="Wingdings" panose="05000000000000000000" pitchFamily="2" charset="2"/>
        <a:buChar char="l"/>
        <a:defRPr kumimoji="1" sz="1000" b="1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名刺, テキスト が含まれている画像&#10;&#10;自動的に生成された説明">
            <a:extLst>
              <a:ext uri="{FF2B5EF4-FFF2-40B4-BE49-F238E27FC236}">
                <a16:creationId xmlns:a16="http://schemas.microsoft.com/office/drawing/2014/main" id="{37941D14-8B08-4CC8-8B64-C0BCC07B62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911"/>
            <a:ext cx="9906000" cy="687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6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33EF9C0-8034-B939-0514-C0D9C56E5F42}"/>
              </a:ext>
            </a:extLst>
          </p:cNvPr>
          <p:cNvSpPr/>
          <p:nvPr/>
        </p:nvSpPr>
        <p:spPr>
          <a:xfrm>
            <a:off x="5384800" y="1516447"/>
            <a:ext cx="4281706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弊社体制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AE3F277-C6B0-0C96-DC08-14E2539D288F}"/>
              </a:ext>
            </a:extLst>
          </p:cNvPr>
          <p:cNvSpPr/>
          <p:nvPr/>
        </p:nvSpPr>
        <p:spPr>
          <a:xfrm>
            <a:off x="2843864" y="1512847"/>
            <a:ext cx="2336579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ルビナ社</a:t>
            </a:r>
            <a:r>
              <a:rPr lang="ja-JP" altLang="en-US" sz="853" b="1" u="sng" dirty="0"/>
              <a:t>様</a:t>
            </a:r>
            <a:endParaRPr lang="ja-JP" altLang="en-US" sz="853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66DDD2-89E5-8331-1F9F-C5D5BF1F3B6F}"/>
              </a:ext>
            </a:extLst>
          </p:cNvPr>
          <p:cNvSpPr txBox="1"/>
          <p:nvPr/>
        </p:nvSpPr>
        <p:spPr>
          <a:xfrm>
            <a:off x="3348055" y="3059190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インフラ責任者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大谷様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6B1A41C-CF2F-7970-952A-41EFBB7588DE}"/>
              </a:ext>
            </a:extLst>
          </p:cNvPr>
          <p:cNvSpPr txBox="1"/>
          <p:nvPr/>
        </p:nvSpPr>
        <p:spPr>
          <a:xfrm>
            <a:off x="3348055" y="1935019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</a:t>
            </a:r>
            <a:r>
              <a:rPr lang="en-US" altLang="ja-JP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PM</a:t>
            </a: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ファン　様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366DD63A-C36E-28FF-D493-F4459B88BF23}"/>
              </a:ext>
            </a:extLst>
          </p:cNvPr>
          <p:cNvSpPr/>
          <p:nvPr/>
        </p:nvSpPr>
        <p:spPr>
          <a:xfrm>
            <a:off x="7639361" y="2448309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en-US" altLang="ja-JP" sz="73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Creage</a:t>
            </a:r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ビジネス事業部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事業部長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畠 俊一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C8AB265-8889-01CE-B2FD-7E5463315D98}"/>
              </a:ext>
            </a:extLst>
          </p:cNvPr>
          <p:cNvSpPr/>
          <p:nvPr/>
        </p:nvSpPr>
        <p:spPr>
          <a:xfrm>
            <a:off x="7639361" y="3059190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en-US" altLang="ja-JP" sz="73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Creage</a:t>
            </a:r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ビジネス事業部第一部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部長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佐々木 英幸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AE4D4F0-91E1-00C5-BCA2-DCAE434B9E6F}"/>
              </a:ext>
            </a:extLst>
          </p:cNvPr>
          <p:cNvSpPr/>
          <p:nvPr/>
        </p:nvSpPr>
        <p:spPr>
          <a:xfrm>
            <a:off x="7639108" y="4246608"/>
            <a:ext cx="1789777" cy="450123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インフラリーダー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山本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1E2D255-93DF-B3A2-07B4-F4DE02F5C001}"/>
              </a:ext>
            </a:extLst>
          </p:cNvPr>
          <p:cNvCxnSpPr>
            <a:cxnSpLocks/>
          </p:cNvCxnSpPr>
          <p:nvPr/>
        </p:nvCxnSpPr>
        <p:spPr>
          <a:xfrm>
            <a:off x="8533996" y="2898432"/>
            <a:ext cx="0" cy="1607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FB34A29E-023F-390A-BF4E-19261592865C}"/>
              </a:ext>
            </a:extLst>
          </p:cNvPr>
          <p:cNvCxnSpPr>
            <a:cxnSpLocks/>
          </p:cNvCxnSpPr>
          <p:nvPr/>
        </p:nvCxnSpPr>
        <p:spPr>
          <a:xfrm flipH="1">
            <a:off x="8533989" y="3509313"/>
            <a:ext cx="561" cy="164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3" name="図 32" descr="図形&#10;&#10;中程度の精度で自動的に生成された説明">
            <a:extLst>
              <a:ext uri="{FF2B5EF4-FFF2-40B4-BE49-F238E27FC236}">
                <a16:creationId xmlns:a16="http://schemas.microsoft.com/office/drawing/2014/main" id="{F2071247-4A5F-E3E1-4271-F9F85B5CA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698" y="1523550"/>
            <a:ext cx="842415" cy="239246"/>
          </a:xfrm>
          <a:prstGeom prst="rect">
            <a:avLst/>
          </a:prstGeom>
        </p:spPr>
      </p:pic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1EF636BE-3F5A-F8A0-D8F8-D7D354EC319F}"/>
              </a:ext>
            </a:extLst>
          </p:cNvPr>
          <p:cNvSpPr/>
          <p:nvPr/>
        </p:nvSpPr>
        <p:spPr>
          <a:xfrm>
            <a:off x="7638842" y="3682283"/>
            <a:ext cx="1790309" cy="450123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プロジェクトマネージャー</a:t>
            </a:r>
            <a:r>
              <a:rPr lang="en-US" altLang="ja-JP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/</a:t>
            </a:r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営業</a:t>
            </a:r>
            <a:endParaRPr lang="en-US" altLang="ja-JP" sz="731" b="1" u="sng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武居</a:t>
            </a:r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CBE56428-4773-B251-F67F-85E7D74F2194}"/>
              </a:ext>
            </a:extLst>
          </p:cNvPr>
          <p:cNvSpPr/>
          <p:nvPr/>
        </p:nvSpPr>
        <p:spPr>
          <a:xfrm>
            <a:off x="7639108" y="4839333"/>
            <a:ext cx="1789777" cy="414300"/>
          </a:xfrm>
          <a:prstGeom prst="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ctr">
            <a:noAutofit/>
          </a:bodyPr>
          <a:lstStyle/>
          <a:p>
            <a:pPr algn="ctr"/>
            <a:r>
              <a:rPr lang="ja-JP" altLang="en-US" sz="731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インフラメンバー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毎田 智彦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大浦 未優</a:t>
            </a:r>
          </a:p>
        </p:txBody>
      </p: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CF3304D3-BCEC-C2C9-9203-BBB39876B6BC}"/>
              </a:ext>
            </a:extLst>
          </p:cNvPr>
          <p:cNvCxnSpPr>
            <a:cxnSpLocks/>
          </p:cNvCxnSpPr>
          <p:nvPr/>
        </p:nvCxnSpPr>
        <p:spPr>
          <a:xfrm>
            <a:off x="8533996" y="4696732"/>
            <a:ext cx="0" cy="14260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F6E39D4-CF02-3E4C-3AA8-B6BEEE078355}"/>
              </a:ext>
            </a:extLst>
          </p:cNvPr>
          <p:cNvSpPr/>
          <p:nvPr/>
        </p:nvSpPr>
        <p:spPr>
          <a:xfrm>
            <a:off x="7639361" y="1790241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デジタルモダナイゼーション本部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副本部長</a:t>
            </a:r>
            <a:endParaRPr lang="en-US" altLang="ja-JP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黒木 哲也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00610ED-3471-EAAD-610C-1C2ABD260919}"/>
              </a:ext>
            </a:extLst>
          </p:cNvPr>
          <p:cNvCxnSpPr>
            <a:cxnSpLocks/>
          </p:cNvCxnSpPr>
          <p:nvPr/>
        </p:nvCxnSpPr>
        <p:spPr>
          <a:xfrm>
            <a:off x="8533170" y="2240365"/>
            <a:ext cx="0" cy="2079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517AC16-1BF9-9197-ED5C-BBFA7189FD08}"/>
              </a:ext>
            </a:extLst>
          </p:cNvPr>
          <p:cNvSpPr/>
          <p:nvPr/>
        </p:nvSpPr>
        <p:spPr>
          <a:xfrm>
            <a:off x="6547810" y="4216938"/>
            <a:ext cx="3048099" cy="1199365"/>
          </a:xfrm>
          <a:prstGeom prst="roundRect">
            <a:avLst>
              <a:gd name="adj" fmla="val 2499"/>
            </a:avLst>
          </a:prstGeom>
          <a:noFill/>
          <a:ln w="25400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sz="81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プロジェクト体制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559F912F-E6C6-0639-D0B2-59D6ECC5B27A}"/>
              </a:ext>
            </a:extLst>
          </p:cNvPr>
          <p:cNvCxnSpPr>
            <a:cxnSpLocks/>
          </p:cNvCxnSpPr>
          <p:nvPr/>
        </p:nvCxnSpPr>
        <p:spPr>
          <a:xfrm>
            <a:off x="8533863" y="4123469"/>
            <a:ext cx="0" cy="123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86C231D-C016-C7A9-D56B-BD9DE9FE6203}"/>
              </a:ext>
            </a:extLst>
          </p:cNvPr>
          <p:cNvSpPr/>
          <p:nvPr/>
        </p:nvSpPr>
        <p:spPr>
          <a:xfrm>
            <a:off x="5586751" y="3051077"/>
            <a:ext cx="1789272" cy="4501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anchor="ctr">
            <a:noAutofit/>
          </a:bodyPr>
          <a:lstStyle/>
          <a:p>
            <a:pPr algn="ctr"/>
            <a:endParaRPr lang="ja-JP" altLang="en-US" sz="73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金融ビジネス本部</a:t>
            </a:r>
          </a:p>
          <a:p>
            <a:pPr algn="ctr"/>
            <a:r>
              <a:rPr lang="ja-JP" altLang="en-US" sz="73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遠藤 幸二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D54E8AE-9B49-F37C-F7E2-0948F991823E}"/>
              </a:ext>
            </a:extLst>
          </p:cNvPr>
          <p:cNvSpPr txBox="1"/>
          <p:nvPr/>
        </p:nvSpPr>
        <p:spPr>
          <a:xfrm>
            <a:off x="3348055" y="2484264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アプリ担当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キヨハラ　様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9E49186E-4FE8-4740-4F5E-2F73EF61A539}"/>
              </a:ext>
            </a:extLst>
          </p:cNvPr>
          <p:cNvSpPr/>
          <p:nvPr/>
        </p:nvSpPr>
        <p:spPr>
          <a:xfrm>
            <a:off x="177078" y="1512847"/>
            <a:ext cx="2336579" cy="4019687"/>
          </a:xfrm>
          <a:prstGeom prst="roundRect">
            <a:avLst>
              <a:gd name="adj" fmla="val 981"/>
            </a:avLst>
          </a:prstGeom>
          <a:noFill/>
          <a:ln w="317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sz="853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USMH</a:t>
            </a:r>
            <a:r>
              <a:rPr lang="ja-JP" altLang="en-US" sz="853" b="1" u="sng" dirty="0"/>
              <a:t>様</a:t>
            </a:r>
            <a:endParaRPr lang="ja-JP" altLang="en-US" sz="853" b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E653629-C778-DE8E-9195-5AE94A7E130B}"/>
              </a:ext>
            </a:extLst>
          </p:cNvPr>
          <p:cNvSpPr txBox="1"/>
          <p:nvPr/>
        </p:nvSpPr>
        <p:spPr>
          <a:xfrm>
            <a:off x="627709" y="3059190"/>
            <a:ext cx="1367367" cy="46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統括マネージャー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角野 泰次様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FE4BD098-7730-0623-F449-DE7BF3C6B6F8}"/>
              </a:ext>
            </a:extLst>
          </p:cNvPr>
          <p:cNvSpPr txBox="1"/>
          <p:nvPr/>
        </p:nvSpPr>
        <p:spPr>
          <a:xfrm>
            <a:off x="627709" y="4246608"/>
            <a:ext cx="1367367" cy="94541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プロジェクトメンバー</a:t>
            </a:r>
            <a:endParaRPr lang="en-US" altLang="ja-JP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安藤 元一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杉本 茂和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渡辺 健太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zh-TW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新川 太陽</a:t>
            </a:r>
            <a:r>
              <a:rPr lang="ja-JP" altLang="en-US" sz="813" dirty="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様</a:t>
            </a:r>
            <a:endParaRPr lang="zh-TW" altLang="en-US" sz="813" dirty="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1DE208F-C49B-E1D4-28D4-591C6B4530F7}"/>
              </a:ext>
            </a:extLst>
          </p:cNvPr>
          <p:cNvCxnSpPr>
            <a:cxnSpLocks/>
            <a:stCxn id="22" idx="2"/>
            <a:endCxn id="26" idx="0"/>
          </p:cNvCxnSpPr>
          <p:nvPr/>
        </p:nvCxnSpPr>
        <p:spPr>
          <a:xfrm>
            <a:off x="1311393" y="3527190"/>
            <a:ext cx="0" cy="719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タイトル 1">
            <a:extLst>
              <a:ext uri="{FF2B5EF4-FFF2-40B4-BE49-F238E27FC236}">
                <a16:creationId xmlns:a16="http://schemas.microsoft.com/office/drawing/2014/main" id="{B1C774D2-30B9-AEC8-43A4-CC717935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60" y="91921"/>
            <a:ext cx="9272250" cy="612000"/>
          </a:xfrm>
        </p:spPr>
        <p:txBody>
          <a:bodyPr/>
          <a:lstStyle/>
          <a:p>
            <a:r>
              <a:rPr kumimoji="1" lang="ja-JP" altLang="en-US" dirty="0"/>
              <a:t>４．体制図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86E546E1-27CE-704B-7A32-665BF90DE73C}"/>
              </a:ext>
            </a:extLst>
          </p:cNvPr>
          <p:cNvCxnSpPr>
            <a:stCxn id="22" idx="3"/>
            <a:endCxn id="6" idx="1"/>
          </p:cNvCxnSpPr>
          <p:nvPr/>
        </p:nvCxnSpPr>
        <p:spPr>
          <a:xfrm>
            <a:off x="1995076" y="3293190"/>
            <a:ext cx="1352979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3DCDAA75-43C1-5AC5-467A-8028287FF60C}"/>
              </a:ext>
            </a:extLst>
          </p:cNvPr>
          <p:cNvCxnSpPr>
            <a:cxnSpLocks/>
            <a:stCxn id="6" idx="3"/>
            <a:endCxn id="20" idx="1"/>
          </p:cNvCxnSpPr>
          <p:nvPr/>
        </p:nvCxnSpPr>
        <p:spPr>
          <a:xfrm>
            <a:off x="4715422" y="3293190"/>
            <a:ext cx="2923686" cy="1178480"/>
          </a:xfrm>
          <a:prstGeom prst="bentConnector3">
            <a:avLst>
              <a:gd name="adj1" fmla="val 8589"/>
            </a:avLst>
          </a:prstGeom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896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Cresco４">
      <a:dk1>
        <a:srgbClr val="000000"/>
      </a:dk1>
      <a:lt1>
        <a:srgbClr val="FFFFFF"/>
      </a:lt1>
      <a:dk2>
        <a:srgbClr val="FF643C"/>
      </a:dk2>
      <a:lt2>
        <a:srgbClr val="FFFFFF"/>
      </a:lt2>
      <a:accent1>
        <a:srgbClr val="AEBDCC"/>
      </a:accent1>
      <a:accent2>
        <a:srgbClr val="FF643C"/>
      </a:accent2>
      <a:accent3>
        <a:srgbClr val="FF2D4B"/>
      </a:accent3>
      <a:accent4>
        <a:srgbClr val="FFC300"/>
      </a:accent4>
      <a:accent5>
        <a:srgbClr val="3CD278"/>
      </a:accent5>
      <a:accent6>
        <a:srgbClr val="0078F0"/>
      </a:accent6>
      <a:hlink>
        <a:srgbClr val="0078F0"/>
      </a:hlink>
      <a:folHlink>
        <a:srgbClr val="AEBDCC"/>
      </a:folHlink>
    </a:clrScheme>
    <a:fontScheme name="Cresco">
      <a:majorFont>
        <a:latin typeface="Verdana"/>
        <a:ea typeface="メイリオ"/>
        <a:cs typeface=""/>
      </a:majorFont>
      <a:minorFont>
        <a:latin typeface="Verdana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esco_PPT_Template_A4_A.pptx" id="{BD657E54-838A-48ED-9972-8E8D4AFFBE53}" vid="{6CFBC0B7-3212-4A5F-AB38-C33B36D311BB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7abda-15dd-4e37-8275-3b7fb2897b65" xsi:nil="true"/>
    <lcf76f155ced4ddcb4097134ff3c332f xmlns="74a0992f-8328-4daf-870b-3d2b13d3e94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D65EA5F-2389-4165-9BCB-B44D13C00D1F}"/>
</file>

<file path=customXml/itemProps2.xml><?xml version="1.0" encoding="utf-8"?>
<ds:datastoreItem xmlns:ds="http://schemas.openxmlformats.org/officeDocument/2006/customXml" ds:itemID="{A2F89D39-7C0C-4135-A86C-4273DDC47D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AA8465-A0EC-455F-A868-E4535A2DAFB6}">
  <ds:schemaRefs>
    <ds:schemaRef ds:uri="3985ffb3-52ac-4a5c-9da1-3144f3084e90"/>
    <ds:schemaRef ds:uri="39fff5b6-b453-4afe-b6c0-67af6e060b2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PPTテンプレート_A4_A</Template>
  <TotalTime>0</TotalTime>
  <Words>79</Words>
  <Application>Microsoft Office PowerPoint</Application>
  <PresentationFormat>A4 210 x 297 mm</PresentationFormat>
  <Paragraphs>39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Meiryo UI</vt:lpstr>
      <vt:lpstr>メイリオ</vt:lpstr>
      <vt:lpstr>游ゴシック</vt:lpstr>
      <vt:lpstr>Arial</vt:lpstr>
      <vt:lpstr>Verdana</vt:lpstr>
      <vt:lpstr>Wingdings</vt:lpstr>
      <vt:lpstr>Office テーマ</vt:lpstr>
      <vt:lpstr>1_デザインの設定</vt:lpstr>
      <vt:lpstr>４．体制図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プロジェクトタイトル</dc:title>
  <dc:creator>広報 榎本 悠</dc:creator>
  <cp:lastModifiedBy>CB-1 山本 大生</cp:lastModifiedBy>
  <cp:revision>4</cp:revision>
  <dcterms:created xsi:type="dcterms:W3CDTF">2022-03-25T10:56:14Z</dcterms:created>
  <dcterms:modified xsi:type="dcterms:W3CDTF">2025-05-15T10:56:11Z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