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4"/>
    <p:sldMasterId id="2147483668" r:id="rId5"/>
  </p:sldMasterIdLst>
  <p:notesMasterIdLst>
    <p:notesMasterId r:id="rId18"/>
  </p:notesMasterIdLst>
  <p:handoutMasterIdLst>
    <p:handoutMasterId r:id="rId19"/>
  </p:handoutMasterIdLst>
  <p:sldIdLst>
    <p:sldId id="298" r:id="rId6"/>
    <p:sldId id="271" r:id="rId7"/>
    <p:sldId id="306" r:id="rId8"/>
    <p:sldId id="320" r:id="rId9"/>
    <p:sldId id="347" r:id="rId10"/>
    <p:sldId id="341" r:id="rId11"/>
    <p:sldId id="348" r:id="rId12"/>
    <p:sldId id="346" r:id="rId13"/>
    <p:sldId id="349" r:id="rId14"/>
    <p:sldId id="350" r:id="rId15"/>
    <p:sldId id="351" r:id="rId16"/>
    <p:sldId id="297" r:id="rId17"/>
  </p:sldIdLst>
  <p:sldSz cx="12192000" cy="6858000"/>
  <p:notesSz cx="7104063"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C47B63-5BBC-4635-91E8-AC2866347682}" v="15" dt="2025-06-04T02:28:21.31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918" autoAdjust="0"/>
    <p:restoredTop sz="94660"/>
  </p:normalViewPr>
  <p:slideViewPr>
    <p:cSldViewPr snapToGrid="0">
      <p:cViewPr varScale="1">
        <p:scale>
          <a:sx n="64" d="100"/>
          <a:sy n="64" d="100"/>
        </p:scale>
        <p:origin x="1096" y="48"/>
      </p:cViewPr>
      <p:guideLst>
        <p:guide orient="horz" pos="2160"/>
        <p:guide pos="3840"/>
      </p:guideLst>
    </p:cSldViewPr>
  </p:slideViewPr>
  <p:notesTextViewPr>
    <p:cViewPr>
      <p:scale>
        <a:sx n="1" d="1"/>
        <a:sy n="1" d="1"/>
      </p:scale>
      <p:origin x="0" y="0"/>
    </p:cViewPr>
  </p:notesTextViewPr>
  <p:notesViewPr>
    <p:cSldViewPr snapToGrid="0">
      <p:cViewPr varScale="1">
        <p:scale>
          <a:sx n="50" d="100"/>
          <a:sy n="50" d="100"/>
        </p:scale>
        <p:origin x="2708" y="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B-1 山本 泰誠" userId="f22f08bd-957b-45e9-be23-5600e820a3b4" providerId="ADAL" clId="{AAC47B63-5BBC-4635-91E8-AC2866347682}"/>
    <pc:docChg chg="custSel addSld modSld">
      <pc:chgData name="CB-1 山本 泰誠" userId="f22f08bd-957b-45e9-be23-5600e820a3b4" providerId="ADAL" clId="{AAC47B63-5BBC-4635-91E8-AC2866347682}" dt="2025-06-04T02:36:58.467" v="2962" actId="15"/>
      <pc:docMkLst>
        <pc:docMk/>
      </pc:docMkLst>
      <pc:sldChg chg="addSp modSp">
        <pc:chgData name="CB-1 山本 泰誠" userId="f22f08bd-957b-45e9-be23-5600e820a3b4" providerId="ADAL" clId="{AAC47B63-5BBC-4635-91E8-AC2866347682}" dt="2025-06-04T02:28:21.313" v="2961" actId="571"/>
        <pc:sldMkLst>
          <pc:docMk/>
          <pc:sldMk cId="869394132" sldId="306"/>
        </pc:sldMkLst>
        <pc:spChg chg="add mod">
          <ac:chgData name="CB-1 山本 泰誠" userId="f22f08bd-957b-45e9-be23-5600e820a3b4" providerId="ADAL" clId="{AAC47B63-5BBC-4635-91E8-AC2866347682}" dt="2025-06-04T02:28:21.313" v="2961" actId="571"/>
          <ac:spMkLst>
            <pc:docMk/>
            <pc:sldMk cId="869394132" sldId="306"/>
            <ac:spMk id="2" creationId="{4E6CF47A-0A26-98C0-0504-6BB86E6B15D5}"/>
          </ac:spMkLst>
        </pc:spChg>
        <pc:spChg chg="mod">
          <ac:chgData name="CB-1 山本 泰誠" userId="f22f08bd-957b-45e9-be23-5600e820a3b4" providerId="ADAL" clId="{AAC47B63-5BBC-4635-91E8-AC2866347682}" dt="2025-06-04T02:28:21.313" v="2961" actId="571"/>
          <ac:spMkLst>
            <pc:docMk/>
            <pc:sldMk cId="869394132" sldId="306"/>
            <ac:spMk id="4" creationId="{F6A70D1F-5DF1-419F-D7A4-CB58AF943EF7}"/>
          </ac:spMkLst>
        </pc:spChg>
        <pc:grpChg chg="mod">
          <ac:chgData name="CB-1 山本 泰誠" userId="f22f08bd-957b-45e9-be23-5600e820a3b4" providerId="ADAL" clId="{AAC47B63-5BBC-4635-91E8-AC2866347682}" dt="2025-06-04T02:28:21.313" v="2961" actId="571"/>
          <ac:grpSpMkLst>
            <pc:docMk/>
            <pc:sldMk cId="869394132" sldId="306"/>
            <ac:grpSpMk id="3" creationId="{80AC9FA4-1B50-987B-50BC-E0871A963258}"/>
          </ac:grpSpMkLst>
        </pc:grpChg>
        <pc:picChg chg="mod">
          <ac:chgData name="CB-1 山本 泰誠" userId="f22f08bd-957b-45e9-be23-5600e820a3b4" providerId="ADAL" clId="{AAC47B63-5BBC-4635-91E8-AC2866347682}" dt="2025-06-04T02:28:21.313" v="2961" actId="571"/>
          <ac:picMkLst>
            <pc:docMk/>
            <pc:sldMk cId="869394132" sldId="306"/>
            <ac:picMk id="6" creationId="{14001E11-57BE-9993-B429-FD433C679E15}"/>
          </ac:picMkLst>
        </pc:picChg>
        <pc:picChg chg="add mod">
          <ac:chgData name="CB-1 山本 泰誠" userId="f22f08bd-957b-45e9-be23-5600e820a3b4" providerId="ADAL" clId="{AAC47B63-5BBC-4635-91E8-AC2866347682}" dt="2025-06-04T02:28:21.313" v="2961" actId="571"/>
          <ac:picMkLst>
            <pc:docMk/>
            <pc:sldMk cId="869394132" sldId="306"/>
            <ac:picMk id="10" creationId="{E5734744-0D77-BB98-D500-7F5C149DCF90}"/>
          </ac:picMkLst>
        </pc:picChg>
      </pc:sldChg>
      <pc:sldChg chg="modSp mod">
        <pc:chgData name="CB-1 山本 泰誠" userId="f22f08bd-957b-45e9-be23-5600e820a3b4" providerId="ADAL" clId="{AAC47B63-5BBC-4635-91E8-AC2866347682}" dt="2025-06-04T00:56:18.530" v="2847" actId="20577"/>
        <pc:sldMkLst>
          <pc:docMk/>
          <pc:sldMk cId="436381597" sldId="341"/>
        </pc:sldMkLst>
        <pc:spChg chg="mod">
          <ac:chgData name="CB-1 山本 泰誠" userId="f22f08bd-957b-45e9-be23-5600e820a3b4" providerId="ADAL" clId="{AAC47B63-5BBC-4635-91E8-AC2866347682}" dt="2025-06-04T00:56:18.530" v="2847" actId="20577"/>
          <ac:spMkLst>
            <pc:docMk/>
            <pc:sldMk cId="436381597" sldId="341"/>
            <ac:spMk id="13" creationId="{0426CF02-A1B6-42DD-83B4-4C27332771D0}"/>
          </ac:spMkLst>
        </pc:spChg>
      </pc:sldChg>
      <pc:sldChg chg="modSp mod">
        <pc:chgData name="CB-1 山本 泰誠" userId="f22f08bd-957b-45e9-be23-5600e820a3b4" providerId="ADAL" clId="{AAC47B63-5BBC-4635-91E8-AC2866347682}" dt="2025-06-03T09:15:34.215" v="2621" actId="20577"/>
        <pc:sldMkLst>
          <pc:docMk/>
          <pc:sldMk cId="3133651695" sldId="348"/>
        </pc:sldMkLst>
        <pc:spChg chg="mod">
          <ac:chgData name="CB-1 山本 泰誠" userId="f22f08bd-957b-45e9-be23-5600e820a3b4" providerId="ADAL" clId="{AAC47B63-5BBC-4635-91E8-AC2866347682}" dt="2025-06-03T09:15:34.215" v="2621" actId="20577"/>
          <ac:spMkLst>
            <pc:docMk/>
            <pc:sldMk cId="3133651695" sldId="348"/>
            <ac:spMk id="13" creationId="{978B9DC1-0D7C-01B6-992C-8A2A2A2D3118}"/>
          </ac:spMkLst>
        </pc:spChg>
      </pc:sldChg>
      <pc:sldChg chg="modSp mod">
        <pc:chgData name="CB-1 山本 泰誠" userId="f22f08bd-957b-45e9-be23-5600e820a3b4" providerId="ADAL" clId="{AAC47B63-5BBC-4635-91E8-AC2866347682}" dt="2025-06-04T01:01:52.390" v="2935" actId="20577"/>
        <pc:sldMkLst>
          <pc:docMk/>
          <pc:sldMk cId="1595435350" sldId="349"/>
        </pc:sldMkLst>
        <pc:spChg chg="mod">
          <ac:chgData name="CB-1 山本 泰誠" userId="f22f08bd-957b-45e9-be23-5600e820a3b4" providerId="ADAL" clId="{AAC47B63-5BBC-4635-91E8-AC2866347682}" dt="2025-06-04T01:01:52.390" v="2935" actId="20577"/>
          <ac:spMkLst>
            <pc:docMk/>
            <pc:sldMk cId="1595435350" sldId="349"/>
            <ac:spMk id="4" creationId="{9CE08ADD-068E-A5B1-3B3F-6037D30CA209}"/>
          </ac:spMkLst>
        </pc:spChg>
        <pc:spChg chg="mod">
          <ac:chgData name="CB-1 山本 泰誠" userId="f22f08bd-957b-45e9-be23-5600e820a3b4" providerId="ADAL" clId="{AAC47B63-5BBC-4635-91E8-AC2866347682}" dt="2025-06-03T09:15:55.799" v="2622" actId="255"/>
          <ac:spMkLst>
            <pc:docMk/>
            <pc:sldMk cId="1595435350" sldId="349"/>
            <ac:spMk id="5" creationId="{754B0B3F-4D00-2873-6A4C-12141DA5F33A}"/>
          </ac:spMkLst>
        </pc:spChg>
      </pc:sldChg>
      <pc:sldChg chg="addSp modSp mod">
        <pc:chgData name="CB-1 山本 泰誠" userId="f22f08bd-957b-45e9-be23-5600e820a3b4" providerId="ADAL" clId="{AAC47B63-5BBC-4635-91E8-AC2866347682}" dt="2025-06-04T02:36:58.467" v="2962" actId="15"/>
        <pc:sldMkLst>
          <pc:docMk/>
          <pc:sldMk cId="3096621458" sldId="350"/>
        </pc:sldMkLst>
        <pc:spChg chg="add">
          <ac:chgData name="CB-1 山本 泰誠" userId="f22f08bd-957b-45e9-be23-5600e820a3b4" providerId="ADAL" clId="{AAC47B63-5BBC-4635-91E8-AC2866347682}" dt="2025-06-03T08:58:29.228" v="818"/>
          <ac:spMkLst>
            <pc:docMk/>
            <pc:sldMk cId="3096621458" sldId="350"/>
            <ac:spMk id="2" creationId="{17E2D51D-09C0-DCFB-39C7-2F98E1A682BB}"/>
          </ac:spMkLst>
        </pc:spChg>
        <pc:spChg chg="add">
          <ac:chgData name="CB-1 山本 泰誠" userId="f22f08bd-957b-45e9-be23-5600e820a3b4" providerId="ADAL" clId="{AAC47B63-5BBC-4635-91E8-AC2866347682}" dt="2025-06-03T09:02:04.430" v="1096"/>
          <ac:spMkLst>
            <pc:docMk/>
            <pc:sldMk cId="3096621458" sldId="350"/>
            <ac:spMk id="3" creationId="{101A946B-BBC0-3DE3-DAF6-C3D4D62030CB}"/>
          </ac:spMkLst>
        </pc:spChg>
        <pc:spChg chg="mod">
          <ac:chgData name="CB-1 山本 泰誠" userId="f22f08bd-957b-45e9-be23-5600e820a3b4" providerId="ADAL" clId="{AAC47B63-5BBC-4635-91E8-AC2866347682}" dt="2025-06-04T01:02:32.565" v="2959" actId="20577"/>
          <ac:spMkLst>
            <pc:docMk/>
            <pc:sldMk cId="3096621458" sldId="350"/>
            <ac:spMk id="4" creationId="{9657DB01-6829-3715-B373-B28A176AA456}"/>
          </ac:spMkLst>
        </pc:spChg>
        <pc:spChg chg="mod">
          <ac:chgData name="CB-1 山本 泰誠" userId="f22f08bd-957b-45e9-be23-5600e820a3b4" providerId="ADAL" clId="{AAC47B63-5BBC-4635-91E8-AC2866347682}" dt="2025-06-04T02:36:58.467" v="2962" actId="15"/>
          <ac:spMkLst>
            <pc:docMk/>
            <pc:sldMk cId="3096621458" sldId="350"/>
            <ac:spMk id="5" creationId="{8BE170B2-5AB3-F0DC-3EB6-033223345F0A}"/>
          </ac:spMkLst>
        </pc:spChg>
      </pc:sldChg>
      <pc:sldChg chg="modSp add mod">
        <pc:chgData name="CB-1 山本 泰誠" userId="f22f08bd-957b-45e9-be23-5600e820a3b4" providerId="ADAL" clId="{AAC47B63-5BBC-4635-91E8-AC2866347682}" dt="2025-06-03T09:17:28.035" v="2804" actId="20577"/>
        <pc:sldMkLst>
          <pc:docMk/>
          <pc:sldMk cId="2149757126" sldId="351"/>
        </pc:sldMkLst>
        <pc:spChg chg="mod">
          <ac:chgData name="CB-1 山本 泰誠" userId="f22f08bd-957b-45e9-be23-5600e820a3b4" providerId="ADAL" clId="{AAC47B63-5BBC-4635-91E8-AC2866347682}" dt="2025-06-03T09:17:28.035" v="2804" actId="20577"/>
          <ac:spMkLst>
            <pc:docMk/>
            <pc:sldMk cId="2149757126" sldId="351"/>
            <ac:spMk id="4" creationId="{CF937F3B-0B68-45D7-5D74-A825E78B7BF9}"/>
          </ac:spMkLst>
        </pc:spChg>
        <pc:spChg chg="mod">
          <ac:chgData name="CB-1 山本 泰誠" userId="f22f08bd-957b-45e9-be23-5600e820a3b4" providerId="ADAL" clId="{AAC47B63-5BBC-4635-91E8-AC2866347682}" dt="2025-06-03T09:16:09.640" v="2624" actId="255"/>
          <ac:spMkLst>
            <pc:docMk/>
            <pc:sldMk cId="2149757126" sldId="351"/>
            <ac:spMk id="5" creationId="{7B016F2E-6BE0-7C59-F855-D3F865320B2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FD3FEEEB-FEAC-4162-A84F-6F072268371A}"/>
              </a:ext>
            </a:extLst>
          </p:cNvPr>
          <p:cNvSpPr>
            <a:spLocks noGrp="1"/>
          </p:cNvSpPr>
          <p:nvPr>
            <p:ph type="hdr" sz="quarter"/>
          </p:nvPr>
        </p:nvSpPr>
        <p:spPr>
          <a:xfrm>
            <a:off x="0" y="1"/>
            <a:ext cx="3078428" cy="513508"/>
          </a:xfrm>
          <a:prstGeom prst="rect">
            <a:avLst/>
          </a:prstGeom>
        </p:spPr>
        <p:txBody>
          <a:bodyPr vert="horz" lIns="94668" tIns="47334" rIns="94668" bIns="47334"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A4B57CB8-8586-465A-900C-5DE045103600}"/>
              </a:ext>
            </a:extLst>
          </p:cNvPr>
          <p:cNvSpPr>
            <a:spLocks noGrp="1"/>
          </p:cNvSpPr>
          <p:nvPr>
            <p:ph type="dt" sz="quarter" idx="1"/>
          </p:nvPr>
        </p:nvSpPr>
        <p:spPr>
          <a:xfrm>
            <a:off x="4023992" y="1"/>
            <a:ext cx="3078428" cy="513508"/>
          </a:xfrm>
          <a:prstGeom prst="rect">
            <a:avLst/>
          </a:prstGeom>
        </p:spPr>
        <p:txBody>
          <a:bodyPr vert="horz" lIns="94668" tIns="47334" rIns="94668" bIns="47334" rtlCol="0"/>
          <a:lstStyle>
            <a:lvl1pPr algn="r">
              <a:defRPr sz="1200"/>
            </a:lvl1pPr>
          </a:lstStyle>
          <a:p>
            <a:fld id="{1AF45D99-0355-4977-A678-138596F427C9}" type="datetimeFigureOut">
              <a:rPr kumimoji="1" lang="ja-JP" altLang="en-US" smtClean="0"/>
              <a:t>2025/6/4</a:t>
            </a:fld>
            <a:endParaRPr kumimoji="1" lang="ja-JP" altLang="en-US"/>
          </a:p>
        </p:txBody>
      </p:sp>
      <p:sp>
        <p:nvSpPr>
          <p:cNvPr id="4" name="フッター プレースホルダー 3">
            <a:extLst>
              <a:ext uri="{FF2B5EF4-FFF2-40B4-BE49-F238E27FC236}">
                <a16:creationId xmlns:a16="http://schemas.microsoft.com/office/drawing/2014/main" id="{358DDE11-EEFD-4564-A588-52898A270B68}"/>
              </a:ext>
            </a:extLst>
          </p:cNvPr>
          <p:cNvSpPr>
            <a:spLocks noGrp="1"/>
          </p:cNvSpPr>
          <p:nvPr>
            <p:ph type="ftr" sz="quarter" idx="2"/>
          </p:nvPr>
        </p:nvSpPr>
        <p:spPr>
          <a:xfrm>
            <a:off x="0" y="9721107"/>
            <a:ext cx="3078428" cy="513507"/>
          </a:xfrm>
          <a:prstGeom prst="rect">
            <a:avLst/>
          </a:prstGeom>
        </p:spPr>
        <p:txBody>
          <a:bodyPr vert="horz" lIns="94668" tIns="47334" rIns="94668" bIns="47334"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B915E348-9FE7-473B-99F0-EA39940D467E}"/>
              </a:ext>
            </a:extLst>
          </p:cNvPr>
          <p:cNvSpPr>
            <a:spLocks noGrp="1"/>
          </p:cNvSpPr>
          <p:nvPr>
            <p:ph type="sldNum" sz="quarter" idx="3"/>
          </p:nvPr>
        </p:nvSpPr>
        <p:spPr>
          <a:xfrm>
            <a:off x="4023992" y="9721107"/>
            <a:ext cx="3078428" cy="513507"/>
          </a:xfrm>
          <a:prstGeom prst="rect">
            <a:avLst/>
          </a:prstGeom>
        </p:spPr>
        <p:txBody>
          <a:bodyPr vert="horz" lIns="94668" tIns="47334" rIns="94668" bIns="47334" rtlCol="0" anchor="b"/>
          <a:lstStyle>
            <a:lvl1pPr algn="r">
              <a:defRPr sz="1200"/>
            </a:lvl1pPr>
          </a:lstStyle>
          <a:p>
            <a:fld id="{FCBF3261-222F-456A-BE2B-583264D375FD}" type="slidenum">
              <a:rPr kumimoji="1" lang="ja-JP" altLang="en-US" smtClean="0"/>
              <a:t>‹#›</a:t>
            </a:fld>
            <a:endParaRPr kumimoji="1" lang="ja-JP" altLang="en-US"/>
          </a:p>
        </p:txBody>
      </p:sp>
    </p:spTree>
    <p:extLst>
      <p:ext uri="{BB962C8B-B14F-4D97-AF65-F5344CB8AC3E}">
        <p14:creationId xmlns:p14="http://schemas.microsoft.com/office/powerpoint/2010/main" val="380522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3078428" cy="513508"/>
          </a:xfrm>
          <a:prstGeom prst="rect">
            <a:avLst/>
          </a:prstGeom>
        </p:spPr>
        <p:txBody>
          <a:bodyPr vert="horz" lIns="94668" tIns="47334" rIns="94668" bIns="47334" rtlCol="0"/>
          <a:lstStyle>
            <a:lvl1pPr algn="l">
              <a:defRPr sz="1200"/>
            </a:lvl1pPr>
          </a:lstStyle>
          <a:p>
            <a:endParaRPr kumimoji="1" lang="ja-JP" altLang="en-US"/>
          </a:p>
        </p:txBody>
      </p:sp>
      <p:sp>
        <p:nvSpPr>
          <p:cNvPr id="3" name="日付プレースホルダー 2"/>
          <p:cNvSpPr>
            <a:spLocks noGrp="1"/>
          </p:cNvSpPr>
          <p:nvPr>
            <p:ph type="dt" idx="1"/>
          </p:nvPr>
        </p:nvSpPr>
        <p:spPr>
          <a:xfrm>
            <a:off x="4023992" y="1"/>
            <a:ext cx="3078428" cy="513508"/>
          </a:xfrm>
          <a:prstGeom prst="rect">
            <a:avLst/>
          </a:prstGeom>
        </p:spPr>
        <p:txBody>
          <a:bodyPr vert="horz" lIns="94668" tIns="47334" rIns="94668" bIns="47334" rtlCol="0"/>
          <a:lstStyle>
            <a:lvl1pPr algn="r">
              <a:defRPr sz="1200"/>
            </a:lvl1pPr>
          </a:lstStyle>
          <a:p>
            <a:fld id="{67AB1C4C-D59C-457D-ACC3-3F531BBD79EE}" type="datetimeFigureOut">
              <a:rPr kumimoji="1" lang="ja-JP" altLang="en-US" smtClean="0"/>
              <a:t>2025/6/4</a:t>
            </a:fld>
            <a:endParaRPr kumimoji="1" lang="ja-JP" altLang="en-US"/>
          </a:p>
        </p:txBody>
      </p:sp>
      <p:sp>
        <p:nvSpPr>
          <p:cNvPr id="4" name="スライド イメージ プレースホルダー 3"/>
          <p:cNvSpPr>
            <a:spLocks noGrp="1" noRot="1" noChangeAspect="1"/>
          </p:cNvSpPr>
          <p:nvPr>
            <p:ph type="sldImg" idx="2"/>
          </p:nvPr>
        </p:nvSpPr>
        <p:spPr>
          <a:xfrm>
            <a:off x="481013" y="1279525"/>
            <a:ext cx="6142037" cy="3454400"/>
          </a:xfrm>
          <a:prstGeom prst="rect">
            <a:avLst/>
          </a:prstGeom>
          <a:noFill/>
          <a:ln w="12700">
            <a:solidFill>
              <a:prstClr val="black"/>
            </a:solidFill>
          </a:ln>
        </p:spPr>
        <p:txBody>
          <a:bodyPr vert="horz" lIns="94668" tIns="47334" rIns="94668" bIns="47334" rtlCol="0" anchor="ctr"/>
          <a:lstStyle/>
          <a:p>
            <a:endParaRPr lang="ja-JP" altLang="en-US"/>
          </a:p>
        </p:txBody>
      </p:sp>
      <p:sp>
        <p:nvSpPr>
          <p:cNvPr id="5" name="ノート プレースホルダー 4"/>
          <p:cNvSpPr>
            <a:spLocks noGrp="1"/>
          </p:cNvSpPr>
          <p:nvPr>
            <p:ph type="body" sz="quarter" idx="3"/>
          </p:nvPr>
        </p:nvSpPr>
        <p:spPr>
          <a:xfrm>
            <a:off x="710407" y="4925408"/>
            <a:ext cx="5683250" cy="4029879"/>
          </a:xfrm>
          <a:prstGeom prst="rect">
            <a:avLst/>
          </a:prstGeom>
        </p:spPr>
        <p:txBody>
          <a:bodyPr vert="horz" lIns="94668" tIns="47334" rIns="94668" bIns="47334"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721107"/>
            <a:ext cx="3078428" cy="513507"/>
          </a:xfrm>
          <a:prstGeom prst="rect">
            <a:avLst/>
          </a:prstGeom>
        </p:spPr>
        <p:txBody>
          <a:bodyPr vert="horz" lIns="94668" tIns="47334" rIns="94668" bIns="47334"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4023992" y="9721107"/>
            <a:ext cx="3078428" cy="513507"/>
          </a:xfrm>
          <a:prstGeom prst="rect">
            <a:avLst/>
          </a:prstGeom>
        </p:spPr>
        <p:txBody>
          <a:bodyPr vert="horz" lIns="94668" tIns="47334" rIns="94668" bIns="47334" rtlCol="0" anchor="b"/>
          <a:lstStyle>
            <a:lvl1pPr algn="r">
              <a:defRPr sz="1200"/>
            </a:lvl1pPr>
          </a:lstStyle>
          <a:p>
            <a:fld id="{44521844-47FC-4A07-AE86-BC69E5FCF99E}" type="slidenum">
              <a:rPr kumimoji="1" lang="ja-JP" altLang="en-US" smtClean="0"/>
              <a:t>‹#›</a:t>
            </a:fld>
            <a:endParaRPr kumimoji="1" lang="ja-JP" altLang="en-US"/>
          </a:p>
        </p:txBody>
      </p:sp>
    </p:spTree>
    <p:extLst>
      <p:ext uri="{BB962C8B-B14F-4D97-AF65-F5344CB8AC3E}">
        <p14:creationId xmlns:p14="http://schemas.microsoft.com/office/powerpoint/2010/main" val="27047724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FBC3D01C-1C21-46AE-B5AB-C3F30D964083}"/>
              </a:ext>
            </a:extLst>
          </p:cNvPr>
          <p:cNvSpPr>
            <a:spLocks noGrp="1"/>
          </p:cNvSpPr>
          <p:nvPr>
            <p:ph type="dt" sz="half" idx="10"/>
          </p:nvPr>
        </p:nvSpPr>
        <p:spPr>
          <a:xfrm>
            <a:off x="755260" y="4200055"/>
            <a:ext cx="2121289" cy="286219"/>
          </a:xfrm>
          <a:prstGeom prst="rect">
            <a:avLst/>
          </a:prstGeom>
        </p:spPr>
        <p:txBody>
          <a:bodyPr lIns="0" tIns="54000" rIns="0" bIns="0"/>
          <a:lstStyle>
            <a:lvl1pPr>
              <a:defRPr sz="1600" b="1">
                <a:latin typeface="+mj-ea"/>
                <a:ea typeface="+mj-ea"/>
              </a:defRPr>
            </a:lvl1pPr>
          </a:lstStyle>
          <a:p>
            <a:r>
              <a:rPr lang="en-US" altLang="ja-JP" dirty="0"/>
              <a:t>202●</a:t>
            </a:r>
            <a:r>
              <a:rPr lang="ja-JP" altLang="en-US" dirty="0"/>
              <a:t>年●月●●日</a:t>
            </a:r>
          </a:p>
        </p:txBody>
      </p:sp>
      <p:pic>
        <p:nvPicPr>
          <p:cNvPr id="8" name="図 7">
            <a:extLst>
              <a:ext uri="{FF2B5EF4-FFF2-40B4-BE49-F238E27FC236}">
                <a16:creationId xmlns:a16="http://schemas.microsoft.com/office/drawing/2014/main" id="{F4378A25-106C-4BBA-BDEA-A9CD152914D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0000"/>
          <a:stretch/>
        </p:blipFill>
        <p:spPr>
          <a:xfrm>
            <a:off x="6095999" y="1"/>
            <a:ext cx="6095999" cy="6857999"/>
          </a:xfrm>
          <a:prstGeom prst="rect">
            <a:avLst/>
          </a:prstGeom>
        </p:spPr>
      </p:pic>
      <p:sp>
        <p:nvSpPr>
          <p:cNvPr id="2" name="タイトル 1">
            <a:extLst>
              <a:ext uri="{FF2B5EF4-FFF2-40B4-BE49-F238E27FC236}">
                <a16:creationId xmlns:a16="http://schemas.microsoft.com/office/drawing/2014/main" id="{26D111DC-E715-4831-9ABA-FF5E1023EACD}"/>
              </a:ext>
            </a:extLst>
          </p:cNvPr>
          <p:cNvSpPr>
            <a:spLocks noGrp="1"/>
          </p:cNvSpPr>
          <p:nvPr>
            <p:ph type="ctrTitle" hasCustomPrompt="1"/>
          </p:nvPr>
        </p:nvSpPr>
        <p:spPr>
          <a:xfrm>
            <a:off x="762002" y="2286727"/>
            <a:ext cx="10440000" cy="621503"/>
          </a:xfrm>
        </p:spPr>
        <p:txBody>
          <a:bodyPr anchor="ctr" anchorCtr="0">
            <a:noAutofit/>
          </a:bodyPr>
          <a:lstStyle>
            <a:lvl1pPr algn="l">
              <a:defRPr sz="3600">
                <a:solidFill>
                  <a:schemeClr val="tx2"/>
                </a:solidFill>
              </a:defRPr>
            </a:lvl1pPr>
          </a:lstStyle>
          <a:p>
            <a:r>
              <a:rPr kumimoji="1" lang="ja-JP" altLang="en-US" dirty="0"/>
              <a:t>プロジェクトタイトル</a:t>
            </a:r>
          </a:p>
        </p:txBody>
      </p:sp>
      <p:sp>
        <p:nvSpPr>
          <p:cNvPr id="3" name="字幕 2">
            <a:extLst>
              <a:ext uri="{FF2B5EF4-FFF2-40B4-BE49-F238E27FC236}">
                <a16:creationId xmlns:a16="http://schemas.microsoft.com/office/drawing/2014/main" id="{E4664747-CBE6-4C7F-A0A2-A3D1607712C1}"/>
              </a:ext>
            </a:extLst>
          </p:cNvPr>
          <p:cNvSpPr>
            <a:spLocks noGrp="1"/>
          </p:cNvSpPr>
          <p:nvPr>
            <p:ph type="subTitle" idx="1" hasCustomPrompt="1"/>
          </p:nvPr>
        </p:nvSpPr>
        <p:spPr>
          <a:xfrm>
            <a:off x="762001" y="2984903"/>
            <a:ext cx="10439999" cy="360000"/>
          </a:xfrm>
        </p:spPr>
        <p:txBody>
          <a:bodyPr lIns="0" tIns="72000" rIns="0" bIns="0">
            <a:no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サブタイトル</a:t>
            </a:r>
          </a:p>
        </p:txBody>
      </p:sp>
      <p:pic>
        <p:nvPicPr>
          <p:cNvPr id="15" name="図 14" descr="図形&#10;&#10;中程度の精度で自動的に生成された説明">
            <a:extLst>
              <a:ext uri="{FF2B5EF4-FFF2-40B4-BE49-F238E27FC236}">
                <a16:creationId xmlns:a16="http://schemas.microsoft.com/office/drawing/2014/main" id="{C4E0ABB1-7F18-4227-952F-A6968B2D68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44288" y="4586085"/>
            <a:ext cx="2714929" cy="771040"/>
          </a:xfrm>
          <a:prstGeom prst="rect">
            <a:avLst/>
          </a:prstGeom>
        </p:spPr>
      </p:pic>
    </p:spTree>
    <p:extLst>
      <p:ext uri="{BB962C8B-B14F-4D97-AF65-F5344CB8AC3E}">
        <p14:creationId xmlns:p14="http://schemas.microsoft.com/office/powerpoint/2010/main" val="770625195"/>
      </p:ext>
    </p:extLst>
  </p:cSld>
  <p:clrMapOvr>
    <a:masterClrMapping/>
  </p:clrMapOvr>
  <p:hf hdr="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5D3887-8E85-421A-8629-4D394FE2D36D}"/>
              </a:ext>
            </a:extLst>
          </p:cNvPr>
          <p:cNvSpPr>
            <a:spLocks noGrp="1"/>
          </p:cNvSpPr>
          <p:nvPr>
            <p:ph type="title" hasCustomPrompt="1"/>
          </p:nvPr>
        </p:nvSpPr>
        <p:spPr/>
        <p:txBody>
          <a:bodyPr>
            <a:noAutofit/>
          </a:bodyPr>
          <a:lstStyle/>
          <a:p>
            <a:r>
              <a:rPr kumimoji="1" lang="ja-JP" altLang="en-US" dirty="0"/>
              <a:t>目次</a:t>
            </a:r>
          </a:p>
        </p:txBody>
      </p:sp>
      <p:sp>
        <p:nvSpPr>
          <p:cNvPr id="6" name="テキスト プレースホルダー 5">
            <a:extLst>
              <a:ext uri="{FF2B5EF4-FFF2-40B4-BE49-F238E27FC236}">
                <a16:creationId xmlns:a16="http://schemas.microsoft.com/office/drawing/2014/main" id="{97551333-68CC-456B-8BD6-412410F5C23F}"/>
              </a:ext>
            </a:extLst>
          </p:cNvPr>
          <p:cNvSpPr>
            <a:spLocks noGrp="1"/>
          </p:cNvSpPr>
          <p:nvPr>
            <p:ph type="body" sz="quarter" idx="12"/>
          </p:nvPr>
        </p:nvSpPr>
        <p:spPr>
          <a:xfrm>
            <a:off x="374400" y="1090799"/>
            <a:ext cx="11412000" cy="52200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70554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チャプター1">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FE77EAE9-FC03-4E0E-BDED-9C93A0C3E97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91998" cy="6857999"/>
          </a:xfrm>
          <a:prstGeom prst="rect">
            <a:avLst/>
          </a:prstGeom>
        </p:spPr>
      </p:pic>
      <p:sp>
        <p:nvSpPr>
          <p:cNvPr id="2" name="タイトル 1">
            <a:extLst>
              <a:ext uri="{FF2B5EF4-FFF2-40B4-BE49-F238E27FC236}">
                <a16:creationId xmlns:a16="http://schemas.microsoft.com/office/drawing/2014/main" id="{8804B1C9-8DDE-427C-9F86-24616F287351}"/>
              </a:ext>
            </a:extLst>
          </p:cNvPr>
          <p:cNvSpPr>
            <a:spLocks noGrp="1"/>
          </p:cNvSpPr>
          <p:nvPr>
            <p:ph type="title" hasCustomPrompt="1"/>
          </p:nvPr>
        </p:nvSpPr>
        <p:spPr>
          <a:xfrm>
            <a:off x="751865" y="2953347"/>
            <a:ext cx="10688272" cy="612000"/>
          </a:xfrm>
        </p:spPr>
        <p:txBody>
          <a:bodyPr>
            <a:noAutofit/>
          </a:bodyPr>
          <a:lstStyle>
            <a:lvl1pPr>
              <a:defRPr sz="3600">
                <a:solidFill>
                  <a:schemeClr val="bg2"/>
                </a:solidFill>
                <a:latin typeface="Meiryo UI" panose="020B0604030504040204" pitchFamily="50" charset="-128"/>
                <a:ea typeface="Meiryo UI" panose="020B0604030504040204" pitchFamily="50" charset="-128"/>
              </a:defRPr>
            </a:lvl1pPr>
          </a:lstStyle>
          <a:p>
            <a:r>
              <a:rPr kumimoji="1" lang="ja-JP" altLang="en-US" dirty="0"/>
              <a:t>チャプタータイトル</a:t>
            </a:r>
          </a:p>
        </p:txBody>
      </p:sp>
      <p:sp>
        <p:nvSpPr>
          <p:cNvPr id="7" name="テキスト ボックス 6">
            <a:extLst>
              <a:ext uri="{FF2B5EF4-FFF2-40B4-BE49-F238E27FC236}">
                <a16:creationId xmlns:a16="http://schemas.microsoft.com/office/drawing/2014/main" id="{71E97C73-5BDB-4674-AFFC-A6FA950DABE8}"/>
              </a:ext>
            </a:extLst>
          </p:cNvPr>
          <p:cNvSpPr txBox="1"/>
          <p:nvPr userDrawn="1"/>
        </p:nvSpPr>
        <p:spPr>
          <a:xfrm>
            <a:off x="285750" y="6546737"/>
            <a:ext cx="1301959"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dirty="0">
                <a:solidFill>
                  <a:schemeClr val="bg1"/>
                </a:solidFill>
                <a:latin typeface="Meiryo UI" panose="020B0604030504040204" pitchFamily="50" charset="-128"/>
                <a:ea typeface="Meiryo UI" panose="020B0604030504040204" pitchFamily="50" charset="-128"/>
              </a:rPr>
              <a:t>© 2024 CRESCO LTD.</a:t>
            </a:r>
            <a:endParaRPr lang="ja-JP" altLang="en-US" sz="800" dirty="0">
              <a:solidFill>
                <a:schemeClr val="bg1"/>
              </a:solidFill>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04848809-4FFF-42D8-AC5B-9DF9798B6C88}"/>
              </a:ext>
            </a:extLst>
          </p:cNvPr>
          <p:cNvSpPr txBox="1"/>
          <p:nvPr userDrawn="1"/>
        </p:nvSpPr>
        <p:spPr>
          <a:xfrm>
            <a:off x="11527672" y="6544473"/>
            <a:ext cx="428322" cy="261610"/>
          </a:xfrm>
          <a:prstGeom prst="rect">
            <a:avLst/>
          </a:prstGeom>
          <a:noFill/>
        </p:spPr>
        <p:txBody>
          <a:bodyPr wrap="none" rtlCol="0">
            <a:spAutoFit/>
          </a:bodyPr>
          <a:lstStyle/>
          <a:p>
            <a:fld id="{1438EEE6-30A5-40F3-9624-55268E53E9F2}" type="slidenum">
              <a:rPr lang="en-US" altLang="ja-JP" sz="1100" smtClean="0">
                <a:solidFill>
                  <a:schemeClr val="bg1"/>
                </a:solidFill>
              </a:rPr>
              <a:pPr/>
              <a:t>‹#›</a:t>
            </a:fld>
            <a:endParaRPr kumimoji="1" lang="ja-JP" altLang="en-US" sz="1100" dirty="0">
              <a:solidFill>
                <a:schemeClr val="bg1"/>
              </a:solidFill>
            </a:endParaRPr>
          </a:p>
        </p:txBody>
      </p:sp>
    </p:spTree>
    <p:extLst>
      <p:ext uri="{BB962C8B-B14F-4D97-AF65-F5344CB8AC3E}">
        <p14:creationId xmlns:p14="http://schemas.microsoft.com/office/powerpoint/2010/main" val="3356898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チャプター2">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FE77EAE9-FC03-4E0E-BDED-9C93A0C3E97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2"/>
            <a:ext cx="12191998" cy="6857998"/>
          </a:xfrm>
          <a:prstGeom prst="rect">
            <a:avLst/>
          </a:prstGeom>
        </p:spPr>
      </p:pic>
      <p:sp>
        <p:nvSpPr>
          <p:cNvPr id="7" name="タイトル 1">
            <a:extLst>
              <a:ext uri="{FF2B5EF4-FFF2-40B4-BE49-F238E27FC236}">
                <a16:creationId xmlns:a16="http://schemas.microsoft.com/office/drawing/2014/main" id="{9EF9571D-89E5-BA43-9876-43F084C8510A}"/>
              </a:ext>
            </a:extLst>
          </p:cNvPr>
          <p:cNvSpPr>
            <a:spLocks noGrp="1"/>
          </p:cNvSpPr>
          <p:nvPr>
            <p:ph type="title" hasCustomPrompt="1"/>
          </p:nvPr>
        </p:nvSpPr>
        <p:spPr>
          <a:xfrm>
            <a:off x="751865" y="2953347"/>
            <a:ext cx="10688272" cy="612000"/>
          </a:xfrm>
        </p:spPr>
        <p:txBody>
          <a:bodyPr>
            <a:noAutofit/>
          </a:bodyPr>
          <a:lstStyle>
            <a:lvl1pPr>
              <a:defRPr sz="3600">
                <a:solidFill>
                  <a:schemeClr val="tx1">
                    <a:lumMod val="75000"/>
                    <a:lumOff val="25000"/>
                  </a:schemeClr>
                </a:solidFill>
                <a:latin typeface="Meiryo UI" panose="020B0604030504040204" pitchFamily="50" charset="-128"/>
                <a:ea typeface="Meiryo UI" panose="020B0604030504040204" pitchFamily="50" charset="-128"/>
              </a:defRPr>
            </a:lvl1pPr>
          </a:lstStyle>
          <a:p>
            <a:r>
              <a:rPr kumimoji="1" lang="ja-JP" altLang="en-US" dirty="0"/>
              <a:t>チャプタータイトル</a:t>
            </a:r>
          </a:p>
        </p:txBody>
      </p:sp>
      <p:sp>
        <p:nvSpPr>
          <p:cNvPr id="8" name="テキスト ボックス 7">
            <a:extLst>
              <a:ext uri="{FF2B5EF4-FFF2-40B4-BE49-F238E27FC236}">
                <a16:creationId xmlns:a16="http://schemas.microsoft.com/office/drawing/2014/main" id="{E4EA6F49-F77B-49C0-BC9D-0A65F4AB72FB}"/>
              </a:ext>
            </a:extLst>
          </p:cNvPr>
          <p:cNvSpPr txBox="1"/>
          <p:nvPr userDrawn="1"/>
        </p:nvSpPr>
        <p:spPr>
          <a:xfrm>
            <a:off x="285750" y="6546737"/>
            <a:ext cx="1301959"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dirty="0">
                <a:solidFill>
                  <a:schemeClr val="tx1">
                    <a:lumMod val="75000"/>
                    <a:lumOff val="25000"/>
                  </a:schemeClr>
                </a:solidFill>
                <a:latin typeface="Meiryo UI" panose="020B0604030504040204" pitchFamily="50" charset="-128"/>
                <a:ea typeface="Meiryo UI" panose="020B0604030504040204" pitchFamily="50" charset="-128"/>
              </a:rPr>
              <a:t>© 2024 CRESCO LTD.</a:t>
            </a:r>
            <a:endParaRPr lang="ja-JP" altLang="en-US" sz="8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 name="テキスト ボックス 8">
            <a:extLst>
              <a:ext uri="{FF2B5EF4-FFF2-40B4-BE49-F238E27FC236}">
                <a16:creationId xmlns:a16="http://schemas.microsoft.com/office/drawing/2014/main" id="{B2575DFE-E7D5-46EB-BD8A-3ADFA3B5683E}"/>
              </a:ext>
            </a:extLst>
          </p:cNvPr>
          <p:cNvSpPr txBox="1"/>
          <p:nvPr userDrawn="1"/>
        </p:nvSpPr>
        <p:spPr>
          <a:xfrm>
            <a:off x="11527672" y="6544473"/>
            <a:ext cx="428322" cy="261610"/>
          </a:xfrm>
          <a:prstGeom prst="rect">
            <a:avLst/>
          </a:prstGeom>
          <a:noFill/>
        </p:spPr>
        <p:txBody>
          <a:bodyPr wrap="none" rtlCol="0">
            <a:spAutoFit/>
          </a:bodyPr>
          <a:lstStyle/>
          <a:p>
            <a:fld id="{1438EEE6-30A5-40F3-9624-55268E53E9F2}" type="slidenum">
              <a:rPr lang="en-US" altLang="ja-JP" sz="1100" smtClean="0"/>
              <a:pPr/>
              <a:t>‹#›</a:t>
            </a:fld>
            <a:endParaRPr kumimoji="1" lang="ja-JP" altLang="en-US" sz="1100" dirty="0"/>
          </a:p>
        </p:txBody>
      </p:sp>
    </p:spTree>
    <p:extLst>
      <p:ext uri="{BB962C8B-B14F-4D97-AF65-F5344CB8AC3E}">
        <p14:creationId xmlns:p14="http://schemas.microsoft.com/office/powerpoint/2010/main" val="4146425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5D3887-8E85-421A-8629-4D394FE2D36D}"/>
              </a:ext>
            </a:extLst>
          </p:cNvPr>
          <p:cNvSpPr>
            <a:spLocks noGrp="1"/>
          </p:cNvSpPr>
          <p:nvPr>
            <p:ph type="title"/>
          </p:nvPr>
        </p:nvSpPr>
        <p:spPr/>
        <p:txBody>
          <a:bodyPr>
            <a:noAutofit/>
          </a:bodyPr>
          <a:lstStyle/>
          <a:p>
            <a:r>
              <a:rPr kumimoji="1" lang="ja-JP" altLang="en-US"/>
              <a:t>マスター タイトルの書式設定</a:t>
            </a:r>
            <a:endParaRPr kumimoji="1" lang="ja-JP" altLang="en-US" dirty="0"/>
          </a:p>
        </p:txBody>
      </p:sp>
      <p:sp>
        <p:nvSpPr>
          <p:cNvPr id="6" name="テキスト プレースホルダー 5">
            <a:extLst>
              <a:ext uri="{FF2B5EF4-FFF2-40B4-BE49-F238E27FC236}">
                <a16:creationId xmlns:a16="http://schemas.microsoft.com/office/drawing/2014/main" id="{97551333-68CC-456B-8BD6-412410F5C23F}"/>
              </a:ext>
            </a:extLst>
          </p:cNvPr>
          <p:cNvSpPr>
            <a:spLocks noGrp="1"/>
          </p:cNvSpPr>
          <p:nvPr>
            <p:ph type="body" sz="quarter" idx="12"/>
          </p:nvPr>
        </p:nvSpPr>
        <p:spPr>
          <a:xfrm>
            <a:off x="374400" y="1090799"/>
            <a:ext cx="11412000" cy="52200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1932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エンドページ">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03863E6D-E6AF-42A5-AD3D-EFE9BE0F678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0000"/>
          <a:stretch/>
        </p:blipFill>
        <p:spPr>
          <a:xfrm>
            <a:off x="6096000" y="0"/>
            <a:ext cx="6096000" cy="6858000"/>
          </a:xfrm>
          <a:prstGeom prst="rect">
            <a:avLst/>
          </a:prstGeom>
        </p:spPr>
      </p:pic>
      <p:pic>
        <p:nvPicPr>
          <p:cNvPr id="8" name="図 7" descr="図形&#10;&#10;中程度の精度で自動的に生成された説明">
            <a:extLst>
              <a:ext uri="{FF2B5EF4-FFF2-40B4-BE49-F238E27FC236}">
                <a16:creationId xmlns:a16="http://schemas.microsoft.com/office/drawing/2014/main" id="{4B203CC5-2850-4A3E-BC35-8DE3F49CB6C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7000" y="5247849"/>
            <a:ext cx="2686275" cy="762902"/>
          </a:xfrm>
          <a:prstGeom prst="rect">
            <a:avLst/>
          </a:prstGeom>
        </p:spPr>
      </p:pic>
    </p:spTree>
    <p:extLst>
      <p:ext uri="{BB962C8B-B14F-4D97-AF65-F5344CB8AC3E}">
        <p14:creationId xmlns:p14="http://schemas.microsoft.com/office/powerpoint/2010/main" val="2832776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0939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D492342E-97F3-43F3-BF23-2E5CE010B213}"/>
              </a:ext>
            </a:extLst>
          </p:cNvPr>
          <p:cNvSpPr txBox="1"/>
          <p:nvPr userDrawn="1"/>
        </p:nvSpPr>
        <p:spPr>
          <a:xfrm>
            <a:off x="11527672" y="6544473"/>
            <a:ext cx="404278" cy="246221"/>
          </a:xfrm>
          <a:prstGeom prst="rect">
            <a:avLst/>
          </a:prstGeom>
          <a:noFill/>
        </p:spPr>
        <p:txBody>
          <a:bodyPr wrap="none" rtlCol="0">
            <a:spAutoFit/>
          </a:bodyPr>
          <a:lstStyle/>
          <a:p>
            <a:fld id="{1438EEE6-30A5-40F3-9624-55268E53E9F2}" type="slidenum">
              <a:rPr lang="en-US" altLang="ja-JP" sz="1000" smtClean="0">
                <a:latin typeface="Meiryo UI" panose="020B0604030504040204" pitchFamily="50" charset="-128"/>
                <a:ea typeface="Meiryo UI" panose="020B0604030504040204" pitchFamily="50" charset="-128"/>
              </a:rPr>
              <a:pPr/>
              <a:t>‹#›</a:t>
            </a:fld>
            <a:endParaRPr kumimoji="1" lang="ja-JP" altLang="en-US" sz="1000" dirty="0">
              <a:latin typeface="Meiryo UI" panose="020B0604030504040204" pitchFamily="50" charset="-128"/>
              <a:ea typeface="Meiryo UI" panose="020B0604030504040204" pitchFamily="50" charset="-128"/>
            </a:endParaRPr>
          </a:p>
        </p:txBody>
      </p:sp>
      <p:pic>
        <p:nvPicPr>
          <p:cNvPr id="7" name="図 6">
            <a:extLst>
              <a:ext uri="{FF2B5EF4-FFF2-40B4-BE49-F238E27FC236}">
                <a16:creationId xmlns:a16="http://schemas.microsoft.com/office/drawing/2014/main" id="{6AC52F4F-18C1-354C-A00D-83E957A26966}"/>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93137" b="87969"/>
          <a:stretch/>
        </p:blipFill>
        <p:spPr>
          <a:xfrm>
            <a:off x="11355212" y="0"/>
            <a:ext cx="836788" cy="825075"/>
          </a:xfrm>
          <a:prstGeom prst="rect">
            <a:avLst/>
          </a:prstGeom>
        </p:spPr>
      </p:pic>
      <p:sp>
        <p:nvSpPr>
          <p:cNvPr id="2" name="タイトル プレースホルダー 1">
            <a:extLst>
              <a:ext uri="{FF2B5EF4-FFF2-40B4-BE49-F238E27FC236}">
                <a16:creationId xmlns:a16="http://schemas.microsoft.com/office/drawing/2014/main" id="{184B9C9F-288F-49E1-9A05-6902BC09B591}"/>
              </a:ext>
            </a:extLst>
          </p:cNvPr>
          <p:cNvSpPr>
            <a:spLocks noGrp="1"/>
          </p:cNvSpPr>
          <p:nvPr>
            <p:ph type="title"/>
          </p:nvPr>
        </p:nvSpPr>
        <p:spPr>
          <a:xfrm>
            <a:off x="375212" y="91921"/>
            <a:ext cx="10980000" cy="612000"/>
          </a:xfrm>
          <a:prstGeom prst="rect">
            <a:avLst/>
          </a:prstGeom>
        </p:spPr>
        <p:txBody>
          <a:bodyPr vert="horz" wrap="none" lIns="0" tIns="108000" rIns="0" bIns="0" rtlCol="0" anchor="ctr">
            <a:noAutofit/>
          </a:bodyPr>
          <a:lstStyle/>
          <a:p>
            <a:r>
              <a:rPr kumimoji="1" lang="ja-JP" altLang="en-US" dirty="0"/>
              <a:t>ここにタイトルが入ります</a:t>
            </a:r>
          </a:p>
        </p:txBody>
      </p:sp>
      <p:sp>
        <p:nvSpPr>
          <p:cNvPr id="3" name="テキスト プレースホルダー 2">
            <a:extLst>
              <a:ext uri="{FF2B5EF4-FFF2-40B4-BE49-F238E27FC236}">
                <a16:creationId xmlns:a16="http://schemas.microsoft.com/office/drawing/2014/main" id="{BF9CBE53-9E83-4BD7-8F58-B026F31036D8}"/>
              </a:ext>
            </a:extLst>
          </p:cNvPr>
          <p:cNvSpPr>
            <a:spLocks noGrp="1"/>
          </p:cNvSpPr>
          <p:nvPr>
            <p:ph type="body" idx="1"/>
          </p:nvPr>
        </p:nvSpPr>
        <p:spPr>
          <a:xfrm>
            <a:off x="375211" y="1089645"/>
            <a:ext cx="11411999" cy="5220000"/>
          </a:xfrm>
          <a:prstGeom prst="rect">
            <a:avLst/>
          </a:prstGeom>
        </p:spPr>
        <p:txBody>
          <a:bodyPr vert="horz" lIns="91440" tIns="45720" rIns="91440" bIns="45720" rtlCol="0">
            <a:noAutofit/>
          </a:bodyPr>
          <a:lstStyle/>
          <a:p>
            <a:pPr lvl="0"/>
            <a:r>
              <a:rPr kumimoji="1" lang="ja-JP" altLang="en-US" dirty="0"/>
              <a:t>マスター テキストの書式設定</a:t>
            </a:r>
          </a:p>
          <a:p>
            <a:pPr lvl="1"/>
            <a:r>
              <a:rPr kumimoji="1" lang="ja-JP" altLang="en-US" dirty="0"/>
              <a:t>第</a:t>
            </a:r>
            <a:r>
              <a:rPr kumimoji="1" lang="en-US" altLang="ja-JP" dirty="0"/>
              <a:t>2</a:t>
            </a:r>
            <a:r>
              <a:rPr kumimoji="1" lang="ja-JP" altLang="en-US" dirty="0"/>
              <a:t>レベル</a:t>
            </a:r>
          </a:p>
          <a:p>
            <a:pPr lvl="2"/>
            <a:r>
              <a:rPr kumimoji="1" lang="ja-JP" altLang="en-US" dirty="0"/>
              <a:t>第</a:t>
            </a:r>
            <a:r>
              <a:rPr kumimoji="1" lang="en-US" altLang="ja-JP" dirty="0"/>
              <a:t>3</a:t>
            </a:r>
            <a:r>
              <a:rPr kumimoji="1" lang="ja-JP" altLang="en-US" dirty="0"/>
              <a:t>レベル</a:t>
            </a:r>
          </a:p>
          <a:p>
            <a:pPr lvl="3"/>
            <a:r>
              <a:rPr kumimoji="1" lang="ja-JP" altLang="en-US" dirty="0"/>
              <a:t>第</a:t>
            </a:r>
            <a:r>
              <a:rPr kumimoji="1" lang="en-US" altLang="ja-JP" dirty="0"/>
              <a:t>4</a:t>
            </a:r>
            <a:r>
              <a:rPr kumimoji="1" lang="ja-JP" altLang="en-US" dirty="0"/>
              <a:t>レベル</a:t>
            </a:r>
          </a:p>
          <a:p>
            <a:pPr lvl="4"/>
            <a:r>
              <a:rPr kumimoji="1" lang="ja-JP" altLang="en-US" dirty="0"/>
              <a:t>第</a:t>
            </a:r>
            <a:r>
              <a:rPr kumimoji="1" lang="en-US" altLang="ja-JP" dirty="0"/>
              <a:t>5</a:t>
            </a:r>
            <a:r>
              <a:rPr kumimoji="1" lang="ja-JP" altLang="en-US" dirty="0"/>
              <a:t>レベル</a:t>
            </a:r>
          </a:p>
        </p:txBody>
      </p:sp>
      <p:sp>
        <p:nvSpPr>
          <p:cNvPr id="4" name="テキスト ボックス 3">
            <a:extLst>
              <a:ext uri="{FF2B5EF4-FFF2-40B4-BE49-F238E27FC236}">
                <a16:creationId xmlns:a16="http://schemas.microsoft.com/office/drawing/2014/main" id="{5F1CC9EA-387C-48A9-85E6-6790BD05E825}"/>
              </a:ext>
            </a:extLst>
          </p:cNvPr>
          <p:cNvSpPr txBox="1"/>
          <p:nvPr userDrawn="1"/>
        </p:nvSpPr>
        <p:spPr>
          <a:xfrm>
            <a:off x="285750" y="6546737"/>
            <a:ext cx="1301959"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dirty="0">
                <a:solidFill>
                  <a:schemeClr val="tx1">
                    <a:lumMod val="75000"/>
                    <a:lumOff val="25000"/>
                  </a:schemeClr>
                </a:solidFill>
                <a:latin typeface="Meiryo UI" panose="020B0604030504040204" pitchFamily="50" charset="-128"/>
                <a:ea typeface="Meiryo UI" panose="020B0604030504040204" pitchFamily="50" charset="-128"/>
              </a:rPr>
              <a:t>© 2024 CRESCO LTD.</a:t>
            </a:r>
            <a:endParaRPr lang="ja-JP" altLang="en-US" sz="800" dirty="0">
              <a:solidFill>
                <a:schemeClr val="tx1">
                  <a:lumMod val="75000"/>
                  <a:lumOff val="25000"/>
                </a:scheme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765671287"/>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50" r:id="rId3"/>
    <p:sldLayoutId id="2147483651" r:id="rId4"/>
    <p:sldLayoutId id="2147483652" r:id="rId5"/>
    <p:sldLayoutId id="2147483654" r:id="rId6"/>
  </p:sldLayoutIdLst>
  <p:hf hdr="0"/>
  <p:txStyles>
    <p:titleStyle>
      <a:lvl1pPr algn="l" defTabSz="914400" rtl="0" eaLnBrk="1" latinLnBrk="0" hangingPunct="1">
        <a:lnSpc>
          <a:spcPct val="90000"/>
        </a:lnSpc>
        <a:spcBef>
          <a:spcPct val="0"/>
        </a:spcBef>
        <a:buNone/>
        <a:defRPr kumimoji="1" sz="3000" b="1" kern="1200" baseline="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kumimoji="1" sz="3000" b="1" kern="1200" baseline="0">
          <a:solidFill>
            <a:schemeClr val="tx1"/>
          </a:solidFill>
          <a:latin typeface="+mn-lt"/>
          <a:ea typeface="+mn-ea"/>
          <a:cs typeface="+mn-cs"/>
        </a:defRPr>
      </a:lvl1pPr>
      <a:lvl2pPr marL="720000" indent="-252000" algn="l" defTabSz="720000" rtl="0" eaLnBrk="1" latinLnBrk="0" hangingPunct="1">
        <a:lnSpc>
          <a:spcPct val="90000"/>
        </a:lnSpc>
        <a:spcBef>
          <a:spcPts val="500"/>
        </a:spcBef>
        <a:buClr>
          <a:schemeClr val="tx2"/>
        </a:buClr>
        <a:buSzPct val="80000"/>
        <a:buFont typeface="Wingdings" panose="05000000000000000000" pitchFamily="2" charset="2"/>
        <a:buChar char="l"/>
        <a:tabLst>
          <a:tab pos="36000" algn="l"/>
        </a:tabLst>
        <a:defRPr kumimoji="1" sz="2400" b="1" kern="1200" baseline="0">
          <a:solidFill>
            <a:schemeClr val="tx1"/>
          </a:solidFill>
          <a:latin typeface="+mn-ea"/>
          <a:ea typeface="+mn-ea"/>
          <a:cs typeface="+mn-cs"/>
        </a:defRPr>
      </a:lvl2pPr>
      <a:lvl3pPr marL="1080000" indent="-216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1800" b="1" kern="1200" baseline="0">
          <a:solidFill>
            <a:schemeClr val="tx1"/>
          </a:solidFill>
          <a:latin typeface="+mn-lt"/>
          <a:ea typeface="+mn-ea"/>
          <a:cs typeface="+mn-cs"/>
        </a:defRPr>
      </a:lvl3pPr>
      <a:lvl4pPr marL="1440000" indent="-144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1200" b="1" kern="1200" baseline="0">
          <a:solidFill>
            <a:schemeClr val="tx1"/>
          </a:solidFill>
          <a:latin typeface="+mn-lt"/>
          <a:ea typeface="+mn-ea"/>
          <a:cs typeface="+mn-cs"/>
        </a:defRPr>
      </a:lvl4pPr>
      <a:lvl5pPr marL="1980000" indent="-108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900" b="1"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6280B90-C897-4D1A-A2CB-5DB03EF03E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4248C2F-7BA1-4CEC-AF50-880AC0853F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2D7F612-EF78-4698-968D-492AEC464A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CC4A5-6B73-4209-A9CD-AF504E554132}" type="datetimeFigureOut">
              <a:rPr kumimoji="1" lang="ja-JP" altLang="en-US" smtClean="0"/>
              <a:t>2025/6/4</a:t>
            </a:fld>
            <a:endParaRPr kumimoji="1" lang="ja-JP" altLang="en-US"/>
          </a:p>
        </p:txBody>
      </p:sp>
      <p:sp>
        <p:nvSpPr>
          <p:cNvPr id="5" name="フッター プレースホルダー 4">
            <a:extLst>
              <a:ext uri="{FF2B5EF4-FFF2-40B4-BE49-F238E27FC236}">
                <a16:creationId xmlns:a16="http://schemas.microsoft.com/office/drawing/2014/main" id="{FB575C57-FA8F-4D24-997E-9EF9665539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F461CDA-0341-4B3B-9510-B596CCBEF8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FE4D49-693B-4A0E-BE2B-39C1C24407F2}" type="slidenum">
              <a:rPr kumimoji="1" lang="ja-JP" altLang="en-US" smtClean="0"/>
              <a:t>‹#›</a:t>
            </a:fld>
            <a:endParaRPr kumimoji="1" lang="ja-JP" altLang="en-US"/>
          </a:p>
        </p:txBody>
      </p:sp>
      <p:pic>
        <p:nvPicPr>
          <p:cNvPr id="10" name="図 9" descr="男性の写真のコラージュ&#10;&#10;低い精度で自動的に生成された説明">
            <a:extLst>
              <a:ext uri="{FF2B5EF4-FFF2-40B4-BE49-F238E27FC236}">
                <a16:creationId xmlns:a16="http://schemas.microsoft.com/office/drawing/2014/main" id="{70614421-BA6E-481D-AD21-07D11B854A5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238"/>
            <a:ext cx="12189426" cy="6878046"/>
          </a:xfrm>
          <a:prstGeom prst="rect">
            <a:avLst/>
          </a:prstGeom>
        </p:spPr>
      </p:pic>
    </p:spTree>
    <p:extLst>
      <p:ext uri="{BB962C8B-B14F-4D97-AF65-F5344CB8AC3E}">
        <p14:creationId xmlns:p14="http://schemas.microsoft.com/office/powerpoint/2010/main" val="1170310869"/>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3" Type="http://schemas.openxmlformats.org/officeDocument/2006/relationships/image" Target="../media/image16.svg"/><Relationship Id="rId7" Type="http://schemas.openxmlformats.org/officeDocument/2006/relationships/image" Target="../media/image8.svg"/><Relationship Id="rId12" Type="http://schemas.openxmlformats.org/officeDocument/2006/relationships/image" Target="../media/image23.png"/><Relationship Id="rId17" Type="http://schemas.openxmlformats.org/officeDocument/2006/relationships/image" Target="../media/image26.svg"/><Relationship Id="rId2" Type="http://schemas.openxmlformats.org/officeDocument/2006/relationships/image" Target="../media/image15.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22.svg"/><Relationship Id="rId5" Type="http://schemas.openxmlformats.org/officeDocument/2006/relationships/image" Target="../media/image18.svg"/><Relationship Id="rId15" Type="http://schemas.openxmlformats.org/officeDocument/2006/relationships/image" Target="../media/image12.svg"/><Relationship Id="rId10"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20.svg"/><Relationship Id="rId1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24.svg"/><Relationship Id="rId5" Type="http://schemas.openxmlformats.org/officeDocument/2006/relationships/image" Target="../media/image10.svg"/><Relationship Id="rId10" Type="http://schemas.openxmlformats.org/officeDocument/2006/relationships/image" Target="../media/image23.png"/><Relationship Id="rId4" Type="http://schemas.openxmlformats.org/officeDocument/2006/relationships/image" Target="../media/image9.png"/><Relationship Id="rId9" Type="http://schemas.openxmlformats.org/officeDocument/2006/relationships/image" Target="../media/image2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repost.aws/ja/knowledge-center/s3-instance-access-bucke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付プレースホルダー 4">
            <a:extLst>
              <a:ext uri="{FF2B5EF4-FFF2-40B4-BE49-F238E27FC236}">
                <a16:creationId xmlns:a16="http://schemas.microsoft.com/office/drawing/2014/main" id="{7B66E7C9-3B95-4C7C-B684-EE802930A55F}"/>
              </a:ext>
            </a:extLst>
          </p:cNvPr>
          <p:cNvSpPr>
            <a:spLocks noGrp="1"/>
          </p:cNvSpPr>
          <p:nvPr>
            <p:ph type="dt" sz="half" idx="10"/>
          </p:nvPr>
        </p:nvSpPr>
        <p:spPr/>
        <p:txBody>
          <a:bodyPr/>
          <a:lstStyle/>
          <a:p>
            <a:r>
              <a:rPr lang="en-US" altLang="ja-JP" sz="1200" b="0" dirty="0">
                <a:solidFill>
                  <a:schemeClr val="tx1">
                    <a:lumMod val="75000"/>
                    <a:lumOff val="25000"/>
                  </a:schemeClr>
                </a:solidFill>
                <a:latin typeface="Meiryo UI" panose="020B0604030504040204" pitchFamily="50" charset="-128"/>
                <a:ea typeface="Meiryo UI" panose="020B0604030504040204" pitchFamily="50" charset="-128"/>
              </a:rPr>
              <a:t>2025</a:t>
            </a:r>
            <a:r>
              <a:rPr lang="ja-JP" altLang="en-US" sz="1200" b="0" dirty="0">
                <a:solidFill>
                  <a:schemeClr val="tx1">
                    <a:lumMod val="75000"/>
                    <a:lumOff val="25000"/>
                  </a:schemeClr>
                </a:solidFill>
                <a:latin typeface="Meiryo UI" panose="020B0604030504040204" pitchFamily="50" charset="-128"/>
                <a:ea typeface="Meiryo UI" panose="020B0604030504040204" pitchFamily="50" charset="-128"/>
              </a:rPr>
              <a:t>年</a:t>
            </a:r>
            <a:r>
              <a:rPr lang="en-US" altLang="ja-JP" sz="1200" b="0" dirty="0">
                <a:solidFill>
                  <a:schemeClr val="tx1">
                    <a:lumMod val="75000"/>
                    <a:lumOff val="25000"/>
                  </a:schemeClr>
                </a:solidFill>
                <a:latin typeface="Meiryo UI" panose="020B0604030504040204" pitchFamily="50" charset="-128"/>
                <a:ea typeface="Meiryo UI" panose="020B0604030504040204" pitchFamily="50" charset="-128"/>
              </a:rPr>
              <a:t>6</a:t>
            </a:r>
            <a:r>
              <a:rPr lang="ja-JP" altLang="en-US" sz="1200" b="0" dirty="0">
                <a:solidFill>
                  <a:schemeClr val="tx1">
                    <a:lumMod val="75000"/>
                    <a:lumOff val="25000"/>
                  </a:schemeClr>
                </a:solidFill>
                <a:latin typeface="Meiryo UI" panose="020B0604030504040204" pitchFamily="50" charset="-128"/>
                <a:ea typeface="Meiryo UI" panose="020B0604030504040204" pitchFamily="50" charset="-128"/>
              </a:rPr>
              <a:t>月</a:t>
            </a:r>
            <a:r>
              <a:rPr lang="en-US" altLang="ja-JP" sz="1200" b="0" dirty="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200" b="0" dirty="0">
                <a:latin typeface="Meiryo UI" panose="020B0604030504040204" pitchFamily="50" charset="-128"/>
                <a:ea typeface="Meiryo UI" panose="020B0604030504040204" pitchFamily="50" charset="-128"/>
              </a:rPr>
              <a:t>日</a:t>
            </a:r>
          </a:p>
        </p:txBody>
      </p:sp>
      <p:sp>
        <p:nvSpPr>
          <p:cNvPr id="7" name="テキスト プレースホルダー 3">
            <a:extLst>
              <a:ext uri="{FF2B5EF4-FFF2-40B4-BE49-F238E27FC236}">
                <a16:creationId xmlns:a16="http://schemas.microsoft.com/office/drawing/2014/main" id="{0FE43EC2-1470-4864-A3D2-F97E87367E6F}"/>
              </a:ext>
            </a:extLst>
          </p:cNvPr>
          <p:cNvSpPr txBox="1">
            <a:spLocks/>
          </p:cNvSpPr>
          <p:nvPr/>
        </p:nvSpPr>
        <p:spPr>
          <a:xfrm>
            <a:off x="666305" y="1125025"/>
            <a:ext cx="7200000" cy="2880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000" b="1" kern="1200" baseline="0">
                <a:solidFill>
                  <a:schemeClr val="tx1"/>
                </a:solidFill>
                <a:latin typeface="+mn-lt"/>
                <a:ea typeface="+mn-ea"/>
                <a:cs typeface="+mn-cs"/>
              </a:defRPr>
            </a:lvl1pPr>
            <a:lvl2pPr marL="720000" indent="-252000" algn="l" defTabSz="720000" rtl="0" eaLnBrk="1" latinLnBrk="0" hangingPunct="1">
              <a:lnSpc>
                <a:spcPct val="90000"/>
              </a:lnSpc>
              <a:spcBef>
                <a:spcPts val="500"/>
              </a:spcBef>
              <a:buClr>
                <a:schemeClr val="tx2"/>
              </a:buClr>
              <a:buSzPct val="80000"/>
              <a:buFont typeface="Wingdings" panose="05000000000000000000" pitchFamily="2" charset="2"/>
              <a:buChar char="l"/>
              <a:tabLst>
                <a:tab pos="36000" algn="l"/>
              </a:tabLst>
              <a:defRPr kumimoji="1" sz="2400" b="1" kern="1200" baseline="0">
                <a:solidFill>
                  <a:schemeClr val="tx1"/>
                </a:solidFill>
                <a:latin typeface="+mn-ea"/>
                <a:ea typeface="+mn-ea"/>
                <a:cs typeface="+mn-cs"/>
              </a:defRPr>
            </a:lvl2pPr>
            <a:lvl3pPr marL="1080000" indent="-216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1800" b="1" kern="1200" baseline="0">
                <a:solidFill>
                  <a:schemeClr val="tx1"/>
                </a:solidFill>
                <a:latin typeface="+mn-lt"/>
                <a:ea typeface="+mn-ea"/>
                <a:cs typeface="+mn-cs"/>
              </a:defRPr>
            </a:lvl3pPr>
            <a:lvl4pPr marL="1440000" indent="-144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1200" b="1" kern="1200" baseline="0">
                <a:solidFill>
                  <a:schemeClr val="tx1"/>
                </a:solidFill>
                <a:latin typeface="+mn-lt"/>
                <a:ea typeface="+mn-ea"/>
                <a:cs typeface="+mn-cs"/>
              </a:defRPr>
            </a:lvl4pPr>
            <a:lvl5pPr marL="1980000" indent="-108000" algn="l" defTabSz="914400" rtl="0" eaLnBrk="1" latinLnBrk="0" hangingPunct="1">
              <a:lnSpc>
                <a:spcPct val="90000"/>
              </a:lnSpc>
              <a:spcBef>
                <a:spcPts val="500"/>
              </a:spcBef>
              <a:buClr>
                <a:schemeClr val="tx2"/>
              </a:buClr>
              <a:buSzPct val="80000"/>
              <a:buFont typeface="Wingdings" panose="05000000000000000000" pitchFamily="2" charset="2"/>
              <a:buChar char="l"/>
              <a:defRPr kumimoji="1" sz="900" b="1"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en-US" altLang="ja-JP" sz="24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タイトル 1">
            <a:extLst>
              <a:ext uri="{FF2B5EF4-FFF2-40B4-BE49-F238E27FC236}">
                <a16:creationId xmlns:a16="http://schemas.microsoft.com/office/drawing/2014/main" id="{8BDF48BD-4B36-4BBD-907B-423E14E330D1}"/>
              </a:ext>
            </a:extLst>
          </p:cNvPr>
          <p:cNvSpPr>
            <a:spLocks noGrp="1"/>
          </p:cNvSpPr>
          <p:nvPr>
            <p:ph type="ctrTitle"/>
          </p:nvPr>
        </p:nvSpPr>
        <p:spPr>
          <a:xfrm>
            <a:off x="762002" y="2286727"/>
            <a:ext cx="10440000" cy="621503"/>
          </a:xfrm>
        </p:spPr>
        <p:txBody>
          <a:bodyPr/>
          <a:lstStyle/>
          <a:p>
            <a:r>
              <a:rPr lang="en-US" altLang="ja-JP" dirty="0">
                <a:latin typeface="Meiryo UI" panose="020B0604030504040204" pitchFamily="50" charset="-128"/>
                <a:ea typeface="Meiryo UI" panose="020B0604030504040204" pitchFamily="50" charset="-128"/>
              </a:rPr>
              <a:t>S3</a:t>
            </a:r>
            <a:r>
              <a:rPr lang="ja-JP" altLang="en-US" dirty="0">
                <a:latin typeface="Meiryo UI" panose="020B0604030504040204" pitchFamily="50" charset="-128"/>
                <a:ea typeface="Meiryo UI" panose="020B0604030504040204" pitchFamily="50" charset="-128"/>
              </a:rPr>
              <a:t>クロスアカウント説明資料</a:t>
            </a:r>
          </a:p>
        </p:txBody>
      </p:sp>
    </p:spTree>
    <p:extLst>
      <p:ext uri="{BB962C8B-B14F-4D97-AF65-F5344CB8AC3E}">
        <p14:creationId xmlns:p14="http://schemas.microsoft.com/office/powerpoint/2010/main" val="2690958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0">
            <a:extLst>
              <a:ext uri="{FF2B5EF4-FFF2-40B4-BE49-F238E27FC236}">
                <a16:creationId xmlns:a16="http://schemas.microsoft.com/office/drawing/2014/main" id="{CF6DD1E2-2F57-464A-AAF6-72CC48932C85}"/>
              </a:ext>
            </a:extLst>
          </p:cNvPr>
          <p:cNvSpPr txBox="1"/>
          <p:nvPr/>
        </p:nvSpPr>
        <p:spPr>
          <a:xfrm>
            <a:off x="3918935" y="2767280"/>
            <a:ext cx="6310796" cy="1323439"/>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457200" indent="-457200">
              <a:buFont typeface="+mj-lt"/>
              <a:buAutoNum type="arabicPeriod"/>
            </a:pPr>
            <a:r>
              <a:rPr lang="en-US" altLang="ja-JP" sz="1600" dirty="0">
                <a:solidFill>
                  <a:schemeClr val="tx1">
                    <a:lumMod val="75000"/>
                    <a:lumOff val="25000"/>
                  </a:schemeClr>
                </a:solidFill>
                <a:latin typeface="Meiryo UI" panose="020B0604030504040204" pitchFamily="50" charset="-128"/>
                <a:ea typeface="Meiryo UI" panose="020B0604030504040204" pitchFamily="50" charset="-128"/>
              </a:rPr>
              <a:t>S3</a:t>
            </a: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クロスアカウント設定について</a:t>
            </a:r>
            <a:endParaRPr lang="en-US" altLang="ja-JP" sz="1600" dirty="0">
              <a:solidFill>
                <a:schemeClr val="tx1">
                  <a:lumMod val="75000"/>
                  <a:lumOff val="25000"/>
                </a:schemeClr>
              </a:solidFill>
              <a:latin typeface="Meiryo UI" panose="020B0604030504040204" pitchFamily="50" charset="-128"/>
              <a:ea typeface="Meiryo UI" panose="020B0604030504040204" pitchFamily="50" charset="-128"/>
            </a:endParaRPr>
          </a:p>
          <a:p>
            <a:pPr marL="457200" indent="-457200">
              <a:buFont typeface="+mj-lt"/>
              <a:buAutoNum type="arabicPeriod"/>
            </a:pP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アクセス経路について</a:t>
            </a:r>
            <a:endParaRPr lang="en-US" altLang="ja-JP" sz="1600" dirty="0">
              <a:solidFill>
                <a:schemeClr val="tx1">
                  <a:lumMod val="75000"/>
                  <a:lumOff val="25000"/>
                </a:schemeClr>
              </a:solidFill>
              <a:latin typeface="Meiryo UI" panose="020B0604030504040204" pitchFamily="50" charset="-128"/>
              <a:ea typeface="Meiryo UI" panose="020B0604030504040204" pitchFamily="50" charset="-128"/>
            </a:endParaRPr>
          </a:p>
          <a:p>
            <a:pPr marL="457200" indent="-457200">
              <a:buFont typeface="+mj-lt"/>
              <a:buAutoNum type="arabicPeriod"/>
            </a:pP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必要となる作業について</a:t>
            </a:r>
            <a:endParaRPr lang="en-US" altLang="ja-JP" sz="1600" dirty="0">
              <a:solidFill>
                <a:schemeClr val="tx1">
                  <a:lumMod val="75000"/>
                  <a:lumOff val="25000"/>
                </a:schemeClr>
              </a:solidFill>
              <a:latin typeface="Meiryo UI" panose="020B0604030504040204" pitchFamily="50" charset="-128"/>
              <a:ea typeface="Meiryo UI" panose="020B0604030504040204" pitchFamily="50" charset="-128"/>
            </a:endParaRPr>
          </a:p>
          <a:p>
            <a:pPr marL="457200" indent="-457200">
              <a:buFont typeface="+mj-lt"/>
              <a:buAutoNum type="arabicPeriod"/>
            </a:pPr>
            <a:r>
              <a:rPr lang="ja-JP" altLang="en-US" sz="1600" dirty="0">
                <a:solidFill>
                  <a:schemeClr val="tx1">
                    <a:lumMod val="75000"/>
                    <a:lumOff val="25000"/>
                  </a:schemeClr>
                </a:solidFill>
                <a:latin typeface="Meiryo UI" panose="020B0604030504040204" pitchFamily="50" charset="-128"/>
                <a:ea typeface="Meiryo UI" panose="020B0604030504040204" pitchFamily="50" charset="-128"/>
              </a:rPr>
              <a:t>ご依頼事項について</a:t>
            </a:r>
          </a:p>
          <a:p>
            <a:pPr marL="457200" indent="-457200">
              <a:buFont typeface="+mj-lt"/>
              <a:buAutoNum type="arabicPeriod"/>
            </a:pPr>
            <a:endParaRPr lang="en-US" altLang="ja-JP" sz="16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86B1C305-040D-4437-86C1-07786C72F5A0}"/>
              </a:ext>
            </a:extLst>
          </p:cNvPr>
          <p:cNvSpPr txBox="1"/>
          <p:nvPr/>
        </p:nvSpPr>
        <p:spPr>
          <a:xfrm>
            <a:off x="2506875" y="3173285"/>
            <a:ext cx="1104900" cy="523220"/>
          </a:xfrm>
          <a:prstGeom prst="rect">
            <a:avLst/>
          </a:prstGeom>
          <a:noFill/>
        </p:spPr>
        <p:txBody>
          <a:bodyPr wrap="square" rtlCol="0">
            <a:spAutoFit/>
          </a:bodyPr>
          <a:lstStyle/>
          <a:p>
            <a:r>
              <a:rPr kumimoji="1" lang="ja-JP" altLang="en-US" sz="2800" b="1" dirty="0">
                <a:solidFill>
                  <a:schemeClr val="tx2"/>
                </a:solidFill>
                <a:latin typeface="Meiryo UI" panose="020B0604030504040204" pitchFamily="50" charset="-128"/>
                <a:ea typeface="Meiryo UI" panose="020B0604030504040204" pitchFamily="50" charset="-128"/>
              </a:rPr>
              <a:t>目次</a:t>
            </a:r>
          </a:p>
        </p:txBody>
      </p:sp>
    </p:spTree>
    <p:extLst>
      <p:ext uri="{BB962C8B-B14F-4D97-AF65-F5344CB8AC3E}">
        <p14:creationId xmlns:p14="http://schemas.microsoft.com/office/powerpoint/2010/main" val="3462606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0426CF02-A1B6-42DD-83B4-4C27332771D0}"/>
              </a:ext>
            </a:extLst>
          </p:cNvPr>
          <p:cNvSpPr txBox="1"/>
          <p:nvPr/>
        </p:nvSpPr>
        <p:spPr>
          <a:xfrm>
            <a:off x="53546" y="730192"/>
            <a:ext cx="12084908" cy="954107"/>
          </a:xfrm>
          <a:prstGeom prst="rect">
            <a:avLst/>
          </a:prstGeom>
          <a:noFill/>
        </p:spPr>
        <p:txBody>
          <a:bodyPr wrap="square" lIns="91440" tIns="45720" rIns="91440" bIns="45720" rtlCol="0" anchor="t">
            <a:spAutoFit/>
          </a:bodyPr>
          <a:lstStyle/>
          <a:p>
            <a:r>
              <a:rPr lang="ja-JP" altLang="en-US" sz="1400" dirty="0">
                <a:solidFill>
                  <a:schemeClr val="tx1">
                    <a:lumMod val="75000"/>
                    <a:lumOff val="25000"/>
                  </a:schemeClr>
                </a:solidFill>
                <a:latin typeface="Meiryo UI"/>
                <a:ea typeface="Meiryo UI"/>
              </a:rPr>
              <a:t>アイネスAWSアカウント側のリソースから今回構築したマスターデータ格納用</a:t>
            </a:r>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に対して書き込み処理を行う際に、クロスアカウントアクセス設定を使用することで</a:t>
            </a:r>
            <a:endParaRPr lang="en-US" altLang="ja-JP" sz="1400" dirty="0">
              <a:solidFill>
                <a:schemeClr val="tx1">
                  <a:lumMod val="75000"/>
                  <a:lumOff val="25000"/>
                </a:schemeClr>
              </a:solidFill>
              <a:latin typeface="Meiryo UI"/>
              <a:ea typeface="Meiryo UI"/>
            </a:endParaRPr>
          </a:p>
          <a:p>
            <a:r>
              <a:rPr lang="ja-JP" altLang="en-US" sz="1400" dirty="0">
                <a:solidFill>
                  <a:schemeClr val="tx1">
                    <a:lumMod val="75000"/>
                    <a:lumOff val="25000"/>
                  </a:schemeClr>
                </a:solidFill>
                <a:latin typeface="Meiryo UI"/>
                <a:ea typeface="Meiryo UI"/>
              </a:rPr>
              <a:t>既存のオンプレ通信のように</a:t>
            </a:r>
            <a:r>
              <a:rPr lang="en-US" altLang="ja-JP" sz="1400" dirty="0" err="1">
                <a:solidFill>
                  <a:schemeClr val="tx1">
                    <a:lumMod val="75000"/>
                    <a:lumOff val="25000"/>
                  </a:schemeClr>
                </a:solidFill>
                <a:latin typeface="Meiryo UI"/>
                <a:ea typeface="Meiryo UI"/>
              </a:rPr>
              <a:t>DirectConnect</a:t>
            </a:r>
            <a:r>
              <a:rPr lang="ja-JP" altLang="en-US" sz="1400" dirty="0">
                <a:solidFill>
                  <a:schemeClr val="tx1">
                    <a:lumMod val="75000"/>
                    <a:lumOff val="25000"/>
                  </a:schemeClr>
                </a:solidFill>
                <a:latin typeface="Meiryo UI"/>
                <a:ea typeface="Meiryo UI"/>
              </a:rPr>
              <a:t>を経由せずに通信を行うことが可能となっています。</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a:p>
            <a:r>
              <a:rPr lang="en-US" altLang="ja-JP" sz="1400" dirty="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イメージ図</a:t>
            </a:r>
            <a:endParaRPr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A2C6E3DF-D65F-4696-911C-B2E7DBF60D1E}"/>
              </a:ext>
            </a:extLst>
          </p:cNvPr>
          <p:cNvSpPr txBox="1"/>
          <p:nvPr/>
        </p:nvSpPr>
        <p:spPr>
          <a:xfrm>
            <a:off x="53547" y="49428"/>
            <a:ext cx="12084907" cy="307777"/>
          </a:xfrm>
          <a:prstGeom prst="rect">
            <a:avLst/>
          </a:prstGeom>
          <a:noFill/>
        </p:spPr>
        <p:txBody>
          <a:bodyPr wrap="square" rtlCol="0">
            <a:spAutoFit/>
          </a:bodyPr>
          <a:lstStyle/>
          <a:p>
            <a:pPr marL="342900" indent="-342900">
              <a:buFontTx/>
              <a:buAutoNum type="arabicPeriod"/>
            </a:pPr>
            <a:r>
              <a:rPr kumimoji="1" lang="en-US" altLang="ja-JP" sz="1400" b="1" dirty="0">
                <a:solidFill>
                  <a:schemeClr val="tx2"/>
                </a:solidFill>
                <a:latin typeface="Meiryo UI" panose="020B0604030504040204" pitchFamily="50" charset="-128"/>
                <a:ea typeface="Meiryo UI" panose="020B0604030504040204" pitchFamily="50" charset="-128"/>
              </a:rPr>
              <a:t>S3</a:t>
            </a:r>
            <a:r>
              <a:rPr kumimoji="1" lang="ja-JP" altLang="en-US" sz="1400" b="1" dirty="0">
                <a:solidFill>
                  <a:schemeClr val="tx2"/>
                </a:solidFill>
                <a:latin typeface="Meiryo UI" panose="020B0604030504040204" pitchFamily="50" charset="-128"/>
                <a:ea typeface="Meiryo UI" panose="020B0604030504040204" pitchFamily="50" charset="-128"/>
              </a:rPr>
              <a:t>クロスアカウントアクセス設定について</a:t>
            </a:r>
          </a:p>
        </p:txBody>
      </p:sp>
      <p:grpSp>
        <p:nvGrpSpPr>
          <p:cNvPr id="3" name="aGroupIcon" descr="Example of AWS Cloud group, represented as a rectangle with AWS logo at the top left, and AWS Cloud as a title.">
            <a:extLst>
              <a:ext uri="{FF2B5EF4-FFF2-40B4-BE49-F238E27FC236}">
                <a16:creationId xmlns:a16="http://schemas.microsoft.com/office/drawing/2014/main" id="{80AC9FA4-1B50-987B-50BC-E0871A963258}"/>
              </a:ext>
            </a:extLst>
          </p:cNvPr>
          <p:cNvGrpSpPr/>
          <p:nvPr/>
        </p:nvGrpSpPr>
        <p:grpSpPr>
          <a:xfrm>
            <a:off x="1062107" y="1913141"/>
            <a:ext cx="3649041" cy="4271746"/>
            <a:chOff x="4679950" y="1060931"/>
            <a:chExt cx="4194366" cy="4688994"/>
          </a:xfrm>
        </p:grpSpPr>
        <p:sp>
          <p:nvSpPr>
            <p:cNvPr id="4" name="Rectangle 4">
              <a:extLst>
                <a:ext uri="{FF2B5EF4-FFF2-40B4-BE49-F238E27FC236}">
                  <a16:creationId xmlns:a16="http://schemas.microsoft.com/office/drawing/2014/main" id="{F6A70D1F-5DF1-419F-D7A4-CB58AF943EF7}"/>
                </a:ext>
              </a:extLst>
            </p:cNvPr>
            <p:cNvSpPr/>
            <p:nvPr/>
          </p:nvSpPr>
          <p:spPr bwMode="auto">
            <a:xfrm>
              <a:off x="4679950" y="1063625"/>
              <a:ext cx="4194366" cy="468630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rIns="91440" bIns="45720" anchor="t"/>
            <a:lstStyle/>
            <a:p>
              <a:pPr>
                <a:defRPr/>
              </a:pPr>
              <a:r>
                <a:rPr lang="en-US" altLang="ja-JP" sz="1200" dirty="0" err="1">
                  <a:solidFill>
                    <a:schemeClr val="tx1"/>
                  </a:solidFill>
                  <a:latin typeface="Arial"/>
                  <a:cs typeface="Arial"/>
                </a:rPr>
                <a:t>アイネス</a:t>
              </a:r>
              <a:r>
                <a:rPr lang="en-US" altLang="ja-JP" sz="1200" dirty="0">
                  <a:solidFill>
                    <a:schemeClr val="tx1"/>
                  </a:solidFill>
                  <a:latin typeface="Arial"/>
                  <a:cs typeface="Arial"/>
                </a:rPr>
                <a:t> </a:t>
              </a:r>
              <a:r>
                <a:rPr lang="en-US" altLang="ja-JP" sz="1200" dirty="0" err="1">
                  <a:solidFill>
                    <a:schemeClr val="tx1"/>
                  </a:solidFill>
                  <a:latin typeface="Arial"/>
                  <a:cs typeface="Arial"/>
                </a:rPr>
                <a:t>AWSアカウント</a:t>
              </a:r>
              <a:endParaRPr lang="en-US" altLang="ja-JP" sz="1200" dirty="0" err="1">
                <a:solidFill>
                  <a:schemeClr val="tx1"/>
                </a:solidFill>
                <a:latin typeface="Arial" panose="020B0604020202020204" pitchFamily="34" charset="0"/>
                <a:cs typeface="Arial" panose="020B0604020202020204" pitchFamily="34" charset="0"/>
              </a:endParaRPr>
            </a:p>
          </p:txBody>
        </p:sp>
        <p:pic>
          <p:nvPicPr>
            <p:cNvPr id="6" name="Graphic 37">
              <a:extLst>
                <a:ext uri="{FF2B5EF4-FFF2-40B4-BE49-F238E27FC236}">
                  <a16:creationId xmlns:a16="http://schemas.microsoft.com/office/drawing/2014/main" id="{14001E11-57BE-9993-B429-FD433C679E1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4679950" y="1060931"/>
              <a:ext cx="381000" cy="381000"/>
            </a:xfrm>
            <a:prstGeom prst="rect">
              <a:avLst/>
            </a:prstGeom>
          </p:spPr>
        </p:pic>
      </p:grpSp>
      <p:grpSp>
        <p:nvGrpSpPr>
          <p:cNvPr id="7" name="aGroupIcon" descr="Example of AWS Cloud group, represented as a rectangle with AWS logo at the top left, and AWS Cloud as a title.">
            <a:extLst>
              <a:ext uri="{FF2B5EF4-FFF2-40B4-BE49-F238E27FC236}">
                <a16:creationId xmlns:a16="http://schemas.microsoft.com/office/drawing/2014/main" id="{E3BA144B-E64C-4481-40C2-A2C01782325A}"/>
              </a:ext>
            </a:extLst>
          </p:cNvPr>
          <p:cNvGrpSpPr/>
          <p:nvPr/>
        </p:nvGrpSpPr>
        <p:grpSpPr>
          <a:xfrm>
            <a:off x="6283464" y="1913141"/>
            <a:ext cx="3649041" cy="4271746"/>
            <a:chOff x="4679950" y="1060931"/>
            <a:chExt cx="4194366" cy="4688994"/>
          </a:xfrm>
        </p:grpSpPr>
        <p:sp>
          <p:nvSpPr>
            <p:cNvPr id="8" name="Rectangle 4">
              <a:extLst>
                <a:ext uri="{FF2B5EF4-FFF2-40B4-BE49-F238E27FC236}">
                  <a16:creationId xmlns:a16="http://schemas.microsoft.com/office/drawing/2014/main" id="{BB7B4396-604D-104B-2048-034999C3A131}"/>
                </a:ext>
              </a:extLst>
            </p:cNvPr>
            <p:cNvSpPr/>
            <p:nvPr/>
          </p:nvSpPr>
          <p:spPr bwMode="auto">
            <a:xfrm>
              <a:off x="4679950" y="1063625"/>
              <a:ext cx="4194366" cy="468630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a:t>
              </a:r>
              <a:r>
                <a:rPr lang="ja-JP" altLang="en-US" sz="1200" dirty="0">
                  <a:solidFill>
                    <a:schemeClr val="tx1"/>
                  </a:solidFill>
                  <a:latin typeface="Arial" panose="020B0604020202020204" pitchFamily="34" charset="0"/>
                  <a:cs typeface="Arial" panose="020B0604020202020204" pitchFamily="34" charset="0"/>
                </a:rPr>
                <a:t> </a:t>
              </a:r>
              <a:r>
                <a:rPr lang="en-US" altLang="ja-JP" sz="1200" dirty="0">
                  <a:solidFill>
                    <a:schemeClr val="tx1"/>
                  </a:solidFill>
                  <a:latin typeface="Arial" panose="020B0604020202020204" pitchFamily="34" charset="0"/>
                  <a:cs typeface="Arial" panose="020B0604020202020204" pitchFamily="34" charset="0"/>
                </a:rPr>
                <a:t>Cloud</a:t>
              </a:r>
              <a:endParaRPr lang="en-US" sz="1200" dirty="0">
                <a:solidFill>
                  <a:schemeClr val="tx1"/>
                </a:solidFill>
                <a:latin typeface="Arial" panose="020B0604020202020204" pitchFamily="34" charset="0"/>
                <a:cs typeface="Arial" panose="020B0604020202020204" pitchFamily="34" charset="0"/>
              </a:endParaRPr>
            </a:p>
          </p:txBody>
        </p:sp>
        <p:pic>
          <p:nvPicPr>
            <p:cNvPr id="9" name="Graphic 37">
              <a:extLst>
                <a:ext uri="{FF2B5EF4-FFF2-40B4-BE49-F238E27FC236}">
                  <a16:creationId xmlns:a16="http://schemas.microsoft.com/office/drawing/2014/main" id="{DC22813A-5535-9BC2-FE4D-04FAA3F95D0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4679950" y="1060931"/>
              <a:ext cx="381000" cy="381000"/>
            </a:xfrm>
            <a:prstGeom prst="rect">
              <a:avLst/>
            </a:prstGeom>
          </p:spPr>
        </p:pic>
      </p:grpSp>
      <p:sp>
        <p:nvSpPr>
          <p:cNvPr id="12" name="TextBox 16">
            <a:extLst>
              <a:ext uri="{FF2B5EF4-FFF2-40B4-BE49-F238E27FC236}">
                <a16:creationId xmlns:a16="http://schemas.microsoft.com/office/drawing/2014/main" id="{F7388A12-8DFB-6D2B-BD85-B24CE611A798}"/>
              </a:ext>
              <a:ext uri="{C183D7F6-B498-43B3-948B-1728B52AA6E4}">
                <adec:decorative xmlns:adec="http://schemas.microsoft.com/office/drawing/2017/decorative" val="1"/>
              </a:ext>
            </a:extLst>
          </p:cNvPr>
          <p:cNvSpPr txBox="1">
            <a:spLocks noChangeArrowheads="1"/>
          </p:cNvSpPr>
          <p:nvPr/>
        </p:nvSpPr>
        <p:spPr bwMode="auto">
          <a:xfrm>
            <a:off x="2064920" y="3530837"/>
            <a:ext cx="11155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Arial" panose="020B0604020202020204" pitchFamily="34" charset="0"/>
                <a:ea typeface="Amazon Ember" panose="020B0603020204020204" pitchFamily="34" charset="0"/>
                <a:cs typeface="Arial" panose="020B0604020202020204" pitchFamily="34" charset="0"/>
              </a:rPr>
              <a:t>、</a:t>
            </a:r>
            <a:r>
              <a:rPr lang="en-US" altLang="en-US" sz="1200" dirty="0">
                <a:latin typeface="Arial" panose="020B0604020202020204" pitchFamily="34" charset="0"/>
                <a:ea typeface="Amazon Ember" panose="020B0603020204020204" pitchFamily="34" charset="0"/>
                <a:cs typeface="Arial" panose="020B0604020202020204" pitchFamily="34" charset="0"/>
              </a:rPr>
              <a:t>Instance</a:t>
            </a:r>
          </a:p>
        </p:txBody>
      </p:sp>
      <p:pic>
        <p:nvPicPr>
          <p:cNvPr id="15" name="Graphic 5" descr="Amazon Elastic Compute Cloud (Amazon EC2) service icon.">
            <a:extLst>
              <a:ext uri="{FF2B5EF4-FFF2-40B4-BE49-F238E27FC236}">
                <a16:creationId xmlns:a16="http://schemas.microsoft.com/office/drawing/2014/main" id="{05FD2802-B0CC-01FA-CF18-66447D877B43}"/>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341632" y="2768837"/>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Graphic 8" descr="Amazon Simple Storage Service (Amazon S3) service icon.">
            <a:extLst>
              <a:ext uri="{FF2B5EF4-FFF2-40B4-BE49-F238E27FC236}">
                <a16:creationId xmlns:a16="http://schemas.microsoft.com/office/drawing/2014/main" id="{A28EF26A-CDB4-66FA-9050-1893A4C7B784}"/>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7726984" y="2768837"/>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9">
            <a:extLst>
              <a:ext uri="{FF2B5EF4-FFF2-40B4-BE49-F238E27FC236}">
                <a16:creationId xmlns:a16="http://schemas.microsoft.com/office/drawing/2014/main" id="{1E41A5E2-F5F0-8EEB-E8F4-EA2CAA591F61}"/>
              </a:ext>
            </a:extLst>
          </p:cNvPr>
          <p:cNvSpPr txBox="1">
            <a:spLocks noChangeArrowheads="1"/>
          </p:cNvSpPr>
          <p:nvPr/>
        </p:nvSpPr>
        <p:spPr bwMode="auto">
          <a:xfrm>
            <a:off x="6988002" y="3549490"/>
            <a:ext cx="22399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mj-ea"/>
                <a:ea typeface="+mj-ea"/>
                <a:cs typeface="Arial" panose="020B0604020202020204" pitchFamily="34" charset="0"/>
              </a:rPr>
              <a:t>マスターデータ格納用</a:t>
            </a:r>
            <a:endParaRPr lang="en-US" altLang="en-US" sz="1200" dirty="0">
              <a:latin typeface="+mj-ea"/>
              <a:ea typeface="+mj-ea"/>
              <a:cs typeface="Arial" panose="020B0604020202020204" pitchFamily="34" charset="0"/>
            </a:endParaRPr>
          </a:p>
        </p:txBody>
      </p:sp>
      <p:pic>
        <p:nvPicPr>
          <p:cNvPr id="18" name="Graphic 72" descr="Role resource icon for the IAM service.">
            <a:extLst>
              <a:ext uri="{FF2B5EF4-FFF2-40B4-BE49-F238E27FC236}">
                <a16:creationId xmlns:a16="http://schemas.microsoft.com/office/drawing/2014/main" id="{2D775147-B727-7BFC-82F4-97BED100BC2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50657" y="4717390"/>
            <a:ext cx="714653" cy="714653"/>
          </a:xfrm>
          <a:prstGeom prst="rect">
            <a:avLst/>
          </a:prstGeom>
        </p:spPr>
      </p:pic>
      <p:sp>
        <p:nvSpPr>
          <p:cNvPr id="19" name="TextBox 29">
            <a:extLst>
              <a:ext uri="{FF2B5EF4-FFF2-40B4-BE49-F238E27FC236}">
                <a16:creationId xmlns:a16="http://schemas.microsoft.com/office/drawing/2014/main" id="{D9D43BF2-57F6-12FC-22CE-F90E10498E9D}"/>
              </a:ext>
            </a:extLst>
          </p:cNvPr>
          <p:cNvSpPr txBox="1">
            <a:spLocks noChangeArrowheads="1"/>
          </p:cNvSpPr>
          <p:nvPr/>
        </p:nvSpPr>
        <p:spPr bwMode="auto">
          <a:xfrm>
            <a:off x="6880440" y="5381668"/>
            <a:ext cx="24550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mj-ea"/>
                <a:ea typeface="+mj-ea"/>
                <a:cs typeface="Arial" panose="020B0604020202020204" pitchFamily="34" charset="0"/>
              </a:rPr>
              <a:t>クロスアカウント用ロール</a:t>
            </a:r>
            <a:endParaRPr lang="en-US" altLang="en-US" sz="1200" dirty="0">
              <a:latin typeface="+mj-ea"/>
              <a:ea typeface="+mj-ea"/>
              <a:cs typeface="Arial" panose="020B0604020202020204" pitchFamily="34" charset="0"/>
            </a:endParaRPr>
          </a:p>
        </p:txBody>
      </p:sp>
      <p:cxnSp>
        <p:nvCxnSpPr>
          <p:cNvPr id="26" name="直線矢印コネクタ 25">
            <a:extLst>
              <a:ext uri="{FF2B5EF4-FFF2-40B4-BE49-F238E27FC236}">
                <a16:creationId xmlns:a16="http://schemas.microsoft.com/office/drawing/2014/main" id="{292C2C3E-96E2-1019-1806-9DF45615F459}"/>
              </a:ext>
            </a:extLst>
          </p:cNvPr>
          <p:cNvCxnSpPr>
            <a:cxnSpLocks/>
            <a:stCxn id="15" idx="3"/>
            <a:endCxn id="16" idx="1"/>
          </p:cNvCxnSpPr>
          <p:nvPr/>
        </p:nvCxnSpPr>
        <p:spPr>
          <a:xfrm>
            <a:off x="3103632" y="3149837"/>
            <a:ext cx="462335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4205DC70-8EBE-F035-F86D-D01B68C5A647}"/>
              </a:ext>
            </a:extLst>
          </p:cNvPr>
          <p:cNvCxnSpPr>
            <a:cxnSpLocks/>
            <a:stCxn id="15" idx="3"/>
            <a:endCxn id="18" idx="1"/>
          </p:cNvCxnSpPr>
          <p:nvPr/>
        </p:nvCxnSpPr>
        <p:spPr>
          <a:xfrm>
            <a:off x="3103632" y="3149837"/>
            <a:ext cx="4647025" cy="192488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E8839BB0-9AEA-831D-49D2-13C8E552D9C0}"/>
              </a:ext>
            </a:extLst>
          </p:cNvPr>
          <p:cNvSpPr txBox="1"/>
          <p:nvPr/>
        </p:nvSpPr>
        <p:spPr>
          <a:xfrm>
            <a:off x="3103632" y="4384079"/>
            <a:ext cx="2879725" cy="646331"/>
          </a:xfrm>
          <a:prstGeom prst="rect">
            <a:avLst/>
          </a:prstGeom>
          <a:solidFill>
            <a:schemeClr val="accent6">
              <a:lumMod val="20000"/>
              <a:lumOff val="80000"/>
            </a:schemeClr>
          </a:solidFill>
        </p:spPr>
        <p:txBody>
          <a:bodyPr wrap="square" rtlCol="0">
            <a:spAutoFit/>
          </a:bodyPr>
          <a:lstStyle/>
          <a:p>
            <a:r>
              <a:rPr lang="ja-JP" altLang="en-US" sz="1200" dirty="0"/>
              <a:t>①クロスアカウント用ロールの権限を一時的に利用できるようにするため</a:t>
            </a:r>
            <a:endParaRPr lang="en-US" altLang="ja-JP" sz="1200" dirty="0"/>
          </a:p>
          <a:p>
            <a:r>
              <a:rPr lang="ja-JP" altLang="en-US" sz="1200" dirty="0"/>
              <a:t>一時クレデンシャルをリクエストする</a:t>
            </a:r>
            <a:endParaRPr kumimoji="1" lang="ja-JP" altLang="en-US" sz="1200" dirty="0"/>
          </a:p>
        </p:txBody>
      </p:sp>
      <p:sp>
        <p:nvSpPr>
          <p:cNvPr id="34" name="テキスト ボックス 33">
            <a:extLst>
              <a:ext uri="{FF2B5EF4-FFF2-40B4-BE49-F238E27FC236}">
                <a16:creationId xmlns:a16="http://schemas.microsoft.com/office/drawing/2014/main" id="{E99EF777-0409-A224-0199-0D6F94A50DB8}"/>
              </a:ext>
            </a:extLst>
          </p:cNvPr>
          <p:cNvSpPr txBox="1"/>
          <p:nvPr/>
        </p:nvSpPr>
        <p:spPr>
          <a:xfrm>
            <a:off x="3925474" y="2628346"/>
            <a:ext cx="2956200" cy="461665"/>
          </a:xfrm>
          <a:prstGeom prst="rect">
            <a:avLst/>
          </a:prstGeom>
          <a:solidFill>
            <a:schemeClr val="accent6">
              <a:lumMod val="20000"/>
              <a:lumOff val="80000"/>
            </a:schemeClr>
          </a:solidFill>
        </p:spPr>
        <p:txBody>
          <a:bodyPr wrap="square" rtlCol="0">
            <a:spAutoFit/>
          </a:bodyPr>
          <a:lstStyle/>
          <a:p>
            <a:r>
              <a:rPr lang="ja-JP" altLang="en-US" sz="1200" dirty="0"/>
              <a:t>②クロスアカウント用ロールの権限を</a:t>
            </a:r>
            <a:endParaRPr lang="en-US" altLang="ja-JP" sz="1200" dirty="0"/>
          </a:p>
          <a:p>
            <a:r>
              <a:rPr kumimoji="1" lang="ja-JP" altLang="en-US" sz="1200" dirty="0"/>
              <a:t>用いて</a:t>
            </a:r>
            <a:r>
              <a:rPr kumimoji="1" lang="en-US" altLang="ja-JP" sz="1200" dirty="0"/>
              <a:t>S3</a:t>
            </a:r>
            <a:r>
              <a:rPr kumimoji="1" lang="ja-JP" altLang="en-US" sz="1200" dirty="0"/>
              <a:t>バケットに書き込みを行う</a:t>
            </a:r>
          </a:p>
        </p:txBody>
      </p:sp>
      <p:sp>
        <p:nvSpPr>
          <p:cNvPr id="35" name="テキスト ボックス 34">
            <a:extLst>
              <a:ext uri="{FF2B5EF4-FFF2-40B4-BE49-F238E27FC236}">
                <a16:creationId xmlns:a16="http://schemas.microsoft.com/office/drawing/2014/main" id="{D4694588-6340-6F7D-1F83-195EB13D1B11}"/>
              </a:ext>
            </a:extLst>
          </p:cNvPr>
          <p:cNvSpPr txBox="1"/>
          <p:nvPr/>
        </p:nvSpPr>
        <p:spPr>
          <a:xfrm>
            <a:off x="8574777" y="4612289"/>
            <a:ext cx="2715452" cy="462428"/>
          </a:xfrm>
          <a:prstGeom prst="rect">
            <a:avLst/>
          </a:prstGeom>
          <a:solidFill>
            <a:schemeClr val="tx2">
              <a:lumMod val="20000"/>
              <a:lumOff val="80000"/>
            </a:schemeClr>
          </a:solidFill>
        </p:spPr>
        <p:txBody>
          <a:bodyPr wrap="square" rtlCol="0">
            <a:spAutoFit/>
          </a:bodyPr>
          <a:lstStyle/>
          <a:p>
            <a:r>
              <a:rPr lang="ja-JP" altLang="en-US" sz="1200" dirty="0"/>
              <a:t>ロールには</a:t>
            </a:r>
            <a:r>
              <a:rPr lang="en-US" altLang="ja-JP" sz="1200" dirty="0"/>
              <a:t>S3</a:t>
            </a:r>
            <a:r>
              <a:rPr lang="ja-JP" altLang="en-US" sz="1200" dirty="0"/>
              <a:t>バケットへの書き込み許可権限を付与しておく</a:t>
            </a:r>
            <a:endParaRPr kumimoji="1" lang="ja-JP" altLang="en-US" sz="1200" dirty="0"/>
          </a:p>
        </p:txBody>
      </p:sp>
    </p:spTree>
    <p:extLst>
      <p:ext uri="{BB962C8B-B14F-4D97-AF65-F5344CB8AC3E}">
        <p14:creationId xmlns:p14="http://schemas.microsoft.com/office/powerpoint/2010/main" val="869394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69">
            <a:extLst>
              <a:ext uri="{FF2B5EF4-FFF2-40B4-BE49-F238E27FC236}">
                <a16:creationId xmlns:a16="http://schemas.microsoft.com/office/drawing/2014/main" id="{18853520-768B-E60B-3A84-F6ECED48FC69}"/>
              </a:ext>
            </a:extLst>
          </p:cNvPr>
          <p:cNvSpPr/>
          <p:nvPr/>
        </p:nvSpPr>
        <p:spPr>
          <a:xfrm>
            <a:off x="3992822" y="1306899"/>
            <a:ext cx="3103717" cy="4557188"/>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ln w="0"/>
                <a:solidFill>
                  <a:schemeClr val="tx1"/>
                </a:solidFill>
                <a:latin typeface="Arial" panose="020B0604020202020204" pitchFamily="34" charset="0"/>
                <a:cs typeface="Arial" panose="020B0604020202020204" pitchFamily="34" charset="0"/>
              </a:rPr>
              <a:t>Virtual private cloud (VPC)</a:t>
            </a:r>
          </a:p>
        </p:txBody>
      </p:sp>
      <p:sp>
        <p:nvSpPr>
          <p:cNvPr id="5" name="テキスト ボックス 4">
            <a:extLst>
              <a:ext uri="{FF2B5EF4-FFF2-40B4-BE49-F238E27FC236}">
                <a16:creationId xmlns:a16="http://schemas.microsoft.com/office/drawing/2014/main" id="{A2C6E3DF-D65F-4696-911C-B2E7DBF60D1E}"/>
              </a:ext>
            </a:extLst>
          </p:cNvPr>
          <p:cNvSpPr txBox="1"/>
          <p:nvPr/>
        </p:nvSpPr>
        <p:spPr>
          <a:xfrm>
            <a:off x="53547" y="49428"/>
            <a:ext cx="12084907" cy="584775"/>
          </a:xfrm>
          <a:prstGeom prst="rect">
            <a:avLst/>
          </a:prstGeom>
          <a:noFill/>
        </p:spPr>
        <p:txBody>
          <a:bodyPr wrap="square" rtlCol="0">
            <a:spAutoFit/>
          </a:bodyPr>
          <a:lstStyle/>
          <a:p>
            <a:r>
              <a:rPr lang="en-US" altLang="ja-JP" sz="1400" b="1" dirty="0">
                <a:solidFill>
                  <a:schemeClr val="tx2"/>
                </a:solidFill>
                <a:latin typeface="Meiryo UI" panose="020B0604030504040204" pitchFamily="50" charset="-128"/>
                <a:ea typeface="Meiryo UI" panose="020B0604030504040204" pitchFamily="50" charset="-128"/>
              </a:rPr>
              <a:t>2</a:t>
            </a:r>
            <a:r>
              <a:rPr kumimoji="1" lang="en-US" altLang="ja-JP" sz="1400" b="1" dirty="0">
                <a:solidFill>
                  <a:schemeClr val="tx2"/>
                </a:solidFill>
                <a:latin typeface="Meiryo UI" panose="020B0604030504040204" pitchFamily="50" charset="-128"/>
                <a:ea typeface="Meiryo UI" panose="020B0604030504040204" pitchFamily="50" charset="-128"/>
              </a:rPr>
              <a:t>. </a:t>
            </a:r>
            <a:r>
              <a:rPr kumimoji="1" lang="ja-JP" altLang="en-US" sz="1400" b="1" dirty="0">
                <a:solidFill>
                  <a:schemeClr val="tx2"/>
                </a:solidFill>
                <a:latin typeface="Meiryo UI" panose="020B0604030504040204" pitchFamily="50" charset="-128"/>
                <a:ea typeface="Meiryo UI" panose="020B0604030504040204" pitchFamily="50" charset="-128"/>
              </a:rPr>
              <a:t>アクセス経路について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r>
              <a:rPr kumimoji="1" lang="ja-JP" altLang="en-US" b="1" dirty="0">
                <a:solidFill>
                  <a:schemeClr val="tx2"/>
                </a:solidFill>
                <a:latin typeface="Meiryo UI" panose="020B0604030504040204" pitchFamily="50" charset="-128"/>
                <a:ea typeface="Meiryo UI" panose="020B0604030504040204" pitchFamily="50" charset="-128"/>
              </a:rPr>
              <a:t>既存オンプレ環境からのアクセス経路</a:t>
            </a:r>
          </a:p>
        </p:txBody>
      </p:sp>
      <p:sp>
        <p:nvSpPr>
          <p:cNvPr id="6" name="Rectangle 77">
            <a:extLst>
              <a:ext uri="{FF2B5EF4-FFF2-40B4-BE49-F238E27FC236}">
                <a16:creationId xmlns:a16="http://schemas.microsoft.com/office/drawing/2014/main" id="{743D2DCE-C408-B809-E490-89F4C9CFA387}"/>
              </a:ext>
            </a:extLst>
          </p:cNvPr>
          <p:cNvSpPr/>
          <p:nvPr/>
        </p:nvSpPr>
        <p:spPr>
          <a:xfrm>
            <a:off x="390962" y="1838548"/>
            <a:ext cx="2486478" cy="1744413"/>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rIns="91440" bIns="45720" anchor="t"/>
          <a:lstStyle/>
          <a:p>
            <a:pPr eaLnBrk="1" fontAlgn="auto" hangingPunct="1">
              <a:spcBef>
                <a:spcPts val="0"/>
              </a:spcBef>
              <a:spcAft>
                <a:spcPts val="0"/>
              </a:spcAft>
              <a:defRPr/>
            </a:pPr>
            <a:r>
              <a:rPr lang="ja-JP" altLang="en-US" sz="1200">
                <a:solidFill>
                  <a:schemeClr val="tx1"/>
                </a:solidFill>
                <a:latin typeface="Arial"/>
                <a:cs typeface="Arial"/>
              </a:rPr>
              <a:t>いなげや</a:t>
            </a:r>
            <a:endParaRPr lang="en-US" sz="1200" dirty="0">
              <a:solidFill>
                <a:schemeClr val="tx1"/>
              </a:solidFill>
              <a:latin typeface="Arial" panose="020B0604020202020204" pitchFamily="34" charset="0"/>
              <a:cs typeface="Arial" panose="020B0604020202020204" pitchFamily="34" charset="0"/>
            </a:endParaRPr>
          </a:p>
        </p:txBody>
      </p:sp>
      <p:pic>
        <p:nvPicPr>
          <p:cNvPr id="8" name="Graphic 78" descr="Corporate data center group icon. ">
            <a:extLst>
              <a:ext uri="{FF2B5EF4-FFF2-40B4-BE49-F238E27FC236}">
                <a16:creationId xmlns:a16="http://schemas.microsoft.com/office/drawing/2014/main" id="{37F3E8AC-F47B-1764-49DA-9F79AE9DCA0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398252" y="1843613"/>
            <a:ext cx="381000" cy="381000"/>
          </a:xfrm>
          <a:prstGeom prst="rect">
            <a:avLst/>
          </a:prstGeom>
        </p:spPr>
      </p:pic>
      <p:pic>
        <p:nvPicPr>
          <p:cNvPr id="11" name="Graphic 77" descr="Server resource icon for the General Icons category.">
            <a:extLst>
              <a:ext uri="{FF2B5EF4-FFF2-40B4-BE49-F238E27FC236}">
                <a16:creationId xmlns:a16="http://schemas.microsoft.com/office/drawing/2014/main" id="{D237EA59-228B-A0AA-0928-E7C3BD72A77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24687" y="2555699"/>
            <a:ext cx="457200" cy="457200"/>
          </a:xfrm>
          <a:prstGeom prst="rect">
            <a:avLst/>
          </a:prstGeom>
        </p:spPr>
      </p:pic>
      <p:sp>
        <p:nvSpPr>
          <p:cNvPr id="12" name="TextBox 38">
            <a:extLst>
              <a:ext uri="{FF2B5EF4-FFF2-40B4-BE49-F238E27FC236}">
                <a16:creationId xmlns:a16="http://schemas.microsoft.com/office/drawing/2014/main" id="{7D958A35-D13A-6F97-4669-F95A9D622D85}"/>
              </a:ext>
            </a:extLst>
          </p:cNvPr>
          <p:cNvSpPr txBox="1">
            <a:spLocks noChangeArrowheads="1"/>
          </p:cNvSpPr>
          <p:nvPr/>
        </p:nvSpPr>
        <p:spPr bwMode="auto">
          <a:xfrm>
            <a:off x="1020156" y="3060027"/>
            <a:ext cx="107156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cs typeface="Arial" panose="020B0604020202020204" pitchFamily="34" charset="0"/>
              </a:rPr>
              <a:t>Server</a:t>
            </a:r>
          </a:p>
        </p:txBody>
      </p:sp>
      <p:sp>
        <p:nvSpPr>
          <p:cNvPr id="15" name="Rectangle 54">
            <a:extLst>
              <a:ext uri="{FF2B5EF4-FFF2-40B4-BE49-F238E27FC236}">
                <a16:creationId xmlns:a16="http://schemas.microsoft.com/office/drawing/2014/main" id="{F97D6A87-B6B9-177E-C23F-D8CA0F4147B6}"/>
              </a:ext>
            </a:extLst>
          </p:cNvPr>
          <p:cNvSpPr/>
          <p:nvPr/>
        </p:nvSpPr>
        <p:spPr>
          <a:xfrm>
            <a:off x="3396974" y="777250"/>
            <a:ext cx="6571974" cy="5673246"/>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16" name="Graphic 55" descr="AWS Cloud group icon with AWS logo.">
            <a:extLst>
              <a:ext uri="{FF2B5EF4-FFF2-40B4-BE49-F238E27FC236}">
                <a16:creationId xmlns:a16="http://schemas.microsoft.com/office/drawing/2014/main" id="{8D251C17-83E7-6A94-0E49-D83B5E0C251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3396974" y="777250"/>
            <a:ext cx="381000" cy="381000"/>
          </a:xfrm>
          <a:prstGeom prst="rect">
            <a:avLst/>
          </a:prstGeom>
        </p:spPr>
      </p:pic>
      <p:pic>
        <p:nvPicPr>
          <p:cNvPr id="19" name="Graphic 70" descr="VPC group icon. ">
            <a:extLst>
              <a:ext uri="{FF2B5EF4-FFF2-40B4-BE49-F238E27FC236}">
                <a16:creationId xmlns:a16="http://schemas.microsoft.com/office/drawing/2014/main" id="{4E5FF9B2-068A-79BB-CBF9-F6E91B25200F}"/>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3992822" y="1306899"/>
            <a:ext cx="381000" cy="381000"/>
          </a:xfrm>
          <a:prstGeom prst="rect">
            <a:avLst/>
          </a:prstGeom>
        </p:spPr>
      </p:pic>
      <p:pic>
        <p:nvPicPr>
          <p:cNvPr id="20" name="Graphic 18" descr="AWS Direct Connect service icon.">
            <a:extLst>
              <a:ext uri="{FF2B5EF4-FFF2-40B4-BE49-F238E27FC236}">
                <a16:creationId xmlns:a16="http://schemas.microsoft.com/office/drawing/2014/main" id="{9217DAA6-83B2-B82C-1E1A-39BC9AC0F365}"/>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4437770" y="240227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12">
            <a:extLst>
              <a:ext uri="{FF2B5EF4-FFF2-40B4-BE49-F238E27FC236}">
                <a16:creationId xmlns:a16="http://schemas.microsoft.com/office/drawing/2014/main" id="{48160A70-28A4-C4BA-0B1C-65F9BF9DDAA4}"/>
              </a:ext>
            </a:extLst>
          </p:cNvPr>
          <p:cNvSpPr txBox="1">
            <a:spLocks noChangeArrowheads="1"/>
          </p:cNvSpPr>
          <p:nvPr/>
        </p:nvSpPr>
        <p:spPr bwMode="auto">
          <a:xfrm>
            <a:off x="3691645" y="3162682"/>
            <a:ext cx="22796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Direct Connect</a:t>
            </a:r>
          </a:p>
        </p:txBody>
      </p:sp>
      <p:pic>
        <p:nvPicPr>
          <p:cNvPr id="23" name="Graphic 69" descr="Endpoints resource icon for the Amazon VPC service.&#10;">
            <a:extLst>
              <a:ext uri="{FF2B5EF4-FFF2-40B4-BE49-F238E27FC236}">
                <a16:creationId xmlns:a16="http://schemas.microsoft.com/office/drawing/2014/main" id="{0DE58936-EF15-24F6-0416-43B3B4FF0BA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67939" y="2551355"/>
            <a:ext cx="457200" cy="457200"/>
          </a:xfrm>
          <a:prstGeom prst="rect">
            <a:avLst/>
          </a:prstGeom>
        </p:spPr>
      </p:pic>
      <p:sp>
        <p:nvSpPr>
          <p:cNvPr id="24" name="TextBox 25">
            <a:extLst>
              <a:ext uri="{FF2B5EF4-FFF2-40B4-BE49-F238E27FC236}">
                <a16:creationId xmlns:a16="http://schemas.microsoft.com/office/drawing/2014/main" id="{5C2CA8DB-63EB-4F73-F31B-306396527E65}"/>
              </a:ext>
            </a:extLst>
          </p:cNvPr>
          <p:cNvSpPr txBox="1">
            <a:spLocks noChangeArrowheads="1"/>
          </p:cNvSpPr>
          <p:nvPr/>
        </p:nvSpPr>
        <p:spPr bwMode="auto">
          <a:xfrm>
            <a:off x="6920693" y="3008555"/>
            <a:ext cx="164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err="1">
                <a:latin typeface="Arial" panose="020B0604020202020204" pitchFamily="34" charset="0"/>
                <a:ea typeface="Amazon Ember" panose="020B0603020204020204" pitchFamily="34" charset="0"/>
                <a:cs typeface="Arial" panose="020B0604020202020204" pitchFamily="34" charset="0"/>
              </a:rPr>
              <a:t>Transfar</a:t>
            </a:r>
            <a:r>
              <a:rPr lang="en-US" altLang="en-US" sz="1200" dirty="0">
                <a:latin typeface="Arial" panose="020B0604020202020204" pitchFamily="34" charset="0"/>
                <a:ea typeface="Amazon Ember" panose="020B0603020204020204" pitchFamily="34" charset="0"/>
                <a:cs typeface="Arial" panose="020B0604020202020204" pitchFamily="34" charset="0"/>
              </a:rPr>
              <a:t> Family</a:t>
            </a:r>
            <a:r>
              <a:rPr lang="ja-JP" altLang="en-US" sz="1200" dirty="0">
                <a:latin typeface="Arial" panose="020B0604020202020204" pitchFamily="34" charset="0"/>
                <a:ea typeface="Amazon Ember" panose="020B0603020204020204" pitchFamily="34" charset="0"/>
                <a:cs typeface="Arial" panose="020B0604020202020204" pitchFamily="34" charset="0"/>
              </a:rPr>
              <a:t>用</a:t>
            </a:r>
            <a:endParaRPr lang="en-US" altLang="ja-JP" sz="1200" dirty="0">
              <a:latin typeface="Arial" panose="020B0604020202020204" pitchFamily="34" charset="0"/>
              <a:ea typeface="Amazon Ember" panose="020B0603020204020204" pitchFamily="34" charset="0"/>
              <a:cs typeface="Arial" panose="020B0604020202020204" pitchFamily="34" charset="0"/>
            </a:endParaRP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Endpoint</a:t>
            </a:r>
          </a:p>
        </p:txBody>
      </p:sp>
      <p:pic>
        <p:nvPicPr>
          <p:cNvPr id="27" name="Graphic 8" descr="Amazon Simple Storage Service (Amazon S3) service icon.">
            <a:extLst>
              <a:ext uri="{FF2B5EF4-FFF2-40B4-BE49-F238E27FC236}">
                <a16:creationId xmlns:a16="http://schemas.microsoft.com/office/drawing/2014/main" id="{BC56B968-CF3A-97E9-2C18-E13876311DCD}"/>
              </a:ext>
            </a:extLst>
          </p:cNvPr>
          <p:cNvPicPr>
            <a:picLocks noChangeAspect="1" noChangeArrowheads="1"/>
          </p:cNvPicPr>
          <p:nvPr/>
        </p:nvPicPr>
        <p:blipFill>
          <a:blip r:embed="rId14">
            <a:extLst>
              <a:ext uri="{96DAC541-7B7A-43D3-8B79-37D633B846F1}">
                <asvg:svgBlip xmlns:asvg="http://schemas.microsoft.com/office/drawing/2016/SVG/main" r:embed="rId15"/>
              </a:ext>
            </a:extLst>
          </a:blip>
          <a:srcRect/>
          <a:stretch/>
        </p:blipFill>
        <p:spPr bwMode="auto">
          <a:xfrm>
            <a:off x="8545465" y="3820753"/>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9">
            <a:extLst>
              <a:ext uri="{FF2B5EF4-FFF2-40B4-BE49-F238E27FC236}">
                <a16:creationId xmlns:a16="http://schemas.microsoft.com/office/drawing/2014/main" id="{E1420A68-6023-AB9B-DAC6-A078429AE487}"/>
              </a:ext>
            </a:extLst>
          </p:cNvPr>
          <p:cNvSpPr txBox="1">
            <a:spLocks noChangeArrowheads="1"/>
          </p:cNvSpPr>
          <p:nvPr/>
        </p:nvSpPr>
        <p:spPr bwMode="auto">
          <a:xfrm>
            <a:off x="7843286" y="4629206"/>
            <a:ext cx="22399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mj-ea"/>
                <a:ea typeface="+mj-ea"/>
                <a:cs typeface="Arial" panose="020B0604020202020204" pitchFamily="34" charset="0"/>
              </a:rPr>
              <a:t>マスターデータ格納用</a:t>
            </a:r>
            <a:endParaRPr lang="en-US" altLang="en-US" sz="1200" dirty="0">
              <a:latin typeface="+mj-ea"/>
              <a:ea typeface="+mj-ea"/>
              <a:cs typeface="Arial" panose="020B0604020202020204" pitchFamily="34" charset="0"/>
            </a:endParaRPr>
          </a:p>
        </p:txBody>
      </p:sp>
      <p:cxnSp>
        <p:nvCxnSpPr>
          <p:cNvPr id="30" name="直線矢印コネクタ 29">
            <a:extLst>
              <a:ext uri="{FF2B5EF4-FFF2-40B4-BE49-F238E27FC236}">
                <a16:creationId xmlns:a16="http://schemas.microsoft.com/office/drawing/2014/main" id="{EFF7FB8D-B2D6-4C1B-7DDE-6B362536884C}"/>
              </a:ext>
            </a:extLst>
          </p:cNvPr>
          <p:cNvCxnSpPr>
            <a:cxnSpLocks/>
            <a:stCxn id="11" idx="3"/>
            <a:endCxn id="20" idx="1"/>
          </p:cNvCxnSpPr>
          <p:nvPr/>
        </p:nvCxnSpPr>
        <p:spPr>
          <a:xfrm flipV="1">
            <a:off x="1781887" y="2783270"/>
            <a:ext cx="2655883" cy="10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7BAD1176-597A-8718-03C4-D3ADB2AB0C0A}"/>
              </a:ext>
            </a:extLst>
          </p:cNvPr>
          <p:cNvCxnSpPr>
            <a:cxnSpLocks/>
            <a:stCxn id="20" idx="3"/>
            <a:endCxn id="23" idx="1"/>
          </p:cNvCxnSpPr>
          <p:nvPr/>
        </p:nvCxnSpPr>
        <p:spPr>
          <a:xfrm flipV="1">
            <a:off x="5199770" y="2779955"/>
            <a:ext cx="1668169" cy="33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91949FA1-46DF-8451-8C19-502F81BE5339}"/>
              </a:ext>
            </a:extLst>
          </p:cNvPr>
          <p:cNvCxnSpPr>
            <a:cxnSpLocks/>
            <a:stCxn id="23" idx="3"/>
            <a:endCxn id="81" idx="1"/>
          </p:cNvCxnSpPr>
          <p:nvPr/>
        </p:nvCxnSpPr>
        <p:spPr>
          <a:xfrm>
            <a:off x="7325139" y="2779955"/>
            <a:ext cx="1230591" cy="10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6BEF61D1-94B9-89D7-19FF-43CD54DEFAAA}"/>
              </a:ext>
            </a:extLst>
          </p:cNvPr>
          <p:cNvCxnSpPr>
            <a:cxnSpLocks/>
            <a:stCxn id="81" idx="2"/>
            <a:endCxn id="27" idx="0"/>
          </p:cNvCxnSpPr>
          <p:nvPr/>
        </p:nvCxnSpPr>
        <p:spPr>
          <a:xfrm flipH="1">
            <a:off x="8926465" y="3162009"/>
            <a:ext cx="10265" cy="6587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81" name="Graphic 8" descr="AWS Transfer Family service icon.">
            <a:extLst>
              <a:ext uri="{FF2B5EF4-FFF2-40B4-BE49-F238E27FC236}">
                <a16:creationId xmlns:a16="http://schemas.microsoft.com/office/drawing/2014/main" id="{0E42DCD9-676F-FEB1-D65E-9D2D7DACBBF5}"/>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8555730" y="240000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 name="TextBox 11">
            <a:extLst>
              <a:ext uri="{FF2B5EF4-FFF2-40B4-BE49-F238E27FC236}">
                <a16:creationId xmlns:a16="http://schemas.microsoft.com/office/drawing/2014/main" id="{333BFF03-D6F8-2325-51AC-40BB0D860060}"/>
              </a:ext>
            </a:extLst>
          </p:cNvPr>
          <p:cNvSpPr txBox="1">
            <a:spLocks noChangeArrowheads="1"/>
          </p:cNvSpPr>
          <p:nvPr/>
        </p:nvSpPr>
        <p:spPr bwMode="auto">
          <a:xfrm>
            <a:off x="8565343" y="3177615"/>
            <a:ext cx="22923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Transfer Family</a:t>
            </a:r>
          </a:p>
        </p:txBody>
      </p:sp>
    </p:spTree>
    <p:extLst>
      <p:ext uri="{BB962C8B-B14F-4D97-AF65-F5344CB8AC3E}">
        <p14:creationId xmlns:p14="http://schemas.microsoft.com/office/powerpoint/2010/main" val="4184234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8CFCC-EEC4-22CE-9123-C9E96DAFB590}"/>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BCD7280F-EE92-580F-D589-D27F204FDD86}"/>
              </a:ext>
            </a:extLst>
          </p:cNvPr>
          <p:cNvSpPr txBox="1"/>
          <p:nvPr/>
        </p:nvSpPr>
        <p:spPr>
          <a:xfrm>
            <a:off x="53547" y="49428"/>
            <a:ext cx="12084907" cy="584775"/>
          </a:xfrm>
          <a:prstGeom prst="rect">
            <a:avLst/>
          </a:prstGeom>
          <a:noFill/>
        </p:spPr>
        <p:txBody>
          <a:bodyPr wrap="square" rtlCol="0">
            <a:spAutoFit/>
          </a:bodyPr>
          <a:lstStyle/>
          <a:p>
            <a:r>
              <a:rPr lang="en-US" altLang="ja-JP" sz="1400" b="1" dirty="0">
                <a:solidFill>
                  <a:schemeClr val="tx2"/>
                </a:solidFill>
                <a:latin typeface="Meiryo UI" panose="020B0604030504040204" pitchFamily="50" charset="-128"/>
                <a:ea typeface="Meiryo UI" panose="020B0604030504040204" pitchFamily="50" charset="-128"/>
              </a:rPr>
              <a:t>2</a:t>
            </a:r>
            <a:r>
              <a:rPr kumimoji="1" lang="en-US" altLang="ja-JP" sz="1400" b="1" dirty="0">
                <a:solidFill>
                  <a:schemeClr val="tx2"/>
                </a:solidFill>
                <a:latin typeface="Meiryo UI" panose="020B0604030504040204" pitchFamily="50" charset="-128"/>
                <a:ea typeface="Meiryo UI" panose="020B0604030504040204" pitchFamily="50" charset="-128"/>
              </a:rPr>
              <a:t>. </a:t>
            </a:r>
            <a:r>
              <a:rPr kumimoji="1" lang="ja-JP" altLang="en-US" sz="1400" b="1" dirty="0">
                <a:solidFill>
                  <a:schemeClr val="tx2"/>
                </a:solidFill>
                <a:latin typeface="Meiryo UI" panose="020B0604030504040204" pitchFamily="50" charset="-128"/>
                <a:ea typeface="Meiryo UI" panose="020B0604030504040204" pitchFamily="50" charset="-128"/>
              </a:rPr>
              <a:t>アクセス経路について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r>
              <a:rPr kumimoji="1" lang="ja-JP" altLang="en-US" b="1" dirty="0">
                <a:solidFill>
                  <a:schemeClr val="tx2"/>
                </a:solidFill>
                <a:latin typeface="Meiryo UI" panose="020B0604030504040204" pitchFamily="50" charset="-128"/>
                <a:ea typeface="Meiryo UI" panose="020B0604030504040204" pitchFamily="50" charset="-128"/>
              </a:rPr>
              <a:t>今回実装予定のアクセス経路</a:t>
            </a:r>
          </a:p>
        </p:txBody>
      </p:sp>
      <p:grpSp>
        <p:nvGrpSpPr>
          <p:cNvPr id="2" name="aGroupIcon" descr="Example of AWS Cloud group, represented as a rectangle with AWS logo at the top left, and AWS Cloud as a title.">
            <a:extLst>
              <a:ext uri="{FF2B5EF4-FFF2-40B4-BE49-F238E27FC236}">
                <a16:creationId xmlns:a16="http://schemas.microsoft.com/office/drawing/2014/main" id="{A8B33A46-1367-9801-7AD7-C0C7ABFCBBEB}"/>
              </a:ext>
            </a:extLst>
          </p:cNvPr>
          <p:cNvGrpSpPr/>
          <p:nvPr/>
        </p:nvGrpSpPr>
        <p:grpSpPr>
          <a:xfrm>
            <a:off x="1201255" y="1386367"/>
            <a:ext cx="4226201" cy="4271746"/>
            <a:chOff x="4679950" y="1060931"/>
            <a:chExt cx="4857779" cy="4688994"/>
          </a:xfrm>
        </p:grpSpPr>
        <p:sp>
          <p:nvSpPr>
            <p:cNvPr id="3" name="Rectangle 4">
              <a:extLst>
                <a:ext uri="{FF2B5EF4-FFF2-40B4-BE49-F238E27FC236}">
                  <a16:creationId xmlns:a16="http://schemas.microsoft.com/office/drawing/2014/main" id="{F9E6F2B4-F46A-A6CE-E53B-41EC69E0D1D8}"/>
                </a:ext>
              </a:extLst>
            </p:cNvPr>
            <p:cNvSpPr/>
            <p:nvPr/>
          </p:nvSpPr>
          <p:spPr bwMode="auto">
            <a:xfrm>
              <a:off x="4679950" y="1063625"/>
              <a:ext cx="4857779" cy="468630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rIns="91440" bIns="45720" anchor="t"/>
            <a:lstStyle/>
            <a:p>
              <a:pPr>
                <a:defRPr/>
              </a:pPr>
              <a:r>
                <a:rPr lang="en-US" altLang="ja-JP" sz="1200" dirty="0" err="1">
                  <a:solidFill>
                    <a:schemeClr val="tx1"/>
                  </a:solidFill>
                  <a:latin typeface="Arial"/>
                  <a:cs typeface="Arial"/>
                </a:rPr>
                <a:t>アイネス</a:t>
              </a:r>
              <a:r>
                <a:rPr lang="en-US" altLang="ja-JP" sz="1200" dirty="0">
                  <a:solidFill>
                    <a:schemeClr val="tx1"/>
                  </a:solidFill>
                  <a:latin typeface="Arial"/>
                  <a:cs typeface="Arial"/>
                </a:rPr>
                <a:t> </a:t>
              </a:r>
              <a:r>
                <a:rPr lang="en-US" altLang="ja-JP" sz="1200" dirty="0" err="1">
                  <a:solidFill>
                    <a:schemeClr val="tx1"/>
                  </a:solidFill>
                  <a:latin typeface="Arial"/>
                  <a:cs typeface="Arial"/>
                </a:rPr>
                <a:t>AWSアカウント</a:t>
              </a:r>
              <a:endParaRPr lang="en-US" altLang="ja-JP" sz="1200" dirty="0" err="1">
                <a:solidFill>
                  <a:schemeClr val="tx1"/>
                </a:solidFill>
                <a:latin typeface="Arial" panose="020B0604020202020204" pitchFamily="34" charset="0"/>
                <a:cs typeface="Arial" panose="020B0604020202020204" pitchFamily="34" charset="0"/>
              </a:endParaRPr>
            </a:p>
          </p:txBody>
        </p:sp>
        <p:pic>
          <p:nvPicPr>
            <p:cNvPr id="4" name="Graphic 37">
              <a:extLst>
                <a:ext uri="{FF2B5EF4-FFF2-40B4-BE49-F238E27FC236}">
                  <a16:creationId xmlns:a16="http://schemas.microsoft.com/office/drawing/2014/main" id="{8FA321D2-630C-8970-5C72-665EB215093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4679950" y="1060931"/>
              <a:ext cx="381000" cy="381000"/>
            </a:xfrm>
            <a:prstGeom prst="rect">
              <a:avLst/>
            </a:prstGeom>
          </p:spPr>
        </p:pic>
      </p:grpSp>
      <p:sp>
        <p:nvSpPr>
          <p:cNvPr id="7" name="TextBox 16">
            <a:extLst>
              <a:ext uri="{FF2B5EF4-FFF2-40B4-BE49-F238E27FC236}">
                <a16:creationId xmlns:a16="http://schemas.microsoft.com/office/drawing/2014/main" id="{FA4FA4C7-3061-C447-ADAA-7BF61147F8B8}"/>
              </a:ext>
              <a:ext uri="{C183D7F6-B498-43B3-948B-1728B52AA6E4}">
                <adec:decorative xmlns:adec="http://schemas.microsoft.com/office/drawing/2017/decorative" val="1"/>
              </a:ext>
            </a:extLst>
          </p:cNvPr>
          <p:cNvSpPr txBox="1">
            <a:spLocks noChangeArrowheads="1"/>
          </p:cNvSpPr>
          <p:nvPr/>
        </p:nvSpPr>
        <p:spPr bwMode="auto">
          <a:xfrm>
            <a:off x="2263703" y="3152001"/>
            <a:ext cx="11155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Arial" panose="020B0604020202020204" pitchFamily="34" charset="0"/>
                <a:ea typeface="Amazon Ember" panose="020B0603020204020204" pitchFamily="34" charset="0"/>
                <a:cs typeface="Arial" panose="020B0604020202020204" pitchFamily="34" charset="0"/>
              </a:rPr>
              <a:t>、</a:t>
            </a:r>
            <a:r>
              <a:rPr lang="en-US" altLang="en-US" sz="1200" dirty="0">
                <a:latin typeface="Arial" panose="020B0604020202020204" pitchFamily="34" charset="0"/>
                <a:ea typeface="Amazon Ember" panose="020B0603020204020204" pitchFamily="34" charset="0"/>
                <a:cs typeface="Arial" panose="020B0604020202020204" pitchFamily="34" charset="0"/>
              </a:rPr>
              <a:t>Instance</a:t>
            </a:r>
          </a:p>
        </p:txBody>
      </p:sp>
      <p:pic>
        <p:nvPicPr>
          <p:cNvPr id="9" name="Graphic 5" descr="Amazon Elastic Compute Cloud (Amazon EC2) service icon.">
            <a:extLst>
              <a:ext uri="{FF2B5EF4-FFF2-40B4-BE49-F238E27FC236}">
                <a16:creationId xmlns:a16="http://schemas.microsoft.com/office/drawing/2014/main" id="{F7ACF57F-5C22-C19D-24F0-D77ECAC66BF1}"/>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2540415" y="2390001"/>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4">
            <a:extLst>
              <a:ext uri="{FF2B5EF4-FFF2-40B4-BE49-F238E27FC236}">
                <a16:creationId xmlns:a16="http://schemas.microsoft.com/office/drawing/2014/main" id="{C4970224-BC55-6A0D-5DB5-34FCD75FA57F}"/>
              </a:ext>
            </a:extLst>
          </p:cNvPr>
          <p:cNvSpPr/>
          <p:nvPr/>
        </p:nvSpPr>
        <p:spPr bwMode="auto">
          <a:xfrm>
            <a:off x="6189456" y="1386367"/>
            <a:ext cx="3649041" cy="4269292"/>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a:t>
            </a:r>
            <a:r>
              <a:rPr lang="ja-JP" altLang="en-US" sz="1200" dirty="0">
                <a:solidFill>
                  <a:schemeClr val="tx1"/>
                </a:solidFill>
                <a:latin typeface="Arial" panose="020B0604020202020204" pitchFamily="34" charset="0"/>
                <a:cs typeface="Arial" panose="020B0604020202020204" pitchFamily="34" charset="0"/>
              </a:rPr>
              <a:t> </a:t>
            </a:r>
            <a:r>
              <a:rPr lang="en-US" altLang="ja-JP" sz="1200" dirty="0">
                <a:solidFill>
                  <a:schemeClr val="tx1"/>
                </a:solidFill>
                <a:latin typeface="Arial" panose="020B0604020202020204" pitchFamily="34" charset="0"/>
                <a:cs typeface="Arial" panose="020B0604020202020204" pitchFamily="34" charset="0"/>
              </a:rPr>
              <a:t>Cloud</a:t>
            </a:r>
            <a:endParaRPr lang="en-US" sz="1200" dirty="0">
              <a:solidFill>
                <a:schemeClr val="tx1"/>
              </a:solidFill>
              <a:latin typeface="Arial" panose="020B0604020202020204" pitchFamily="34" charset="0"/>
              <a:cs typeface="Arial" panose="020B0604020202020204" pitchFamily="34" charset="0"/>
            </a:endParaRPr>
          </a:p>
        </p:txBody>
      </p:sp>
      <p:pic>
        <p:nvPicPr>
          <p:cNvPr id="13" name="Graphic 37">
            <a:extLst>
              <a:ext uri="{FF2B5EF4-FFF2-40B4-BE49-F238E27FC236}">
                <a16:creationId xmlns:a16="http://schemas.microsoft.com/office/drawing/2014/main" id="{E71A0257-1B32-6EBF-DDAD-462F4D7EF88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6189456" y="1383913"/>
            <a:ext cx="331465" cy="347097"/>
          </a:xfrm>
          <a:prstGeom prst="rect">
            <a:avLst/>
          </a:prstGeom>
        </p:spPr>
      </p:pic>
      <p:pic>
        <p:nvPicPr>
          <p:cNvPr id="14" name="Graphic 8" descr="Amazon Simple Storage Service (Amazon S3) service icon.">
            <a:extLst>
              <a:ext uri="{FF2B5EF4-FFF2-40B4-BE49-F238E27FC236}">
                <a16:creationId xmlns:a16="http://schemas.microsoft.com/office/drawing/2014/main" id="{8D1426B0-D887-FC5E-8E96-092E28446ED3}"/>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7259903" y="2381287"/>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9">
            <a:extLst>
              <a:ext uri="{FF2B5EF4-FFF2-40B4-BE49-F238E27FC236}">
                <a16:creationId xmlns:a16="http://schemas.microsoft.com/office/drawing/2014/main" id="{FA2F6D84-B7C9-B3DB-A575-EE6B2F808463}"/>
              </a:ext>
            </a:extLst>
          </p:cNvPr>
          <p:cNvSpPr txBox="1">
            <a:spLocks noChangeArrowheads="1"/>
          </p:cNvSpPr>
          <p:nvPr/>
        </p:nvSpPr>
        <p:spPr bwMode="auto">
          <a:xfrm>
            <a:off x="6520921" y="3171879"/>
            <a:ext cx="22399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ja-JP" altLang="en-US" sz="1200" dirty="0">
                <a:latin typeface="+mj-ea"/>
                <a:ea typeface="+mj-ea"/>
                <a:cs typeface="Arial" panose="020B0604020202020204" pitchFamily="34" charset="0"/>
              </a:rPr>
              <a:t>マスターデータ格納用</a:t>
            </a:r>
            <a:endParaRPr lang="en-US" altLang="en-US" sz="1200" dirty="0">
              <a:latin typeface="+mj-ea"/>
              <a:ea typeface="+mj-ea"/>
              <a:cs typeface="Arial" panose="020B0604020202020204" pitchFamily="34" charset="0"/>
            </a:endParaRPr>
          </a:p>
        </p:txBody>
      </p:sp>
      <p:cxnSp>
        <p:nvCxnSpPr>
          <p:cNvPr id="22" name="直線矢印コネクタ 21">
            <a:extLst>
              <a:ext uri="{FF2B5EF4-FFF2-40B4-BE49-F238E27FC236}">
                <a16:creationId xmlns:a16="http://schemas.microsoft.com/office/drawing/2014/main" id="{6A1E3A66-FAB9-267B-D6C7-17C6EBCDE205}"/>
              </a:ext>
            </a:extLst>
          </p:cNvPr>
          <p:cNvCxnSpPr>
            <a:cxnSpLocks/>
            <a:stCxn id="9" idx="3"/>
            <a:endCxn id="36" idx="1"/>
          </p:cNvCxnSpPr>
          <p:nvPr/>
        </p:nvCxnSpPr>
        <p:spPr>
          <a:xfrm>
            <a:off x="3302415" y="2771001"/>
            <a:ext cx="104591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69">
            <a:extLst>
              <a:ext uri="{FF2B5EF4-FFF2-40B4-BE49-F238E27FC236}">
                <a16:creationId xmlns:a16="http://schemas.microsoft.com/office/drawing/2014/main" id="{CA83368F-2821-3264-05CE-768D130774F2}"/>
              </a:ext>
            </a:extLst>
          </p:cNvPr>
          <p:cNvSpPr/>
          <p:nvPr/>
        </p:nvSpPr>
        <p:spPr>
          <a:xfrm>
            <a:off x="1484347" y="1855543"/>
            <a:ext cx="3087654" cy="3613636"/>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ln w="0"/>
                <a:solidFill>
                  <a:schemeClr val="tx1"/>
                </a:solidFill>
                <a:latin typeface="Arial" panose="020B0604020202020204" pitchFamily="34" charset="0"/>
                <a:cs typeface="Arial" panose="020B0604020202020204" pitchFamily="34" charset="0"/>
              </a:rPr>
              <a:t>Virtual private cloud (VPC)</a:t>
            </a:r>
          </a:p>
        </p:txBody>
      </p:sp>
      <p:pic>
        <p:nvPicPr>
          <p:cNvPr id="35" name="Graphic 70" descr="VPC group icon. ">
            <a:extLst>
              <a:ext uri="{FF2B5EF4-FFF2-40B4-BE49-F238E27FC236}">
                <a16:creationId xmlns:a16="http://schemas.microsoft.com/office/drawing/2014/main" id="{BCCBB7D5-E4DE-A7E9-C0EA-33E3D8480E74}"/>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484346" y="1855543"/>
            <a:ext cx="381000" cy="381000"/>
          </a:xfrm>
          <a:prstGeom prst="rect">
            <a:avLst/>
          </a:prstGeom>
        </p:spPr>
      </p:pic>
      <p:pic>
        <p:nvPicPr>
          <p:cNvPr id="36" name="Graphic 69" descr="Endpoints resource icon for the Amazon VPC service.&#10;">
            <a:extLst>
              <a:ext uri="{FF2B5EF4-FFF2-40B4-BE49-F238E27FC236}">
                <a16:creationId xmlns:a16="http://schemas.microsoft.com/office/drawing/2014/main" id="{16760999-522C-6E49-8943-BF68638BEFF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348331" y="2542401"/>
            <a:ext cx="457200" cy="457200"/>
          </a:xfrm>
          <a:prstGeom prst="rect">
            <a:avLst/>
          </a:prstGeom>
        </p:spPr>
      </p:pic>
      <p:sp>
        <p:nvSpPr>
          <p:cNvPr id="37" name="TextBox 25">
            <a:extLst>
              <a:ext uri="{FF2B5EF4-FFF2-40B4-BE49-F238E27FC236}">
                <a16:creationId xmlns:a16="http://schemas.microsoft.com/office/drawing/2014/main" id="{84E664D4-C8A3-7EBD-8CED-7CD1E559C84D}"/>
              </a:ext>
            </a:extLst>
          </p:cNvPr>
          <p:cNvSpPr txBox="1">
            <a:spLocks noChangeArrowheads="1"/>
          </p:cNvSpPr>
          <p:nvPr/>
        </p:nvSpPr>
        <p:spPr bwMode="auto">
          <a:xfrm>
            <a:off x="4081141" y="2997368"/>
            <a:ext cx="164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ja-JP" sz="1200" dirty="0">
                <a:latin typeface="Arial" panose="020B0604020202020204" pitchFamily="34" charset="0"/>
                <a:ea typeface="Amazon Ember" panose="020B0603020204020204" pitchFamily="34" charset="0"/>
                <a:cs typeface="Arial" panose="020B0604020202020204" pitchFamily="34" charset="0"/>
              </a:rPr>
              <a:t>S3</a:t>
            </a:r>
            <a:r>
              <a:rPr lang="ja-JP" altLang="en-US" sz="1200" dirty="0">
                <a:latin typeface="Arial" panose="020B0604020202020204" pitchFamily="34" charset="0"/>
                <a:ea typeface="Amazon Ember" panose="020B0603020204020204" pitchFamily="34" charset="0"/>
                <a:cs typeface="Arial" panose="020B0604020202020204" pitchFamily="34" charset="0"/>
              </a:rPr>
              <a:t>用</a:t>
            </a:r>
            <a:endParaRPr lang="en-US" altLang="ja-JP" sz="1200" dirty="0">
              <a:latin typeface="Arial" panose="020B0604020202020204" pitchFamily="34" charset="0"/>
              <a:ea typeface="Amazon Ember" panose="020B0603020204020204" pitchFamily="34" charset="0"/>
              <a:cs typeface="Arial" panose="020B0604020202020204" pitchFamily="34" charset="0"/>
            </a:endParaRPr>
          </a:p>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Endpoint</a:t>
            </a:r>
          </a:p>
        </p:txBody>
      </p:sp>
      <p:cxnSp>
        <p:nvCxnSpPr>
          <p:cNvPr id="39" name="直線矢印コネクタ 38">
            <a:extLst>
              <a:ext uri="{FF2B5EF4-FFF2-40B4-BE49-F238E27FC236}">
                <a16:creationId xmlns:a16="http://schemas.microsoft.com/office/drawing/2014/main" id="{F764E53A-8C86-E703-C6E4-AF5247EC6A6C}"/>
              </a:ext>
            </a:extLst>
          </p:cNvPr>
          <p:cNvCxnSpPr>
            <a:cxnSpLocks/>
            <a:stCxn id="36" idx="3"/>
            <a:endCxn id="14" idx="1"/>
          </p:cNvCxnSpPr>
          <p:nvPr/>
        </p:nvCxnSpPr>
        <p:spPr>
          <a:xfrm flipV="1">
            <a:off x="4805531" y="2762287"/>
            <a:ext cx="2454372" cy="87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5136ADCB-DB69-326C-9ABC-695CE092DA17}"/>
              </a:ext>
            </a:extLst>
          </p:cNvPr>
          <p:cNvSpPr txBox="1"/>
          <p:nvPr/>
        </p:nvSpPr>
        <p:spPr>
          <a:xfrm>
            <a:off x="3972846" y="3581112"/>
            <a:ext cx="3505890" cy="461665"/>
          </a:xfrm>
          <a:prstGeom prst="rect">
            <a:avLst/>
          </a:prstGeom>
          <a:solidFill>
            <a:schemeClr val="accent6">
              <a:lumMod val="20000"/>
              <a:lumOff val="80000"/>
            </a:schemeClr>
          </a:solidFill>
        </p:spPr>
        <p:txBody>
          <a:bodyPr wrap="square" rtlCol="0">
            <a:spAutoFit/>
          </a:bodyPr>
          <a:lstStyle/>
          <a:p>
            <a:r>
              <a:rPr lang="en-US" altLang="ja-JP" sz="1200" dirty="0"/>
              <a:t>S3</a:t>
            </a:r>
            <a:r>
              <a:rPr lang="ja-JP" altLang="en-US" sz="1200" dirty="0"/>
              <a:t>エンドポイントを用いたプライベート通信を想定しています。</a:t>
            </a:r>
            <a:endParaRPr kumimoji="1" lang="ja-JP" altLang="en-US" sz="1200" dirty="0"/>
          </a:p>
        </p:txBody>
      </p:sp>
    </p:spTree>
    <p:extLst>
      <p:ext uri="{BB962C8B-B14F-4D97-AF65-F5344CB8AC3E}">
        <p14:creationId xmlns:p14="http://schemas.microsoft.com/office/powerpoint/2010/main" val="3236890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0426CF02-A1B6-42DD-83B4-4C27332771D0}"/>
              </a:ext>
            </a:extLst>
          </p:cNvPr>
          <p:cNvSpPr txBox="1"/>
          <p:nvPr/>
        </p:nvSpPr>
        <p:spPr>
          <a:xfrm>
            <a:off x="53547" y="650679"/>
            <a:ext cx="12084908" cy="4616648"/>
          </a:xfrm>
          <a:prstGeom prst="rect">
            <a:avLst/>
          </a:prstGeom>
          <a:noFill/>
        </p:spPr>
        <p:txBody>
          <a:bodyPr wrap="square" lIns="91440" tIns="45720" rIns="91440" bIns="45720" rtlCol="0" anchor="t">
            <a:spAutoFit/>
          </a:bodyPr>
          <a:lstStyle/>
          <a:p>
            <a:r>
              <a:rPr lang="ja-JP" altLang="en-US" sz="1400" dirty="0">
                <a:solidFill>
                  <a:schemeClr val="tx1">
                    <a:lumMod val="75000"/>
                    <a:lumOff val="25000"/>
                  </a:schemeClr>
                </a:solidFill>
                <a:latin typeface="Meiryo UI"/>
                <a:ea typeface="Meiryo UI"/>
              </a:rPr>
              <a:t>S3クロスアカウントアクセスを実施する際に前提として必要となる設定値を以下にまとめます。</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a:ea typeface="Meiryo UI"/>
            </a:endParaRPr>
          </a:p>
          <a:p>
            <a:endParaRPr lang="ja-JP" altLang="en-US" sz="1400" dirty="0">
              <a:solidFill>
                <a:schemeClr val="tx1">
                  <a:lumMod val="75000"/>
                  <a:lumOff val="25000"/>
                </a:schemeClr>
              </a:solidFill>
              <a:latin typeface="Meiryo UI"/>
              <a:ea typeface="Meiryo UI"/>
            </a:endParaRPr>
          </a:p>
          <a:p>
            <a:r>
              <a:rPr lang="ja-JP" altLang="en-US" sz="1400" b="1" dirty="0">
                <a:solidFill>
                  <a:schemeClr val="tx1">
                    <a:lumMod val="75000"/>
                    <a:lumOff val="25000"/>
                  </a:schemeClr>
                </a:solidFill>
                <a:latin typeface="Meiryo UI"/>
                <a:ea typeface="Meiryo UI"/>
              </a:rPr>
              <a:t>①S3エンドポイント設定が実装されていること</a:t>
            </a:r>
          </a:p>
          <a:p>
            <a:r>
              <a:rPr lang="ja-JP" altLang="en-US" sz="1400" dirty="0">
                <a:solidFill>
                  <a:schemeClr val="tx1">
                    <a:lumMod val="75000"/>
                    <a:lumOff val="25000"/>
                  </a:schemeClr>
                </a:solidFill>
                <a:latin typeface="Meiryo UI"/>
                <a:ea typeface="Meiryo UI"/>
              </a:rPr>
              <a:t>EC2からS3バケットに対してプライベートに通信を行う場合には、EC2が起動しているVPCに対してインターフェイス型もしくはゲートウェイ型のS3エンドポイント設定を実装する必要があります。</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a:ea typeface="Meiryo UI"/>
            </a:endParaRPr>
          </a:p>
          <a:p>
            <a:r>
              <a:rPr lang="ja-JP" altLang="en-US" sz="1400" dirty="0">
                <a:solidFill>
                  <a:schemeClr val="tx1">
                    <a:lumMod val="75000"/>
                    <a:lumOff val="25000"/>
                  </a:schemeClr>
                </a:solidFill>
                <a:latin typeface="Meiryo UI"/>
                <a:ea typeface="Meiryo UI"/>
              </a:rPr>
              <a:t>もし</a:t>
            </a:r>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エンドポイントが未実装の場合には以下手順を参考に</a:t>
            </a:r>
            <a:r>
              <a:rPr lang="ja-JP" altLang="en-US" sz="1400" dirty="0">
                <a:solidFill>
                  <a:srgbClr val="FF0000"/>
                </a:solidFill>
                <a:latin typeface="Meiryo UI"/>
                <a:ea typeface="Meiryo UI"/>
              </a:rPr>
              <a:t>ゲートウェイ型</a:t>
            </a:r>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エンドポイントの設定をお願いします。</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a:ea typeface="Meiryo UI"/>
            </a:endParaRPr>
          </a:p>
          <a:p>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エンドポイント作成手順：</a:t>
            </a:r>
            <a:endParaRPr lang="en-US" altLang="ja-JP" sz="1400" dirty="0">
              <a:solidFill>
                <a:schemeClr val="tx1">
                  <a:lumMod val="75000"/>
                  <a:lumOff val="25000"/>
                </a:schemeClr>
              </a:solidFill>
              <a:latin typeface="Meiryo UI"/>
              <a:ea typeface="Meiryo UI"/>
            </a:endParaRPr>
          </a:p>
          <a:p>
            <a:r>
              <a:rPr lang="en-US" altLang="ja-JP" sz="1400" dirty="0">
                <a:solidFill>
                  <a:schemeClr val="tx1">
                    <a:lumMod val="75000"/>
                    <a:lumOff val="25000"/>
                  </a:schemeClr>
                </a:solidFill>
                <a:latin typeface="Meiryo UI"/>
                <a:ea typeface="Meiryo UI"/>
              </a:rPr>
              <a:t>https://docs.aws.amazon.com/ja_jp/vpc/latest/privatelink/vpc-endpoints-s3.html#create-gateway-endpoint-s3</a:t>
            </a:r>
          </a:p>
          <a:p>
            <a:r>
              <a:rPr lang="en-US" altLang="ja-JP" sz="1400" dirty="0">
                <a:solidFill>
                  <a:schemeClr val="tx1">
                    <a:lumMod val="75000"/>
                    <a:lumOff val="25000"/>
                  </a:schemeClr>
                </a:solidFill>
                <a:latin typeface="Meiryo UI"/>
                <a:ea typeface="Meiryo UI"/>
              </a:rPr>
              <a:t>※</a:t>
            </a:r>
            <a:r>
              <a:rPr lang="ja-JP" altLang="en-US" sz="1400" dirty="0">
                <a:solidFill>
                  <a:schemeClr val="tx1">
                    <a:lumMod val="75000"/>
                    <a:lumOff val="25000"/>
                  </a:schemeClr>
                </a:solidFill>
                <a:latin typeface="Meiryo UI"/>
                <a:ea typeface="Meiryo UI"/>
              </a:rPr>
              <a:t>既にインターフェイス型の</a:t>
            </a:r>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エンドポイント作成済みの場合はそちらで問題ありません。</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a:ea typeface="Meiryo UI"/>
            </a:endParaRPr>
          </a:p>
          <a:p>
            <a:r>
              <a:rPr lang="ja-JP" altLang="en-US" sz="1400" b="1" dirty="0">
                <a:solidFill>
                  <a:schemeClr val="tx1">
                    <a:lumMod val="75000"/>
                    <a:lumOff val="25000"/>
                  </a:schemeClr>
                </a:solidFill>
                <a:latin typeface="Meiryo UI"/>
                <a:ea typeface="Meiryo UI"/>
              </a:rPr>
              <a:t>②</a:t>
            </a:r>
            <a:r>
              <a:rPr lang="en-US" altLang="ja-JP" sz="1400" b="1" dirty="0">
                <a:solidFill>
                  <a:schemeClr val="tx1">
                    <a:lumMod val="75000"/>
                    <a:lumOff val="25000"/>
                  </a:schemeClr>
                </a:solidFill>
                <a:latin typeface="Meiryo UI"/>
                <a:ea typeface="Meiryo UI"/>
              </a:rPr>
              <a:t>AWSCLI</a:t>
            </a:r>
            <a:r>
              <a:rPr lang="ja-JP" altLang="en-US" sz="1400" b="1" dirty="0">
                <a:solidFill>
                  <a:schemeClr val="tx1">
                    <a:lumMod val="75000"/>
                    <a:lumOff val="25000"/>
                  </a:schemeClr>
                </a:solidFill>
                <a:latin typeface="Meiryo UI"/>
                <a:ea typeface="Meiryo UI"/>
              </a:rPr>
              <a:t>がインストールされていること</a:t>
            </a:r>
          </a:p>
          <a:p>
            <a:r>
              <a:rPr lang="en-US" altLang="ja-JP" sz="1400" dirty="0">
                <a:solidFill>
                  <a:schemeClr val="tx1">
                    <a:lumMod val="75000"/>
                    <a:lumOff val="25000"/>
                  </a:schemeClr>
                </a:solidFill>
                <a:latin typeface="Meiryo UI"/>
                <a:ea typeface="Meiryo UI"/>
              </a:rPr>
              <a:t>EC2</a:t>
            </a:r>
            <a:r>
              <a:rPr lang="ja-JP" altLang="en-US" sz="1400" dirty="0">
                <a:solidFill>
                  <a:schemeClr val="tx1">
                    <a:lumMod val="75000"/>
                    <a:lumOff val="25000"/>
                  </a:schemeClr>
                </a:solidFill>
                <a:latin typeface="Meiryo UI"/>
                <a:ea typeface="Meiryo UI"/>
              </a:rPr>
              <a:t>から</a:t>
            </a:r>
            <a:r>
              <a:rPr lang="en-US" altLang="ja-JP" sz="1400" dirty="0">
                <a:solidFill>
                  <a:schemeClr val="tx1">
                    <a:lumMod val="75000"/>
                    <a:lumOff val="25000"/>
                  </a:schemeClr>
                </a:solidFill>
                <a:latin typeface="Meiryo UI"/>
                <a:ea typeface="Meiryo UI"/>
              </a:rPr>
              <a:t>S3</a:t>
            </a:r>
            <a:r>
              <a:rPr lang="ja-JP" altLang="en-US" sz="1400" dirty="0">
                <a:solidFill>
                  <a:schemeClr val="tx1">
                    <a:lumMod val="75000"/>
                    <a:lumOff val="25000"/>
                  </a:schemeClr>
                </a:solidFill>
                <a:latin typeface="Meiryo UI"/>
                <a:ea typeface="Meiryo UI"/>
              </a:rPr>
              <a:t>バケットに対して操作を行うために対象</a:t>
            </a:r>
            <a:r>
              <a:rPr lang="en-US" altLang="ja-JP" sz="1400" dirty="0">
                <a:solidFill>
                  <a:schemeClr val="tx1">
                    <a:lumMod val="75000"/>
                    <a:lumOff val="25000"/>
                  </a:schemeClr>
                </a:solidFill>
                <a:latin typeface="Meiryo UI"/>
                <a:ea typeface="Meiryo UI"/>
              </a:rPr>
              <a:t>EC2</a:t>
            </a:r>
            <a:r>
              <a:rPr lang="ja-JP" altLang="en-US" sz="1400" dirty="0">
                <a:solidFill>
                  <a:schemeClr val="tx1">
                    <a:lumMod val="75000"/>
                    <a:lumOff val="25000"/>
                  </a:schemeClr>
                </a:solidFill>
                <a:latin typeface="Meiryo UI"/>
                <a:ea typeface="Meiryo UI"/>
              </a:rPr>
              <a:t>に</a:t>
            </a:r>
            <a:r>
              <a:rPr lang="en-US" altLang="ja-JP" sz="1400" dirty="0">
                <a:solidFill>
                  <a:schemeClr val="tx1">
                    <a:lumMod val="75000"/>
                    <a:lumOff val="25000"/>
                  </a:schemeClr>
                </a:solidFill>
                <a:latin typeface="Meiryo UI"/>
                <a:ea typeface="Meiryo UI"/>
              </a:rPr>
              <a:t>AWSCLI</a:t>
            </a:r>
            <a:r>
              <a:rPr lang="ja-JP" altLang="en-US" sz="1400" dirty="0">
                <a:solidFill>
                  <a:schemeClr val="tx1">
                    <a:lumMod val="75000"/>
                    <a:lumOff val="25000"/>
                  </a:schemeClr>
                </a:solidFill>
                <a:latin typeface="Meiryo UI"/>
                <a:ea typeface="Meiryo UI"/>
              </a:rPr>
              <a:t>をインストールする必要があります。</a:t>
            </a:r>
            <a:endParaRPr lang="en-US" altLang="ja-JP" sz="1400" dirty="0">
              <a:solidFill>
                <a:schemeClr val="tx1">
                  <a:lumMod val="75000"/>
                  <a:lumOff val="25000"/>
                </a:schemeClr>
              </a:solidFill>
              <a:latin typeface="Meiryo UI"/>
              <a:ea typeface="Meiryo UI"/>
            </a:endParaRPr>
          </a:p>
          <a:p>
            <a:endParaRPr lang="en-US" altLang="ja-JP" sz="1400" dirty="0">
              <a:solidFill>
                <a:schemeClr val="tx1">
                  <a:lumMod val="75000"/>
                  <a:lumOff val="25000"/>
                </a:schemeClr>
              </a:solidFill>
              <a:latin typeface="Meiryo UI"/>
              <a:ea typeface="Meiryo UI"/>
            </a:endParaRPr>
          </a:p>
          <a:p>
            <a:r>
              <a:rPr lang="ja-JP" altLang="en-US" sz="1400" dirty="0">
                <a:solidFill>
                  <a:schemeClr val="tx1">
                    <a:lumMod val="75000"/>
                    <a:lumOff val="25000"/>
                  </a:schemeClr>
                </a:solidFill>
                <a:latin typeface="Meiryo UI"/>
                <a:ea typeface="Meiryo UI"/>
              </a:rPr>
              <a:t>もし</a:t>
            </a:r>
            <a:r>
              <a:rPr lang="en-US" altLang="ja-JP" sz="1400" dirty="0">
                <a:solidFill>
                  <a:schemeClr val="tx1">
                    <a:lumMod val="75000"/>
                    <a:lumOff val="25000"/>
                  </a:schemeClr>
                </a:solidFill>
                <a:latin typeface="Meiryo UI"/>
                <a:ea typeface="Meiryo UI"/>
              </a:rPr>
              <a:t>AWSCLI</a:t>
            </a:r>
            <a:r>
              <a:rPr lang="ja-JP" altLang="en-US" sz="1400" dirty="0">
                <a:solidFill>
                  <a:schemeClr val="tx1">
                    <a:lumMod val="75000"/>
                    <a:lumOff val="25000"/>
                  </a:schemeClr>
                </a:solidFill>
                <a:latin typeface="Meiryo UI"/>
                <a:ea typeface="Meiryo UI"/>
              </a:rPr>
              <a:t>未実装の場合は以下手順を参考にインストールをお願いします。</a:t>
            </a:r>
          </a:p>
          <a:p>
            <a:endParaRPr lang="ja-JP" altLang="en-US" sz="1400" dirty="0">
              <a:solidFill>
                <a:schemeClr val="tx1">
                  <a:lumMod val="75000"/>
                  <a:lumOff val="25000"/>
                </a:schemeClr>
              </a:solidFill>
              <a:latin typeface="Meiryo UI"/>
              <a:ea typeface="Meiryo UI"/>
            </a:endParaRPr>
          </a:p>
          <a:p>
            <a:r>
              <a:rPr lang="en-US" altLang="ja-JP" sz="1400" dirty="0">
                <a:solidFill>
                  <a:schemeClr val="tx1">
                    <a:lumMod val="75000"/>
                    <a:lumOff val="25000"/>
                  </a:schemeClr>
                </a:solidFill>
                <a:latin typeface="Meiryo UI"/>
                <a:ea typeface="Meiryo UI"/>
              </a:rPr>
              <a:t>AWSCLI</a:t>
            </a:r>
            <a:r>
              <a:rPr lang="ja-JP" altLang="en-US" sz="1400" dirty="0">
                <a:solidFill>
                  <a:schemeClr val="tx1">
                    <a:lumMod val="75000"/>
                    <a:lumOff val="25000"/>
                  </a:schemeClr>
                </a:solidFill>
                <a:latin typeface="Meiryo UI"/>
                <a:ea typeface="Meiryo UI"/>
              </a:rPr>
              <a:t>インストール手順：</a:t>
            </a:r>
            <a:endParaRPr lang="en-US" altLang="ja-JP" sz="1400" dirty="0">
              <a:solidFill>
                <a:schemeClr val="tx1">
                  <a:lumMod val="75000"/>
                  <a:lumOff val="25000"/>
                </a:schemeClr>
              </a:solidFill>
              <a:latin typeface="Meiryo UI"/>
              <a:ea typeface="Meiryo UI"/>
            </a:endParaRPr>
          </a:p>
          <a:p>
            <a:r>
              <a:rPr lang="en-US" altLang="ja-JP" sz="1400" dirty="0">
                <a:solidFill>
                  <a:schemeClr val="tx1">
                    <a:lumMod val="75000"/>
                    <a:lumOff val="25000"/>
                  </a:schemeClr>
                </a:solidFill>
                <a:latin typeface="Meiryo UI"/>
                <a:ea typeface="Meiryo UI"/>
              </a:rPr>
              <a:t>https://docs.aws.amazon.com/ja_jp/cli/latest/userguide/getting-started-install.html</a:t>
            </a:r>
          </a:p>
          <a:p>
            <a:endParaRPr lang="ja-JP" altLang="en-US" sz="1400" dirty="0">
              <a:solidFill>
                <a:schemeClr val="tx1">
                  <a:lumMod val="75000"/>
                  <a:lumOff val="25000"/>
                </a:schemeClr>
              </a:solidFill>
              <a:latin typeface="Meiryo UI"/>
              <a:ea typeface="Meiryo UI"/>
            </a:endParaRPr>
          </a:p>
        </p:txBody>
      </p:sp>
      <p:sp>
        <p:nvSpPr>
          <p:cNvPr id="5" name="テキスト ボックス 4">
            <a:extLst>
              <a:ext uri="{FF2B5EF4-FFF2-40B4-BE49-F238E27FC236}">
                <a16:creationId xmlns:a16="http://schemas.microsoft.com/office/drawing/2014/main" id="{A2C6E3DF-D65F-4696-911C-B2E7DBF60D1E}"/>
              </a:ext>
            </a:extLst>
          </p:cNvPr>
          <p:cNvSpPr txBox="1"/>
          <p:nvPr/>
        </p:nvSpPr>
        <p:spPr>
          <a:xfrm>
            <a:off x="53547" y="49428"/>
            <a:ext cx="12084907" cy="584775"/>
          </a:xfrm>
          <a:prstGeom prst="rect">
            <a:avLst/>
          </a:prstGeom>
          <a:noFill/>
        </p:spPr>
        <p:txBody>
          <a:bodyPr wrap="square" lIns="91440" tIns="45720" rIns="91440" bIns="45720" rtlCol="0" anchor="t">
            <a:spAutoFit/>
          </a:bodyPr>
          <a:lstStyle/>
          <a:p>
            <a:r>
              <a:rPr lang="en-US" altLang="ja-JP" sz="1400" b="1" dirty="0">
                <a:solidFill>
                  <a:schemeClr val="tx2"/>
                </a:solidFill>
                <a:latin typeface="Meiryo UI" panose="020B0604030504040204" pitchFamily="50" charset="-128"/>
                <a:ea typeface="Meiryo UI" panose="020B0604030504040204" pitchFamily="50" charset="-128"/>
              </a:rPr>
              <a:t>3</a:t>
            </a:r>
            <a:r>
              <a:rPr kumimoji="1" lang="en-US" altLang="ja-JP" sz="1400" b="1" dirty="0">
                <a:solidFill>
                  <a:schemeClr val="tx2"/>
                </a:solidFill>
                <a:latin typeface="Meiryo UI" panose="020B0604030504040204" pitchFamily="50" charset="-128"/>
                <a:ea typeface="Meiryo UI" panose="020B0604030504040204" pitchFamily="50" charset="-128"/>
              </a:rPr>
              <a:t>. </a:t>
            </a:r>
            <a:r>
              <a:rPr kumimoji="1" lang="ja-JP" altLang="en-US" sz="1400" b="1" dirty="0">
                <a:solidFill>
                  <a:schemeClr val="tx2"/>
                </a:solidFill>
                <a:latin typeface="Meiryo UI" panose="020B0604030504040204" pitchFamily="50" charset="-128"/>
                <a:ea typeface="Meiryo UI" panose="020B0604030504040204" pitchFamily="50" charset="-128"/>
              </a:rPr>
              <a:t>必要となる</a:t>
            </a:r>
            <a:r>
              <a:rPr lang="ja-JP" altLang="en-US" sz="1400" b="1" dirty="0">
                <a:solidFill>
                  <a:schemeClr val="tx2"/>
                </a:solidFill>
                <a:latin typeface="Meiryo UI" panose="020B0604030504040204" pitchFamily="50" charset="-128"/>
                <a:ea typeface="Meiryo UI" panose="020B0604030504040204" pitchFamily="50" charset="-128"/>
              </a:rPr>
              <a:t>作業について</a:t>
            </a:r>
          </a:p>
          <a:p>
            <a:r>
              <a:rPr lang="ja-JP" altLang="en-US" b="1" dirty="0">
                <a:solidFill>
                  <a:schemeClr val="tx2"/>
                </a:solidFill>
                <a:latin typeface="Meiryo UI"/>
                <a:ea typeface="Meiryo UI"/>
              </a:rPr>
              <a:t>前提条件</a:t>
            </a:r>
            <a:endParaRPr lang="ja-JP" dirty="0"/>
          </a:p>
        </p:txBody>
      </p:sp>
      <p:sp>
        <p:nvSpPr>
          <p:cNvPr id="7" name="正方形/長方形 6">
            <a:extLst>
              <a:ext uri="{FF2B5EF4-FFF2-40B4-BE49-F238E27FC236}">
                <a16:creationId xmlns:a16="http://schemas.microsoft.com/office/drawing/2014/main" id="{BB50F064-FDBF-DB54-59F3-5449FE2022C7}"/>
              </a:ext>
            </a:extLst>
          </p:cNvPr>
          <p:cNvSpPr/>
          <p:nvPr/>
        </p:nvSpPr>
        <p:spPr>
          <a:xfrm>
            <a:off x="8996855" y="5717256"/>
            <a:ext cx="2459421" cy="307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36381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3CD8B-87FB-95C8-F826-4270F1AA1355}"/>
            </a:ext>
          </a:extLst>
        </p:cNvPr>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978B9DC1-0D7C-01B6-992C-8A2A2A2D3118}"/>
              </a:ext>
            </a:extLst>
          </p:cNvPr>
          <p:cNvSpPr txBox="1"/>
          <p:nvPr/>
        </p:nvSpPr>
        <p:spPr>
          <a:xfrm>
            <a:off x="53547" y="640740"/>
            <a:ext cx="12084908" cy="1169551"/>
          </a:xfrm>
          <a:prstGeom prst="rect">
            <a:avLst/>
          </a:prstGeom>
          <a:noFill/>
        </p:spPr>
        <p:txBody>
          <a:bodyPr wrap="square" lIns="91440" tIns="45720" rIns="91440" bIns="45720" rtlCol="0" anchor="t">
            <a:spAutoFit/>
          </a:bodyPr>
          <a:lstStyle/>
          <a:p>
            <a:r>
              <a:rPr lang="en-US" altLang="ja-JP" sz="1400" dirty="0">
                <a:solidFill>
                  <a:schemeClr val="tx1">
                    <a:lumMod val="75000"/>
                    <a:lumOff val="25000"/>
                  </a:schemeClr>
                </a:solidFill>
                <a:latin typeface="Meiryo UI" panose="020B0604030504040204" pitchFamily="50" charset="-128"/>
                <a:ea typeface="Meiryo UI" panose="020B0604030504040204" pitchFamily="50" charset="-128"/>
              </a:rPr>
              <a:t>S3</a:t>
            </a:r>
            <a:r>
              <a:rPr lang="ja-JP" altLang="en-US" sz="1400" dirty="0">
                <a:solidFill>
                  <a:schemeClr val="tx1">
                    <a:lumMod val="75000"/>
                    <a:lumOff val="25000"/>
                  </a:schemeClr>
                </a:solidFill>
                <a:latin typeface="Meiryo UI" panose="020B0604030504040204" pitchFamily="50" charset="-128"/>
                <a:ea typeface="Meiryo UI" panose="020B0604030504040204" pitchFamily="50" charset="-128"/>
              </a:rPr>
              <a:t>クロスアカウントアクセス設定を実現するために各アカウントで必要となる作業を以下にまとめます。</a:t>
            </a:r>
            <a:endParaRPr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a:p>
            <a:endParaRPr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400" dirty="0">
                <a:solidFill>
                  <a:schemeClr val="tx1">
                    <a:lumMod val="75000"/>
                    <a:lumOff val="25000"/>
                  </a:schemeClr>
                </a:solidFill>
                <a:latin typeface="Meiryo UI" panose="020B0604030504040204" pitchFamily="50" charset="-128"/>
                <a:ea typeface="Meiryo UI" panose="020B0604030504040204" pitchFamily="50" charset="-128"/>
              </a:rPr>
              <a:t>参考手順：</a:t>
            </a:r>
            <a:r>
              <a:rPr lang="en-US" altLang="ja-JP" sz="1400" dirty="0">
                <a:solidFill>
                  <a:schemeClr val="tx1">
                    <a:lumMod val="75000"/>
                    <a:lumOff val="25000"/>
                  </a:schemeClr>
                </a:solidFill>
                <a:latin typeface="Meiryo UI" panose="020B0604030504040204" pitchFamily="50" charset="-128"/>
                <a:ea typeface="Meiryo UI" panose="020B0604030504040204" pitchFamily="50" charset="-128"/>
                <a:hlinkClick r:id="rId2"/>
              </a:rPr>
              <a:t>https://repost.aws/ja/knowledge-center/s3-instance-access-bucket</a:t>
            </a:r>
            <a:endParaRPr lang="en-US" altLang="ja-JP" sz="1400" dirty="0">
              <a:solidFill>
                <a:schemeClr val="tx1">
                  <a:lumMod val="75000"/>
                  <a:lumOff val="25000"/>
                </a:schemeClr>
              </a:solidFill>
              <a:latin typeface="Meiryo UI" panose="020B0604030504040204" pitchFamily="50" charset="-128"/>
              <a:ea typeface="Meiryo UI" panose="020B0604030504040204" pitchFamily="50" charset="-128"/>
            </a:endParaRPr>
          </a:p>
          <a:p>
            <a:endParaRPr lang="ja-JP" altLang="en-US" sz="1400" dirty="0">
              <a:solidFill>
                <a:schemeClr val="tx1">
                  <a:lumMod val="75000"/>
                  <a:lumOff val="25000"/>
                </a:schemeClr>
              </a:solidFill>
              <a:latin typeface="Meiryo UI"/>
              <a:ea typeface="Meiryo UI"/>
            </a:endParaRPr>
          </a:p>
          <a:p>
            <a:endParaRPr lang="ja-JP" altLang="en-US" sz="1400" dirty="0">
              <a:solidFill>
                <a:schemeClr val="tx1">
                  <a:lumMod val="75000"/>
                  <a:lumOff val="25000"/>
                </a:schemeClr>
              </a:solidFill>
              <a:latin typeface="Meiryo UI"/>
              <a:ea typeface="Meiryo UI"/>
            </a:endParaRPr>
          </a:p>
        </p:txBody>
      </p:sp>
      <p:sp>
        <p:nvSpPr>
          <p:cNvPr id="5" name="テキスト ボックス 4">
            <a:extLst>
              <a:ext uri="{FF2B5EF4-FFF2-40B4-BE49-F238E27FC236}">
                <a16:creationId xmlns:a16="http://schemas.microsoft.com/office/drawing/2014/main" id="{4B429FA1-1B80-DD0F-FC3C-477110BAAC17}"/>
              </a:ext>
            </a:extLst>
          </p:cNvPr>
          <p:cNvSpPr txBox="1"/>
          <p:nvPr/>
        </p:nvSpPr>
        <p:spPr>
          <a:xfrm>
            <a:off x="53547" y="49428"/>
            <a:ext cx="12084907" cy="584775"/>
          </a:xfrm>
          <a:prstGeom prst="rect">
            <a:avLst/>
          </a:prstGeom>
          <a:noFill/>
        </p:spPr>
        <p:txBody>
          <a:bodyPr wrap="square" rtlCol="0">
            <a:spAutoFit/>
          </a:bodyPr>
          <a:lstStyle/>
          <a:p>
            <a:r>
              <a:rPr lang="en-US" altLang="ja-JP" sz="1400" b="1" dirty="0">
                <a:solidFill>
                  <a:schemeClr val="tx2"/>
                </a:solidFill>
                <a:latin typeface="Meiryo UI" panose="020B0604030504040204" pitchFamily="50" charset="-128"/>
                <a:ea typeface="Meiryo UI" panose="020B0604030504040204" pitchFamily="50" charset="-128"/>
              </a:rPr>
              <a:t>3</a:t>
            </a:r>
            <a:r>
              <a:rPr kumimoji="1" lang="en-US" altLang="ja-JP" sz="1400" b="1" dirty="0">
                <a:solidFill>
                  <a:schemeClr val="tx2"/>
                </a:solidFill>
                <a:latin typeface="Meiryo UI" panose="020B0604030504040204" pitchFamily="50" charset="-128"/>
                <a:ea typeface="Meiryo UI" panose="020B0604030504040204" pitchFamily="50" charset="-128"/>
              </a:rPr>
              <a:t>. </a:t>
            </a:r>
            <a:r>
              <a:rPr kumimoji="1" lang="ja-JP" altLang="en-US" sz="1400" b="1" dirty="0">
                <a:solidFill>
                  <a:schemeClr val="tx2"/>
                </a:solidFill>
                <a:latin typeface="Meiryo UI" panose="020B0604030504040204" pitchFamily="50" charset="-128"/>
                <a:ea typeface="Meiryo UI" panose="020B0604030504040204" pitchFamily="50" charset="-128"/>
              </a:rPr>
              <a:t>必要となる</a:t>
            </a:r>
            <a:r>
              <a:rPr lang="ja-JP" altLang="en-US" sz="1400" b="1" dirty="0">
                <a:solidFill>
                  <a:schemeClr val="tx2"/>
                </a:solidFill>
                <a:latin typeface="Meiryo UI" panose="020B0604030504040204" pitchFamily="50" charset="-128"/>
                <a:ea typeface="Meiryo UI" panose="020B0604030504040204" pitchFamily="50" charset="-128"/>
              </a:rPr>
              <a:t>作業について</a:t>
            </a:r>
            <a:endParaRPr lang="en-US" altLang="ja-JP" sz="1400" b="1" dirty="0">
              <a:solidFill>
                <a:schemeClr val="tx2"/>
              </a:solidFill>
              <a:latin typeface="Meiryo UI" panose="020B0604030504040204" pitchFamily="50" charset="-128"/>
              <a:ea typeface="Meiryo UI" panose="020B0604030504040204" pitchFamily="50" charset="-128"/>
            </a:endParaRPr>
          </a:p>
          <a:p>
            <a:r>
              <a:rPr lang="ja-JP" altLang="en-US" b="1" dirty="0">
                <a:solidFill>
                  <a:schemeClr val="tx2"/>
                </a:solidFill>
                <a:latin typeface="Meiryo UI"/>
                <a:ea typeface="Meiryo UI"/>
              </a:rPr>
              <a:t>作業内容</a:t>
            </a:r>
            <a:endParaRPr lang="ja-JP" altLang="ja-JP" dirty="0"/>
          </a:p>
        </p:txBody>
      </p:sp>
      <p:sp>
        <p:nvSpPr>
          <p:cNvPr id="7" name="正方形/長方形 6">
            <a:extLst>
              <a:ext uri="{FF2B5EF4-FFF2-40B4-BE49-F238E27FC236}">
                <a16:creationId xmlns:a16="http://schemas.microsoft.com/office/drawing/2014/main" id="{B94FE0B6-B307-937C-456F-B7FDC3B330BC}"/>
              </a:ext>
            </a:extLst>
          </p:cNvPr>
          <p:cNvSpPr/>
          <p:nvPr/>
        </p:nvSpPr>
        <p:spPr>
          <a:xfrm>
            <a:off x="8996855" y="5717256"/>
            <a:ext cx="2459421" cy="307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 name="表 2">
            <a:extLst>
              <a:ext uri="{FF2B5EF4-FFF2-40B4-BE49-F238E27FC236}">
                <a16:creationId xmlns:a16="http://schemas.microsoft.com/office/drawing/2014/main" id="{579EDB98-4F70-FEFC-2808-E9C64BF9F525}"/>
              </a:ext>
            </a:extLst>
          </p:cNvPr>
          <p:cNvGraphicFramePr>
            <a:graphicFrameLocks noGrp="1"/>
          </p:cNvGraphicFramePr>
          <p:nvPr>
            <p:extLst>
              <p:ext uri="{D42A27DB-BD31-4B8C-83A1-F6EECF244321}">
                <p14:modId xmlns:p14="http://schemas.microsoft.com/office/powerpoint/2010/main" val="305778826"/>
              </p:ext>
            </p:extLst>
          </p:nvPr>
        </p:nvGraphicFramePr>
        <p:xfrm>
          <a:off x="601431" y="1850047"/>
          <a:ext cx="10989137" cy="2992973"/>
        </p:xfrm>
        <a:graphic>
          <a:graphicData uri="http://schemas.openxmlformats.org/drawingml/2006/table">
            <a:tbl>
              <a:tblPr firstRow="1" bandRow="1">
                <a:tableStyleId>{5C22544A-7EE6-4342-B048-85BDC9FD1C3A}</a:tableStyleId>
              </a:tblPr>
              <a:tblGrid>
                <a:gridCol w="650899">
                  <a:extLst>
                    <a:ext uri="{9D8B030D-6E8A-4147-A177-3AD203B41FA5}">
                      <a16:colId xmlns:a16="http://schemas.microsoft.com/office/drawing/2014/main" val="2471391799"/>
                    </a:ext>
                  </a:extLst>
                </a:gridCol>
                <a:gridCol w="4109971">
                  <a:extLst>
                    <a:ext uri="{9D8B030D-6E8A-4147-A177-3AD203B41FA5}">
                      <a16:colId xmlns:a16="http://schemas.microsoft.com/office/drawing/2014/main" val="475314285"/>
                    </a:ext>
                  </a:extLst>
                </a:gridCol>
                <a:gridCol w="4785551">
                  <a:extLst>
                    <a:ext uri="{9D8B030D-6E8A-4147-A177-3AD203B41FA5}">
                      <a16:colId xmlns:a16="http://schemas.microsoft.com/office/drawing/2014/main" val="2114246393"/>
                    </a:ext>
                  </a:extLst>
                </a:gridCol>
                <a:gridCol w="1442716">
                  <a:extLst>
                    <a:ext uri="{9D8B030D-6E8A-4147-A177-3AD203B41FA5}">
                      <a16:colId xmlns:a16="http://schemas.microsoft.com/office/drawing/2014/main" val="413000854"/>
                    </a:ext>
                  </a:extLst>
                </a:gridCol>
              </a:tblGrid>
              <a:tr h="580556">
                <a:tc>
                  <a:txBody>
                    <a:bodyPr/>
                    <a:lstStyle/>
                    <a:p>
                      <a:r>
                        <a:rPr kumimoji="1" lang="en-US" altLang="ja-JP" sz="1400" dirty="0"/>
                        <a:t>No.</a:t>
                      </a:r>
                      <a:endParaRPr kumimoji="1" lang="ja-JP" altLang="en-US" sz="1400" dirty="0"/>
                    </a:p>
                  </a:txBody>
                  <a:tcPr/>
                </a:tc>
                <a:tc>
                  <a:txBody>
                    <a:bodyPr/>
                    <a:lstStyle/>
                    <a:p>
                      <a:r>
                        <a:rPr kumimoji="1" lang="ja-JP" altLang="en-US" sz="1400" dirty="0"/>
                        <a:t>作業内容</a:t>
                      </a:r>
                    </a:p>
                  </a:txBody>
                  <a:tcPr/>
                </a:tc>
                <a:tc>
                  <a:txBody>
                    <a:bodyPr/>
                    <a:lstStyle/>
                    <a:p>
                      <a:r>
                        <a:rPr kumimoji="1" lang="ja-JP" altLang="en-US" sz="1400" dirty="0"/>
                        <a:t>作業詳細</a:t>
                      </a:r>
                    </a:p>
                  </a:txBody>
                  <a:tcPr/>
                </a:tc>
                <a:tc>
                  <a:txBody>
                    <a:bodyPr/>
                    <a:lstStyle/>
                    <a:p>
                      <a:r>
                        <a:rPr kumimoji="1" lang="ja-JP" altLang="en-US" sz="1400" dirty="0"/>
                        <a:t>作業アカウント</a:t>
                      </a:r>
                    </a:p>
                  </a:txBody>
                  <a:tcPr/>
                </a:tc>
                <a:extLst>
                  <a:ext uri="{0D108BD9-81ED-4DB2-BD59-A6C34878D82A}">
                    <a16:rowId xmlns:a16="http://schemas.microsoft.com/office/drawing/2014/main" val="1529592577"/>
                  </a:ext>
                </a:extLst>
              </a:tr>
              <a:tr h="736017">
                <a:tc>
                  <a:txBody>
                    <a:bodyPr/>
                    <a:lstStyle/>
                    <a:p>
                      <a:r>
                        <a:rPr kumimoji="1" lang="en-US" altLang="ja-JP" sz="1400" dirty="0"/>
                        <a:t>1</a:t>
                      </a:r>
                      <a:endParaRPr kumimoji="1" lang="ja-JP" altLang="en-US" sz="1400" dirty="0"/>
                    </a:p>
                  </a:txBody>
                  <a:tcPr/>
                </a:tc>
                <a:tc>
                  <a:txBody>
                    <a:bodyPr/>
                    <a:lstStyle/>
                    <a:p>
                      <a:r>
                        <a:rPr kumimoji="1" lang="ja-JP" altLang="en-US" sz="1400" dirty="0"/>
                        <a:t>クロスアカウント用</a:t>
                      </a:r>
                      <a:r>
                        <a:rPr kumimoji="1" lang="en-US" altLang="ja-JP" sz="1400" dirty="0"/>
                        <a:t>IAM</a:t>
                      </a:r>
                      <a:r>
                        <a:rPr kumimoji="1" lang="ja-JP" altLang="en-US" sz="1400" dirty="0"/>
                        <a:t>ロール・ポリシーの作成</a:t>
                      </a:r>
                    </a:p>
                  </a:txBody>
                  <a:tcPr/>
                </a:tc>
                <a:tc>
                  <a:txBody>
                    <a:bodyPr/>
                    <a:lstStyle/>
                    <a:p>
                      <a:r>
                        <a:rPr lang="ja-JP" altLang="en-US" sz="1400" dirty="0"/>
                        <a:t>アイネスAWSアカウントのリソース</a:t>
                      </a:r>
                      <a:r>
                        <a:rPr kumimoji="1" lang="ja-JP" altLang="en-US" sz="1400" dirty="0"/>
                        <a:t>が</a:t>
                      </a:r>
                      <a:r>
                        <a:rPr kumimoji="1" lang="en-US" altLang="ja-JP" sz="1400" dirty="0"/>
                        <a:t>S3</a:t>
                      </a:r>
                      <a:r>
                        <a:rPr kumimoji="1" lang="ja-JP" altLang="en-US" sz="1400" dirty="0"/>
                        <a:t>バケットを参照する際に利用する</a:t>
                      </a:r>
                      <a:r>
                        <a:rPr kumimoji="1" lang="en-US" altLang="ja-JP" sz="1400" dirty="0"/>
                        <a:t>IAM</a:t>
                      </a:r>
                      <a:r>
                        <a:rPr kumimoji="1" lang="ja-JP" altLang="en-US" sz="1400" dirty="0"/>
                        <a:t>ロール・ポリシーを作成します。</a:t>
                      </a:r>
                      <a:endParaRPr kumimoji="1" lang="en-US" altLang="ja-JP" sz="1400" dirty="0"/>
                    </a:p>
                  </a:txBody>
                  <a:tcPr/>
                </a:tc>
                <a:tc>
                  <a:txBody>
                    <a:bodyPr/>
                    <a:lstStyle/>
                    <a:p>
                      <a:r>
                        <a:rPr kumimoji="1" lang="ja-JP" altLang="en-US" sz="1400" dirty="0"/>
                        <a:t>クレスコ</a:t>
                      </a:r>
                    </a:p>
                  </a:txBody>
                  <a:tcPr/>
                </a:tc>
                <a:extLst>
                  <a:ext uri="{0D108BD9-81ED-4DB2-BD59-A6C34878D82A}">
                    <a16:rowId xmlns:a16="http://schemas.microsoft.com/office/drawing/2014/main" val="605301974"/>
                  </a:ext>
                </a:extLst>
              </a:tr>
              <a:tr h="580556">
                <a:tc>
                  <a:txBody>
                    <a:bodyPr/>
                    <a:lstStyle/>
                    <a:p>
                      <a:r>
                        <a:rPr kumimoji="1" lang="en-US" altLang="ja-JP" sz="1400" dirty="0"/>
                        <a:t>2.</a:t>
                      </a:r>
                      <a:endParaRPr kumimoji="1" lang="ja-JP" altLang="en-US" sz="1400" dirty="0"/>
                    </a:p>
                  </a:txBody>
                  <a:tcPr/>
                </a:tc>
                <a:tc>
                  <a:txBody>
                    <a:bodyPr/>
                    <a:lstStyle/>
                    <a:p>
                      <a:r>
                        <a:rPr kumimoji="1" lang="ja-JP" altLang="en-US" sz="1400" dirty="0"/>
                        <a:t>クロスアカウント用</a:t>
                      </a:r>
                      <a:r>
                        <a:rPr kumimoji="1" lang="en-US" altLang="ja-JP" sz="1400" dirty="0"/>
                        <a:t>IAM</a:t>
                      </a:r>
                      <a:r>
                        <a:rPr kumimoji="1" lang="ja-JP" altLang="en-US" sz="1400" dirty="0"/>
                        <a:t>ポリシー作成</a:t>
                      </a:r>
                      <a:r>
                        <a:rPr lang="ja-JP" altLang="en-US" sz="1400" dirty="0"/>
                        <a:t>・アタッチ</a:t>
                      </a:r>
                      <a:endParaRPr kumimoji="1" lang="ja-JP" altLang="en-US" sz="1400" dirty="0"/>
                    </a:p>
                  </a:txBody>
                  <a:tcPr/>
                </a:tc>
                <a:tc>
                  <a:txBody>
                    <a:bodyPr/>
                    <a:lstStyle/>
                    <a:p>
                      <a:r>
                        <a:rPr lang="ja-JP" altLang="en-US" sz="1400" dirty="0"/>
                        <a:t>アイネス</a:t>
                      </a:r>
                      <a:r>
                        <a:rPr kumimoji="1" lang="en-US" altLang="ja-JP" sz="1400" dirty="0"/>
                        <a:t>AWS</a:t>
                      </a:r>
                      <a:r>
                        <a:rPr kumimoji="1" lang="ja-JP" altLang="en-US" sz="1400" dirty="0"/>
                        <a:t>アカウントのの</a:t>
                      </a:r>
                      <a:r>
                        <a:rPr kumimoji="1" lang="en-US" altLang="ja-JP" sz="1400" dirty="0"/>
                        <a:t>IAM</a:t>
                      </a:r>
                      <a:r>
                        <a:rPr kumimoji="1" lang="ja-JP" altLang="en-US" sz="1400" dirty="0"/>
                        <a:t>ロールに、クレスコ側の</a:t>
                      </a:r>
                      <a:r>
                        <a:rPr kumimoji="1" lang="en-US" altLang="ja-JP" sz="1400" dirty="0"/>
                        <a:t>IAM</a:t>
                      </a:r>
                      <a:r>
                        <a:rPr kumimoji="1" lang="ja-JP" altLang="en-US" sz="1400" dirty="0"/>
                        <a:t>ロール利用を許可する</a:t>
                      </a:r>
                      <a:r>
                        <a:rPr kumimoji="1" lang="en-US" altLang="ja-JP" sz="1400" dirty="0"/>
                        <a:t>IAM</a:t>
                      </a:r>
                      <a:r>
                        <a:rPr kumimoji="1" lang="ja-JP" altLang="en-US" sz="1400" dirty="0"/>
                        <a:t>ポリシーを作成・アタッチします。</a:t>
                      </a:r>
                      <a:endParaRPr kumimoji="1" lang="en-US" altLang="ja-JP" sz="1400" dirty="0"/>
                    </a:p>
                  </a:txBody>
                  <a:tcPr/>
                </a:tc>
                <a:tc>
                  <a:txBody>
                    <a:bodyPr/>
                    <a:lstStyle/>
                    <a:p>
                      <a:r>
                        <a:rPr lang="en-US" altLang="ja-JP" sz="1400" dirty="0" err="1"/>
                        <a:t>アイネス様</a:t>
                      </a:r>
                      <a:endParaRPr kumimoji="1" lang="en-US" altLang="ja-JP" sz="1400" dirty="0" err="1"/>
                    </a:p>
                  </a:txBody>
                  <a:tcPr/>
                </a:tc>
                <a:extLst>
                  <a:ext uri="{0D108BD9-81ED-4DB2-BD59-A6C34878D82A}">
                    <a16:rowId xmlns:a16="http://schemas.microsoft.com/office/drawing/2014/main" val="809301029"/>
                  </a:ext>
                </a:extLst>
              </a:tr>
              <a:tr h="580556">
                <a:tc>
                  <a:txBody>
                    <a:bodyPr/>
                    <a:lstStyle/>
                    <a:p>
                      <a:r>
                        <a:rPr kumimoji="1" lang="en-US" altLang="ja-JP" sz="1400" dirty="0"/>
                        <a:t>3.</a:t>
                      </a:r>
                      <a:endParaRPr kumimoji="1" lang="ja-JP" altLang="en-US" sz="1400" dirty="0"/>
                    </a:p>
                  </a:txBody>
                  <a:tcPr/>
                </a:tc>
                <a:tc>
                  <a:txBody>
                    <a:bodyPr/>
                    <a:lstStyle/>
                    <a:p>
                      <a:r>
                        <a:rPr kumimoji="1" lang="ja-JP" altLang="en-US" sz="1400" dirty="0"/>
                        <a:t>プロファイル作成</a:t>
                      </a:r>
                    </a:p>
                  </a:txBody>
                  <a:tcPr/>
                </a:tc>
                <a:tc>
                  <a:txBody>
                    <a:bodyPr/>
                    <a:lstStyle/>
                    <a:p>
                      <a:r>
                        <a:rPr kumimoji="1" lang="en-US" altLang="ja-JP" sz="1400" dirty="0"/>
                        <a:t>EC2</a:t>
                      </a:r>
                      <a:r>
                        <a:rPr kumimoji="1" lang="ja-JP" altLang="en-US" sz="1400" dirty="0"/>
                        <a:t>等から</a:t>
                      </a:r>
                      <a:r>
                        <a:rPr kumimoji="1" lang="en-US" altLang="ja-JP" sz="1400" dirty="0"/>
                        <a:t>S3</a:t>
                      </a:r>
                      <a:r>
                        <a:rPr kumimoji="1" lang="ja-JP" altLang="en-US" sz="1400" dirty="0"/>
                        <a:t>に対してファイル配置を行う場合に、クロスアカウント用</a:t>
                      </a:r>
                      <a:r>
                        <a:rPr kumimoji="1" lang="en-US" altLang="ja-JP" sz="1400" dirty="0"/>
                        <a:t>IAM</a:t>
                      </a:r>
                      <a:r>
                        <a:rPr kumimoji="1" lang="ja-JP" altLang="en-US" sz="1400" dirty="0"/>
                        <a:t>ロールを利用できるようにするため、ロールのプロファイル設定を予め作成しておきます。</a:t>
                      </a:r>
                      <a:endParaRPr kumimoji="1" lang="en-US" altLang="ja-JP" sz="1400" dirty="0"/>
                    </a:p>
                    <a:p>
                      <a:endParaRPr kumimoji="1" lang="ja-JP" altLang="en-US" sz="1400" dirty="0"/>
                    </a:p>
                  </a:txBody>
                  <a:tcPr/>
                </a:tc>
                <a:tc>
                  <a:txBody>
                    <a:bodyPr/>
                    <a:lstStyle/>
                    <a:p>
                      <a:r>
                        <a:rPr lang="en-US" altLang="ja-JP" sz="1400" dirty="0" err="1"/>
                        <a:t>アイネス様</a:t>
                      </a:r>
                      <a:endParaRPr kumimoji="1" lang="en-US" altLang="ja-JP" sz="1400" dirty="0" err="1"/>
                    </a:p>
                  </a:txBody>
                  <a:tcPr/>
                </a:tc>
                <a:extLst>
                  <a:ext uri="{0D108BD9-81ED-4DB2-BD59-A6C34878D82A}">
                    <a16:rowId xmlns:a16="http://schemas.microsoft.com/office/drawing/2014/main" val="796161036"/>
                  </a:ext>
                </a:extLst>
              </a:tr>
            </a:tbl>
          </a:graphicData>
        </a:graphic>
      </p:graphicFrame>
    </p:spTree>
    <p:extLst>
      <p:ext uri="{BB962C8B-B14F-4D97-AF65-F5344CB8AC3E}">
        <p14:creationId xmlns:p14="http://schemas.microsoft.com/office/powerpoint/2010/main" val="3133651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A2C6E3DF-D65F-4696-911C-B2E7DBF60D1E}"/>
              </a:ext>
            </a:extLst>
          </p:cNvPr>
          <p:cNvSpPr txBox="1"/>
          <p:nvPr/>
        </p:nvSpPr>
        <p:spPr>
          <a:xfrm>
            <a:off x="53547" y="49428"/>
            <a:ext cx="12084907" cy="584775"/>
          </a:xfrm>
          <a:prstGeom prst="rect">
            <a:avLst/>
          </a:prstGeom>
          <a:noFill/>
        </p:spPr>
        <p:txBody>
          <a:bodyPr wrap="square" rtlCol="0">
            <a:spAutoFit/>
          </a:bodyPr>
          <a:lstStyle/>
          <a:p>
            <a:r>
              <a:rPr kumimoji="1" lang="en-US" altLang="ja-JP" sz="1400" b="1" dirty="0">
                <a:solidFill>
                  <a:schemeClr val="tx2"/>
                </a:solidFill>
                <a:latin typeface="Meiryo UI" panose="020B0604030504040204" pitchFamily="50" charset="-128"/>
                <a:ea typeface="Meiryo UI" panose="020B0604030504040204" pitchFamily="50" charset="-128"/>
              </a:rPr>
              <a:t>4. </a:t>
            </a:r>
            <a:r>
              <a:rPr kumimoji="1" lang="ja-JP" altLang="en-US" sz="1400" b="1" dirty="0">
                <a:solidFill>
                  <a:schemeClr val="tx2"/>
                </a:solidFill>
                <a:latin typeface="Meiryo UI" panose="020B0604030504040204" pitchFamily="50" charset="-128"/>
                <a:ea typeface="Meiryo UI" panose="020B0604030504040204" pitchFamily="50" charset="-128"/>
              </a:rPr>
              <a:t>ご依頼事項について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r>
              <a:rPr lang="ja-JP" altLang="en-US" b="1" dirty="0">
                <a:solidFill>
                  <a:schemeClr val="tx2"/>
                </a:solidFill>
                <a:latin typeface="Meiryo UI" panose="020B0604030504040204" pitchFamily="50" charset="-128"/>
                <a:ea typeface="Meiryo UI" panose="020B0604030504040204" pitchFamily="50" charset="-128"/>
              </a:rPr>
              <a:t>前提条件の確認</a:t>
            </a:r>
            <a:endParaRPr kumimoji="1" lang="en-US" altLang="ja-JP" b="1" dirty="0">
              <a:solidFill>
                <a:schemeClr val="tx2"/>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4A8A9083-B220-6AA4-A620-3559EE80B70E}"/>
              </a:ext>
            </a:extLst>
          </p:cNvPr>
          <p:cNvSpPr txBox="1"/>
          <p:nvPr/>
        </p:nvSpPr>
        <p:spPr>
          <a:xfrm>
            <a:off x="335455" y="909118"/>
            <a:ext cx="10980000" cy="307777"/>
          </a:xfrm>
          <a:prstGeom prst="rect">
            <a:avLst/>
          </a:prstGeom>
          <a:noFill/>
        </p:spPr>
        <p:txBody>
          <a:bodyPr wrap="square" lIns="91440" tIns="45720" rIns="91440" bIns="45720" anchor="t">
            <a:spAutoFit/>
          </a:bodyPr>
          <a:lstStyle/>
          <a:p>
            <a:pPr marL="628650" indent="-628650">
              <a:spcBef>
                <a:spcPct val="0"/>
              </a:spcBef>
            </a:pPr>
            <a:r>
              <a:rPr lang="ja-JP" altLang="en-US" sz="1400" dirty="0">
                <a:latin typeface="Meiryo UI"/>
                <a:ea typeface="Meiryo UI"/>
              </a:rPr>
              <a:t>「</a:t>
            </a:r>
            <a:r>
              <a:rPr lang="en-US" altLang="ja-JP" sz="1400" dirty="0">
                <a:latin typeface="Meiryo UI"/>
                <a:ea typeface="Meiryo UI"/>
              </a:rPr>
              <a:t>3. </a:t>
            </a:r>
            <a:r>
              <a:rPr lang="ja-JP" altLang="en-US" sz="1400" dirty="0">
                <a:latin typeface="Meiryo UI"/>
                <a:ea typeface="Meiryo UI"/>
              </a:rPr>
              <a:t>必要となる作業について」の前提条件を確認いただき未実装のものがありましたら実装対応の方よろしくお願いいたします。</a:t>
            </a:r>
            <a:endParaRPr lang="en-US" altLang="ja-JP" sz="1400" dirty="0">
              <a:latin typeface="Meiryo UI"/>
              <a:ea typeface="Meiryo UI"/>
            </a:endParaRPr>
          </a:p>
        </p:txBody>
      </p:sp>
    </p:spTree>
    <p:extLst>
      <p:ext uri="{BB962C8B-B14F-4D97-AF65-F5344CB8AC3E}">
        <p14:creationId xmlns:p14="http://schemas.microsoft.com/office/powerpoint/2010/main" val="1879204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B3A1D-6226-5C04-6BBA-E7ED7295605A}"/>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754B0B3F-4D00-2873-6A4C-12141DA5F33A}"/>
              </a:ext>
            </a:extLst>
          </p:cNvPr>
          <p:cNvSpPr txBox="1"/>
          <p:nvPr/>
        </p:nvSpPr>
        <p:spPr>
          <a:xfrm>
            <a:off x="53547" y="49428"/>
            <a:ext cx="12084907" cy="584775"/>
          </a:xfrm>
          <a:prstGeom prst="rect">
            <a:avLst/>
          </a:prstGeom>
          <a:noFill/>
        </p:spPr>
        <p:txBody>
          <a:bodyPr wrap="square" rtlCol="0">
            <a:spAutoFit/>
          </a:bodyPr>
          <a:lstStyle/>
          <a:p>
            <a:r>
              <a:rPr kumimoji="1" lang="en-US" altLang="ja-JP" sz="1400" b="1" dirty="0">
                <a:solidFill>
                  <a:schemeClr val="tx2"/>
                </a:solidFill>
                <a:latin typeface="Meiryo UI" panose="020B0604030504040204" pitchFamily="50" charset="-128"/>
                <a:ea typeface="Meiryo UI" panose="020B0604030504040204" pitchFamily="50" charset="-128"/>
              </a:rPr>
              <a:t>4. </a:t>
            </a:r>
            <a:r>
              <a:rPr kumimoji="1" lang="ja-JP" altLang="en-US" sz="1400" b="1" dirty="0">
                <a:solidFill>
                  <a:schemeClr val="tx2"/>
                </a:solidFill>
                <a:latin typeface="Meiryo UI" panose="020B0604030504040204" pitchFamily="50" charset="-128"/>
                <a:ea typeface="Meiryo UI" panose="020B0604030504040204" pitchFamily="50" charset="-128"/>
              </a:rPr>
              <a:t>ご依頼事項について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r>
              <a:rPr lang="ja-JP" altLang="en-US" b="1" dirty="0">
                <a:solidFill>
                  <a:schemeClr val="tx2"/>
                </a:solidFill>
                <a:latin typeface="Meiryo UI" panose="020B0604030504040204" pitchFamily="50" charset="-128"/>
                <a:ea typeface="Meiryo UI" panose="020B0604030504040204" pitchFamily="50" charset="-128"/>
              </a:rPr>
              <a:t>クロスアカウント用</a:t>
            </a:r>
            <a:r>
              <a:rPr lang="en-US" altLang="ja-JP" b="1" dirty="0">
                <a:solidFill>
                  <a:schemeClr val="tx2"/>
                </a:solidFill>
                <a:latin typeface="Meiryo UI" panose="020B0604030504040204" pitchFamily="50" charset="-128"/>
                <a:ea typeface="Meiryo UI" panose="020B0604030504040204" pitchFamily="50" charset="-128"/>
              </a:rPr>
              <a:t>IAM</a:t>
            </a:r>
            <a:r>
              <a:rPr lang="ja-JP" altLang="en-US" b="1" dirty="0">
                <a:solidFill>
                  <a:schemeClr val="tx2"/>
                </a:solidFill>
                <a:latin typeface="Meiryo UI" panose="020B0604030504040204" pitchFamily="50" charset="-128"/>
                <a:ea typeface="Meiryo UI" panose="020B0604030504040204" pitchFamily="50" charset="-128"/>
              </a:rPr>
              <a:t>ポリシー作成・アタッチ</a:t>
            </a:r>
            <a:endParaRPr kumimoji="1" lang="en-US" altLang="ja-JP" b="1" dirty="0">
              <a:solidFill>
                <a:schemeClr val="tx2"/>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9CE08ADD-068E-A5B1-3B3F-6037D30CA209}"/>
              </a:ext>
            </a:extLst>
          </p:cNvPr>
          <p:cNvSpPr txBox="1"/>
          <p:nvPr/>
        </p:nvSpPr>
        <p:spPr>
          <a:xfrm>
            <a:off x="335455" y="909118"/>
            <a:ext cx="10980000" cy="3970318"/>
          </a:xfrm>
          <a:prstGeom prst="rect">
            <a:avLst/>
          </a:prstGeom>
          <a:noFill/>
        </p:spPr>
        <p:txBody>
          <a:bodyPr wrap="square" lIns="91440" tIns="45720" rIns="91440" bIns="45720" anchor="t">
            <a:spAutoFit/>
          </a:bodyPr>
          <a:lstStyle/>
          <a:p>
            <a:pPr marL="628650" indent="-628650">
              <a:spcBef>
                <a:spcPct val="0"/>
              </a:spcBef>
            </a:pPr>
            <a:r>
              <a:rPr lang="ja-JP" altLang="en-US" sz="1400" dirty="0">
                <a:latin typeface="Meiryo UI"/>
                <a:ea typeface="Meiryo UI"/>
              </a:rPr>
              <a:t>アイネス</a:t>
            </a:r>
            <a:r>
              <a:rPr lang="en-US" altLang="ja-JP" sz="1400" dirty="0">
                <a:latin typeface="Meiryo UI"/>
                <a:ea typeface="Meiryo UI"/>
              </a:rPr>
              <a:t>AWS</a:t>
            </a:r>
            <a:r>
              <a:rPr lang="ja-JP" altLang="en-US" sz="1400" dirty="0">
                <a:latin typeface="Meiryo UI"/>
                <a:ea typeface="Meiryo UI"/>
              </a:rPr>
              <a:t>アカウントにて以下手順を基にクロスアカウント用</a:t>
            </a:r>
            <a:r>
              <a:rPr lang="en-US" altLang="ja-JP" sz="1400" dirty="0">
                <a:latin typeface="Meiryo UI"/>
                <a:ea typeface="Meiryo UI"/>
              </a:rPr>
              <a:t>IAM</a:t>
            </a:r>
            <a:r>
              <a:rPr lang="ja-JP" altLang="en-US" sz="1400" dirty="0">
                <a:latin typeface="Meiryo UI"/>
                <a:ea typeface="Meiryo UI"/>
              </a:rPr>
              <a:t>ポリシーを作成後、</a:t>
            </a:r>
            <a:r>
              <a:rPr lang="en-US" altLang="ja-JP" sz="1400" dirty="0">
                <a:latin typeface="Meiryo UI"/>
                <a:ea typeface="Meiryo UI"/>
              </a:rPr>
              <a:t>IAM</a:t>
            </a:r>
            <a:r>
              <a:rPr lang="ja-JP" altLang="en-US" sz="1400" dirty="0">
                <a:latin typeface="Meiryo UI"/>
                <a:ea typeface="Meiryo UI"/>
              </a:rPr>
              <a:t>ロールにアタッチしてください。</a:t>
            </a:r>
            <a:endParaRPr lang="en-US" altLang="ja-JP" sz="1400" dirty="0">
              <a:latin typeface="Meiryo UI"/>
              <a:ea typeface="Meiryo UI"/>
            </a:endParaRPr>
          </a:p>
          <a:p>
            <a:pPr marL="628650" indent="-628650">
              <a:spcBef>
                <a:spcPct val="0"/>
              </a:spcBef>
            </a:pPr>
            <a:r>
              <a:rPr lang="en-US" altLang="ja-JP" sz="1400" dirty="0">
                <a:latin typeface="Meiryo UI"/>
                <a:ea typeface="Meiryo UI"/>
              </a:rPr>
              <a:t>※AWS</a:t>
            </a:r>
            <a:r>
              <a:rPr lang="ja-JP" altLang="en-US" sz="1400" dirty="0">
                <a:latin typeface="Meiryo UI"/>
                <a:ea typeface="Meiryo UI"/>
              </a:rPr>
              <a:t>アカウントにはログイン済みのものとします。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①サービス一覧より「</a:t>
            </a:r>
            <a:r>
              <a:rPr lang="en-US" altLang="ja-JP" sz="1400" dirty="0">
                <a:latin typeface="Meiryo UI"/>
                <a:ea typeface="Meiryo UI"/>
              </a:rPr>
              <a:t>IAM</a:t>
            </a:r>
            <a:r>
              <a:rPr lang="ja-JP" altLang="en-US" sz="1400" dirty="0">
                <a:latin typeface="Meiryo UI"/>
                <a:ea typeface="Meiryo UI"/>
              </a:rPr>
              <a:t>」を選択して</a:t>
            </a:r>
            <a:r>
              <a:rPr lang="en-US" altLang="ja-JP" sz="1400" dirty="0">
                <a:latin typeface="Meiryo UI"/>
                <a:ea typeface="Meiryo UI"/>
              </a:rPr>
              <a:t>IAM</a:t>
            </a:r>
            <a:r>
              <a:rPr lang="ja-JP" altLang="en-US" sz="1400" dirty="0">
                <a:latin typeface="Meiryo UI"/>
                <a:ea typeface="Meiryo UI"/>
              </a:rPr>
              <a:t>コンソール画面を開きます。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②ナビゲーションペインより「ポリシー」を作成後、「ポリシーを作成」を選択します。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③ポリシーエディタで</a:t>
            </a:r>
            <a:r>
              <a:rPr lang="en-US" altLang="ja-JP" sz="1400" dirty="0">
                <a:latin typeface="Meiryo UI"/>
                <a:ea typeface="Meiryo UI"/>
              </a:rPr>
              <a:t>JSON</a:t>
            </a:r>
            <a:r>
              <a:rPr lang="ja-JP" altLang="en-US" sz="1400" dirty="0">
                <a:latin typeface="Meiryo UI"/>
                <a:ea typeface="Meiryo UI"/>
              </a:rPr>
              <a:t>をして、編集後、次へを選択します。</a:t>
            </a:r>
            <a:endParaRPr lang="en-US" altLang="ja-JP" sz="1400" dirty="0">
              <a:latin typeface="Meiryo UI"/>
              <a:ea typeface="Meiryo UI"/>
            </a:endParaRPr>
          </a:p>
          <a:p>
            <a:pPr marL="628650" indent="-628650">
              <a:spcBef>
                <a:spcPct val="0"/>
              </a:spcBef>
            </a:pPr>
            <a:r>
              <a:rPr lang="en-US" altLang="ja-JP" sz="1400" dirty="0">
                <a:latin typeface="Meiryo UI"/>
                <a:ea typeface="Meiryo UI"/>
              </a:rPr>
              <a:t>※JSON</a:t>
            </a:r>
            <a:r>
              <a:rPr lang="ja-JP" altLang="en-US" sz="1400" dirty="0">
                <a:latin typeface="Meiryo UI"/>
                <a:ea typeface="Meiryo UI"/>
              </a:rPr>
              <a:t>の内容については後日共有いたします。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④ポリシー名を御社の命名規則に沿って設定後、ポリシーの作成を選択します。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⑤ナビゲーションペインより「ロール」を選択後、</a:t>
            </a:r>
            <a:r>
              <a:rPr lang="en-US" altLang="ja-JP" sz="1400" dirty="0">
                <a:latin typeface="Meiryo UI"/>
                <a:ea typeface="Meiryo UI"/>
              </a:rPr>
              <a:t>EC2</a:t>
            </a:r>
            <a:r>
              <a:rPr lang="ja-JP" altLang="en-US" sz="1400" dirty="0">
                <a:latin typeface="Meiryo UI"/>
                <a:ea typeface="Meiryo UI"/>
              </a:rPr>
              <a:t>にアタッチされている</a:t>
            </a:r>
            <a:r>
              <a:rPr lang="en-US" altLang="ja-JP" sz="1400" dirty="0">
                <a:latin typeface="Meiryo UI"/>
                <a:ea typeface="Meiryo UI"/>
              </a:rPr>
              <a:t>IAM</a:t>
            </a:r>
            <a:r>
              <a:rPr lang="ja-JP" altLang="en-US" sz="1400" dirty="0">
                <a:latin typeface="Meiryo UI"/>
                <a:ea typeface="Meiryo UI"/>
              </a:rPr>
              <a:t>ロールを選択します。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⑥許可タブにある「許可を追加」から「ポリシーをアタッチ」を選択します。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a:p>
            <a:pPr marL="628650" indent="-628650">
              <a:spcBef>
                <a:spcPct val="0"/>
              </a:spcBef>
            </a:pPr>
            <a:r>
              <a:rPr lang="ja-JP" altLang="en-US" sz="1400" dirty="0">
                <a:latin typeface="Meiryo UI"/>
                <a:ea typeface="Meiryo UI"/>
              </a:rPr>
              <a:t>⑦ポリシー一覧より④で作成した</a:t>
            </a:r>
            <a:r>
              <a:rPr lang="en-US" altLang="ja-JP" sz="1400" dirty="0">
                <a:latin typeface="Meiryo UI"/>
                <a:ea typeface="Meiryo UI"/>
              </a:rPr>
              <a:t>IAM</a:t>
            </a:r>
            <a:r>
              <a:rPr lang="ja-JP" altLang="en-US" sz="1400" dirty="0">
                <a:latin typeface="Meiryo UI"/>
                <a:ea typeface="Meiryo UI"/>
              </a:rPr>
              <a:t>ポリシー名を選択後、「許可を追加」を選択します。</a:t>
            </a:r>
            <a:endParaRPr lang="en-US" altLang="ja-JP" sz="1400" dirty="0">
              <a:latin typeface="Meiryo UI"/>
              <a:ea typeface="Meiryo UI"/>
            </a:endParaRPr>
          </a:p>
          <a:p>
            <a:pPr marL="628650" indent="-628650">
              <a:spcBef>
                <a:spcPct val="0"/>
              </a:spcBef>
            </a:pPr>
            <a:endParaRPr lang="en-US" altLang="ja-JP" sz="1400" dirty="0">
              <a:latin typeface="Meiryo UI"/>
              <a:ea typeface="Meiryo UI"/>
            </a:endParaRPr>
          </a:p>
        </p:txBody>
      </p:sp>
    </p:spTree>
    <p:extLst>
      <p:ext uri="{BB962C8B-B14F-4D97-AF65-F5344CB8AC3E}">
        <p14:creationId xmlns:p14="http://schemas.microsoft.com/office/powerpoint/2010/main" val="1595435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DA52A-4B42-9C17-6C74-37826723C7A6}"/>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8BE170B2-5AB3-F0DC-3EB6-033223345F0A}"/>
              </a:ext>
            </a:extLst>
          </p:cNvPr>
          <p:cNvSpPr txBox="1"/>
          <p:nvPr/>
        </p:nvSpPr>
        <p:spPr>
          <a:xfrm>
            <a:off x="53547" y="49428"/>
            <a:ext cx="12084907" cy="584775"/>
          </a:xfrm>
          <a:prstGeom prst="rect">
            <a:avLst/>
          </a:prstGeom>
          <a:noFill/>
        </p:spPr>
        <p:txBody>
          <a:bodyPr wrap="square" rtlCol="0">
            <a:spAutoFit/>
          </a:bodyPr>
          <a:lstStyle/>
          <a:p>
            <a:pPr lvl="1"/>
            <a:r>
              <a:rPr kumimoji="1" lang="en-US" altLang="ja-JP" sz="1400" b="1" dirty="0">
                <a:solidFill>
                  <a:schemeClr val="tx2"/>
                </a:solidFill>
                <a:latin typeface="Meiryo UI" panose="020B0604030504040204" pitchFamily="50" charset="-128"/>
                <a:ea typeface="Meiryo UI" panose="020B0604030504040204" pitchFamily="50" charset="-128"/>
              </a:rPr>
              <a:t>4. </a:t>
            </a:r>
            <a:r>
              <a:rPr kumimoji="1" lang="ja-JP" altLang="en-US" sz="1400" b="1" dirty="0">
                <a:solidFill>
                  <a:schemeClr val="tx2"/>
                </a:solidFill>
                <a:latin typeface="Meiryo UI" panose="020B0604030504040204" pitchFamily="50" charset="-128"/>
                <a:ea typeface="Meiryo UI" panose="020B0604030504040204" pitchFamily="50" charset="-128"/>
              </a:rPr>
              <a:t>ご依頼事項について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pPr lvl="1"/>
            <a:r>
              <a:rPr lang="ja-JP" altLang="en-US" b="1" dirty="0">
                <a:solidFill>
                  <a:schemeClr val="tx2"/>
                </a:solidFill>
                <a:latin typeface="Meiryo UI" panose="020B0604030504040204" pitchFamily="50" charset="-128"/>
                <a:ea typeface="Meiryo UI" panose="020B0604030504040204" pitchFamily="50" charset="-128"/>
              </a:rPr>
              <a:t>プロファイル作成</a:t>
            </a:r>
            <a:endParaRPr kumimoji="1" lang="en-US" altLang="ja-JP" b="1" dirty="0">
              <a:solidFill>
                <a:schemeClr val="tx2"/>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9657DB01-6829-3715-B373-B28A176AA456}"/>
              </a:ext>
            </a:extLst>
          </p:cNvPr>
          <p:cNvSpPr txBox="1"/>
          <p:nvPr/>
        </p:nvSpPr>
        <p:spPr>
          <a:xfrm>
            <a:off x="335455" y="909118"/>
            <a:ext cx="10980000" cy="5047536"/>
          </a:xfrm>
          <a:prstGeom prst="rect">
            <a:avLst/>
          </a:prstGeom>
          <a:noFill/>
        </p:spPr>
        <p:txBody>
          <a:bodyPr wrap="square" lIns="91440" tIns="45720" rIns="91440" bIns="45720" anchor="t">
            <a:spAutoFit/>
          </a:bodyPr>
          <a:lstStyle/>
          <a:p>
            <a:pPr marL="628650" indent="-628650">
              <a:spcBef>
                <a:spcPct val="0"/>
              </a:spcBef>
            </a:pPr>
            <a:r>
              <a:rPr lang="ja-JP" altLang="en-US" sz="1400" dirty="0">
                <a:latin typeface="Meiryo UI" panose="020B0604030504040204" pitchFamily="50" charset="-128"/>
                <a:ea typeface="Meiryo UI" panose="020B0604030504040204" pitchFamily="50" charset="-128"/>
              </a:rPr>
              <a:t>アイネス</a:t>
            </a:r>
            <a:r>
              <a:rPr lang="en-US" altLang="ja-JP" sz="1400" dirty="0">
                <a:latin typeface="Meiryo UI" panose="020B0604030504040204" pitchFamily="50" charset="-128"/>
                <a:ea typeface="Meiryo UI" panose="020B0604030504040204" pitchFamily="50" charset="-128"/>
              </a:rPr>
              <a:t>AWS</a:t>
            </a:r>
            <a:r>
              <a:rPr lang="ja-JP" altLang="en-US" sz="1400" dirty="0">
                <a:latin typeface="Meiryo UI" panose="020B0604030504040204" pitchFamily="50" charset="-128"/>
                <a:ea typeface="Meiryo UI" panose="020B0604030504040204" pitchFamily="50" charset="-128"/>
              </a:rPr>
              <a:t>アカウント上に存在する</a:t>
            </a:r>
            <a:r>
              <a:rPr lang="en-US" altLang="ja-JP" sz="1400" dirty="0">
                <a:latin typeface="Meiryo UI" panose="020B0604030504040204" pitchFamily="50" charset="-128"/>
                <a:ea typeface="Meiryo UI" panose="020B0604030504040204" pitchFamily="50" charset="-128"/>
              </a:rPr>
              <a:t>EC2</a:t>
            </a:r>
            <a:r>
              <a:rPr lang="ja-JP" altLang="en-US" sz="1400" dirty="0">
                <a:latin typeface="Meiryo UI" panose="020B0604030504040204" pitchFamily="50" charset="-128"/>
                <a:ea typeface="Meiryo UI" panose="020B0604030504040204" pitchFamily="50" charset="-128"/>
              </a:rPr>
              <a:t>がマスターデータ格納用</a:t>
            </a:r>
            <a:r>
              <a:rPr lang="en-US" altLang="ja-JP" sz="1400" dirty="0">
                <a:latin typeface="Meiryo UI" panose="020B0604030504040204" pitchFamily="50" charset="-128"/>
                <a:ea typeface="Meiryo UI" panose="020B0604030504040204" pitchFamily="50" charset="-128"/>
              </a:rPr>
              <a:t>S3</a:t>
            </a:r>
            <a:r>
              <a:rPr lang="ja-JP" altLang="en-US" sz="1400" dirty="0">
                <a:latin typeface="Meiryo UI" panose="020B0604030504040204" pitchFamily="50" charset="-128"/>
                <a:ea typeface="Meiryo UI" panose="020B0604030504040204" pitchFamily="50" charset="-128"/>
              </a:rPr>
              <a:t>と通信が取れるように</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対象インスタンスにログイン後、以下コマンドを実行してプロファイルの作成をお願いいたします。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①ディレクトリの確認</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ls -l ~/.</a:t>
            </a:r>
            <a:r>
              <a:rPr lang="en-US" altLang="ja-JP" sz="1400" dirty="0" err="1">
                <a:latin typeface="Meiryo UI" panose="020B0604030504040204" pitchFamily="50" charset="-128"/>
                <a:ea typeface="Meiryo UI" panose="020B0604030504040204" pitchFamily="50" charset="-128"/>
              </a:rPr>
              <a:t>aws</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ディレクトリが存在する場合は②の手順は実施不要です。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②ディレクトリの作成</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err="1">
                <a:latin typeface="Meiryo UI" panose="020B0604030504040204" pitchFamily="50" charset="-128"/>
                <a:ea typeface="Meiryo UI" panose="020B0604030504040204" pitchFamily="50" charset="-128"/>
              </a:rPr>
              <a:t>mkdir</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aws</a:t>
            </a:r>
            <a:r>
              <a:rPr lang="en-US" altLang="ja-JP" sz="1400" dirty="0">
                <a:latin typeface="Meiryo UI" panose="020B0604030504040204" pitchFamily="50" charset="-128"/>
                <a:ea typeface="Meiryo UI" panose="020B0604030504040204" pitchFamily="50" charset="-128"/>
              </a:rPr>
              <a:t>/</a:t>
            </a: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③</a:t>
            </a:r>
            <a:r>
              <a:rPr lang="en-US" altLang="ja-JP" sz="1400" dirty="0">
                <a:latin typeface="Meiryo UI" panose="020B0604030504040204" pitchFamily="50" charset="-128"/>
                <a:ea typeface="Meiryo UI" panose="020B0604030504040204" pitchFamily="50" charset="-128"/>
              </a:rPr>
              <a:t>config</a:t>
            </a:r>
            <a:r>
              <a:rPr lang="ja-JP" altLang="en-US" sz="1400" dirty="0">
                <a:latin typeface="Meiryo UI" panose="020B0604030504040204" pitchFamily="50" charset="-128"/>
                <a:ea typeface="Meiryo UI" panose="020B0604030504040204" pitchFamily="50" charset="-128"/>
              </a:rPr>
              <a:t>ファイルの作成・プロファイル編集</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vi ~/.</a:t>
            </a:r>
            <a:r>
              <a:rPr lang="en-US" altLang="ja-JP" sz="1400" dirty="0" err="1">
                <a:latin typeface="Meiryo UI" panose="020B0604030504040204" pitchFamily="50" charset="-128"/>
                <a:ea typeface="Meiryo UI" panose="020B0604030504040204" pitchFamily="50" charset="-128"/>
              </a:rPr>
              <a:t>aws</a:t>
            </a:r>
            <a:r>
              <a:rPr lang="en-US" altLang="ja-JP" sz="1400" dirty="0">
                <a:latin typeface="Meiryo UI" panose="020B0604030504040204" pitchFamily="50" charset="-128"/>
                <a:ea typeface="Meiryo UI" panose="020B0604030504040204" pitchFamily="50" charset="-128"/>
              </a:rPr>
              <a:t>/config</a:t>
            </a: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入力内容につきましては、後日共有いたします。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④プロファイル引継ぎ確認</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err="1">
                <a:latin typeface="Meiryo UI" panose="020B0604030504040204" pitchFamily="50" charset="-128"/>
                <a:ea typeface="Meiryo UI" panose="020B0604030504040204" pitchFamily="50" charset="-128"/>
              </a:rPr>
              <a:t>aws</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sts</a:t>
            </a:r>
            <a:r>
              <a:rPr lang="en-US" altLang="ja-JP" sz="1400" dirty="0">
                <a:latin typeface="Meiryo UI" panose="020B0604030504040204" pitchFamily="50" charset="-128"/>
                <a:ea typeface="Meiryo UI" panose="020B0604030504040204" pitchFamily="50" charset="-128"/>
              </a:rPr>
              <a:t> get-caller-identity --profile </a:t>
            </a:r>
            <a:r>
              <a:rPr lang="en-US" altLang="ja-JP" sz="1400" dirty="0" err="1">
                <a:solidFill>
                  <a:srgbClr val="FF0000"/>
                </a:solidFill>
                <a:latin typeface="Meiryo UI" panose="020B0604030504040204" pitchFamily="50" charset="-128"/>
                <a:ea typeface="Meiryo UI" panose="020B0604030504040204" pitchFamily="50" charset="-128"/>
              </a:rPr>
              <a:t>profilename</a:t>
            </a:r>
            <a:endParaRPr lang="en-US" altLang="ja-JP" sz="1400" dirty="0">
              <a:solidFill>
                <a:srgbClr val="FF0000"/>
              </a:solidFill>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solidFill>
                <a:srgbClr val="FF0000"/>
              </a:solidFill>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a:t>
            </a:r>
            <a:r>
              <a:rPr lang="en-US" altLang="ja-JP" sz="1400" dirty="0" err="1">
                <a:latin typeface="Meiryo UI" panose="020B0604030504040204" pitchFamily="50" charset="-128"/>
                <a:ea typeface="Meiryo UI" panose="020B0604030504040204" pitchFamily="50" charset="-128"/>
              </a:rPr>
              <a:t>profilename</a:t>
            </a:r>
            <a:r>
              <a:rPr lang="ja-JP" altLang="en-US" sz="1400" dirty="0">
                <a:latin typeface="Meiryo UI" panose="020B0604030504040204" pitchFamily="50" charset="-128"/>
                <a:ea typeface="Meiryo UI" panose="020B0604030504040204" pitchFamily="50" charset="-128"/>
              </a:rPr>
              <a:t>の値は後日共有いたします。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コマンド実行結果で</a:t>
            </a:r>
            <a:r>
              <a:rPr lang="en-US" altLang="ja-JP" sz="1400" dirty="0">
                <a:latin typeface="Meiryo UI" panose="020B0604030504040204" pitchFamily="50" charset="-128"/>
                <a:ea typeface="Meiryo UI" panose="020B0604030504040204" pitchFamily="50" charset="-128"/>
              </a:rPr>
              <a:t>S3</a:t>
            </a:r>
            <a:r>
              <a:rPr lang="ja-JP" altLang="en-US" sz="1400" dirty="0">
                <a:latin typeface="Meiryo UI" panose="020B0604030504040204" pitchFamily="50" charset="-128"/>
                <a:ea typeface="Meiryo UI" panose="020B0604030504040204" pitchFamily="50" charset="-128"/>
              </a:rPr>
              <a:t>クロスアカウント用</a:t>
            </a:r>
            <a:r>
              <a:rPr lang="en-US" altLang="ja-JP" sz="1400" dirty="0">
                <a:latin typeface="Meiryo UI" panose="020B0604030504040204" pitchFamily="50" charset="-128"/>
                <a:ea typeface="Meiryo UI" panose="020B0604030504040204" pitchFamily="50" charset="-128"/>
              </a:rPr>
              <a:t>IAM</a:t>
            </a:r>
            <a:r>
              <a:rPr lang="ja-JP" altLang="en-US" sz="1400" dirty="0">
                <a:latin typeface="Meiryo UI" panose="020B0604030504040204" pitchFamily="50" charset="-128"/>
                <a:ea typeface="Meiryo UI" panose="020B0604030504040204" pitchFamily="50" charset="-128"/>
              </a:rPr>
              <a:t>ロールの</a:t>
            </a:r>
            <a:r>
              <a:rPr lang="en-US" altLang="ja-JP" sz="1400" dirty="0">
                <a:latin typeface="Meiryo UI" panose="020B0604030504040204" pitchFamily="50" charset="-128"/>
                <a:ea typeface="Meiryo UI" panose="020B0604030504040204" pitchFamily="50" charset="-128"/>
              </a:rPr>
              <a:t>ARN</a:t>
            </a:r>
            <a:r>
              <a:rPr lang="ja-JP" altLang="en-US" sz="1400" dirty="0">
                <a:latin typeface="Meiryo UI" panose="020B0604030504040204" pitchFamily="50" charset="-128"/>
                <a:ea typeface="Meiryo UI" panose="020B0604030504040204" pitchFamily="50" charset="-128"/>
              </a:rPr>
              <a:t>が表示されることを確認します。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096621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81053-1753-37E5-26F0-B62D69D20A4F}"/>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7B016F2E-6BE0-7C59-F855-D3F865320B28}"/>
              </a:ext>
            </a:extLst>
          </p:cNvPr>
          <p:cNvSpPr txBox="1"/>
          <p:nvPr/>
        </p:nvSpPr>
        <p:spPr>
          <a:xfrm>
            <a:off x="53547" y="49428"/>
            <a:ext cx="12084907" cy="584775"/>
          </a:xfrm>
          <a:prstGeom prst="rect">
            <a:avLst/>
          </a:prstGeom>
          <a:noFill/>
        </p:spPr>
        <p:txBody>
          <a:bodyPr wrap="square" rtlCol="0">
            <a:spAutoFit/>
          </a:bodyPr>
          <a:lstStyle/>
          <a:p>
            <a:r>
              <a:rPr kumimoji="1" lang="en-US" altLang="ja-JP" sz="1400" b="1" dirty="0">
                <a:solidFill>
                  <a:schemeClr val="tx2"/>
                </a:solidFill>
                <a:latin typeface="Meiryo UI" panose="020B0604030504040204" pitchFamily="50" charset="-128"/>
                <a:ea typeface="Meiryo UI" panose="020B0604030504040204" pitchFamily="50" charset="-128"/>
              </a:rPr>
              <a:t>4. </a:t>
            </a:r>
            <a:r>
              <a:rPr kumimoji="1" lang="ja-JP" altLang="en-US" sz="1400" b="1" dirty="0">
                <a:solidFill>
                  <a:schemeClr val="tx2"/>
                </a:solidFill>
                <a:latin typeface="Meiryo UI" panose="020B0604030504040204" pitchFamily="50" charset="-128"/>
                <a:ea typeface="Meiryo UI" panose="020B0604030504040204" pitchFamily="50" charset="-128"/>
              </a:rPr>
              <a:t>ご依頼事項について</a:t>
            </a:r>
            <a:endParaRPr kumimoji="1" lang="en-US" altLang="ja-JP" sz="1400" b="1" dirty="0">
              <a:solidFill>
                <a:schemeClr val="tx2"/>
              </a:solidFill>
              <a:latin typeface="Meiryo UI" panose="020B0604030504040204" pitchFamily="50" charset="-128"/>
              <a:ea typeface="Meiryo UI" panose="020B0604030504040204" pitchFamily="50" charset="-128"/>
            </a:endParaRPr>
          </a:p>
          <a:p>
            <a:r>
              <a:rPr lang="ja-JP" altLang="en-US" b="1" dirty="0">
                <a:solidFill>
                  <a:schemeClr val="tx2"/>
                </a:solidFill>
                <a:latin typeface="Meiryo UI" panose="020B0604030504040204" pitchFamily="50" charset="-128"/>
                <a:ea typeface="Meiryo UI" panose="020B0604030504040204" pitchFamily="50" charset="-128"/>
              </a:rPr>
              <a:t>動作確認</a:t>
            </a:r>
            <a:endParaRPr kumimoji="1" lang="en-US" altLang="ja-JP" b="1" dirty="0">
              <a:solidFill>
                <a:schemeClr val="tx2"/>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CF937F3B-0B68-45D7-5D74-A825E78B7BF9}"/>
              </a:ext>
            </a:extLst>
          </p:cNvPr>
          <p:cNvSpPr txBox="1"/>
          <p:nvPr/>
        </p:nvSpPr>
        <p:spPr>
          <a:xfrm>
            <a:off x="335455" y="909118"/>
            <a:ext cx="10980000" cy="3108543"/>
          </a:xfrm>
          <a:prstGeom prst="rect">
            <a:avLst/>
          </a:prstGeom>
          <a:noFill/>
        </p:spPr>
        <p:txBody>
          <a:bodyPr wrap="square" lIns="91440" tIns="45720" rIns="91440" bIns="45720" anchor="t">
            <a:spAutoFit/>
          </a:bodyPr>
          <a:lstStyle/>
          <a:p>
            <a:pPr marL="628650" indent="-628650">
              <a:spcBef>
                <a:spcPct val="0"/>
              </a:spcBef>
            </a:pPr>
            <a:r>
              <a:rPr lang="ja-JP" altLang="en-US" sz="1400" dirty="0">
                <a:latin typeface="Meiryo UI" panose="020B0604030504040204" pitchFamily="50" charset="-128"/>
                <a:ea typeface="Meiryo UI" panose="020B0604030504040204" pitchFamily="50" charset="-128"/>
              </a:rPr>
              <a:t>実施した設定内容ででマスターデータ格納用</a:t>
            </a:r>
            <a:r>
              <a:rPr lang="en-US" altLang="ja-JP" sz="1400" dirty="0">
                <a:latin typeface="Meiryo UI" panose="020B0604030504040204" pitchFamily="50" charset="-128"/>
                <a:ea typeface="Meiryo UI" panose="020B0604030504040204" pitchFamily="50" charset="-128"/>
              </a:rPr>
              <a:t>S3</a:t>
            </a:r>
            <a:r>
              <a:rPr lang="ja-JP" altLang="en-US" sz="1400" dirty="0">
                <a:latin typeface="Meiryo UI" panose="020B0604030504040204" pitchFamily="50" charset="-128"/>
                <a:ea typeface="Meiryo UI" panose="020B0604030504040204" pitchFamily="50" charset="-128"/>
              </a:rPr>
              <a:t>バケットに対してアクセスが行えるかの動作確認をお願いいたします。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①ファイルの書き込みコマンド実施</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err="1">
                <a:latin typeface="Meiryo UI" panose="020B0604030504040204" pitchFamily="50" charset="-128"/>
                <a:ea typeface="Meiryo UI" panose="020B0604030504040204" pitchFamily="50" charset="-128"/>
              </a:rPr>
              <a:t>aws</a:t>
            </a:r>
            <a:r>
              <a:rPr lang="en-US" altLang="ja-JP" sz="1400" dirty="0">
                <a:latin typeface="Meiryo UI" panose="020B0604030504040204" pitchFamily="50" charset="-128"/>
                <a:ea typeface="Meiryo UI" panose="020B0604030504040204" pitchFamily="50" charset="-128"/>
              </a:rPr>
              <a:t> s3 cp test_</a:t>
            </a:r>
            <a:r>
              <a:rPr lang="en-US" altLang="ja-JP" sz="1400" dirty="0">
                <a:solidFill>
                  <a:srgbClr val="FF0000"/>
                </a:solidFill>
                <a:latin typeface="Meiryo UI" panose="020B0604030504040204" pitchFamily="50" charset="-128"/>
                <a:ea typeface="Meiryo UI" panose="020B0604030504040204" pitchFamily="50" charset="-128"/>
              </a:rPr>
              <a:t>YYYYMMDD</a:t>
            </a:r>
            <a:r>
              <a:rPr lang="en-US" altLang="ja-JP" sz="1400" dirty="0">
                <a:latin typeface="Meiryo UI" panose="020B0604030504040204" pitchFamily="50" charset="-128"/>
                <a:ea typeface="Meiryo UI" panose="020B0604030504040204" pitchFamily="50" charset="-128"/>
              </a:rPr>
              <a:t>.txt s3://</a:t>
            </a:r>
            <a:r>
              <a:rPr lang="ja-JP" altLang="en-US" sz="1400" dirty="0">
                <a:solidFill>
                  <a:srgbClr val="FF0000"/>
                </a:solidFill>
                <a:latin typeface="Meiryo UI" panose="020B0604030504040204" pitchFamily="50" charset="-128"/>
                <a:ea typeface="Meiryo UI" panose="020B0604030504040204" pitchFamily="50" charset="-128"/>
              </a:rPr>
              <a:t>接続先</a:t>
            </a:r>
            <a:r>
              <a:rPr lang="en-US" altLang="ja-JP" sz="1400" dirty="0">
                <a:solidFill>
                  <a:srgbClr val="FF0000"/>
                </a:solidFill>
                <a:latin typeface="Meiryo UI" panose="020B0604030504040204" pitchFamily="50" charset="-128"/>
                <a:ea typeface="Meiryo UI" panose="020B0604030504040204" pitchFamily="50" charset="-128"/>
              </a:rPr>
              <a:t>S3</a:t>
            </a:r>
            <a:r>
              <a:rPr lang="ja-JP" altLang="en-US" sz="1400" dirty="0">
                <a:solidFill>
                  <a:srgbClr val="FF0000"/>
                </a:solidFill>
                <a:latin typeface="Meiryo UI" panose="020B0604030504040204" pitchFamily="50" charset="-128"/>
                <a:ea typeface="Meiryo UI" panose="020B0604030504040204" pitchFamily="50" charset="-128"/>
              </a:rPr>
              <a:t>バケット名</a:t>
            </a:r>
            <a:r>
              <a:rPr lang="en-US" altLang="ja-JP" sz="1400" dirty="0">
                <a:latin typeface="Meiryo UI" panose="020B0604030504040204" pitchFamily="50" charset="-128"/>
                <a:ea typeface="Meiryo UI" panose="020B0604030504040204" pitchFamily="50" charset="-128"/>
              </a:rPr>
              <a:t>/test/ --profile </a:t>
            </a:r>
            <a:r>
              <a:rPr lang="en-US" altLang="ja-JP" sz="1400" dirty="0" err="1">
                <a:solidFill>
                  <a:srgbClr val="FF0000"/>
                </a:solidFill>
                <a:latin typeface="Meiryo UI" panose="020B0604030504040204" pitchFamily="50" charset="-128"/>
                <a:ea typeface="Meiryo UI" panose="020B0604030504040204" pitchFamily="50" charset="-128"/>
              </a:rPr>
              <a:t>profilename</a:t>
            </a:r>
            <a:endParaRPr lang="en-US" altLang="ja-JP" sz="1400" dirty="0">
              <a:solidFill>
                <a:srgbClr val="FF0000"/>
              </a:solidFill>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※YYYYMMDD</a:t>
            </a:r>
            <a:r>
              <a:rPr lang="ja-JP" altLang="en-US" sz="1400" dirty="0">
                <a:latin typeface="Meiryo UI" panose="020B0604030504040204" pitchFamily="50" charset="-128"/>
                <a:ea typeface="Meiryo UI" panose="020B0604030504040204" pitchFamily="50" charset="-128"/>
              </a:rPr>
              <a:t>には作業日日付を入力してください。</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接続先バケット名、</a:t>
            </a:r>
            <a:r>
              <a:rPr lang="en-US" altLang="ja-JP" sz="1400" dirty="0" err="1">
                <a:latin typeface="Meiryo UI" panose="020B0604030504040204" pitchFamily="50" charset="-128"/>
                <a:ea typeface="Meiryo UI" panose="020B0604030504040204" pitchFamily="50" charset="-128"/>
              </a:rPr>
              <a:t>profilename</a:t>
            </a:r>
            <a:r>
              <a:rPr lang="ja-JP" altLang="en-US" sz="1400" dirty="0">
                <a:latin typeface="Meiryo UI" panose="020B0604030504040204" pitchFamily="50" charset="-128"/>
                <a:ea typeface="Meiryo UI" panose="020B0604030504040204" pitchFamily="50" charset="-128"/>
              </a:rPr>
              <a:t>の値は後日共有いたします。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②ファイル確認</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en-US" altLang="ja-JP" sz="1400" dirty="0" err="1">
                <a:latin typeface="Meiryo UI" panose="020B0604030504040204" pitchFamily="50" charset="-128"/>
                <a:ea typeface="Meiryo UI" panose="020B0604030504040204" pitchFamily="50" charset="-128"/>
              </a:rPr>
              <a:t>aws</a:t>
            </a:r>
            <a:r>
              <a:rPr lang="en-US" altLang="ja-JP" sz="1400" dirty="0">
                <a:latin typeface="Meiryo UI" panose="020B0604030504040204" pitchFamily="50" charset="-128"/>
                <a:ea typeface="Meiryo UI" panose="020B0604030504040204" pitchFamily="50" charset="-128"/>
              </a:rPr>
              <a:t> s3 ls s3://</a:t>
            </a:r>
            <a:r>
              <a:rPr lang="ja-JP" altLang="en-US" sz="1400" dirty="0">
                <a:latin typeface="Meiryo UI" panose="020B0604030504040204" pitchFamily="50" charset="-128"/>
                <a:ea typeface="Meiryo UI" panose="020B0604030504040204" pitchFamily="50" charset="-128"/>
              </a:rPr>
              <a:t>接続先</a:t>
            </a:r>
            <a:r>
              <a:rPr lang="en-US" altLang="ja-JP" sz="1400" dirty="0">
                <a:latin typeface="Meiryo UI" panose="020B0604030504040204" pitchFamily="50" charset="-128"/>
                <a:ea typeface="Meiryo UI" panose="020B0604030504040204" pitchFamily="50" charset="-128"/>
              </a:rPr>
              <a:t>S3</a:t>
            </a:r>
            <a:r>
              <a:rPr lang="ja-JP" altLang="en-US" sz="1400" dirty="0">
                <a:latin typeface="Meiryo UI" panose="020B0604030504040204" pitchFamily="50" charset="-128"/>
                <a:ea typeface="Meiryo UI" panose="020B0604030504040204" pitchFamily="50" charset="-128"/>
              </a:rPr>
              <a:t>バケット名</a:t>
            </a:r>
            <a:r>
              <a:rPr lang="en-US" altLang="ja-JP" sz="1400" dirty="0">
                <a:latin typeface="Meiryo UI" panose="020B0604030504040204" pitchFamily="50" charset="-128"/>
                <a:ea typeface="Meiryo UI" panose="020B0604030504040204" pitchFamily="50" charset="-128"/>
              </a:rPr>
              <a:t>/test/ --profile </a:t>
            </a:r>
            <a:r>
              <a:rPr lang="en-US" altLang="ja-JP" sz="1400" dirty="0" err="1">
                <a:solidFill>
                  <a:srgbClr val="FF0000"/>
                </a:solidFill>
                <a:latin typeface="Meiryo UI" panose="020B0604030504040204" pitchFamily="50" charset="-128"/>
                <a:ea typeface="Meiryo UI" panose="020B0604030504040204" pitchFamily="50" charset="-128"/>
              </a:rPr>
              <a:t>profilename</a:t>
            </a:r>
            <a:endParaRPr lang="en-US" altLang="ja-JP" sz="1400" dirty="0">
              <a:solidFill>
                <a:srgbClr val="FF0000"/>
              </a:solidFill>
              <a:latin typeface="Meiryo UI" panose="020B0604030504040204" pitchFamily="50" charset="-128"/>
              <a:ea typeface="Meiryo UI" panose="020B0604030504040204" pitchFamily="50" charset="-128"/>
            </a:endParaRPr>
          </a:p>
          <a:p>
            <a:pPr marL="628650" indent="-628650">
              <a:spcBef>
                <a:spcPct val="0"/>
              </a:spcBef>
            </a:pP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接続先バケット名、</a:t>
            </a:r>
            <a:r>
              <a:rPr lang="en-US" altLang="ja-JP" sz="1400" dirty="0" err="1">
                <a:latin typeface="Meiryo UI" panose="020B0604030504040204" pitchFamily="50" charset="-128"/>
                <a:ea typeface="Meiryo UI" panose="020B0604030504040204" pitchFamily="50" charset="-128"/>
              </a:rPr>
              <a:t>profilename</a:t>
            </a:r>
            <a:r>
              <a:rPr lang="ja-JP" altLang="en-US" sz="1400" dirty="0">
                <a:latin typeface="Meiryo UI" panose="020B0604030504040204" pitchFamily="50" charset="-128"/>
                <a:ea typeface="Meiryo UI" panose="020B0604030504040204" pitchFamily="50" charset="-128"/>
              </a:rPr>
              <a:t>の値は後日共有いたします。</a:t>
            </a:r>
            <a:endParaRPr lang="en-US" altLang="ja-JP" sz="1400" dirty="0">
              <a:solidFill>
                <a:srgbClr val="FF0000"/>
              </a:solidFill>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r>
              <a:rPr lang="ja-JP" altLang="en-US" sz="1400" dirty="0">
                <a:latin typeface="Meiryo UI" panose="020B0604030504040204" pitchFamily="50" charset="-128"/>
                <a:ea typeface="Meiryo UI" panose="020B0604030504040204" pitchFamily="50" charset="-128"/>
              </a:rPr>
              <a:t>↑①で配置したファイルが存在することの確認をお願いいたします。</a:t>
            </a: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a:p>
            <a:pPr marL="628650" indent="-628650">
              <a:spcBef>
                <a:spcPct val="0"/>
              </a:spcBef>
            </a:pPr>
            <a:endParaRPr lang="en-US" altLang="ja-JP"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149757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2E115324-67D7-454C-A22D-8DF0EFA0069E}"/>
              </a:ext>
            </a:extLst>
          </p:cNvPr>
          <p:cNvSpPr txBox="1">
            <a:spLocks/>
          </p:cNvSpPr>
          <p:nvPr/>
        </p:nvSpPr>
        <p:spPr>
          <a:xfrm>
            <a:off x="762002" y="2284936"/>
            <a:ext cx="10440000" cy="621503"/>
          </a:xfrm>
          <a:prstGeom prst="rect">
            <a:avLst/>
          </a:prstGeom>
        </p:spPr>
        <p:txBody>
          <a:bodyPr/>
          <a:lstStyle>
            <a:lvl1pPr algn="l" defTabSz="914400" rtl="0" eaLnBrk="1" latinLnBrk="0" hangingPunct="1">
              <a:lnSpc>
                <a:spcPct val="90000"/>
              </a:lnSpc>
              <a:spcBef>
                <a:spcPct val="0"/>
              </a:spcBef>
              <a:buNone/>
              <a:defRPr kumimoji="1" sz="3000" b="1" kern="1200" baseline="0">
                <a:solidFill>
                  <a:schemeClr val="tx1"/>
                </a:solidFill>
                <a:latin typeface="+mj-lt"/>
                <a:ea typeface="+mj-ea"/>
                <a:cs typeface="+mj-cs"/>
              </a:defRPr>
            </a:lvl1pPr>
          </a:lstStyle>
          <a:p>
            <a:r>
              <a:rPr lang="en-US" altLang="ja-JP" sz="3600" dirty="0">
                <a:solidFill>
                  <a:schemeClr val="tx2"/>
                </a:solidFill>
                <a:latin typeface="Meiryo UI" panose="020B0604030504040204" pitchFamily="50" charset="-128"/>
                <a:ea typeface="Meiryo UI" panose="020B0604030504040204" pitchFamily="50" charset="-128"/>
              </a:rPr>
              <a:t>Thank</a:t>
            </a:r>
            <a:r>
              <a:rPr lang="ja-JP" altLang="en-US" sz="3600" dirty="0">
                <a:solidFill>
                  <a:schemeClr val="tx2"/>
                </a:solidFill>
                <a:latin typeface="Meiryo UI" panose="020B0604030504040204" pitchFamily="50" charset="-128"/>
                <a:ea typeface="Meiryo UI" panose="020B0604030504040204" pitchFamily="50" charset="-128"/>
              </a:rPr>
              <a:t> </a:t>
            </a:r>
            <a:r>
              <a:rPr lang="en-US" altLang="ja-JP" sz="3600" dirty="0">
                <a:solidFill>
                  <a:schemeClr val="tx2"/>
                </a:solidFill>
                <a:latin typeface="Meiryo UI" panose="020B0604030504040204" pitchFamily="50" charset="-128"/>
                <a:ea typeface="Meiryo UI" panose="020B0604030504040204" pitchFamily="50" charset="-128"/>
              </a:rPr>
              <a:t>You</a:t>
            </a:r>
            <a:endParaRPr lang="ja-JP" altLang="en-US" sz="3600" dirty="0">
              <a:solidFill>
                <a:schemeClr val="tx2"/>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09593101"/>
      </p:ext>
    </p:extLst>
  </p:cSld>
  <p:clrMapOvr>
    <a:masterClrMapping/>
  </p:clrMapOvr>
</p:sld>
</file>

<file path=ppt/theme/theme1.xml><?xml version="1.0" encoding="utf-8"?>
<a:theme xmlns:a="http://schemas.openxmlformats.org/drawingml/2006/main" name="Office テーマ">
  <a:themeElements>
    <a:clrScheme name="Cresco４">
      <a:dk1>
        <a:srgbClr val="000000"/>
      </a:dk1>
      <a:lt1>
        <a:srgbClr val="FFFFFF"/>
      </a:lt1>
      <a:dk2>
        <a:srgbClr val="FF643C"/>
      </a:dk2>
      <a:lt2>
        <a:srgbClr val="FFFFFF"/>
      </a:lt2>
      <a:accent1>
        <a:srgbClr val="AEBDCC"/>
      </a:accent1>
      <a:accent2>
        <a:srgbClr val="FF643C"/>
      </a:accent2>
      <a:accent3>
        <a:srgbClr val="FF2D4B"/>
      </a:accent3>
      <a:accent4>
        <a:srgbClr val="FFC300"/>
      </a:accent4>
      <a:accent5>
        <a:srgbClr val="3CD278"/>
      </a:accent5>
      <a:accent6>
        <a:srgbClr val="0078F0"/>
      </a:accent6>
      <a:hlink>
        <a:srgbClr val="0078F0"/>
      </a:hlink>
      <a:folHlink>
        <a:srgbClr val="AEBDCC"/>
      </a:folHlink>
    </a:clrScheme>
    <a:fontScheme name="Cresco">
      <a:majorFont>
        <a:latin typeface="Verdana"/>
        <a:ea typeface="メイリオ"/>
        <a:cs typeface=""/>
      </a:majorFont>
      <a:minorFont>
        <a:latin typeface="Verdana"/>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esco_PPT_Template_16_9_B.pptx" id="{37026202-FA1E-41D6-91E7-78E71AEF15B7}" vid="{D6200281-516D-4A33-9B81-F1A82E03B190}"/>
    </a:ext>
  </a:extLst>
</a:theme>
</file>

<file path=ppt/theme/theme2.xml><?xml version="1.0" encoding="utf-8"?>
<a:theme xmlns:a="http://schemas.openxmlformats.org/drawingml/2006/main" name="グループビジョ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4a0992f-8328-4daf-870b-3d2b13d3e940">
      <Terms xmlns="http://schemas.microsoft.com/office/infopath/2007/PartnerControls"/>
    </lcf76f155ced4ddcb4097134ff3c332f>
    <TaxCatchAll xmlns="4a37abda-15dd-4e37-8275-3b7fb2897b6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AB003DB5A4D644C9FB3BD19B5C7E000" ma:contentTypeVersion="11" ma:contentTypeDescription="新しいドキュメントを作成します。" ma:contentTypeScope="" ma:versionID="14213891138059eb724b9e737fafccea">
  <xsd:schema xmlns:xsd="http://www.w3.org/2001/XMLSchema" xmlns:xs="http://www.w3.org/2001/XMLSchema" xmlns:p="http://schemas.microsoft.com/office/2006/metadata/properties" xmlns:ns2="74a0992f-8328-4daf-870b-3d2b13d3e940" xmlns:ns3="4a37abda-15dd-4e37-8275-3b7fb2897b65" targetNamespace="http://schemas.microsoft.com/office/2006/metadata/properties" ma:root="true" ma:fieldsID="c0714e9ec9c019f03b39320eca5a0ecc" ns2:_="" ns3:_="">
    <xsd:import namespace="74a0992f-8328-4daf-870b-3d2b13d3e940"/>
    <xsd:import namespace="4a37abda-15dd-4e37-8275-3b7fb2897b6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a0992f-8328-4daf-870b-3d2b13d3e9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e6619b5c-6674-40b7-9c01-33e12ba1bd7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a37abda-15dd-4e37-8275-3b7fb2897b6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a2e70a-4904-448e-b588-7989bbdb9dd5}" ma:internalName="TaxCatchAll" ma:showField="CatchAllData" ma:web="4a37abda-15dd-4e37-8275-3b7fb2897b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7F742E9-37AD-41D2-9C01-8D5BEB8D1692}">
  <ds:schemaRefs>
    <ds:schemaRef ds:uri="http://schemas.microsoft.com/office/2006/documentManagement/types"/>
    <ds:schemaRef ds:uri="http://purl.org/dc/dcmitype/"/>
    <ds:schemaRef ds:uri="http://schemas.microsoft.com/office/infopath/2007/PartnerControls"/>
    <ds:schemaRef ds:uri="http://www.w3.org/XML/1998/namespace"/>
    <ds:schemaRef ds:uri="http://schemas.openxmlformats.org/package/2006/metadata/core-properties"/>
    <ds:schemaRef ds:uri="1cfbc592-af44-4b0f-ae1b-388413e91739"/>
    <ds:schemaRef ds:uri="36b5b442-a555-441b-99e4-2e91d677504b"/>
    <ds:schemaRef ds:uri="http://schemas.microsoft.com/office/2006/metadata/properties"/>
    <ds:schemaRef ds:uri="http://purl.org/dc/terms/"/>
    <ds:schemaRef ds:uri="http://purl.org/dc/elements/1.1/"/>
    <ds:schemaRef ds:uri="8dbf7540-46e2-4291-999e-80d6200bae7a"/>
    <ds:schemaRef ds:uri="2d13a9ec-4dcc-4bf0-b813-bb41ddf201ec"/>
  </ds:schemaRefs>
</ds:datastoreItem>
</file>

<file path=customXml/itemProps2.xml><?xml version="1.0" encoding="utf-8"?>
<ds:datastoreItem xmlns:ds="http://schemas.openxmlformats.org/officeDocument/2006/customXml" ds:itemID="{F6AE5A9A-53CC-471E-936E-4BDE5CD400A3}">
  <ds:schemaRefs>
    <ds:schemaRef ds:uri="http://schemas.microsoft.com/sharepoint/v3/contenttype/forms"/>
  </ds:schemaRefs>
</ds:datastoreItem>
</file>

<file path=customXml/itemProps3.xml><?xml version="1.0" encoding="utf-8"?>
<ds:datastoreItem xmlns:ds="http://schemas.openxmlformats.org/officeDocument/2006/customXml" ds:itemID="{C2FAC8EF-78BC-40BD-AC5D-A77631B24E15}"/>
</file>

<file path=docProps/app.xml><?xml version="1.0" encoding="utf-8"?>
<Properties xmlns="http://schemas.openxmlformats.org/officeDocument/2006/extended-properties" xmlns:vt="http://schemas.openxmlformats.org/officeDocument/2006/docPropsVTypes">
  <Template>PPTテンプレート_16_9_B</Template>
  <TotalTime>10069</TotalTime>
  <Words>1078</Words>
  <Application>Microsoft Office PowerPoint</Application>
  <PresentationFormat>ワイド画面</PresentationFormat>
  <Paragraphs>146</Paragraphs>
  <Slides>12</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2</vt:i4>
      </vt:variant>
      <vt:variant>
        <vt:lpstr>スライド タイトル</vt:lpstr>
      </vt:variant>
      <vt:variant>
        <vt:i4>12</vt:i4>
      </vt:variant>
    </vt:vector>
  </HeadingPairs>
  <TitlesOfParts>
    <vt:vector size="21" baseType="lpstr">
      <vt:lpstr>Meiryo UI</vt:lpstr>
      <vt:lpstr>メイリオ</vt:lpstr>
      <vt:lpstr>游ゴシック</vt:lpstr>
      <vt:lpstr>游ゴシック Light</vt:lpstr>
      <vt:lpstr>Arial</vt:lpstr>
      <vt:lpstr>Verdana</vt:lpstr>
      <vt:lpstr>Wingdings</vt:lpstr>
      <vt:lpstr>Office テーマ</vt:lpstr>
      <vt:lpstr>グループビジョン</vt:lpstr>
      <vt:lpstr>S3クロスアカウント説明資料</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プロジェクトタイトル</dc:title>
  <dc:creator>広報 榎本 悠</dc:creator>
  <cp:lastModifiedBy>CB-1 山本 泰誠</cp:lastModifiedBy>
  <cp:revision>409</cp:revision>
  <cp:lastPrinted>2022-10-04T05:53:45Z</cp:lastPrinted>
  <dcterms:created xsi:type="dcterms:W3CDTF">2022-03-25T10:44:05Z</dcterms:created>
  <dcterms:modified xsi:type="dcterms:W3CDTF">2025-06-04T02:37:07Z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0x0101008AB003DB5A4D644C9FB3BD19B5C7E000</vt:lpwstr>
  </property>
  <property fmtid="{D5CDD505-2E9C-101B-9397-08002B2CF9AE}" pid="3" name="MediaServiceImageTags">
    <vt:lpwstr/>
  </property>
</Properties>
</file>