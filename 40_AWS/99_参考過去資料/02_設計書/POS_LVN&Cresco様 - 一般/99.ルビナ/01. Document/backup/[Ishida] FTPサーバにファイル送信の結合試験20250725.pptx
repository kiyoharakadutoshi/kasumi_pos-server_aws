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6"/>
  </p:notesMasterIdLst>
  <p:sldIdLst>
    <p:sldId id="256" r:id="rId5"/>
    <p:sldId id="257" r:id="rId6"/>
    <p:sldId id="258" r:id="rId7"/>
    <p:sldId id="306" r:id="rId8"/>
    <p:sldId id="305" r:id="rId9"/>
    <p:sldId id="307" r:id="rId10"/>
    <p:sldId id="259" r:id="rId11"/>
    <p:sldId id="308" r:id="rId12"/>
    <p:sldId id="309" r:id="rId13"/>
    <p:sldId id="310" r:id="rId14"/>
    <p:sldId id="311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A281C8-0844-4F7E-8F5C-31C3930F0FE5}">
  <a:tblStyle styleId="{87A281C8-0844-4F7E-8F5C-31C3930F0F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80465b63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80465b63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>
          <a:extLst>
            <a:ext uri="{FF2B5EF4-FFF2-40B4-BE49-F238E27FC236}">
              <a16:creationId xmlns:a16="http://schemas.microsoft.com/office/drawing/2014/main" id="{CB119814-153C-9B8D-CF33-23150E6E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b9103167a_0_4:notes">
            <a:extLst>
              <a:ext uri="{FF2B5EF4-FFF2-40B4-BE49-F238E27FC236}">
                <a16:creationId xmlns:a16="http://schemas.microsoft.com/office/drawing/2014/main" id="{C5CE6AB5-AB66-6414-E15D-130F37FE7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6b9103167a_0_4:notes">
            <a:extLst>
              <a:ext uri="{FF2B5EF4-FFF2-40B4-BE49-F238E27FC236}">
                <a16:creationId xmlns:a16="http://schemas.microsoft.com/office/drawing/2014/main" id="{8546DF7D-0744-5139-74C4-51211722D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371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F3309BC3-7A7A-FCAB-40A0-191F3DC2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>
            <a:extLst>
              <a:ext uri="{FF2B5EF4-FFF2-40B4-BE49-F238E27FC236}">
                <a16:creationId xmlns:a16="http://schemas.microsoft.com/office/drawing/2014/main" id="{AADB4B3E-AFF4-39BE-70BF-D05234875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>
            <a:extLst>
              <a:ext uri="{FF2B5EF4-FFF2-40B4-BE49-F238E27FC236}">
                <a16:creationId xmlns:a16="http://schemas.microsoft.com/office/drawing/2014/main" id="{B1C319A0-C1AE-5BA8-97A4-5B5BBA7DD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650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3E84223-4857-068B-1A3F-33CC2252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7A036FB9-AEAE-E789-1873-840D29BDC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9E312829-FBA9-ADE0-6342-4996CC601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644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87F5AD9-4433-A77C-C655-EFA73907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F5637C76-FE2A-BA1E-ACFD-3873389E2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2C1EF24F-4C3F-399D-AB2E-28A1F8C584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984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371E9B0C-48B5-C97B-F391-A891F2D2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>
            <a:extLst>
              <a:ext uri="{FF2B5EF4-FFF2-40B4-BE49-F238E27FC236}">
                <a16:creationId xmlns:a16="http://schemas.microsoft.com/office/drawing/2014/main" id="{6B615C78-FC59-274A-502F-38B406F158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>
            <a:extLst>
              <a:ext uri="{FF2B5EF4-FFF2-40B4-BE49-F238E27FC236}">
                <a16:creationId xmlns:a16="http://schemas.microsoft.com/office/drawing/2014/main" id="{879BCBB4-C07E-8E01-7CD4-2E9D33DDA4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489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DF6881D4-35E1-DA49-580F-1CA0D73B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4D522733-97FC-D6C7-D573-A6FEBB42C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F3A669DF-12F8-09DA-FCB7-C45CCE370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04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pos-monitoring@luvina.ne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pos-monitoring@luvina.net" TargetMode="External"/><Relationship Id="rId4" Type="http://schemas.openxmlformats.org/officeDocument/2006/relationships/hyperlink" Target="mailto:aws-pos-alert@luvina.ne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540275"/>
            <a:ext cx="9144000" cy="19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2600"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 sz="2600">
                <a:latin typeface="Meiryo UI" panose="020B0604030504040204" pitchFamily="34" charset="-128"/>
                <a:ea typeface="Meiryo UI" panose="020B0604030504040204" pitchFamily="34" charset="-128"/>
              </a:rPr>
              <a:t>サーバにファイル送信の結合試験</a:t>
            </a:r>
            <a:endParaRPr sz="260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latin typeface="Meiryo UI" panose="020B0604030504040204" pitchFamily="34" charset="-128"/>
                <a:ea typeface="Meiryo UI" panose="020B0604030504040204" pitchFamily="34" charset="-128"/>
              </a:rPr>
              <a:t>＜カスミ様ISHIDA電子棚札対応＞</a:t>
            </a:r>
            <a:endParaRPr sz="26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0" y="3364225"/>
            <a:ext cx="9144000" cy="129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2025年7月</a:t>
            </a:r>
            <a:r>
              <a:rPr lang="en-GB" alt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25</a:t>
            </a: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日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Luvina Software JSC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-JP" altLang="en-US" sz="1820">
                <a:latin typeface="Meiryo UI" panose="020B0604030504040204" pitchFamily="34" charset="-128"/>
                <a:ea typeface="Meiryo UI" panose="020B0604030504040204" pitchFamily="34" charset="-128"/>
              </a:rPr>
              <a:t>ファン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6" name="Google Shape;56;p13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0" y="2787300"/>
            <a:ext cx="9144000" cy="4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020">
                <a:latin typeface="Meiryo UI" panose="020B0604030504040204" pitchFamily="34" charset="-128"/>
                <a:ea typeface="Meiryo UI" panose="020B0604030504040204" pitchFamily="34" charset="-128"/>
              </a:rPr>
              <a:t>Version 1.0</a:t>
            </a:r>
            <a:endParaRPr sz="202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eiryo UI" panose="020B0604030504040204" pitchFamily="34" charset="-128"/>
                <a:ea typeface="Meiryo UI" panose="020B0604030504040204" pitchFamily="34" charset="-128"/>
              </a:rPr>
              <a:t>目次</a:t>
            </a:r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68400" y="1152475"/>
            <a:ext cx="813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疎通テストのシナリオについて</a:t>
            </a:r>
            <a:endParaRPr lang="en-GB" altLang="ja-JP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へ送信エラーに関するログ一覧</a:t>
            </a:r>
            <a:endParaRPr lang="en-GB" altLang="ja-JP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endParaRPr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疎通テストのシナリオについて</a:t>
            </a:r>
            <a:endParaRPr sz="3000">
              <a:highlight>
                <a:srgbClr val="FFFFFF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2" name="Google Shape;72;p15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5A78F9-C60A-C5B2-60FC-1D65371AEB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>
                <a:latin typeface="Meiryo UI" panose="020B0604030504040204" pitchFamily="34" charset="-128"/>
                <a:ea typeface="Meiryo UI" panose="020B0604030504040204" pitchFamily="34" charset="-128"/>
              </a:rPr>
              <a:t>4</a:t>
            </a:fld>
            <a:endParaRPr lang="ja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2D495-5BAE-C649-E416-81488D27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83" y="900244"/>
            <a:ext cx="5098472" cy="4152788"/>
          </a:xfrm>
          <a:prstGeom prst="rect">
            <a:avLst/>
          </a:prstGeom>
        </p:spPr>
      </p:pic>
      <p:sp>
        <p:nvSpPr>
          <p:cNvPr id="6" name="Google Shape;401;p57">
            <a:extLst>
              <a:ext uri="{FF2B5EF4-FFF2-40B4-BE49-F238E27FC236}">
                <a16:creationId xmlns:a16="http://schemas.microsoft.com/office/drawing/2014/main" id="{AD26D431-FC16-82FA-4793-90064DAFD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500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1-1.</a:t>
            </a:r>
            <a:r>
              <a:rPr lang="ja-JP" altLang="en-US" sz="2500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送信フロー</a:t>
            </a:r>
            <a:endParaRPr sz="2500"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847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4EFD9900-CE99-08E0-194C-64AF8A97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>
            <a:extLst>
              <a:ext uri="{FF2B5EF4-FFF2-40B4-BE49-F238E27FC236}">
                <a16:creationId xmlns:a16="http://schemas.microsoft.com/office/drawing/2014/main" id="{945B0DC2-6D5D-C8F1-0ADD-E6B28DF2D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シナリオ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402" name="Google Shape;402;p57" title="logo-luvina-2022-2.png">
            <a:extLst>
              <a:ext uri="{FF2B5EF4-FFF2-40B4-BE49-F238E27FC236}">
                <a16:creationId xmlns:a16="http://schemas.microsoft.com/office/drawing/2014/main" id="{75798B7D-E161-2874-F234-BD7933D448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7">
            <a:extLst>
              <a:ext uri="{FF2B5EF4-FFF2-40B4-BE49-F238E27FC236}">
                <a16:creationId xmlns:a16="http://schemas.microsoft.com/office/drawing/2014/main" id="{7CF9C030-0D8B-207D-7CFF-AA136C7D0A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5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693F23-5603-FED1-034C-E904786A5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10760"/>
              </p:ext>
            </p:extLst>
          </p:nvPr>
        </p:nvGraphicFramePr>
        <p:xfrm>
          <a:off x="103910" y="992175"/>
          <a:ext cx="8917248" cy="3621388"/>
        </p:xfrm>
        <a:graphic>
          <a:graphicData uri="http://schemas.openxmlformats.org/drawingml/2006/table">
            <a:tbl>
              <a:tblPr/>
              <a:tblGrid>
                <a:gridCol w="197033">
                  <a:extLst>
                    <a:ext uri="{9D8B030D-6E8A-4147-A177-3AD203B41FA5}">
                      <a16:colId xmlns:a16="http://schemas.microsoft.com/office/drawing/2014/main" val="2630262432"/>
                    </a:ext>
                  </a:extLst>
                </a:gridCol>
                <a:gridCol w="264203">
                  <a:extLst>
                    <a:ext uri="{9D8B030D-6E8A-4147-A177-3AD203B41FA5}">
                      <a16:colId xmlns:a16="http://schemas.microsoft.com/office/drawing/2014/main" val="642659114"/>
                    </a:ext>
                  </a:extLst>
                </a:gridCol>
                <a:gridCol w="901577">
                  <a:extLst>
                    <a:ext uri="{9D8B030D-6E8A-4147-A177-3AD203B41FA5}">
                      <a16:colId xmlns:a16="http://schemas.microsoft.com/office/drawing/2014/main" val="1246474473"/>
                    </a:ext>
                  </a:extLst>
                </a:gridCol>
                <a:gridCol w="1015020">
                  <a:extLst>
                    <a:ext uri="{9D8B030D-6E8A-4147-A177-3AD203B41FA5}">
                      <a16:colId xmlns:a16="http://schemas.microsoft.com/office/drawing/2014/main" val="1993444743"/>
                    </a:ext>
                  </a:extLst>
                </a:gridCol>
                <a:gridCol w="1432969">
                  <a:extLst>
                    <a:ext uri="{9D8B030D-6E8A-4147-A177-3AD203B41FA5}">
                      <a16:colId xmlns:a16="http://schemas.microsoft.com/office/drawing/2014/main" val="3731307194"/>
                    </a:ext>
                  </a:extLst>
                </a:gridCol>
                <a:gridCol w="1510588">
                  <a:extLst>
                    <a:ext uri="{9D8B030D-6E8A-4147-A177-3AD203B41FA5}">
                      <a16:colId xmlns:a16="http://schemas.microsoft.com/office/drawing/2014/main" val="2963423902"/>
                    </a:ext>
                  </a:extLst>
                </a:gridCol>
                <a:gridCol w="1385204">
                  <a:extLst>
                    <a:ext uri="{9D8B030D-6E8A-4147-A177-3AD203B41FA5}">
                      <a16:colId xmlns:a16="http://schemas.microsoft.com/office/drawing/2014/main" val="1004032064"/>
                    </a:ext>
                  </a:extLst>
                </a:gridCol>
                <a:gridCol w="819479">
                  <a:extLst>
                    <a:ext uri="{9D8B030D-6E8A-4147-A177-3AD203B41FA5}">
                      <a16:colId xmlns:a16="http://schemas.microsoft.com/office/drawing/2014/main" val="3371410133"/>
                    </a:ext>
                  </a:extLst>
                </a:gridCol>
                <a:gridCol w="1391175">
                  <a:extLst>
                    <a:ext uri="{9D8B030D-6E8A-4147-A177-3AD203B41FA5}">
                      <a16:colId xmlns:a16="http://schemas.microsoft.com/office/drawing/2014/main" val="3062057360"/>
                    </a:ext>
                  </a:extLst>
                </a:gridCol>
              </a:tblGrid>
              <a:tr h="18171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#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分類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処理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説明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前提条件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期待結果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手順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（ルビナ）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手順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（イシダ様）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確認作業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（イシダ様）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932773"/>
                  </a:ext>
                </a:extLst>
              </a:tr>
              <a:tr h="447369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・全体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１つファイル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)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・１つ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TXT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・ファイルをバックアップする処理が正常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サーバーにファイルが格納される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・送信ファイルがバックアップフォルダーに移動される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チャネル通知・メールが届かない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788418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・送信先の情報を取得する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・データベースにアクセスする時に接録エラーになる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・送信先を取得できない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・送信する前にデータベースを停止する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893883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・データベースにクエリする時に想定外エラーが発生する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・送信先を取得できない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94415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・送信先の情報を取得できたが、送信対象店舗ではない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・送信先の情報が取得できる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・データベースに送信先の店舗は送信対象フラグを消す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03109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サーバーに接続する時に接続エラーになる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サーバーにアクセスできない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サーバーを停止する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091954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サーバーに接続できたが、送信バッチの処理エラーになる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880365"/>
                  </a:ext>
                </a:extLst>
              </a:tr>
              <a:tr h="498101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7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・ファイルをバックアップする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・送信した後、ファイルをバックアップする時にバックアップ処理エラーになる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・ファイルを送信できる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・送信ファイルをバックアップできない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930091"/>
                  </a:ext>
                </a:extLst>
              </a:tr>
              <a:tr h="49256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・全体（同時送信）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複数ファイル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)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TXT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・ファイルをバックアップする処理が正常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サーバーに２つファイルが格納される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・送信ファイルがバックアップフォルダーに移動される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・送信フォルダーに２つファイルを格納する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・対象ファイルを同じ送信スケジュールを設定する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チャネル通知・メールが届かない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929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46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4FE1F8DF-7E77-A102-FB21-881ACA12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396B7B46-99A7-CCBB-3DCB-756D06C290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へ送信エラーに関するログ一覧</a:t>
            </a:r>
          </a:p>
        </p:txBody>
      </p:sp>
      <p:pic>
        <p:nvPicPr>
          <p:cNvPr id="72" name="Google Shape;72;p15" title="logo-luvina-2022-2.png">
            <a:extLst>
              <a:ext uri="{FF2B5EF4-FFF2-40B4-BE49-F238E27FC236}">
                <a16:creationId xmlns:a16="http://schemas.microsoft.com/office/drawing/2014/main" id="{F58AB707-66DB-5866-48CE-CE027D65D0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AD65163A-5313-1375-75A9-69430C116B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6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78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-1.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エラーに関するログ一覧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7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227C49-C3A6-5CCF-17E1-9E84D3832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44645"/>
              </p:ext>
            </p:extLst>
          </p:nvPr>
        </p:nvGraphicFramePr>
        <p:xfrm>
          <a:off x="311700" y="997500"/>
          <a:ext cx="8599581" cy="3948379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56886">
                  <a:extLst>
                    <a:ext uri="{9D8B030D-6E8A-4147-A177-3AD203B41FA5}">
                      <a16:colId xmlns:a16="http://schemas.microsoft.com/office/drawing/2014/main" val="2439427897"/>
                    </a:ext>
                  </a:extLst>
                </a:gridCol>
                <a:gridCol w="770660">
                  <a:extLst>
                    <a:ext uri="{9D8B030D-6E8A-4147-A177-3AD203B41FA5}">
                      <a16:colId xmlns:a16="http://schemas.microsoft.com/office/drawing/2014/main" val="3959707896"/>
                    </a:ext>
                  </a:extLst>
                </a:gridCol>
                <a:gridCol w="899100">
                  <a:extLst>
                    <a:ext uri="{9D8B030D-6E8A-4147-A177-3AD203B41FA5}">
                      <a16:colId xmlns:a16="http://schemas.microsoft.com/office/drawing/2014/main" val="2927640090"/>
                    </a:ext>
                  </a:extLst>
                </a:gridCol>
                <a:gridCol w="1027546">
                  <a:extLst>
                    <a:ext uri="{9D8B030D-6E8A-4147-A177-3AD203B41FA5}">
                      <a16:colId xmlns:a16="http://schemas.microsoft.com/office/drawing/2014/main" val="2138437732"/>
                    </a:ext>
                  </a:extLst>
                </a:gridCol>
                <a:gridCol w="1926649">
                  <a:extLst>
                    <a:ext uri="{9D8B030D-6E8A-4147-A177-3AD203B41FA5}">
                      <a16:colId xmlns:a16="http://schemas.microsoft.com/office/drawing/2014/main" val="3877273586"/>
                    </a:ext>
                  </a:extLst>
                </a:gridCol>
                <a:gridCol w="1669763">
                  <a:extLst>
                    <a:ext uri="{9D8B030D-6E8A-4147-A177-3AD203B41FA5}">
                      <a16:colId xmlns:a16="http://schemas.microsoft.com/office/drawing/2014/main" val="1744595039"/>
                    </a:ext>
                  </a:extLst>
                </a:gridCol>
                <a:gridCol w="2048977">
                  <a:extLst>
                    <a:ext uri="{9D8B030D-6E8A-4147-A177-3AD203B41FA5}">
                      <a16:colId xmlns:a16="http://schemas.microsoft.com/office/drawing/2014/main" val="313027948"/>
                    </a:ext>
                  </a:extLst>
                </a:gridCol>
              </a:tblGrid>
              <a:tr h="110497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#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格納場所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処理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ログ種類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メール件名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備考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発生後の対応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304794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901" marR="901" marT="901" marB="0" anchor="ctr"/>
                </a:tc>
                <a:tc rowSpan="6">
                  <a:txBody>
                    <a:bodyPr/>
                    <a:lstStyle/>
                    <a:p>
                      <a:pPr algn="l" fontAlgn="t"/>
                      <a:r>
                        <a:rPr lang="en-GB" sz="600" u="none" strike="noStrike">
                          <a:effectLst/>
                        </a:rPr>
                        <a:t>/pos/log/sent/error</a:t>
                      </a:r>
                      <a:endParaRPr lang="en-GB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 rowSpan="6"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（商品・売価）情報ファイル送信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ファイル送信する処理で送信先の情報を取得する時にデータベース接続エラーになります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ファイル送信情報を取得する時にデータベース接続エラーになる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2113855231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u="none" strike="noStrike">
                          <a:effectLst/>
                        </a:rPr>
                        <a:t>2</a:t>
                      </a:r>
                      <a:endParaRPr lang="en-GB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ファイル送信する処理で送信先の情報を取得する時に例外エラーが発生されました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ファイル送信情報を取得する時に例外エラーが発生される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4144570663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</a:t>
                      </a:r>
                      <a:r>
                        <a:rPr lang="en-US" altLang="ja-JP" sz="600" u="none" strike="noStrike">
                          <a:effectLst/>
                        </a:rPr>
                        <a:t>FTP</a:t>
                      </a:r>
                      <a:r>
                        <a:rPr lang="ja-JP" altLang="en-US" sz="600" u="none" strike="noStrike">
                          <a:effectLst/>
                        </a:rPr>
                        <a:t>サーバー接続する時に接続エラーになります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</a:t>
                      </a:r>
                      <a:r>
                        <a:rPr lang="en-US" altLang="ja-JP" sz="600" u="none" strike="noStrike">
                          <a:effectLst/>
                        </a:rPr>
                        <a:t>FTP</a:t>
                      </a:r>
                      <a:r>
                        <a:rPr lang="ja-JP" altLang="en-US" sz="600" u="none" strike="noStrike">
                          <a:effectLst/>
                        </a:rPr>
                        <a:t>サーバー接続する時に接続エラーになる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・イシダ様に連絡し（状況・影響・サーバー復旧依頼）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112485008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ファイル送信する処理でファイル送信する時にエラーになります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ファイル送信する時にエラーになる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3581414494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ファイル送信する処理でファイル送信する時に例外エラーが発生されました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ファイル送信する時に例外エラーが発生される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72838311"/>
                  </a:ext>
                </a:extLst>
              </a:tr>
              <a:tr h="602192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ファイル送信する処理で送信後ファイルバックアップ処理がエラーになります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ファイルバックアップ処理がエラーになる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801317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8A416068-D90C-61B2-8D0F-29FF7F53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F75F1DF2-9536-2459-04F6-19A859363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メールのテンプレート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27A5333F-D221-FA76-F0FE-E7E3FAE80E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BEF7AC1-C21F-A04D-F6D9-BA5F1C301A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8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8E1825-656C-22B7-D810-AD095382A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333338"/>
              </p:ext>
            </p:extLst>
          </p:nvPr>
        </p:nvGraphicFramePr>
        <p:xfrm>
          <a:off x="390670" y="997500"/>
          <a:ext cx="7336063" cy="3416295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03523">
                  <a:extLst>
                    <a:ext uri="{9D8B030D-6E8A-4147-A177-3AD203B41FA5}">
                      <a16:colId xmlns:a16="http://schemas.microsoft.com/office/drawing/2014/main" val="442495694"/>
                    </a:ext>
                  </a:extLst>
                </a:gridCol>
                <a:gridCol w="7132540">
                  <a:extLst>
                    <a:ext uri="{9D8B030D-6E8A-4147-A177-3AD203B41FA5}">
                      <a16:colId xmlns:a16="http://schemas.microsoft.com/office/drawing/2014/main" val="1595959254"/>
                    </a:ext>
                  </a:extLst>
                </a:gridCol>
              </a:tblGrid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件名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4706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【{env}】【POS】【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</a:t>
                      </a:r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yyyy/mm/dd} {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メール件名</a:t>
                      </a:r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}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304497085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送信先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02924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{"ToMail1","ToMail2","ToMail3"}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490304681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ボーディ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6817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rowSpan="1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各位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お世話になっております。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マスタ処理バッチは実行する際に、以下のエラーになります。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発生日時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{yyyy/mm/dd hh:mm:ss}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エラー内容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{cloudWatchMessage &amp; errorMessage}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【AWS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ログ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URL】 {cloudwatch-log-url}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担当者にご確認お願いします。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以上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11631287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468758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08303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4144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7238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408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3865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66684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6737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8172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754736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07337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送信元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99441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sng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4"/>
                        </a:rPr>
                        <a:t>pos-monitoring@luvina.net</a:t>
                      </a:r>
                      <a:endParaRPr lang="en-GB" sz="1000" b="0" i="0" u="sng" strike="noStrike">
                        <a:solidFill>
                          <a:srgbClr val="0563C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15386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38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E692F378-D558-59B8-20AC-3F3C8A16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3B83AC76-64BD-6078-1241-9288C3C504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メールの例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B535D2A0-9668-E422-CD98-2281D73AC4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54F66E5-1AFC-23AB-EAC2-1EF1E82E57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9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72EEC4-9C73-1607-5E0E-8B2C93C3E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37843"/>
              </p:ext>
            </p:extLst>
          </p:nvPr>
        </p:nvGraphicFramePr>
        <p:xfrm>
          <a:off x="390670" y="997500"/>
          <a:ext cx="7336063" cy="3730085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03523">
                  <a:extLst>
                    <a:ext uri="{9D8B030D-6E8A-4147-A177-3AD203B41FA5}">
                      <a16:colId xmlns:a16="http://schemas.microsoft.com/office/drawing/2014/main" val="442495694"/>
                    </a:ext>
                  </a:extLst>
                </a:gridCol>
                <a:gridCol w="7132540">
                  <a:extLst>
                    <a:ext uri="{9D8B030D-6E8A-4147-A177-3AD203B41FA5}">
                      <a16:colId xmlns:a16="http://schemas.microsoft.com/office/drawing/2014/main" val="1595959254"/>
                    </a:ext>
                  </a:extLst>
                </a:gridCol>
              </a:tblGrid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件名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4706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本番環境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】【POS】【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2025/07/24 20250724164000ESLDATA.TXT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ファイル送信する処理で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サーバー接続する時に接続エラーになります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304497085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送信先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02924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4"/>
                        </a:rPr>
                        <a:t>aws-pos-alert@luvina.net</a:t>
                      </a:r>
                      <a:endParaRPr lang="en-GB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490304681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カスミ様とイシダ様のメールグループ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1435897089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ボーディ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6817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rowSpan="1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各位</a:t>
                      </a: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お世話になっております。</a:t>
                      </a:r>
                    </a:p>
                    <a:p>
                      <a:pPr algn="l" fontAlgn="t"/>
                      <a:endParaRPr lang="ja-JP" altLang="en-US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マスタ処理バッチは実行する際に、以下のエラーになります。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発生日時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2025/07/24 16:40:05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エラー内容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20250724164000ESLDATA.TXT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ファイル送信する処理で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サーバー接続する時に接続エラーになります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Can't connect with FTP server 10.156.96.211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【AWS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ログ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URL】 </a:t>
                      </a:r>
                      <a:r>
                        <a:rPr lang="en-US" altLang="ja-JP" sz="1000" u="sng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https://ap-northeast-1.console.aws.amazon.com/cloudwatch/home?region=ap-northeast-1#logsV2:log-groups/log-group/$252Fpos$252Flog$252Fsent$252F2025$252F07$252F12$252F/log-events/313b6c6e-0081-43ba-9794-e8cdf95542e7</a:t>
                      </a:r>
                    </a:p>
                    <a:p>
                      <a:pPr algn="l" fontAlgn="t"/>
                      <a:endParaRPr lang="en-US" altLang="ja-JP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担当者にご確認お願いします。</a:t>
                      </a: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以上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11631287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468758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08303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4144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7238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408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3865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66684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6737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8172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754736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07337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送信元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99441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sng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5"/>
                        </a:rPr>
                        <a:t>pos-monitoring@luvina.net</a:t>
                      </a:r>
                      <a:endParaRPr lang="en-GB" sz="1000" b="0" i="0" u="sng" strike="noStrike">
                        <a:solidFill>
                          <a:srgbClr val="0563C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15386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63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8B31FDCF-2847-04A2-A056-D72186CC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1518662F-8480-5D2B-217A-F39AA689F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r>
              <a:rPr lang="en-GB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Q&amp;A</a:t>
            </a:r>
            <a:endParaRPr sz="3000">
              <a:highlight>
                <a:srgbClr val="FFFFFF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2" name="Google Shape;72;p15" title="logo-luvina-2022-2.png">
            <a:extLst>
              <a:ext uri="{FF2B5EF4-FFF2-40B4-BE49-F238E27FC236}">
                <a16:creationId xmlns:a16="http://schemas.microsoft.com/office/drawing/2014/main" id="{3F614748-ACBC-F29E-951E-99989BB4AA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5F681FCF-086A-FEA8-76BA-14596F6D65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10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918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AE3EAFDE-5745-2173-0EB2-CCD4A406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6431F2A8-9D1A-29C3-156B-D3F43A41E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-1. </a:t>
            </a:r>
            <a:r>
              <a:rPr lang="en-US" altLang="ja-JP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r>
              <a:rPr lang="en-US" altLang="ja-JP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Q&amp;A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BB0457A5-23C2-5EF4-1B0F-99845DC9C5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603933C0-9683-1341-2AAE-DA87A5CC59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11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3643D-D07F-8E5B-B68B-DA45516CA696}"/>
              </a:ext>
            </a:extLst>
          </p:cNvPr>
          <p:cNvSpPr txBox="1"/>
          <p:nvPr/>
        </p:nvSpPr>
        <p:spPr>
          <a:xfrm>
            <a:off x="387926" y="1221176"/>
            <a:ext cx="71350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Q1:FTP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サーバ側で障害が発生した際のアラート通知先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Teams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【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保守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】USMH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＆ルビナ＆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グループメール：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3B1EB-CB03-B91C-B48C-CE348A5627B1}"/>
              </a:ext>
            </a:extLst>
          </p:cNvPr>
          <p:cNvSpPr txBox="1"/>
          <p:nvPr/>
        </p:nvSpPr>
        <p:spPr>
          <a:xfrm>
            <a:off x="387927" y="2872982"/>
            <a:ext cx="79317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Q2:FTP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サーバ側で想定される障害ケースと復旧手順（ダウンタイムなども）の把握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3D244-B363-F371-DE93-94824CDC5B03}"/>
              </a:ext>
            </a:extLst>
          </p:cNvPr>
          <p:cNvSpPr txBox="1"/>
          <p:nvPr/>
        </p:nvSpPr>
        <p:spPr>
          <a:xfrm>
            <a:off x="387926" y="1954745"/>
            <a:ext cx="7135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A: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43D33-3C34-B079-936F-025F3D4F5E0F}"/>
              </a:ext>
            </a:extLst>
          </p:cNvPr>
          <p:cNvSpPr txBox="1"/>
          <p:nvPr/>
        </p:nvSpPr>
        <p:spPr>
          <a:xfrm>
            <a:off x="387926" y="3175664"/>
            <a:ext cx="7135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A: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683048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A72C1D-B48C-4C0B-B85E-F7B9BBFB99A5}">
  <ds:schemaRefs>
    <ds:schemaRef ds:uri="http://schemas.microsoft.com/office/2006/metadata/properties"/>
    <ds:schemaRef ds:uri="http://schemas.microsoft.com/office/infopath/2007/PartnerControls"/>
    <ds:schemaRef ds:uri="8dbf7540-46e2-4291-999e-80d6200bae7a"/>
    <ds:schemaRef ds:uri="2d13a9ec-4dcc-4bf0-b813-bb41ddf201ec"/>
  </ds:schemaRefs>
</ds:datastoreItem>
</file>

<file path=customXml/itemProps2.xml><?xml version="1.0" encoding="utf-8"?>
<ds:datastoreItem xmlns:ds="http://schemas.openxmlformats.org/officeDocument/2006/customXml" ds:itemID="{E3CC6771-F566-40DF-AE36-D431702C11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4BB13A-5422-489F-9A94-65473923152E}"/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3768</Words>
  <Application>Microsoft Office PowerPoint</Application>
  <PresentationFormat>On-screen Show (16:9)</PresentationFormat>
  <Paragraphs>245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Meiryo UI</vt:lpstr>
      <vt:lpstr>ＭＳ Ｐゴシック</vt:lpstr>
      <vt:lpstr>Arial</vt:lpstr>
      <vt:lpstr>Simple Light</vt:lpstr>
      <vt:lpstr>FTPサーバにファイル送信の結合試験 ＜カスミ様ISHIDA電子棚札対応＞</vt:lpstr>
      <vt:lpstr>目次</vt:lpstr>
      <vt:lpstr>1. 疎通テストのシナリオについて</vt:lpstr>
      <vt:lpstr>1-1.送信フロー</vt:lpstr>
      <vt:lpstr>1-2.シナリオ </vt:lpstr>
      <vt:lpstr>2. ISHIDAへ送信エラーに関するログ一覧</vt:lpstr>
      <vt:lpstr>2-1. エラーに関するログ一覧</vt:lpstr>
      <vt:lpstr>2-2. メールのテンプレート</vt:lpstr>
      <vt:lpstr>2-2. メールの例</vt:lpstr>
      <vt:lpstr>3. FTPサーバーに関するQ&amp;A</vt:lpstr>
      <vt:lpstr>3-1. FTPサーバーに関するQ&amp;A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 Dai Hiep</cp:lastModifiedBy>
  <cp:revision>16</cp:revision>
  <dcterms:modified xsi:type="dcterms:W3CDTF">2025-07-25T03:59:00Z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