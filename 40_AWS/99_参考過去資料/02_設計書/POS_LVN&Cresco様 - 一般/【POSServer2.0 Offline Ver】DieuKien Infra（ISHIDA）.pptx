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Lst>
  <p:notesMasterIdLst>
    <p:notesMasterId r:id="rId85"/>
  </p:notesMasterIdLst>
  <p:sldIdLst>
    <p:sldId id="306" r:id="rId5"/>
    <p:sldId id="257" r:id="rId6"/>
    <p:sldId id="307" r:id="rId7"/>
    <p:sldId id="258" r:id="rId8"/>
    <p:sldId id="259" r:id="rId9"/>
    <p:sldId id="309" r:id="rId10"/>
    <p:sldId id="260" r:id="rId11"/>
    <p:sldId id="310" r:id="rId12"/>
    <p:sldId id="261" r:id="rId13"/>
    <p:sldId id="262" r:id="rId14"/>
    <p:sldId id="311" r:id="rId15"/>
    <p:sldId id="263" r:id="rId16"/>
    <p:sldId id="312" r:id="rId17"/>
    <p:sldId id="264" r:id="rId18"/>
    <p:sldId id="265" r:id="rId19"/>
    <p:sldId id="313" r:id="rId20"/>
    <p:sldId id="266" r:id="rId21"/>
    <p:sldId id="267" r:id="rId22"/>
    <p:sldId id="314" r:id="rId23"/>
    <p:sldId id="268" r:id="rId24"/>
    <p:sldId id="269" r:id="rId25"/>
    <p:sldId id="315" r:id="rId26"/>
    <p:sldId id="270" r:id="rId27"/>
    <p:sldId id="329" r:id="rId28"/>
    <p:sldId id="271" r:id="rId29"/>
    <p:sldId id="317" r:id="rId30"/>
    <p:sldId id="272" r:id="rId31"/>
    <p:sldId id="273" r:id="rId32"/>
    <p:sldId id="274" r:id="rId33"/>
    <p:sldId id="318" r:id="rId34"/>
    <p:sldId id="275" r:id="rId35"/>
    <p:sldId id="276" r:id="rId36"/>
    <p:sldId id="277" r:id="rId37"/>
    <p:sldId id="319" r:id="rId38"/>
    <p:sldId id="278" r:id="rId39"/>
    <p:sldId id="320" r:id="rId40"/>
    <p:sldId id="279" r:id="rId41"/>
    <p:sldId id="280" r:id="rId42"/>
    <p:sldId id="321" r:id="rId43"/>
    <p:sldId id="281" r:id="rId44"/>
    <p:sldId id="330" r:id="rId45"/>
    <p:sldId id="282" r:id="rId46"/>
    <p:sldId id="331" r:id="rId47"/>
    <p:sldId id="322" r:id="rId48"/>
    <p:sldId id="332" r:id="rId49"/>
    <p:sldId id="284" r:id="rId50"/>
    <p:sldId id="323" r:id="rId51"/>
    <p:sldId id="285" r:id="rId52"/>
    <p:sldId id="338" r:id="rId53"/>
    <p:sldId id="286" r:id="rId54"/>
    <p:sldId id="339" r:id="rId55"/>
    <p:sldId id="287" r:id="rId56"/>
    <p:sldId id="340" r:id="rId57"/>
    <p:sldId id="288" r:id="rId58"/>
    <p:sldId id="334" r:id="rId59"/>
    <p:sldId id="335" r:id="rId60"/>
    <p:sldId id="289" r:id="rId61"/>
    <p:sldId id="290" r:id="rId62"/>
    <p:sldId id="336" r:id="rId63"/>
    <p:sldId id="291" r:id="rId64"/>
    <p:sldId id="337" r:id="rId65"/>
    <p:sldId id="292" r:id="rId66"/>
    <p:sldId id="293" r:id="rId67"/>
    <p:sldId id="324" r:id="rId68"/>
    <p:sldId id="294" r:id="rId69"/>
    <p:sldId id="326" r:id="rId70"/>
    <p:sldId id="295" r:id="rId71"/>
    <p:sldId id="325" r:id="rId72"/>
    <p:sldId id="296" r:id="rId73"/>
    <p:sldId id="297" r:id="rId74"/>
    <p:sldId id="333" r:id="rId75"/>
    <p:sldId id="298" r:id="rId76"/>
    <p:sldId id="299" r:id="rId77"/>
    <p:sldId id="300" r:id="rId78"/>
    <p:sldId id="327" r:id="rId79"/>
    <p:sldId id="301" r:id="rId80"/>
    <p:sldId id="302" r:id="rId81"/>
    <p:sldId id="328" r:id="rId82"/>
    <p:sldId id="303" r:id="rId83"/>
    <p:sldId id="304" r:id="rId8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7A281C8-0844-4F7E-8F5C-31C3930F0FE5}">
  <a:tblStyle styleId="{87A281C8-0844-4F7E-8F5C-31C3930F0FE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6"/>
  </p:normalViewPr>
  <p:slideViewPr>
    <p:cSldViewPr snapToGrid="0">
      <p:cViewPr varScale="1">
        <p:scale>
          <a:sx n="96" d="100"/>
          <a:sy n="96" d="100"/>
        </p:scale>
        <p:origin x="424" y="2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slide" Target="slides/slide72.xml"/><Relationship Id="rId84" Type="http://schemas.openxmlformats.org/officeDocument/2006/relationships/slide" Target="slides/slide80.xml"/><Relationship Id="rId89"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87"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0818A068-0FB1-43C2-03B6-1AD1DFDAC7C6}"/>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A6EEF10F-ACA7-82BF-A28A-3761770B97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8622D075-1AC4-DF28-135A-9B1520BBD7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77421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580465b63b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580465b63b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a:extLst>
            <a:ext uri="{FF2B5EF4-FFF2-40B4-BE49-F238E27FC236}">
              <a16:creationId xmlns:a16="http://schemas.microsoft.com/office/drawing/2014/main" id="{7E1758A6-169C-143D-1443-58F835C2DFA5}"/>
            </a:ext>
          </a:extLst>
        </p:cNvPr>
        <p:cNvGrpSpPr/>
        <p:nvPr/>
      </p:nvGrpSpPr>
      <p:grpSpPr>
        <a:xfrm>
          <a:off x="0" y="0"/>
          <a:ext cx="0" cy="0"/>
          <a:chOff x="0" y="0"/>
          <a:chExt cx="0" cy="0"/>
        </a:xfrm>
      </p:grpSpPr>
      <p:sp>
        <p:nvSpPr>
          <p:cNvPr id="60" name="Google Shape;60;g3580465b63b_1_6:notes">
            <a:extLst>
              <a:ext uri="{FF2B5EF4-FFF2-40B4-BE49-F238E27FC236}">
                <a16:creationId xmlns:a16="http://schemas.microsoft.com/office/drawing/2014/main" id="{1ED21262-DEBA-4916-CC56-F470B9174A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580465b63b_1_6:notes">
            <a:extLst>
              <a:ext uri="{FF2B5EF4-FFF2-40B4-BE49-F238E27FC236}">
                <a16:creationId xmlns:a16="http://schemas.microsoft.com/office/drawing/2014/main" id="{B6DCA5FE-7ABF-1F0B-B3BE-18E09FDA73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298003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580465b63b_1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580465b63b_1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5a41f27a4c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5a41f27a4c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77FBD9B5-4C64-E548-A66E-35D17E1C0882}"/>
            </a:ext>
          </a:extLst>
        </p:cNvPr>
        <p:cNvGrpSpPr/>
        <p:nvPr/>
      </p:nvGrpSpPr>
      <p:grpSpPr>
        <a:xfrm>
          <a:off x="0" y="0"/>
          <a:ext cx="0" cy="0"/>
          <a:chOff x="0" y="0"/>
          <a:chExt cx="0" cy="0"/>
        </a:xfrm>
      </p:grpSpPr>
      <p:sp>
        <p:nvSpPr>
          <p:cNvPr id="75" name="Google Shape;75;g35a41f27a4c_0_2:notes">
            <a:extLst>
              <a:ext uri="{FF2B5EF4-FFF2-40B4-BE49-F238E27FC236}">
                <a16:creationId xmlns:a16="http://schemas.microsoft.com/office/drawing/2014/main" id="{674DCF51-775B-93A1-F804-90FA24FD20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5a41f27a4c_0_2:notes">
            <a:extLst>
              <a:ext uri="{FF2B5EF4-FFF2-40B4-BE49-F238E27FC236}">
                <a16:creationId xmlns:a16="http://schemas.microsoft.com/office/drawing/2014/main" id="{B6F03468-6C0A-4E12-1ACA-FD11D07C31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336243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5a41f27a4c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5a41f27a4c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2EB63ADB-B9AF-5FCC-9C2E-B286D718E269}"/>
            </a:ext>
          </a:extLst>
        </p:cNvPr>
        <p:cNvGrpSpPr/>
        <p:nvPr/>
      </p:nvGrpSpPr>
      <p:grpSpPr>
        <a:xfrm>
          <a:off x="0" y="0"/>
          <a:ext cx="0" cy="0"/>
          <a:chOff x="0" y="0"/>
          <a:chExt cx="0" cy="0"/>
        </a:xfrm>
      </p:grpSpPr>
      <p:sp>
        <p:nvSpPr>
          <p:cNvPr id="83" name="Google Shape;83;g35a41f27a4c_0_10:notes">
            <a:extLst>
              <a:ext uri="{FF2B5EF4-FFF2-40B4-BE49-F238E27FC236}">
                <a16:creationId xmlns:a16="http://schemas.microsoft.com/office/drawing/2014/main" id="{705631A4-D1F5-E835-9A20-3980FB9638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5a41f27a4c_0_10:notes">
            <a:extLst>
              <a:ext uri="{FF2B5EF4-FFF2-40B4-BE49-F238E27FC236}">
                <a16:creationId xmlns:a16="http://schemas.microsoft.com/office/drawing/2014/main" id="{C584A6AE-E9AA-08A9-23FD-10C814D24E6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721712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5854b8902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5854b8902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35f10c478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35f10c478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AE41511A-07E8-34AB-CE5A-DB9EB8A51054}"/>
            </a:ext>
          </a:extLst>
        </p:cNvPr>
        <p:cNvGrpSpPr/>
        <p:nvPr/>
      </p:nvGrpSpPr>
      <p:grpSpPr>
        <a:xfrm>
          <a:off x="0" y="0"/>
          <a:ext cx="0" cy="0"/>
          <a:chOff x="0" y="0"/>
          <a:chExt cx="0" cy="0"/>
        </a:xfrm>
      </p:grpSpPr>
      <p:sp>
        <p:nvSpPr>
          <p:cNvPr id="98" name="Google Shape;98;g335f10c4787_0_0:notes">
            <a:extLst>
              <a:ext uri="{FF2B5EF4-FFF2-40B4-BE49-F238E27FC236}">
                <a16:creationId xmlns:a16="http://schemas.microsoft.com/office/drawing/2014/main" id="{A56AA405-FD27-4905-7801-E7B3434D70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35f10c4787_0_0:notes">
            <a:extLst>
              <a:ext uri="{FF2B5EF4-FFF2-40B4-BE49-F238E27FC236}">
                <a16:creationId xmlns:a16="http://schemas.microsoft.com/office/drawing/2014/main" id="{53909A08-CD0F-8F3E-EF2D-3C21280FCD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846416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58e663a064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58e663a064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5614FA17-CB70-40A8-52A0-20CF164C4AA3}"/>
            </a:ext>
          </a:extLst>
        </p:cNvPr>
        <p:cNvGrpSpPr/>
        <p:nvPr/>
      </p:nvGrpSpPr>
      <p:grpSpPr>
        <a:xfrm>
          <a:off x="0" y="0"/>
          <a:ext cx="0" cy="0"/>
          <a:chOff x="0" y="0"/>
          <a:chExt cx="0" cy="0"/>
        </a:xfrm>
      </p:grpSpPr>
      <p:sp>
        <p:nvSpPr>
          <p:cNvPr id="113" name="Google Shape;113;g358e542b3e9_0_6:notes">
            <a:extLst>
              <a:ext uri="{FF2B5EF4-FFF2-40B4-BE49-F238E27FC236}">
                <a16:creationId xmlns:a16="http://schemas.microsoft.com/office/drawing/2014/main" id="{92E807D3-2D07-54E6-CA2F-64268E1840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58e542b3e9_0_6:notes">
            <a:extLst>
              <a:ext uri="{FF2B5EF4-FFF2-40B4-BE49-F238E27FC236}">
                <a16:creationId xmlns:a16="http://schemas.microsoft.com/office/drawing/2014/main" id="{3770A9B1-E8C3-1819-C173-4C845FF295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578875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58e542b3e9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58e542b3e9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58e663a06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58e663a06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49B8878F-3516-7B28-C50A-107B54FF00C2}"/>
            </a:ext>
          </a:extLst>
        </p:cNvPr>
        <p:cNvGrpSpPr/>
        <p:nvPr/>
      </p:nvGrpSpPr>
      <p:grpSpPr>
        <a:xfrm>
          <a:off x="0" y="0"/>
          <a:ext cx="0" cy="0"/>
          <a:chOff x="0" y="0"/>
          <a:chExt cx="0" cy="0"/>
        </a:xfrm>
      </p:grpSpPr>
      <p:sp>
        <p:nvSpPr>
          <p:cNvPr id="122" name="Google Shape;122;g358e663a064_1_6:notes">
            <a:extLst>
              <a:ext uri="{FF2B5EF4-FFF2-40B4-BE49-F238E27FC236}">
                <a16:creationId xmlns:a16="http://schemas.microsoft.com/office/drawing/2014/main" id="{FEBE313C-5E44-BE8D-0026-BA8EFD7D22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58e663a064_1_6:notes">
            <a:extLst>
              <a:ext uri="{FF2B5EF4-FFF2-40B4-BE49-F238E27FC236}">
                <a16:creationId xmlns:a16="http://schemas.microsoft.com/office/drawing/2014/main" id="{1C0D8F67-E3A1-B885-4809-40A49F39F8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209123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5819f38e9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5819f38e9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36961fd0f9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36961fd0f9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854E7AEE-CEB1-E695-FB6E-B96ACA49A0A6}"/>
            </a:ext>
          </a:extLst>
        </p:cNvPr>
        <p:cNvGrpSpPr/>
        <p:nvPr/>
      </p:nvGrpSpPr>
      <p:grpSpPr>
        <a:xfrm>
          <a:off x="0" y="0"/>
          <a:ext cx="0" cy="0"/>
          <a:chOff x="0" y="0"/>
          <a:chExt cx="0" cy="0"/>
        </a:xfrm>
      </p:grpSpPr>
      <p:sp>
        <p:nvSpPr>
          <p:cNvPr id="137" name="Google Shape;137;g336961fd0f9_0_30:notes">
            <a:extLst>
              <a:ext uri="{FF2B5EF4-FFF2-40B4-BE49-F238E27FC236}">
                <a16:creationId xmlns:a16="http://schemas.microsoft.com/office/drawing/2014/main" id="{E9F557C8-9A79-FE49-2E56-0F1CEA5D55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36961fd0f9_0_30:notes">
            <a:extLst>
              <a:ext uri="{FF2B5EF4-FFF2-40B4-BE49-F238E27FC236}">
                <a16:creationId xmlns:a16="http://schemas.microsoft.com/office/drawing/2014/main" id="{1818CD43-B48E-EC8C-B09B-AC36A4BA78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322422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36961fd0f9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36961fd0f9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5f10d63be7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5f10d63be7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a:extLst>
            <a:ext uri="{FF2B5EF4-FFF2-40B4-BE49-F238E27FC236}">
              <a16:creationId xmlns:a16="http://schemas.microsoft.com/office/drawing/2014/main" id="{BBBECFE2-F21C-8F51-DD11-581A617BB958}"/>
            </a:ext>
          </a:extLst>
        </p:cNvPr>
        <p:cNvGrpSpPr/>
        <p:nvPr/>
      </p:nvGrpSpPr>
      <p:grpSpPr>
        <a:xfrm>
          <a:off x="0" y="0"/>
          <a:ext cx="0" cy="0"/>
          <a:chOff x="0" y="0"/>
          <a:chExt cx="0" cy="0"/>
        </a:xfrm>
      </p:grpSpPr>
      <p:sp>
        <p:nvSpPr>
          <p:cNvPr id="153" name="Google Shape;153;g35f10d63be7_0_7:notes">
            <a:extLst>
              <a:ext uri="{FF2B5EF4-FFF2-40B4-BE49-F238E27FC236}">
                <a16:creationId xmlns:a16="http://schemas.microsoft.com/office/drawing/2014/main" id="{D226D118-5D1A-469C-971F-807A2224ED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5f10d63be7_0_7:notes">
            <a:extLst>
              <a:ext uri="{FF2B5EF4-FFF2-40B4-BE49-F238E27FC236}">
                <a16:creationId xmlns:a16="http://schemas.microsoft.com/office/drawing/2014/main" id="{5B23ABFD-0764-8126-0EBC-9B119A8B9EF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396568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5819f38e9d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5819f38e9d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14CE9F4B-0009-0486-6958-902684D5F61C}"/>
            </a:ext>
          </a:extLst>
        </p:cNvPr>
        <p:cNvGrpSpPr/>
        <p:nvPr/>
      </p:nvGrpSpPr>
      <p:grpSpPr>
        <a:xfrm>
          <a:off x="0" y="0"/>
          <a:ext cx="0" cy="0"/>
          <a:chOff x="0" y="0"/>
          <a:chExt cx="0" cy="0"/>
        </a:xfrm>
      </p:grpSpPr>
      <p:sp>
        <p:nvSpPr>
          <p:cNvPr id="162" name="Google Shape;162;g35819f38e9d_0_4:notes">
            <a:extLst>
              <a:ext uri="{FF2B5EF4-FFF2-40B4-BE49-F238E27FC236}">
                <a16:creationId xmlns:a16="http://schemas.microsoft.com/office/drawing/2014/main" id="{1EA25A64-BBEA-0FBB-11A8-AF694C3791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5819f38e9d_0_4:notes">
            <a:extLst>
              <a:ext uri="{FF2B5EF4-FFF2-40B4-BE49-F238E27FC236}">
                <a16:creationId xmlns:a16="http://schemas.microsoft.com/office/drawing/2014/main" id="{38ACABFF-58DC-0650-8E70-402ED35F2D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817850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5a8d5f1f08_1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5a8d5f1f08_1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a:extLst>
            <a:ext uri="{FF2B5EF4-FFF2-40B4-BE49-F238E27FC236}">
              <a16:creationId xmlns:a16="http://schemas.microsoft.com/office/drawing/2014/main" id="{006EC9A1-D7FA-44A4-97F6-122213F6B032}"/>
            </a:ext>
          </a:extLst>
        </p:cNvPr>
        <p:cNvGrpSpPr/>
        <p:nvPr/>
      </p:nvGrpSpPr>
      <p:grpSpPr>
        <a:xfrm>
          <a:off x="0" y="0"/>
          <a:ext cx="0" cy="0"/>
          <a:chOff x="0" y="0"/>
          <a:chExt cx="0" cy="0"/>
        </a:xfrm>
      </p:grpSpPr>
      <p:sp>
        <p:nvSpPr>
          <p:cNvPr id="170" name="Google Shape;170;g35a8d5f1f08_1_22:notes">
            <a:extLst>
              <a:ext uri="{FF2B5EF4-FFF2-40B4-BE49-F238E27FC236}">
                <a16:creationId xmlns:a16="http://schemas.microsoft.com/office/drawing/2014/main" id="{37A82986-2F4E-24F5-61C7-971B01C4AB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5a8d5f1f08_1_22:notes">
            <a:extLst>
              <a:ext uri="{FF2B5EF4-FFF2-40B4-BE49-F238E27FC236}">
                <a16:creationId xmlns:a16="http://schemas.microsoft.com/office/drawing/2014/main" id="{BC7D25D1-667D-8274-CBD7-01654368AB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415987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5c9bdf6aa1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5c9bdf6aa1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5f10d63be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5f10d63be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57d6c63f5e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57d6c63f5e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a:extLst>
            <a:ext uri="{FF2B5EF4-FFF2-40B4-BE49-F238E27FC236}">
              <a16:creationId xmlns:a16="http://schemas.microsoft.com/office/drawing/2014/main" id="{1F98FA82-82D4-F502-40CF-0DB5DB69CA14}"/>
            </a:ext>
          </a:extLst>
        </p:cNvPr>
        <p:cNvGrpSpPr/>
        <p:nvPr/>
      </p:nvGrpSpPr>
      <p:grpSpPr>
        <a:xfrm>
          <a:off x="0" y="0"/>
          <a:ext cx="0" cy="0"/>
          <a:chOff x="0" y="0"/>
          <a:chExt cx="0" cy="0"/>
        </a:xfrm>
      </p:grpSpPr>
      <p:sp>
        <p:nvSpPr>
          <p:cNvPr id="193" name="Google Shape;193;g357d6c63f5e_0_39:notes">
            <a:extLst>
              <a:ext uri="{FF2B5EF4-FFF2-40B4-BE49-F238E27FC236}">
                <a16:creationId xmlns:a16="http://schemas.microsoft.com/office/drawing/2014/main" id="{3A21DA89-B31B-8F3B-B72A-56C72E9B16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57d6c63f5e_0_39:notes">
            <a:extLst>
              <a:ext uri="{FF2B5EF4-FFF2-40B4-BE49-F238E27FC236}">
                <a16:creationId xmlns:a16="http://schemas.microsoft.com/office/drawing/2014/main" id="{172BE21B-2943-A523-3A1B-164CC93D61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372407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602daf69e8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3602daf69e8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580465b63b_1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580465b63b_1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5a8d5f1f08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35a8d5f1f08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a:extLst>
            <a:ext uri="{FF2B5EF4-FFF2-40B4-BE49-F238E27FC236}">
              <a16:creationId xmlns:a16="http://schemas.microsoft.com/office/drawing/2014/main" id="{A3D7E6C9-89B0-E256-20D9-D07AC1636A81}"/>
            </a:ext>
          </a:extLst>
        </p:cNvPr>
        <p:cNvGrpSpPr/>
        <p:nvPr/>
      </p:nvGrpSpPr>
      <p:grpSpPr>
        <a:xfrm>
          <a:off x="0" y="0"/>
          <a:ext cx="0" cy="0"/>
          <a:chOff x="0" y="0"/>
          <a:chExt cx="0" cy="0"/>
        </a:xfrm>
      </p:grpSpPr>
      <p:sp>
        <p:nvSpPr>
          <p:cNvPr id="216" name="Google Shape;216;g35a8d5f1f08_1_7:notes">
            <a:extLst>
              <a:ext uri="{FF2B5EF4-FFF2-40B4-BE49-F238E27FC236}">
                <a16:creationId xmlns:a16="http://schemas.microsoft.com/office/drawing/2014/main" id="{4CBA9E35-9C1B-73A4-BE36-6FF09C1C0F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35a8d5f1f08_1_7:notes">
            <a:extLst>
              <a:ext uri="{FF2B5EF4-FFF2-40B4-BE49-F238E27FC236}">
                <a16:creationId xmlns:a16="http://schemas.microsoft.com/office/drawing/2014/main" id="{28808C93-B6C0-1997-9A9D-92DA74943B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84373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580465b63b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3580465b63b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D5B59CDB-5FB3-4543-5E1B-621A2D89B65C}"/>
            </a:ext>
          </a:extLst>
        </p:cNvPr>
        <p:cNvGrpSpPr/>
        <p:nvPr/>
      </p:nvGrpSpPr>
      <p:grpSpPr>
        <a:xfrm>
          <a:off x="0" y="0"/>
          <a:ext cx="0" cy="0"/>
          <a:chOff x="0" y="0"/>
          <a:chExt cx="0" cy="0"/>
        </a:xfrm>
      </p:grpSpPr>
      <p:sp>
        <p:nvSpPr>
          <p:cNvPr id="224" name="Google Shape;224;g3580465b63b_2_0:notes">
            <a:extLst>
              <a:ext uri="{FF2B5EF4-FFF2-40B4-BE49-F238E27FC236}">
                <a16:creationId xmlns:a16="http://schemas.microsoft.com/office/drawing/2014/main" id="{4C02C8E6-02A2-F222-E4A7-1DAEC6B048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3580465b63b_2_0:notes">
            <a:extLst>
              <a:ext uri="{FF2B5EF4-FFF2-40B4-BE49-F238E27FC236}">
                <a16:creationId xmlns:a16="http://schemas.microsoft.com/office/drawing/2014/main" id="{D3B2D4F9-7624-D3E5-BEC8-B7618E20AB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47622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57d6c63f5e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57d6c63f5e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57d6c63f5e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357d6c63f5e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a:extLst>
            <a:ext uri="{FF2B5EF4-FFF2-40B4-BE49-F238E27FC236}">
              <a16:creationId xmlns:a16="http://schemas.microsoft.com/office/drawing/2014/main" id="{69D815AE-5C40-B300-C194-D9F27DD9BB92}"/>
            </a:ext>
          </a:extLst>
        </p:cNvPr>
        <p:cNvGrpSpPr/>
        <p:nvPr/>
      </p:nvGrpSpPr>
      <p:grpSpPr>
        <a:xfrm>
          <a:off x="0" y="0"/>
          <a:ext cx="0" cy="0"/>
          <a:chOff x="0" y="0"/>
          <a:chExt cx="0" cy="0"/>
        </a:xfrm>
      </p:grpSpPr>
      <p:sp>
        <p:nvSpPr>
          <p:cNvPr id="239" name="Google Shape;239;g357d6c63f5e_0_76:notes">
            <a:extLst>
              <a:ext uri="{FF2B5EF4-FFF2-40B4-BE49-F238E27FC236}">
                <a16:creationId xmlns:a16="http://schemas.microsoft.com/office/drawing/2014/main" id="{E3BC0C72-1E78-B110-3A5B-23DC62DFDC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357d6c63f5e_0_76:notes">
            <a:extLst>
              <a:ext uri="{FF2B5EF4-FFF2-40B4-BE49-F238E27FC236}">
                <a16:creationId xmlns:a16="http://schemas.microsoft.com/office/drawing/2014/main" id="{6F9DAC36-422B-8085-1540-F934846BC0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993942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3d03c4fbb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33d03c4fbb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a:extLst>
            <a:ext uri="{FF2B5EF4-FFF2-40B4-BE49-F238E27FC236}">
              <a16:creationId xmlns:a16="http://schemas.microsoft.com/office/drawing/2014/main" id="{EB15D135-3B25-FEC5-288B-AD2933D34C74}"/>
            </a:ext>
          </a:extLst>
        </p:cNvPr>
        <p:cNvGrpSpPr/>
        <p:nvPr/>
      </p:nvGrpSpPr>
      <p:grpSpPr>
        <a:xfrm>
          <a:off x="0" y="0"/>
          <a:ext cx="0" cy="0"/>
          <a:chOff x="0" y="0"/>
          <a:chExt cx="0" cy="0"/>
        </a:xfrm>
      </p:grpSpPr>
      <p:sp>
        <p:nvSpPr>
          <p:cNvPr id="247" name="Google Shape;247;g33d03c4fbb9_0_0:notes">
            <a:extLst>
              <a:ext uri="{FF2B5EF4-FFF2-40B4-BE49-F238E27FC236}">
                <a16:creationId xmlns:a16="http://schemas.microsoft.com/office/drawing/2014/main" id="{1FD1512D-310E-3B9F-E8C5-C2B473A88C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33d03c4fbb9_0_0:notes">
            <a:extLst>
              <a:ext uri="{FF2B5EF4-FFF2-40B4-BE49-F238E27FC236}">
                <a16:creationId xmlns:a16="http://schemas.microsoft.com/office/drawing/2014/main" id="{8D6F8049-D2D1-761B-5DE8-8788F9C02C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8619001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620cf38abb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3620cf38abb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681DF640-8BD0-DCD1-A3C8-BB97506985DD}"/>
            </a:ext>
          </a:extLst>
        </p:cNvPr>
        <p:cNvGrpSpPr/>
        <p:nvPr/>
      </p:nvGrpSpPr>
      <p:grpSpPr>
        <a:xfrm>
          <a:off x="0" y="0"/>
          <a:ext cx="0" cy="0"/>
          <a:chOff x="0" y="0"/>
          <a:chExt cx="0" cy="0"/>
        </a:xfrm>
      </p:grpSpPr>
      <p:sp>
        <p:nvSpPr>
          <p:cNvPr id="255" name="Google Shape;255;g3620cf38abb_0_2:notes">
            <a:extLst>
              <a:ext uri="{FF2B5EF4-FFF2-40B4-BE49-F238E27FC236}">
                <a16:creationId xmlns:a16="http://schemas.microsoft.com/office/drawing/2014/main" id="{2869ACBC-815D-D1FD-DA5A-6E858004ED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3620cf38abb_0_2:notes">
            <a:extLst>
              <a:ext uri="{FF2B5EF4-FFF2-40B4-BE49-F238E27FC236}">
                <a16:creationId xmlns:a16="http://schemas.microsoft.com/office/drawing/2014/main" id="{E7F0C2A1-D2F4-E022-71C9-0E8E847821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072414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CC77150F-0C2E-B6F1-C5B2-0A0E2B57E11A}"/>
            </a:ext>
          </a:extLst>
        </p:cNvPr>
        <p:cNvGrpSpPr/>
        <p:nvPr/>
      </p:nvGrpSpPr>
      <p:grpSpPr>
        <a:xfrm>
          <a:off x="0" y="0"/>
          <a:ext cx="0" cy="0"/>
          <a:chOff x="0" y="0"/>
          <a:chExt cx="0" cy="0"/>
        </a:xfrm>
      </p:grpSpPr>
      <p:sp>
        <p:nvSpPr>
          <p:cNvPr id="263" name="Google Shape;263;g369d6be0b11_0_1:notes">
            <a:extLst>
              <a:ext uri="{FF2B5EF4-FFF2-40B4-BE49-F238E27FC236}">
                <a16:creationId xmlns:a16="http://schemas.microsoft.com/office/drawing/2014/main" id="{CEE17AEA-9DAC-246A-84C1-F359E0792A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369d6be0b11_0_1:notes">
            <a:extLst>
              <a:ext uri="{FF2B5EF4-FFF2-40B4-BE49-F238E27FC236}">
                <a16:creationId xmlns:a16="http://schemas.microsoft.com/office/drawing/2014/main" id="{0F196EFE-70CA-E8C8-1CFD-84D8FFBD422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0501796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099F6A56-B499-3C73-7355-44A45BEA7BAA}"/>
            </a:ext>
          </a:extLst>
        </p:cNvPr>
        <p:cNvGrpSpPr/>
        <p:nvPr/>
      </p:nvGrpSpPr>
      <p:grpSpPr>
        <a:xfrm>
          <a:off x="0" y="0"/>
          <a:ext cx="0" cy="0"/>
          <a:chOff x="0" y="0"/>
          <a:chExt cx="0" cy="0"/>
        </a:xfrm>
      </p:grpSpPr>
      <p:sp>
        <p:nvSpPr>
          <p:cNvPr id="263" name="Google Shape;263;g369d6be0b11_0_1:notes">
            <a:extLst>
              <a:ext uri="{FF2B5EF4-FFF2-40B4-BE49-F238E27FC236}">
                <a16:creationId xmlns:a16="http://schemas.microsoft.com/office/drawing/2014/main" id="{EBC35A24-EF05-1F90-DC53-F8BCA3711E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369d6be0b11_0_1:notes">
            <a:extLst>
              <a:ext uri="{FF2B5EF4-FFF2-40B4-BE49-F238E27FC236}">
                <a16:creationId xmlns:a16="http://schemas.microsoft.com/office/drawing/2014/main" id="{884950CC-7901-AA85-9DA6-99E655B93D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8757359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611618eb3d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3611618eb3d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a:extLst>
            <a:ext uri="{FF2B5EF4-FFF2-40B4-BE49-F238E27FC236}">
              <a16:creationId xmlns:a16="http://schemas.microsoft.com/office/drawing/2014/main" id="{D6AA06C3-E745-6B34-B99C-C2FAD3DBBD19}"/>
            </a:ext>
          </a:extLst>
        </p:cNvPr>
        <p:cNvGrpSpPr/>
        <p:nvPr/>
      </p:nvGrpSpPr>
      <p:grpSpPr>
        <a:xfrm>
          <a:off x="0" y="0"/>
          <a:ext cx="0" cy="0"/>
          <a:chOff x="0" y="0"/>
          <a:chExt cx="0" cy="0"/>
        </a:xfrm>
      </p:grpSpPr>
      <p:sp>
        <p:nvSpPr>
          <p:cNvPr id="271" name="Google Shape;271;g3611618eb3d_0_13:notes">
            <a:extLst>
              <a:ext uri="{FF2B5EF4-FFF2-40B4-BE49-F238E27FC236}">
                <a16:creationId xmlns:a16="http://schemas.microsoft.com/office/drawing/2014/main" id="{722252A1-AE10-616F-6908-DD3B982853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3611618eb3d_0_13:notes">
            <a:extLst>
              <a:ext uri="{FF2B5EF4-FFF2-40B4-BE49-F238E27FC236}">
                <a16:creationId xmlns:a16="http://schemas.microsoft.com/office/drawing/2014/main" id="{4D818782-DCE6-BE1A-1B5B-D392654D5F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8807531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611618eb3d_3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3611618eb3d_3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611618eb3d_3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3611618eb3d_3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8212098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66ce92774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366ce92774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66ce92774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366ce92774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228622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658f1f93ba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3658f1f93ba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658f1f93ba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3658f1f93ba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9110103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58eae04b7f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358eae04b7f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58eae04b7f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358eae04b7f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086724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691c57d911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3691c57d911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2011668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691c57d911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3691c57d911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36c084a7dfa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36c084a7df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36c084a7dfa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36c084a7df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083755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67cdfeb92f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367cdfeb92f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67cdfeb92f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367cdfeb92f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3643144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36693086371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36693086371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365a1995b16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365a1995b16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a:extLst>
            <a:ext uri="{FF2B5EF4-FFF2-40B4-BE49-F238E27FC236}">
              <a16:creationId xmlns:a16="http://schemas.microsoft.com/office/drawing/2014/main" id="{1B45B58D-FDB9-1FD5-3A22-8D0F4D05A54F}"/>
            </a:ext>
          </a:extLst>
        </p:cNvPr>
        <p:cNvGrpSpPr/>
        <p:nvPr/>
      </p:nvGrpSpPr>
      <p:grpSpPr>
        <a:xfrm>
          <a:off x="0" y="0"/>
          <a:ext cx="0" cy="0"/>
          <a:chOff x="0" y="0"/>
          <a:chExt cx="0" cy="0"/>
        </a:xfrm>
      </p:grpSpPr>
      <p:sp>
        <p:nvSpPr>
          <p:cNvPr id="343" name="Google Shape;343;g365a1995b16_0_22:notes">
            <a:extLst>
              <a:ext uri="{FF2B5EF4-FFF2-40B4-BE49-F238E27FC236}">
                <a16:creationId xmlns:a16="http://schemas.microsoft.com/office/drawing/2014/main" id="{F82E60D8-BC63-9946-BC8A-78DD34AAC3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365a1995b16_0_22:notes">
            <a:extLst>
              <a:ext uri="{FF2B5EF4-FFF2-40B4-BE49-F238E27FC236}">
                <a16:creationId xmlns:a16="http://schemas.microsoft.com/office/drawing/2014/main" id="{D4EE1EC0-7513-9229-FA73-B656EE77C7E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357739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335f20b53bc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335f20b53b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a:extLst>
            <a:ext uri="{FF2B5EF4-FFF2-40B4-BE49-F238E27FC236}">
              <a16:creationId xmlns:a16="http://schemas.microsoft.com/office/drawing/2014/main" id="{6A8D211F-67A7-3746-55C2-517BEED9658A}"/>
            </a:ext>
          </a:extLst>
        </p:cNvPr>
        <p:cNvGrpSpPr/>
        <p:nvPr/>
      </p:nvGrpSpPr>
      <p:grpSpPr>
        <a:xfrm>
          <a:off x="0" y="0"/>
          <a:ext cx="0" cy="0"/>
          <a:chOff x="0" y="0"/>
          <a:chExt cx="0" cy="0"/>
        </a:xfrm>
      </p:grpSpPr>
      <p:sp>
        <p:nvSpPr>
          <p:cNvPr id="351" name="Google Shape;351;g335f20b53bc_0_26:notes">
            <a:extLst>
              <a:ext uri="{FF2B5EF4-FFF2-40B4-BE49-F238E27FC236}">
                <a16:creationId xmlns:a16="http://schemas.microsoft.com/office/drawing/2014/main" id="{7CAA1138-E70C-3642-6802-4A1B3A73E9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335f20b53bc_0_26:notes">
            <a:extLst>
              <a:ext uri="{FF2B5EF4-FFF2-40B4-BE49-F238E27FC236}">
                <a16:creationId xmlns:a16="http://schemas.microsoft.com/office/drawing/2014/main" id="{5B5E8A50-CF95-AC3B-DCC6-E6544734741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7477142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35833b91743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35833b9174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a:extLst>
            <a:ext uri="{FF2B5EF4-FFF2-40B4-BE49-F238E27FC236}">
              <a16:creationId xmlns:a16="http://schemas.microsoft.com/office/drawing/2014/main" id="{18451338-73B8-665F-1514-060D56401383}"/>
            </a:ext>
          </a:extLst>
        </p:cNvPr>
        <p:cNvGrpSpPr/>
        <p:nvPr/>
      </p:nvGrpSpPr>
      <p:grpSpPr>
        <a:xfrm>
          <a:off x="0" y="0"/>
          <a:ext cx="0" cy="0"/>
          <a:chOff x="0" y="0"/>
          <a:chExt cx="0" cy="0"/>
        </a:xfrm>
      </p:grpSpPr>
      <p:sp>
        <p:nvSpPr>
          <p:cNvPr id="359" name="Google Shape;359;g35833b91743_0_9:notes">
            <a:extLst>
              <a:ext uri="{FF2B5EF4-FFF2-40B4-BE49-F238E27FC236}">
                <a16:creationId xmlns:a16="http://schemas.microsoft.com/office/drawing/2014/main" id="{51AE001B-22DA-32DE-772C-4CB6D7E027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35833b91743_0_9:notes">
            <a:extLst>
              <a:ext uri="{FF2B5EF4-FFF2-40B4-BE49-F238E27FC236}">
                <a16:creationId xmlns:a16="http://schemas.microsoft.com/office/drawing/2014/main" id="{9A8DA5CC-A5CA-D002-250C-6E069C325C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134215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35c9bdf6aa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35c9bdf6aa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33d03c4fbb9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33d03c4fbb9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33d03c4fbb9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33d03c4fbb9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533429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36bc0e96333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36bc0e96333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3696d7e09d4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2" name="Google Shape;392;g3696d7e09d4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g36b9103167a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9" name="Google Shape;399;g36b9103167a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a:extLst>
            <a:ext uri="{FF2B5EF4-FFF2-40B4-BE49-F238E27FC236}">
              <a16:creationId xmlns:a16="http://schemas.microsoft.com/office/drawing/2014/main" id="{895980E3-ACE0-250F-AA27-0C150DB15F34}"/>
            </a:ext>
          </a:extLst>
        </p:cNvPr>
        <p:cNvGrpSpPr/>
        <p:nvPr/>
      </p:nvGrpSpPr>
      <p:grpSpPr>
        <a:xfrm>
          <a:off x="0" y="0"/>
          <a:ext cx="0" cy="0"/>
          <a:chOff x="0" y="0"/>
          <a:chExt cx="0" cy="0"/>
        </a:xfrm>
      </p:grpSpPr>
      <p:sp>
        <p:nvSpPr>
          <p:cNvPr id="398" name="Google Shape;398;g36b9103167a_0_4:notes">
            <a:extLst>
              <a:ext uri="{FF2B5EF4-FFF2-40B4-BE49-F238E27FC236}">
                <a16:creationId xmlns:a16="http://schemas.microsoft.com/office/drawing/2014/main" id="{CCB90844-5D8B-95FB-AD03-908479F747D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9" name="Google Shape;399;g36b9103167a_0_4:notes">
            <a:extLst>
              <a:ext uri="{FF2B5EF4-FFF2-40B4-BE49-F238E27FC236}">
                <a16:creationId xmlns:a16="http://schemas.microsoft.com/office/drawing/2014/main" id="{9172664D-5566-7010-AE24-F1CD53D74E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912417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36ba1309578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 name="Google Shape;407;g36ba1309578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36d2371e6aa_3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6" name="Google Shape;416;g36d2371e6aa_3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a:extLst>
            <a:ext uri="{FF2B5EF4-FFF2-40B4-BE49-F238E27FC236}">
              <a16:creationId xmlns:a16="http://schemas.microsoft.com/office/drawing/2014/main" id="{2DDAAD53-140D-6957-5928-3C26FD729693}"/>
            </a:ext>
          </a:extLst>
        </p:cNvPr>
        <p:cNvGrpSpPr/>
        <p:nvPr/>
      </p:nvGrpSpPr>
      <p:grpSpPr>
        <a:xfrm>
          <a:off x="0" y="0"/>
          <a:ext cx="0" cy="0"/>
          <a:chOff x="0" y="0"/>
          <a:chExt cx="0" cy="0"/>
        </a:xfrm>
      </p:grpSpPr>
      <p:sp>
        <p:nvSpPr>
          <p:cNvPr id="415" name="Google Shape;415;g36d2371e6aa_3_6:notes">
            <a:extLst>
              <a:ext uri="{FF2B5EF4-FFF2-40B4-BE49-F238E27FC236}">
                <a16:creationId xmlns:a16="http://schemas.microsoft.com/office/drawing/2014/main" id="{CF8024F9-834E-77D6-7957-302D8BE45A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6" name="Google Shape;416;g36d2371e6aa_3_6:notes">
            <a:extLst>
              <a:ext uri="{FF2B5EF4-FFF2-40B4-BE49-F238E27FC236}">
                <a16:creationId xmlns:a16="http://schemas.microsoft.com/office/drawing/2014/main" id="{84384FC0-268B-0402-BF02-A2F0DAB94C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267424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3449644d75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3449644d75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3449644d758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3449644d758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ja"/>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1.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6.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0.xml"/><Relationship Id="rId1" Type="http://schemas.openxmlformats.org/officeDocument/2006/relationships/slideLayout" Target="../slideLayouts/slideLayout3.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D44D7D54-F7AE-027C-881D-6A2E7EF1F329}"/>
            </a:ext>
          </a:extLst>
        </p:cNvPr>
        <p:cNvGrpSpPr/>
        <p:nvPr/>
      </p:nvGrpSpPr>
      <p:grpSpPr>
        <a:xfrm>
          <a:off x="0" y="0"/>
          <a:ext cx="0" cy="0"/>
          <a:chOff x="0" y="0"/>
          <a:chExt cx="0" cy="0"/>
        </a:xfrm>
      </p:grpSpPr>
      <p:sp>
        <p:nvSpPr>
          <p:cNvPr id="54" name="Google Shape;54;p13">
            <a:extLst>
              <a:ext uri="{FF2B5EF4-FFF2-40B4-BE49-F238E27FC236}">
                <a16:creationId xmlns:a16="http://schemas.microsoft.com/office/drawing/2014/main" id="{FA7E84F7-A53E-23B9-AA3F-E5163B0D52E6}"/>
              </a:ext>
            </a:extLst>
          </p:cNvPr>
          <p:cNvSpPr txBox="1">
            <a:spLocks noGrp="1"/>
          </p:cNvSpPr>
          <p:nvPr>
            <p:ph type="ctrTitle"/>
          </p:nvPr>
        </p:nvSpPr>
        <p:spPr>
          <a:xfrm>
            <a:off x="0" y="540275"/>
            <a:ext cx="9144000" cy="1947600"/>
          </a:xfrm>
          <a:prstGeom prst="rect">
            <a:avLst/>
          </a:prstGeom>
        </p:spPr>
        <p:txBody>
          <a:bodyPr spcFirstLastPara="1" wrap="square" lIns="91425" tIns="91425" rIns="91425" bIns="91425" anchor="b" anchorCtr="0">
            <a:noAutofit/>
          </a:bodyPr>
          <a:lstStyle/>
          <a:p>
            <a:pPr lvl="0"/>
            <a:r>
              <a:rPr lang="en-US" sz="2800" dirty="0"/>
              <a:t>【POS Server Offline 2.0】</a:t>
            </a:r>
            <a:br>
              <a:rPr lang="en-US" sz="2800" dirty="0"/>
            </a:br>
            <a:r>
              <a:rPr lang="en-US" sz="2800" dirty="0" err="1"/>
              <a:t>Điều</a:t>
            </a:r>
            <a:r>
              <a:rPr lang="en-US" sz="2800" dirty="0"/>
              <a:t> </a:t>
            </a:r>
            <a:r>
              <a:rPr lang="en-US" sz="2800" dirty="0" err="1"/>
              <a:t>kiện</a:t>
            </a:r>
            <a:r>
              <a:rPr lang="en-US" sz="2800" dirty="0"/>
              <a:t> Infra (ISHIDA</a:t>
            </a:r>
            <a:r>
              <a:rPr lang="en-US" altLang="ja-JP" sz="2800" dirty="0"/>
              <a:t>)</a:t>
            </a:r>
            <a:endParaRPr sz="2600" dirty="0"/>
          </a:p>
        </p:txBody>
      </p:sp>
      <p:sp>
        <p:nvSpPr>
          <p:cNvPr id="55" name="Google Shape;55;p13">
            <a:extLst>
              <a:ext uri="{FF2B5EF4-FFF2-40B4-BE49-F238E27FC236}">
                <a16:creationId xmlns:a16="http://schemas.microsoft.com/office/drawing/2014/main" id="{ECB44BB4-02D3-051B-E46B-0F20C145D9BF}"/>
              </a:ext>
            </a:extLst>
          </p:cNvPr>
          <p:cNvSpPr txBox="1">
            <a:spLocks noGrp="1"/>
          </p:cNvSpPr>
          <p:nvPr>
            <p:ph type="ctrTitle"/>
          </p:nvPr>
        </p:nvSpPr>
        <p:spPr>
          <a:xfrm>
            <a:off x="0" y="3364225"/>
            <a:ext cx="9144000" cy="12990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SzPts val="990"/>
              <a:buNone/>
            </a:pPr>
            <a:r>
              <a:rPr lang="ja" sz="1820"/>
              <a:t>2025年7月9日</a:t>
            </a:r>
            <a:endParaRPr sz="1820"/>
          </a:p>
          <a:p>
            <a:pPr marL="0" lvl="0" indent="0" algn="ctr" rtl="0">
              <a:spcBef>
                <a:spcPts val="0"/>
              </a:spcBef>
              <a:spcAft>
                <a:spcPts val="0"/>
              </a:spcAft>
              <a:buSzPts val="990"/>
              <a:buNone/>
            </a:pPr>
            <a:r>
              <a:rPr lang="ja" sz="1820"/>
              <a:t>Luvina Software JSC</a:t>
            </a:r>
            <a:endParaRPr sz="1820"/>
          </a:p>
          <a:p>
            <a:pPr marL="0" lvl="0" indent="0" algn="ctr" rtl="0">
              <a:spcBef>
                <a:spcPts val="0"/>
              </a:spcBef>
              <a:spcAft>
                <a:spcPts val="0"/>
              </a:spcAft>
              <a:buSzPts val="990"/>
              <a:buNone/>
            </a:pPr>
            <a:r>
              <a:rPr lang="ja" sz="1820"/>
              <a:t>大谷雅味</a:t>
            </a:r>
            <a:endParaRPr sz="1820"/>
          </a:p>
        </p:txBody>
      </p:sp>
      <p:pic>
        <p:nvPicPr>
          <p:cNvPr id="56" name="Google Shape;56;p13" title="logo-luvina-2022-2.png">
            <a:extLst>
              <a:ext uri="{FF2B5EF4-FFF2-40B4-BE49-F238E27FC236}">
                <a16:creationId xmlns:a16="http://schemas.microsoft.com/office/drawing/2014/main" id="{FFF76A37-AE92-151D-AEA8-A4663AE8BC7B}"/>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57" name="Google Shape;57;p13">
            <a:extLst>
              <a:ext uri="{FF2B5EF4-FFF2-40B4-BE49-F238E27FC236}">
                <a16:creationId xmlns:a16="http://schemas.microsoft.com/office/drawing/2014/main" id="{D6DCE761-BE6C-8BCB-5F0A-80DF68871224}"/>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a:t>
            </a:fld>
            <a:endParaRPr/>
          </a:p>
        </p:txBody>
      </p:sp>
      <p:sp>
        <p:nvSpPr>
          <p:cNvPr id="58" name="Google Shape;58;p13">
            <a:extLst>
              <a:ext uri="{FF2B5EF4-FFF2-40B4-BE49-F238E27FC236}">
                <a16:creationId xmlns:a16="http://schemas.microsoft.com/office/drawing/2014/main" id="{4BBB8B7C-12C7-560D-A8CD-6C53DFA03135}"/>
              </a:ext>
            </a:extLst>
          </p:cNvPr>
          <p:cNvSpPr txBox="1">
            <a:spLocks noGrp="1"/>
          </p:cNvSpPr>
          <p:nvPr>
            <p:ph type="ctrTitle"/>
          </p:nvPr>
        </p:nvSpPr>
        <p:spPr>
          <a:xfrm>
            <a:off x="0" y="2787300"/>
            <a:ext cx="9144000" cy="4707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ja" sz="2020"/>
              <a:t>Version 1.0</a:t>
            </a:r>
            <a:endParaRPr sz="2020">
              <a:solidFill>
                <a:srgbClr val="FF0000"/>
              </a:solidFill>
            </a:endParaRPr>
          </a:p>
        </p:txBody>
      </p:sp>
    </p:spTree>
    <p:extLst>
      <p:ext uri="{BB962C8B-B14F-4D97-AF65-F5344CB8AC3E}">
        <p14:creationId xmlns:p14="http://schemas.microsoft.com/office/powerpoint/2010/main" val="38852293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pic>
        <p:nvPicPr>
          <p:cNvPr id="63" name="Google Shape;63;p14"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64" name="Google Shape;64;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a:t>
            </a:fld>
            <a:endParaRPr/>
          </a:p>
        </p:txBody>
      </p:sp>
      <p:sp>
        <p:nvSpPr>
          <p:cNvPr id="65" name="Google Shape;65;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t>目次</a:t>
            </a:r>
            <a:endParaRPr/>
          </a:p>
        </p:txBody>
      </p:sp>
      <p:sp>
        <p:nvSpPr>
          <p:cNvPr id="66" name="Google Shape;66;p14"/>
          <p:cNvSpPr txBox="1">
            <a:spLocks noGrp="1"/>
          </p:cNvSpPr>
          <p:nvPr>
            <p:ph type="body" idx="1"/>
          </p:nvPr>
        </p:nvSpPr>
        <p:spPr>
          <a:xfrm>
            <a:off x="468400" y="1152475"/>
            <a:ext cx="8136000" cy="3416400"/>
          </a:xfrm>
          <a:prstGeom prst="rect">
            <a:avLst/>
          </a:prstGeom>
        </p:spPr>
        <p:txBody>
          <a:bodyPr spcFirstLastPara="1" wrap="square" lIns="91425" tIns="91425" rIns="91425" bIns="91425" anchor="t" anchorCtr="0">
            <a:normAutofit fontScale="92500" lnSpcReduction="20000"/>
          </a:bodyPr>
          <a:lstStyle/>
          <a:p>
            <a:pPr marL="457200" lvl="0" indent="-342900" algn="l" rtl="0">
              <a:spcBef>
                <a:spcPts val="0"/>
              </a:spcBef>
              <a:spcAft>
                <a:spcPts val="0"/>
              </a:spcAft>
              <a:buSzPts val="1800"/>
              <a:buAutoNum type="arabicPeriod"/>
            </a:pPr>
            <a:r>
              <a:rPr lang="ja" dirty="0"/>
              <a:t>オフライン版POSサーバ2.0の位置付け</a:t>
            </a:r>
            <a:endParaRPr dirty="0"/>
          </a:p>
          <a:p>
            <a:pPr marL="457200" lvl="0" indent="-342900" algn="l" rtl="0">
              <a:spcBef>
                <a:spcPts val="0"/>
              </a:spcBef>
              <a:spcAft>
                <a:spcPts val="0"/>
              </a:spcAft>
              <a:buSzPts val="1800"/>
              <a:buAutoNum type="arabicPeriod"/>
            </a:pPr>
            <a:r>
              <a:rPr lang="ja" dirty="0"/>
              <a:t>インフラ設計方針</a:t>
            </a:r>
            <a:endParaRPr dirty="0"/>
          </a:p>
          <a:p>
            <a:pPr marL="457200" lvl="0" indent="-342900" algn="l" rtl="0">
              <a:spcBef>
                <a:spcPts val="0"/>
              </a:spcBef>
              <a:spcAft>
                <a:spcPts val="0"/>
              </a:spcAft>
              <a:buSzPts val="1800"/>
              <a:buAutoNum type="arabicPeriod"/>
            </a:pPr>
            <a:r>
              <a:rPr lang="ja" dirty="0"/>
              <a:t>AWSアカウント設計</a:t>
            </a:r>
            <a:endParaRPr dirty="0"/>
          </a:p>
          <a:p>
            <a:pPr marL="457200" lvl="0" indent="-342900" algn="l" rtl="0">
              <a:spcBef>
                <a:spcPts val="0"/>
              </a:spcBef>
              <a:spcAft>
                <a:spcPts val="0"/>
              </a:spcAft>
              <a:buSzPts val="1800"/>
              <a:buAutoNum type="arabicPeriod"/>
            </a:pPr>
            <a:r>
              <a:rPr lang="ja" dirty="0"/>
              <a:t>ネットワーク構成（既存のオンライン版POSサーバ）</a:t>
            </a:r>
            <a:endParaRPr dirty="0"/>
          </a:p>
          <a:p>
            <a:pPr marL="457200" lvl="0" indent="-342900" algn="l" rtl="0">
              <a:spcBef>
                <a:spcPts val="0"/>
              </a:spcBef>
              <a:spcAft>
                <a:spcPts val="0"/>
              </a:spcAft>
              <a:buSzPts val="1800"/>
              <a:buAutoNum type="arabicPeriod"/>
            </a:pPr>
            <a:r>
              <a:rPr lang="ja" dirty="0"/>
              <a:t>ネットワーク構成（オフライン番POSサーバとUSMH閉域網）</a:t>
            </a:r>
            <a:endParaRPr dirty="0"/>
          </a:p>
          <a:p>
            <a:pPr marL="457200" lvl="0" indent="-342900" algn="l" rtl="0">
              <a:spcBef>
                <a:spcPts val="0"/>
              </a:spcBef>
              <a:spcAft>
                <a:spcPts val="0"/>
              </a:spcAft>
              <a:buSzPts val="1800"/>
              <a:buAutoNum type="arabicPeriod"/>
            </a:pPr>
            <a:r>
              <a:rPr lang="ja" dirty="0"/>
              <a:t>ネットワーク構成（ルビナオフィス）</a:t>
            </a:r>
            <a:endParaRPr dirty="0"/>
          </a:p>
          <a:p>
            <a:pPr marL="457200" lvl="0" indent="-342900" algn="l" rtl="0">
              <a:spcBef>
                <a:spcPts val="0"/>
              </a:spcBef>
              <a:spcAft>
                <a:spcPts val="0"/>
              </a:spcAft>
              <a:buSzPts val="1800"/>
              <a:buAutoNum type="arabicPeriod"/>
            </a:pPr>
            <a:r>
              <a:rPr lang="ja" dirty="0"/>
              <a:t>AWSアカウント管理</a:t>
            </a:r>
            <a:endParaRPr dirty="0"/>
          </a:p>
          <a:p>
            <a:pPr marL="457200" lvl="0" indent="-342900" algn="l" rtl="0">
              <a:spcBef>
                <a:spcPts val="0"/>
              </a:spcBef>
              <a:spcAft>
                <a:spcPts val="0"/>
              </a:spcAft>
              <a:buSzPts val="1800"/>
              <a:buAutoNum type="arabicPeriod"/>
            </a:pPr>
            <a:r>
              <a:rPr lang="ja" dirty="0"/>
              <a:t>システム構成</a:t>
            </a:r>
            <a:endParaRPr dirty="0"/>
          </a:p>
          <a:p>
            <a:pPr marL="457200" lvl="0" indent="-342900" algn="l" rtl="0">
              <a:spcBef>
                <a:spcPts val="0"/>
              </a:spcBef>
              <a:spcAft>
                <a:spcPts val="0"/>
              </a:spcAft>
              <a:buSzPts val="1800"/>
              <a:buAutoNum type="arabicPeriod"/>
            </a:pPr>
            <a:r>
              <a:rPr lang="ja" dirty="0"/>
              <a:t>AWSサービス共通</a:t>
            </a:r>
            <a:endParaRPr dirty="0"/>
          </a:p>
          <a:p>
            <a:pPr marL="457200" lvl="0" indent="-342900" algn="l" rtl="0">
              <a:spcBef>
                <a:spcPts val="0"/>
              </a:spcBef>
              <a:spcAft>
                <a:spcPts val="0"/>
              </a:spcAft>
              <a:buSzPts val="1800"/>
              <a:buAutoNum type="arabicPeriod"/>
            </a:pPr>
            <a:r>
              <a:rPr lang="ja" dirty="0"/>
              <a:t>監視</a:t>
            </a:r>
            <a:endParaRPr dirty="0"/>
          </a:p>
          <a:p>
            <a:pPr marL="457200" lvl="0" indent="-342900" algn="l" rtl="0">
              <a:spcBef>
                <a:spcPts val="0"/>
              </a:spcBef>
              <a:spcAft>
                <a:spcPts val="0"/>
              </a:spcAft>
              <a:buSzPts val="1800"/>
              <a:buAutoNum type="arabicPeriod"/>
            </a:pPr>
            <a:r>
              <a:rPr lang="ja" dirty="0"/>
              <a:t>セキュリティ対策</a:t>
            </a:r>
            <a:endParaRPr dirty="0"/>
          </a:p>
          <a:p>
            <a:pPr marL="457200" lvl="0" indent="-342900" algn="l" rtl="0">
              <a:spcBef>
                <a:spcPts val="0"/>
              </a:spcBef>
              <a:spcAft>
                <a:spcPts val="0"/>
              </a:spcAft>
              <a:buSzPts val="1800"/>
              <a:buAutoNum type="arabicPeriod"/>
            </a:pPr>
            <a:r>
              <a:rPr lang="ja" dirty="0"/>
              <a:t>CICD</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2">
          <a:extLst>
            <a:ext uri="{FF2B5EF4-FFF2-40B4-BE49-F238E27FC236}">
              <a16:creationId xmlns:a16="http://schemas.microsoft.com/office/drawing/2014/main" id="{6BA9F47A-17CE-B1C7-43C3-85420AA1F40B}"/>
            </a:ext>
          </a:extLst>
        </p:cNvPr>
        <p:cNvGrpSpPr/>
        <p:nvPr/>
      </p:nvGrpSpPr>
      <p:grpSpPr>
        <a:xfrm>
          <a:off x="0" y="0"/>
          <a:ext cx="0" cy="0"/>
          <a:chOff x="0" y="0"/>
          <a:chExt cx="0" cy="0"/>
        </a:xfrm>
      </p:grpSpPr>
      <p:pic>
        <p:nvPicPr>
          <p:cNvPr id="63" name="Google Shape;63;p14" title="logo-luvina-2022-2.png">
            <a:extLst>
              <a:ext uri="{FF2B5EF4-FFF2-40B4-BE49-F238E27FC236}">
                <a16:creationId xmlns:a16="http://schemas.microsoft.com/office/drawing/2014/main" id="{126DB3DC-F15A-3239-6B4F-896CA0DA8E78}"/>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64" name="Google Shape;64;p14">
            <a:extLst>
              <a:ext uri="{FF2B5EF4-FFF2-40B4-BE49-F238E27FC236}">
                <a16:creationId xmlns:a16="http://schemas.microsoft.com/office/drawing/2014/main" id="{D22FFD00-9139-5690-7A70-7A398F859ECF}"/>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a:t>
            </a:fld>
            <a:endParaRPr/>
          </a:p>
        </p:txBody>
      </p:sp>
      <p:sp>
        <p:nvSpPr>
          <p:cNvPr id="65" name="Google Shape;65;p14">
            <a:extLst>
              <a:ext uri="{FF2B5EF4-FFF2-40B4-BE49-F238E27FC236}">
                <a16:creationId xmlns:a16="http://schemas.microsoft.com/office/drawing/2014/main" id="{9BC66E1B-EA52-5F35-E2EE-29FE1659743E}"/>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altLang="ja" dirty="0"/>
              <a:t>Các </a:t>
            </a:r>
            <a:r>
              <a:rPr lang="en-US" altLang="ja" dirty="0" err="1"/>
              <a:t>mục</a:t>
            </a:r>
            <a:endParaRPr dirty="0"/>
          </a:p>
        </p:txBody>
      </p:sp>
      <p:sp>
        <p:nvSpPr>
          <p:cNvPr id="66" name="Google Shape;66;p14">
            <a:extLst>
              <a:ext uri="{FF2B5EF4-FFF2-40B4-BE49-F238E27FC236}">
                <a16:creationId xmlns:a16="http://schemas.microsoft.com/office/drawing/2014/main" id="{E60F1F19-A612-BC10-C6C6-1677A0B73EB0}"/>
              </a:ext>
            </a:extLst>
          </p:cNvPr>
          <p:cNvSpPr txBox="1">
            <a:spLocks noGrp="1"/>
          </p:cNvSpPr>
          <p:nvPr>
            <p:ph type="body" idx="1"/>
          </p:nvPr>
        </p:nvSpPr>
        <p:spPr>
          <a:xfrm>
            <a:off x="468400" y="1152475"/>
            <a:ext cx="8136000" cy="3416400"/>
          </a:xfrm>
          <a:prstGeom prst="rect">
            <a:avLst/>
          </a:prstGeom>
        </p:spPr>
        <p:txBody>
          <a:bodyPr spcFirstLastPara="1" wrap="square" lIns="91425" tIns="91425" rIns="91425" bIns="91425" anchor="t" anchorCtr="0">
            <a:normAutofit fontScale="92500" lnSpcReduction="20000"/>
          </a:bodyPr>
          <a:lstStyle/>
          <a:p>
            <a:pPr lvl="0">
              <a:buAutoNum type="arabicPeriod"/>
            </a:pPr>
            <a:r>
              <a:rPr lang="en-US" altLang="ja-JP" dirty="0" err="1"/>
              <a:t>Vị</a:t>
            </a:r>
            <a:r>
              <a:rPr lang="en-US" altLang="ja-JP" dirty="0"/>
              <a:t> </a:t>
            </a:r>
            <a:r>
              <a:rPr lang="en-US" altLang="ja-JP" dirty="0" err="1"/>
              <a:t>trí</a:t>
            </a:r>
            <a:r>
              <a:rPr lang="en-US" altLang="ja-JP" dirty="0"/>
              <a:t> </a:t>
            </a:r>
            <a:r>
              <a:rPr lang="en-US" altLang="ja-JP" dirty="0" err="1"/>
              <a:t>của</a:t>
            </a:r>
            <a:r>
              <a:rPr lang="en-US" altLang="ja-JP" dirty="0"/>
              <a:t> POS Server Offline 2.0</a:t>
            </a:r>
          </a:p>
          <a:p>
            <a:pPr lvl="0">
              <a:buAutoNum type="arabicPeriod"/>
            </a:pPr>
            <a:r>
              <a:rPr lang="en-US" altLang="ja" dirty="0"/>
              <a:t>Phương </a:t>
            </a:r>
            <a:r>
              <a:rPr lang="en-US" altLang="ja" dirty="0" err="1"/>
              <a:t>châm</a:t>
            </a:r>
            <a:r>
              <a:rPr lang="en-US" altLang="ja-JP" dirty="0"/>
              <a:t> </a:t>
            </a:r>
            <a:r>
              <a:rPr lang="en-US" altLang="ja-JP" dirty="0" err="1"/>
              <a:t>thiết</a:t>
            </a:r>
            <a:r>
              <a:rPr lang="en-US" altLang="ja-JP" dirty="0"/>
              <a:t> </a:t>
            </a:r>
            <a:r>
              <a:rPr lang="en-US" altLang="ja-JP" dirty="0" err="1"/>
              <a:t>kế</a:t>
            </a:r>
            <a:r>
              <a:rPr lang="en-US" altLang="ja-JP" dirty="0"/>
              <a:t> </a:t>
            </a:r>
            <a:r>
              <a:rPr lang="en-US" altLang="ja-JP" dirty="0" err="1"/>
              <a:t>hạ</a:t>
            </a:r>
            <a:r>
              <a:rPr lang="en-US" altLang="ja-JP" dirty="0"/>
              <a:t> </a:t>
            </a:r>
            <a:r>
              <a:rPr lang="en-US" altLang="ja-JP" dirty="0" err="1"/>
              <a:t>tầng</a:t>
            </a:r>
            <a:endParaRPr lang="en-US" altLang="ja-JP" dirty="0"/>
          </a:p>
          <a:p>
            <a:pPr lvl="0">
              <a:buAutoNum type="arabicPeriod"/>
            </a:pPr>
            <a:r>
              <a:rPr lang="en-US" altLang="ja-JP" dirty="0"/>
              <a:t>Setting </a:t>
            </a:r>
            <a:r>
              <a:rPr lang="en-US" altLang="ja-JP" dirty="0" err="1"/>
              <a:t>tài</a:t>
            </a:r>
            <a:r>
              <a:rPr lang="en-US" altLang="ja-JP" dirty="0"/>
              <a:t> </a:t>
            </a:r>
            <a:r>
              <a:rPr lang="en-US" altLang="ja-JP" dirty="0" err="1"/>
              <a:t>khoản</a:t>
            </a:r>
            <a:r>
              <a:rPr lang="en-US" altLang="ja-JP" dirty="0"/>
              <a:t> AWS</a:t>
            </a:r>
          </a:p>
          <a:p>
            <a:pPr lvl="0">
              <a:buAutoNum type="arabicPeriod"/>
            </a:pPr>
            <a:r>
              <a:rPr lang="en-US" altLang="ja-JP" dirty="0" err="1"/>
              <a:t>Cấu</a:t>
            </a:r>
            <a:r>
              <a:rPr lang="en-US" altLang="ja-JP" dirty="0"/>
              <a:t> </a:t>
            </a:r>
            <a:r>
              <a:rPr lang="en-US" altLang="ja-JP" dirty="0" err="1"/>
              <a:t>trúc</a:t>
            </a:r>
            <a:r>
              <a:rPr lang="en-US" altLang="ja-JP" dirty="0"/>
              <a:t> </a:t>
            </a:r>
            <a:r>
              <a:rPr lang="en-US" altLang="ja-JP" dirty="0" err="1"/>
              <a:t>mạng</a:t>
            </a:r>
            <a:r>
              <a:rPr lang="en-US" altLang="ja-JP" dirty="0"/>
              <a:t> (POS Server Online </a:t>
            </a:r>
            <a:r>
              <a:rPr lang="en-US" altLang="ja-JP" dirty="0" err="1"/>
              <a:t>hiện</a:t>
            </a:r>
            <a:r>
              <a:rPr lang="en-US" altLang="ja-JP" dirty="0"/>
              <a:t> </a:t>
            </a:r>
            <a:r>
              <a:rPr lang="en-US" altLang="ja-JP" dirty="0" err="1"/>
              <a:t>tại</a:t>
            </a:r>
            <a:r>
              <a:rPr lang="en-US" altLang="ja-JP" dirty="0"/>
              <a:t>)</a:t>
            </a:r>
          </a:p>
          <a:p>
            <a:pPr lvl="0">
              <a:buAutoNum type="arabicPeriod"/>
            </a:pPr>
            <a:r>
              <a:rPr lang="en-US" altLang="ja-JP" dirty="0" err="1"/>
              <a:t>Cấu</a:t>
            </a:r>
            <a:r>
              <a:rPr lang="en-US" altLang="ja-JP" dirty="0"/>
              <a:t> </a:t>
            </a:r>
            <a:r>
              <a:rPr lang="en-US" altLang="ja-JP" dirty="0" err="1"/>
              <a:t>trúc</a:t>
            </a:r>
            <a:r>
              <a:rPr lang="en-US" altLang="ja-JP" dirty="0"/>
              <a:t> </a:t>
            </a:r>
            <a:r>
              <a:rPr lang="en-US" altLang="ja-JP" dirty="0" err="1"/>
              <a:t>mạng</a:t>
            </a:r>
            <a:r>
              <a:rPr lang="en-US" altLang="ja-JP" dirty="0"/>
              <a:t> (POS Server Offline </a:t>
            </a:r>
            <a:r>
              <a:rPr lang="en-US" altLang="ja-JP" dirty="0" err="1"/>
              <a:t>và</a:t>
            </a:r>
            <a:r>
              <a:rPr lang="en-US" altLang="ja-JP" dirty="0"/>
              <a:t> </a:t>
            </a:r>
            <a:r>
              <a:rPr lang="en-US" altLang="ja-JP" dirty="0" err="1"/>
              <a:t>mạng</a:t>
            </a:r>
            <a:r>
              <a:rPr lang="en-US" altLang="ja-JP" dirty="0"/>
              <a:t> </a:t>
            </a:r>
            <a:r>
              <a:rPr lang="en-US" altLang="ja-JP" dirty="0" err="1"/>
              <a:t>nội</a:t>
            </a:r>
            <a:r>
              <a:rPr lang="en-US" altLang="ja-JP" dirty="0"/>
              <a:t> </a:t>
            </a:r>
            <a:r>
              <a:rPr lang="en-US" altLang="ja-JP" dirty="0" err="1"/>
              <a:t>bộ</a:t>
            </a:r>
            <a:r>
              <a:rPr lang="en-US" altLang="ja-JP" dirty="0"/>
              <a:t> USMH)</a:t>
            </a:r>
          </a:p>
          <a:p>
            <a:pPr lvl="0">
              <a:buAutoNum type="arabicPeriod"/>
            </a:pPr>
            <a:r>
              <a:rPr lang="en-US" altLang="ja-JP" dirty="0" err="1"/>
              <a:t>Cấu</a:t>
            </a:r>
            <a:r>
              <a:rPr lang="en-US" altLang="ja-JP" dirty="0"/>
              <a:t> </a:t>
            </a:r>
            <a:r>
              <a:rPr lang="en-US" altLang="ja-JP" dirty="0" err="1"/>
              <a:t>trúc</a:t>
            </a:r>
            <a:r>
              <a:rPr lang="en-US" altLang="ja-JP" dirty="0"/>
              <a:t> </a:t>
            </a:r>
            <a:r>
              <a:rPr lang="en-US" altLang="ja-JP" dirty="0" err="1"/>
              <a:t>mạng</a:t>
            </a:r>
            <a:r>
              <a:rPr lang="en-US" altLang="ja-JP" dirty="0"/>
              <a:t> (</a:t>
            </a:r>
            <a:r>
              <a:rPr lang="en-US" altLang="ja-JP" dirty="0" err="1"/>
              <a:t>văn</a:t>
            </a:r>
            <a:r>
              <a:rPr lang="en-US" altLang="ja-JP" dirty="0"/>
              <a:t> </a:t>
            </a:r>
            <a:r>
              <a:rPr lang="en-US" altLang="ja-JP" dirty="0" err="1"/>
              <a:t>phòng</a:t>
            </a:r>
            <a:r>
              <a:rPr lang="en-US" altLang="ja-JP" dirty="0"/>
              <a:t> Luvina)</a:t>
            </a:r>
          </a:p>
          <a:p>
            <a:pPr lvl="0">
              <a:buAutoNum type="arabicPeriod"/>
            </a:pPr>
            <a:r>
              <a:rPr lang="en-US" altLang="ja-JP" dirty="0"/>
              <a:t>Quản </a:t>
            </a:r>
            <a:r>
              <a:rPr lang="en-US" altLang="ja-JP" dirty="0" err="1"/>
              <a:t>lý</a:t>
            </a:r>
            <a:r>
              <a:rPr lang="en-US" altLang="ja-JP" dirty="0"/>
              <a:t> </a:t>
            </a:r>
            <a:r>
              <a:rPr lang="en-US" altLang="ja-JP" dirty="0" err="1"/>
              <a:t>tài</a:t>
            </a:r>
            <a:r>
              <a:rPr lang="en-US" altLang="ja-JP" dirty="0"/>
              <a:t> </a:t>
            </a:r>
            <a:r>
              <a:rPr lang="en-US" altLang="ja-JP" dirty="0" err="1"/>
              <a:t>khoản</a:t>
            </a:r>
            <a:r>
              <a:rPr lang="en-US" altLang="ja-JP" dirty="0"/>
              <a:t> AWS</a:t>
            </a:r>
          </a:p>
          <a:p>
            <a:pPr lvl="0">
              <a:buAutoNum type="arabicPeriod"/>
            </a:pPr>
            <a:r>
              <a:rPr lang="en-US" altLang="ja-JP" dirty="0" err="1"/>
              <a:t>Cấu</a:t>
            </a:r>
            <a:r>
              <a:rPr lang="en-US" altLang="ja-JP" dirty="0"/>
              <a:t> </a:t>
            </a:r>
            <a:r>
              <a:rPr lang="en-US" altLang="ja-JP" dirty="0" err="1"/>
              <a:t>trúc</a:t>
            </a:r>
            <a:r>
              <a:rPr lang="en-US" altLang="ja-JP" dirty="0"/>
              <a:t> </a:t>
            </a:r>
            <a:r>
              <a:rPr lang="en-US" altLang="ja-JP" dirty="0" err="1"/>
              <a:t>hệ</a:t>
            </a:r>
            <a:r>
              <a:rPr lang="en-US" altLang="ja-JP" dirty="0"/>
              <a:t> </a:t>
            </a:r>
            <a:r>
              <a:rPr lang="en-US" altLang="ja-JP" dirty="0" err="1"/>
              <a:t>thống</a:t>
            </a:r>
            <a:endParaRPr lang="en-US" altLang="ja-JP" dirty="0"/>
          </a:p>
          <a:p>
            <a:pPr lvl="0">
              <a:buAutoNum type="arabicPeriod"/>
            </a:pPr>
            <a:r>
              <a:rPr lang="en-US" altLang="ja-JP" dirty="0" err="1"/>
              <a:t>Dịch</a:t>
            </a:r>
            <a:r>
              <a:rPr lang="en-US" altLang="ja-JP" dirty="0"/>
              <a:t> </a:t>
            </a:r>
            <a:r>
              <a:rPr lang="en-US" altLang="ja-JP" dirty="0" err="1"/>
              <a:t>vụ</a:t>
            </a:r>
            <a:r>
              <a:rPr lang="en-US" altLang="ja-JP" dirty="0"/>
              <a:t> </a:t>
            </a:r>
            <a:r>
              <a:rPr lang="en-US" altLang="ja-JP" dirty="0" err="1"/>
              <a:t>chung</a:t>
            </a:r>
            <a:r>
              <a:rPr lang="en-US" altLang="ja-JP" dirty="0"/>
              <a:t> </a:t>
            </a:r>
            <a:r>
              <a:rPr lang="en-US" altLang="ja-JP" dirty="0" err="1"/>
              <a:t>của</a:t>
            </a:r>
            <a:r>
              <a:rPr lang="en-US" altLang="ja-JP" dirty="0"/>
              <a:t> AWS</a:t>
            </a:r>
          </a:p>
          <a:p>
            <a:pPr lvl="0">
              <a:buAutoNum type="arabicPeriod"/>
            </a:pPr>
            <a:r>
              <a:rPr lang="en-US" altLang="ja-JP" dirty="0" err="1"/>
              <a:t>Giám</a:t>
            </a:r>
            <a:r>
              <a:rPr lang="en-US" altLang="ja-JP" dirty="0"/>
              <a:t> </a:t>
            </a:r>
            <a:r>
              <a:rPr lang="en-US" altLang="ja-JP" dirty="0" err="1"/>
              <a:t>sát</a:t>
            </a:r>
            <a:r>
              <a:rPr lang="en-US" altLang="ja-JP" dirty="0"/>
              <a:t>/Admin</a:t>
            </a:r>
          </a:p>
          <a:p>
            <a:pPr lvl="0">
              <a:buAutoNum type="arabicPeriod"/>
            </a:pPr>
            <a:r>
              <a:rPr lang="en-US" altLang="ja-JP" dirty="0" err="1"/>
              <a:t>Biện</a:t>
            </a:r>
            <a:r>
              <a:rPr lang="en-US" altLang="ja-JP" dirty="0"/>
              <a:t> </a:t>
            </a:r>
            <a:r>
              <a:rPr lang="en-US" altLang="ja-JP" dirty="0" err="1"/>
              <a:t>pháp</a:t>
            </a:r>
            <a:r>
              <a:rPr lang="en-US" altLang="ja-JP" dirty="0"/>
              <a:t> an </a:t>
            </a:r>
            <a:r>
              <a:rPr lang="en-US" altLang="ja-JP" dirty="0" err="1"/>
              <a:t>ninh</a:t>
            </a:r>
            <a:endParaRPr lang="en-US" altLang="ja-JP" dirty="0"/>
          </a:p>
          <a:p>
            <a:pPr lvl="0">
              <a:buAutoNum type="arabicPeriod"/>
            </a:pPr>
            <a:r>
              <a:rPr lang="en-US" altLang="ja-JP" dirty="0"/>
              <a:t>CICD</a:t>
            </a:r>
            <a:endParaRPr lang="ja-JP" altLang="en-US" dirty="0"/>
          </a:p>
        </p:txBody>
      </p:sp>
    </p:spTree>
    <p:extLst>
      <p:ext uri="{BB962C8B-B14F-4D97-AF65-F5344CB8AC3E}">
        <p14:creationId xmlns:p14="http://schemas.microsoft.com/office/powerpoint/2010/main" val="541225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ja" sz="3000" dirty="0">
                <a:highlight>
                  <a:srgbClr val="FFFFFF"/>
                </a:highlight>
              </a:rPr>
              <a:t>1.オフライン版POSサーバ2.0の</a:t>
            </a:r>
            <a:endParaRPr sz="3000" dirty="0">
              <a:highlight>
                <a:srgbClr val="FFFFFF"/>
              </a:highlight>
            </a:endParaRPr>
          </a:p>
          <a:p>
            <a:pPr lvl="0"/>
            <a:r>
              <a:rPr lang="ja" sz="3000" dirty="0">
                <a:highlight>
                  <a:srgbClr val="FFFFFF"/>
                </a:highlight>
              </a:rPr>
              <a:t>位置づけ</a:t>
            </a:r>
            <a:br>
              <a:rPr lang="en-US" altLang="ja" sz="3000" dirty="0">
                <a:highlight>
                  <a:srgbClr val="FFFFFF"/>
                </a:highlight>
              </a:rPr>
            </a:br>
            <a:br>
              <a:rPr lang="en-US" altLang="ja" sz="3000" dirty="0">
                <a:highlight>
                  <a:srgbClr val="FFFFFF"/>
                </a:highlight>
              </a:rPr>
            </a:br>
            <a:r>
              <a:rPr lang="en-US" altLang="ja" sz="3000" dirty="0">
                <a:highlight>
                  <a:srgbClr val="FFFFFF"/>
                </a:highlight>
              </a:rPr>
              <a:t>Vai </a:t>
            </a:r>
            <a:r>
              <a:rPr lang="en-US" altLang="ja" sz="3000" dirty="0" err="1">
                <a:highlight>
                  <a:srgbClr val="FFFFFF"/>
                </a:highlight>
              </a:rPr>
              <a:t>trò</a:t>
            </a:r>
            <a:r>
              <a:rPr lang="en-US" altLang="ja" sz="3000" dirty="0">
                <a:highlight>
                  <a:srgbClr val="FFFFFF"/>
                </a:highlight>
              </a:rPr>
              <a:t> </a:t>
            </a:r>
            <a:r>
              <a:rPr lang="en-US" altLang="ja" sz="3000" dirty="0" err="1">
                <a:highlight>
                  <a:srgbClr val="FFFFFF"/>
                </a:highlight>
              </a:rPr>
              <a:t>của</a:t>
            </a:r>
            <a:r>
              <a:rPr lang="en-US" altLang="ja" sz="3000" dirty="0">
                <a:highlight>
                  <a:srgbClr val="FFFFFF"/>
                </a:highlight>
              </a:rPr>
              <a:t> POS Server </a:t>
            </a:r>
            <a:r>
              <a:rPr lang="en-US" altLang="ja" sz="3000" dirty="0" err="1">
                <a:highlight>
                  <a:srgbClr val="FFFFFF"/>
                </a:highlight>
              </a:rPr>
              <a:t>phiên</a:t>
            </a:r>
            <a:r>
              <a:rPr lang="en-US" altLang="ja" sz="3000" dirty="0">
                <a:highlight>
                  <a:srgbClr val="FFFFFF"/>
                </a:highlight>
              </a:rPr>
              <a:t> </a:t>
            </a:r>
            <a:r>
              <a:rPr lang="en-US" altLang="ja" sz="3000" dirty="0" err="1">
                <a:highlight>
                  <a:srgbClr val="FFFFFF"/>
                </a:highlight>
              </a:rPr>
              <a:t>bản</a:t>
            </a:r>
            <a:r>
              <a:rPr lang="en-US" altLang="ja" sz="3000" dirty="0">
                <a:highlight>
                  <a:srgbClr val="FFFFFF"/>
                </a:highlight>
              </a:rPr>
              <a:t> 2.0 </a:t>
            </a:r>
            <a:r>
              <a:rPr lang="en-US" altLang="ja" sz="3000" dirty="0" err="1">
                <a:highlight>
                  <a:srgbClr val="FFFFFF"/>
                </a:highlight>
              </a:rPr>
              <a:t>cho</a:t>
            </a:r>
            <a:r>
              <a:rPr lang="en-US" altLang="ja" sz="3000" dirty="0">
                <a:highlight>
                  <a:srgbClr val="FFFFFF"/>
                </a:highlight>
              </a:rPr>
              <a:t> </a:t>
            </a:r>
            <a:r>
              <a:rPr lang="en-US" altLang="ja" sz="3000" dirty="0" err="1">
                <a:highlight>
                  <a:srgbClr val="FFFFFF"/>
                </a:highlight>
              </a:rPr>
              <a:t>chế</a:t>
            </a:r>
            <a:r>
              <a:rPr lang="en-US" altLang="ja" sz="3000" dirty="0">
                <a:highlight>
                  <a:srgbClr val="FFFFFF"/>
                </a:highlight>
              </a:rPr>
              <a:t> </a:t>
            </a:r>
            <a:r>
              <a:rPr lang="en-US" altLang="ja" sz="3000" dirty="0" err="1">
                <a:highlight>
                  <a:srgbClr val="FFFFFF"/>
                </a:highlight>
              </a:rPr>
              <a:t>độ</a:t>
            </a:r>
            <a:r>
              <a:rPr lang="en-US" altLang="ja" sz="3000" dirty="0">
                <a:highlight>
                  <a:srgbClr val="FFFFFF"/>
                </a:highlight>
              </a:rPr>
              <a:t> offline</a:t>
            </a:r>
            <a:endParaRPr sz="3000" dirty="0">
              <a:highlight>
                <a:srgbClr val="FFFFFF"/>
              </a:highlight>
            </a:endParaRPr>
          </a:p>
        </p:txBody>
      </p:sp>
      <p:pic>
        <p:nvPicPr>
          <p:cNvPr id="72" name="Google Shape;72;p15"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73" name="Google Shape;73;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6"/>
          <p:cNvSpPr txBox="1">
            <a:spLocks noGrp="1"/>
          </p:cNvSpPr>
          <p:nvPr>
            <p:ph type="title"/>
          </p:nvPr>
        </p:nvSpPr>
        <p:spPr>
          <a:xfrm>
            <a:off x="311700" y="4248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dirty="0">
                <a:highlight>
                  <a:srgbClr val="D9D9D9"/>
                </a:highlight>
              </a:rPr>
              <a:t>1-1. オフライン版POSサーバ2.0の役割</a:t>
            </a:r>
            <a:endParaRPr dirty="0">
              <a:highlight>
                <a:srgbClr val="D9D9D9"/>
              </a:highlight>
            </a:endParaRPr>
          </a:p>
        </p:txBody>
      </p:sp>
      <p:pic>
        <p:nvPicPr>
          <p:cNvPr id="79" name="Google Shape;79;p16"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80" name="Google Shape;80;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5</a:t>
            </a:fld>
            <a:endParaRPr/>
          </a:p>
        </p:txBody>
      </p:sp>
      <p:pic>
        <p:nvPicPr>
          <p:cNvPr id="81" name="Google Shape;81;p16" title="【POS】infra_ishida-1-1.drawio.png"/>
          <p:cNvPicPr preferRelativeResize="0"/>
          <p:nvPr/>
        </p:nvPicPr>
        <p:blipFill>
          <a:blip r:embed="rId4">
            <a:alphaModFix/>
          </a:blip>
          <a:stretch>
            <a:fillRect/>
          </a:stretch>
        </p:blipFill>
        <p:spPr>
          <a:xfrm>
            <a:off x="1058650" y="1465550"/>
            <a:ext cx="6457950" cy="2876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490F16B5-97D7-9F76-FFE9-ACEC5D44F0BD}"/>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3A553F91-84FF-660A-2BEA-13E898E2B8CA}"/>
              </a:ext>
            </a:extLst>
          </p:cNvPr>
          <p:cNvSpPr txBox="1">
            <a:spLocks noGrp="1"/>
          </p:cNvSpPr>
          <p:nvPr>
            <p:ph type="title"/>
          </p:nvPr>
        </p:nvSpPr>
        <p:spPr>
          <a:xfrm>
            <a:off x="311700" y="424800"/>
            <a:ext cx="8520600" cy="572700"/>
          </a:xfrm>
          <a:prstGeom prst="rect">
            <a:avLst/>
          </a:prstGeom>
        </p:spPr>
        <p:txBody>
          <a:bodyPr spcFirstLastPara="1" wrap="square" lIns="91425" tIns="91425" rIns="91425" bIns="91425" anchor="t" anchorCtr="0">
            <a:normAutofit fontScale="90000"/>
          </a:bodyPr>
          <a:lstStyle/>
          <a:p>
            <a:pPr lvl="0"/>
            <a:r>
              <a:rPr lang="ja" dirty="0">
                <a:highlight>
                  <a:srgbClr val="D9D9D9"/>
                </a:highlight>
              </a:rPr>
              <a:t>1-1. </a:t>
            </a:r>
            <a:r>
              <a:rPr lang="en-US" altLang="ja" dirty="0" err="1"/>
              <a:t>Vị</a:t>
            </a:r>
            <a:r>
              <a:rPr lang="en-US" altLang="ja" dirty="0"/>
              <a:t> </a:t>
            </a:r>
            <a:r>
              <a:rPr lang="en-US" altLang="ja" dirty="0" err="1"/>
              <a:t>trí</a:t>
            </a:r>
            <a:r>
              <a:rPr lang="en-US" altLang="ja" dirty="0"/>
              <a:t> (</a:t>
            </a:r>
            <a:r>
              <a:rPr lang="en-US" altLang="ja" dirty="0" err="1"/>
              <a:t>hoặc</a:t>
            </a:r>
            <a:r>
              <a:rPr lang="en-US" altLang="ja" dirty="0"/>
              <a:t> </a:t>
            </a:r>
            <a:r>
              <a:rPr lang="en-US" altLang="ja" dirty="0" err="1"/>
              <a:t>vai</a:t>
            </a:r>
            <a:r>
              <a:rPr lang="en-US" altLang="ja" dirty="0"/>
              <a:t> </a:t>
            </a:r>
            <a:r>
              <a:rPr lang="en-US" altLang="ja" dirty="0" err="1"/>
              <a:t>trò</a:t>
            </a:r>
            <a:r>
              <a:rPr lang="en-US" altLang="ja" dirty="0"/>
              <a:t>) </a:t>
            </a:r>
            <a:r>
              <a:rPr lang="en-US" altLang="ja" dirty="0" err="1"/>
              <a:t>của</a:t>
            </a:r>
            <a:r>
              <a:rPr lang="en-US" altLang="ja" dirty="0"/>
              <a:t> POS Server </a:t>
            </a:r>
            <a:r>
              <a:rPr lang="en-US" altLang="ja" dirty="0" err="1"/>
              <a:t>phiên</a:t>
            </a:r>
            <a:r>
              <a:rPr lang="en-US" altLang="ja" dirty="0"/>
              <a:t> </a:t>
            </a:r>
            <a:r>
              <a:rPr lang="en-US" altLang="ja" dirty="0" err="1"/>
              <a:t>bản</a:t>
            </a:r>
            <a:r>
              <a:rPr lang="en-US" altLang="ja" dirty="0"/>
              <a:t> 2.0 </a:t>
            </a:r>
            <a:r>
              <a:rPr lang="en-US" altLang="ja" dirty="0" err="1"/>
              <a:t>cho</a:t>
            </a:r>
            <a:r>
              <a:rPr lang="en-US" altLang="ja" dirty="0"/>
              <a:t> </a:t>
            </a:r>
            <a:r>
              <a:rPr lang="en-US" altLang="ja" dirty="0" err="1"/>
              <a:t>chế</a:t>
            </a:r>
            <a:r>
              <a:rPr lang="en-US" altLang="ja" dirty="0"/>
              <a:t> </a:t>
            </a:r>
            <a:r>
              <a:rPr lang="en-US" altLang="ja" dirty="0" err="1"/>
              <a:t>độ</a:t>
            </a:r>
            <a:r>
              <a:rPr lang="en-US" altLang="ja" dirty="0"/>
              <a:t> offline</a:t>
            </a:r>
            <a:endParaRPr dirty="0">
              <a:highlight>
                <a:srgbClr val="D9D9D9"/>
              </a:highlight>
            </a:endParaRPr>
          </a:p>
        </p:txBody>
      </p:sp>
      <p:pic>
        <p:nvPicPr>
          <p:cNvPr id="79" name="Google Shape;79;p16" title="logo-luvina-2022-2.png">
            <a:extLst>
              <a:ext uri="{FF2B5EF4-FFF2-40B4-BE49-F238E27FC236}">
                <a16:creationId xmlns:a16="http://schemas.microsoft.com/office/drawing/2014/main" id="{B7B9A15C-8FAD-F775-4906-66E1C76D6DA7}"/>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80" name="Google Shape;80;p16">
            <a:extLst>
              <a:ext uri="{FF2B5EF4-FFF2-40B4-BE49-F238E27FC236}">
                <a16:creationId xmlns:a16="http://schemas.microsoft.com/office/drawing/2014/main" id="{18F62610-F59B-37A6-0864-28CF3251D2EF}"/>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6</a:t>
            </a:fld>
            <a:endParaRPr/>
          </a:p>
        </p:txBody>
      </p:sp>
      <p:pic>
        <p:nvPicPr>
          <p:cNvPr id="81" name="Google Shape;81;p16" title="【POS】infra_ishida-1-1.drawio.png">
            <a:extLst>
              <a:ext uri="{FF2B5EF4-FFF2-40B4-BE49-F238E27FC236}">
                <a16:creationId xmlns:a16="http://schemas.microsoft.com/office/drawing/2014/main" id="{07CF2D6F-5415-CA05-6A8C-E0D6EAFA56B9}"/>
              </a:ext>
            </a:extLst>
          </p:cNvPr>
          <p:cNvPicPr preferRelativeResize="0"/>
          <p:nvPr/>
        </p:nvPicPr>
        <p:blipFill>
          <a:blip r:embed="rId4">
            <a:alphaModFix/>
          </a:blip>
          <a:stretch>
            <a:fillRect/>
          </a:stretch>
        </p:blipFill>
        <p:spPr>
          <a:xfrm>
            <a:off x="1058650" y="1465550"/>
            <a:ext cx="6457950" cy="2876550"/>
          </a:xfrm>
          <a:prstGeom prst="rect">
            <a:avLst/>
          </a:prstGeom>
          <a:noFill/>
          <a:ln>
            <a:noFill/>
          </a:ln>
        </p:spPr>
      </p:pic>
      <p:sp>
        <p:nvSpPr>
          <p:cNvPr id="2" name="TextBox 1">
            <a:extLst>
              <a:ext uri="{FF2B5EF4-FFF2-40B4-BE49-F238E27FC236}">
                <a16:creationId xmlns:a16="http://schemas.microsoft.com/office/drawing/2014/main" id="{A3645E72-9C9C-54CE-1D65-C8482BC3B1B3}"/>
              </a:ext>
            </a:extLst>
          </p:cNvPr>
          <p:cNvSpPr txBox="1"/>
          <p:nvPr/>
        </p:nvSpPr>
        <p:spPr>
          <a:xfrm>
            <a:off x="1164928" y="1493260"/>
            <a:ext cx="5596090" cy="738664"/>
          </a:xfrm>
          <a:prstGeom prst="rect">
            <a:avLst/>
          </a:prstGeom>
          <a:solidFill>
            <a:schemeClr val="bg1"/>
          </a:solidFill>
          <a:ln>
            <a:solidFill>
              <a:schemeClr val="accent1"/>
            </a:solidFill>
          </a:ln>
        </p:spPr>
        <p:txBody>
          <a:bodyPr wrap="square" rtlCol="0">
            <a:spAutoFit/>
          </a:bodyPr>
          <a:lstStyle/>
          <a:p>
            <a:r>
              <a:rPr lang="en-US" dirty="0"/>
              <a:t>【Vai </a:t>
            </a:r>
            <a:r>
              <a:rPr lang="en-US" dirty="0" err="1"/>
              <a:t>trò</a:t>
            </a:r>
            <a:r>
              <a:rPr lang="en-US" dirty="0"/>
              <a:t>】</a:t>
            </a:r>
          </a:p>
          <a:p>
            <a:r>
              <a:rPr lang="en-US" dirty="0" err="1"/>
              <a:t>Chuyển</a:t>
            </a:r>
            <a:r>
              <a:rPr lang="en-US" dirty="0"/>
              <a:t> </a:t>
            </a:r>
            <a:r>
              <a:rPr lang="en-US" dirty="0" err="1"/>
              <a:t>đổi</a:t>
            </a:r>
            <a:r>
              <a:rPr lang="en-US" dirty="0"/>
              <a:t> </a:t>
            </a:r>
            <a:r>
              <a:rPr lang="en-US" dirty="0" err="1"/>
              <a:t>dữ</a:t>
            </a:r>
            <a:r>
              <a:rPr lang="en-US" dirty="0"/>
              <a:t> </a:t>
            </a:r>
            <a:r>
              <a:rPr lang="en-US" dirty="0" err="1"/>
              <a:t>liệu</a:t>
            </a:r>
            <a:r>
              <a:rPr lang="en-US" dirty="0"/>
              <a:t> master </a:t>
            </a:r>
            <a:r>
              <a:rPr lang="en-US" dirty="0" err="1"/>
              <a:t>thành</a:t>
            </a:r>
            <a:r>
              <a:rPr lang="en-US" dirty="0"/>
              <a:t> </a:t>
            </a:r>
            <a:r>
              <a:rPr lang="en-US" dirty="0" err="1"/>
              <a:t>dữ</a:t>
            </a:r>
            <a:r>
              <a:rPr lang="en-US" dirty="0"/>
              <a:t> </a:t>
            </a:r>
            <a:r>
              <a:rPr lang="en-US" dirty="0" err="1"/>
              <a:t>liệu</a:t>
            </a:r>
            <a:r>
              <a:rPr lang="en-US" dirty="0"/>
              <a:t> </a:t>
            </a:r>
            <a:r>
              <a:rPr lang="en-US" dirty="0" err="1"/>
              <a:t>để</a:t>
            </a:r>
            <a:r>
              <a:rPr lang="en-US" dirty="0"/>
              <a:t> </a:t>
            </a:r>
            <a:r>
              <a:rPr lang="en-US" dirty="0" err="1"/>
              <a:t>hiển</a:t>
            </a:r>
            <a:r>
              <a:rPr lang="en-US" dirty="0"/>
              <a:t> </a:t>
            </a:r>
            <a:r>
              <a:rPr lang="en-US" dirty="0" err="1"/>
              <a:t>thị</a:t>
            </a:r>
            <a:r>
              <a:rPr lang="en-US" dirty="0"/>
              <a:t> </a:t>
            </a:r>
            <a:r>
              <a:rPr lang="en-US" dirty="0" err="1"/>
              <a:t>trên</a:t>
            </a:r>
            <a:r>
              <a:rPr lang="en-US" dirty="0"/>
              <a:t> </a:t>
            </a:r>
            <a:r>
              <a:rPr lang="en-US" dirty="0" err="1"/>
              <a:t>bảng</a:t>
            </a:r>
            <a:r>
              <a:rPr lang="en-US" dirty="0"/>
              <a:t> </a:t>
            </a:r>
            <a:r>
              <a:rPr lang="en-US" dirty="0" err="1"/>
              <a:t>giá</a:t>
            </a:r>
            <a:r>
              <a:rPr lang="en-US" dirty="0"/>
              <a:t> </a:t>
            </a:r>
            <a:r>
              <a:rPr lang="en-US" dirty="0" err="1"/>
              <a:t>điện</a:t>
            </a:r>
            <a:r>
              <a:rPr lang="en-US" dirty="0"/>
              <a:t> </a:t>
            </a:r>
            <a:r>
              <a:rPr lang="en-US" dirty="0" err="1"/>
              <a:t>tử</a:t>
            </a:r>
            <a:r>
              <a:rPr lang="en-US" dirty="0"/>
              <a:t> </a:t>
            </a:r>
            <a:r>
              <a:rPr lang="en-US" dirty="0" err="1"/>
              <a:t>tại</a:t>
            </a:r>
            <a:r>
              <a:rPr lang="en-US" dirty="0"/>
              <a:t> </a:t>
            </a:r>
            <a:r>
              <a:rPr lang="en-US" dirty="0" err="1"/>
              <a:t>cửa</a:t>
            </a:r>
            <a:r>
              <a:rPr lang="en-US" dirty="0"/>
              <a:t> </a:t>
            </a:r>
            <a:r>
              <a:rPr lang="en-US" dirty="0" err="1"/>
              <a:t>hàng</a:t>
            </a:r>
            <a:r>
              <a:rPr lang="en-US" dirty="0"/>
              <a:t> Kasumi.</a:t>
            </a:r>
          </a:p>
        </p:txBody>
      </p:sp>
      <p:sp>
        <p:nvSpPr>
          <p:cNvPr id="3" name="TextBox 2">
            <a:extLst>
              <a:ext uri="{FF2B5EF4-FFF2-40B4-BE49-F238E27FC236}">
                <a16:creationId xmlns:a16="http://schemas.microsoft.com/office/drawing/2014/main" id="{AB552A1A-49F1-CE59-E725-74EE6BB30B94}"/>
              </a:ext>
            </a:extLst>
          </p:cNvPr>
          <p:cNvSpPr txBox="1"/>
          <p:nvPr/>
        </p:nvSpPr>
        <p:spPr>
          <a:xfrm>
            <a:off x="4157510" y="3650240"/>
            <a:ext cx="1377381" cy="246221"/>
          </a:xfrm>
          <a:prstGeom prst="rect">
            <a:avLst/>
          </a:prstGeom>
          <a:solidFill>
            <a:schemeClr val="bg1"/>
          </a:solidFill>
          <a:ln>
            <a:solidFill>
              <a:schemeClr val="accent1"/>
            </a:solidFill>
          </a:ln>
        </p:spPr>
        <p:txBody>
          <a:bodyPr wrap="square" rtlCol="0">
            <a:spAutoFit/>
          </a:bodyPr>
          <a:lstStyle/>
          <a:p>
            <a:r>
              <a:rPr lang="en-US" sz="1000" dirty="0" err="1"/>
              <a:t>Mạng</a:t>
            </a:r>
            <a:r>
              <a:rPr lang="en-US" sz="1000" dirty="0"/>
              <a:t> </a:t>
            </a:r>
            <a:r>
              <a:rPr lang="en-US" sz="1000" dirty="0" err="1"/>
              <a:t>nội</a:t>
            </a:r>
            <a:r>
              <a:rPr lang="en-US" sz="1000" dirty="0"/>
              <a:t> </a:t>
            </a:r>
            <a:r>
              <a:rPr lang="en-US" sz="1000" dirty="0" err="1"/>
              <a:t>bộ</a:t>
            </a:r>
            <a:r>
              <a:rPr lang="en-US" sz="1000" dirty="0"/>
              <a:t> USMH</a:t>
            </a:r>
          </a:p>
        </p:txBody>
      </p:sp>
      <p:sp>
        <p:nvSpPr>
          <p:cNvPr id="4" name="TextBox 3">
            <a:extLst>
              <a:ext uri="{FF2B5EF4-FFF2-40B4-BE49-F238E27FC236}">
                <a16:creationId xmlns:a16="http://schemas.microsoft.com/office/drawing/2014/main" id="{BA4BD422-000E-2B50-E907-2D134F7052C3}"/>
              </a:ext>
            </a:extLst>
          </p:cNvPr>
          <p:cNvSpPr txBox="1"/>
          <p:nvPr/>
        </p:nvSpPr>
        <p:spPr>
          <a:xfrm>
            <a:off x="6353455" y="4318590"/>
            <a:ext cx="1377381" cy="400110"/>
          </a:xfrm>
          <a:prstGeom prst="rect">
            <a:avLst/>
          </a:prstGeom>
          <a:solidFill>
            <a:schemeClr val="bg1"/>
          </a:solidFill>
          <a:ln>
            <a:solidFill>
              <a:schemeClr val="accent1"/>
            </a:solidFill>
          </a:ln>
        </p:spPr>
        <p:txBody>
          <a:bodyPr wrap="square" rtlCol="0">
            <a:spAutoFit/>
          </a:bodyPr>
          <a:lstStyle/>
          <a:p>
            <a:r>
              <a:rPr lang="en-US" sz="1000" dirty="0" err="1"/>
              <a:t>Máy</a:t>
            </a:r>
            <a:r>
              <a:rPr lang="en-US" sz="1000" dirty="0"/>
              <a:t> </a:t>
            </a:r>
            <a:r>
              <a:rPr lang="en-US" sz="1000" dirty="0" err="1"/>
              <a:t>chủ</a:t>
            </a:r>
            <a:r>
              <a:rPr lang="en-US" sz="1000" dirty="0"/>
              <a:t> </a:t>
            </a:r>
            <a:r>
              <a:rPr lang="en-US" sz="1000" dirty="0" err="1"/>
              <a:t>bảng</a:t>
            </a:r>
            <a:r>
              <a:rPr lang="en-US" sz="1000" dirty="0"/>
              <a:t> </a:t>
            </a:r>
            <a:r>
              <a:rPr lang="en-US" sz="1000" dirty="0" err="1"/>
              <a:t>giá</a:t>
            </a:r>
            <a:r>
              <a:rPr lang="en-US" sz="1000" dirty="0"/>
              <a:t> </a:t>
            </a:r>
            <a:r>
              <a:rPr lang="en-US" sz="1000" dirty="0" err="1"/>
              <a:t>điện</a:t>
            </a:r>
            <a:r>
              <a:rPr lang="en-US" sz="1000" dirty="0"/>
              <a:t> </a:t>
            </a:r>
            <a:r>
              <a:rPr lang="en-US" sz="1000" dirty="0" err="1"/>
              <a:t>tử</a:t>
            </a:r>
            <a:r>
              <a:rPr lang="en-US" sz="1000" dirty="0"/>
              <a:t> ISHIDA</a:t>
            </a:r>
          </a:p>
        </p:txBody>
      </p:sp>
    </p:spTree>
    <p:extLst>
      <p:ext uri="{BB962C8B-B14F-4D97-AF65-F5344CB8AC3E}">
        <p14:creationId xmlns:p14="http://schemas.microsoft.com/office/powerpoint/2010/main" val="40852699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7"/>
          <p:cNvSpPr txBox="1">
            <a:spLocks noGrp="1"/>
          </p:cNvSpPr>
          <p:nvPr>
            <p:ph type="title"/>
          </p:nvPr>
        </p:nvSpPr>
        <p:spPr>
          <a:xfrm>
            <a:off x="311700" y="4248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1-2. 通信障害時の業務継続性</a:t>
            </a:r>
            <a:endParaRPr>
              <a:highlight>
                <a:srgbClr val="D9D9D9"/>
              </a:highlight>
            </a:endParaRPr>
          </a:p>
        </p:txBody>
      </p:sp>
      <p:pic>
        <p:nvPicPr>
          <p:cNvPr id="87" name="Google Shape;87;p17"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88" name="Google Shape;88;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7</a:t>
            </a:fld>
            <a:endParaRPr/>
          </a:p>
        </p:txBody>
      </p:sp>
      <p:pic>
        <p:nvPicPr>
          <p:cNvPr id="89" name="Google Shape;89;p17" title="【POS】infra_ishida-1-2.drawio.png"/>
          <p:cNvPicPr preferRelativeResize="0"/>
          <p:nvPr/>
        </p:nvPicPr>
        <p:blipFill>
          <a:blip r:embed="rId4">
            <a:alphaModFix/>
          </a:blip>
          <a:stretch>
            <a:fillRect/>
          </a:stretch>
        </p:blipFill>
        <p:spPr>
          <a:xfrm>
            <a:off x="453565" y="1359449"/>
            <a:ext cx="8035136" cy="28065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
          <a:extLst>
            <a:ext uri="{FF2B5EF4-FFF2-40B4-BE49-F238E27FC236}">
              <a16:creationId xmlns:a16="http://schemas.microsoft.com/office/drawing/2014/main" id="{E8092931-B5FB-791C-9BC8-2E418B624577}"/>
            </a:ext>
          </a:extLst>
        </p:cNvPr>
        <p:cNvGrpSpPr/>
        <p:nvPr/>
      </p:nvGrpSpPr>
      <p:grpSpPr>
        <a:xfrm>
          <a:off x="0" y="0"/>
          <a:ext cx="0" cy="0"/>
          <a:chOff x="0" y="0"/>
          <a:chExt cx="0" cy="0"/>
        </a:xfrm>
      </p:grpSpPr>
      <p:sp>
        <p:nvSpPr>
          <p:cNvPr id="86" name="Google Shape;86;p17">
            <a:extLst>
              <a:ext uri="{FF2B5EF4-FFF2-40B4-BE49-F238E27FC236}">
                <a16:creationId xmlns:a16="http://schemas.microsoft.com/office/drawing/2014/main" id="{7F1AD0E2-D025-082F-7D85-7CADCF498EFF}"/>
              </a:ext>
            </a:extLst>
          </p:cNvPr>
          <p:cNvSpPr txBox="1">
            <a:spLocks noGrp="1"/>
          </p:cNvSpPr>
          <p:nvPr>
            <p:ph type="title"/>
          </p:nvPr>
        </p:nvSpPr>
        <p:spPr>
          <a:xfrm>
            <a:off x="311700" y="424800"/>
            <a:ext cx="8520600" cy="572700"/>
          </a:xfrm>
          <a:prstGeom prst="rect">
            <a:avLst/>
          </a:prstGeom>
        </p:spPr>
        <p:txBody>
          <a:bodyPr spcFirstLastPara="1" wrap="square" lIns="91425" tIns="91425" rIns="91425" bIns="91425" anchor="t" anchorCtr="0">
            <a:normAutofit fontScale="90000"/>
          </a:bodyPr>
          <a:lstStyle/>
          <a:p>
            <a:pPr lvl="0"/>
            <a:r>
              <a:rPr lang="ja" dirty="0">
                <a:highlight>
                  <a:srgbClr val="D9D9D9"/>
                </a:highlight>
              </a:rPr>
              <a:t>1-2. </a:t>
            </a:r>
            <a:r>
              <a:rPr lang="vi-VN" altLang="ja" dirty="0"/>
              <a:t>Tính liên tục hoạt động trong trường hợp sự cố mạng truyền thông</a:t>
            </a:r>
            <a:endParaRPr dirty="0">
              <a:highlight>
                <a:srgbClr val="D9D9D9"/>
              </a:highlight>
            </a:endParaRPr>
          </a:p>
        </p:txBody>
      </p:sp>
      <p:pic>
        <p:nvPicPr>
          <p:cNvPr id="87" name="Google Shape;87;p17" title="logo-luvina-2022-2.png">
            <a:extLst>
              <a:ext uri="{FF2B5EF4-FFF2-40B4-BE49-F238E27FC236}">
                <a16:creationId xmlns:a16="http://schemas.microsoft.com/office/drawing/2014/main" id="{0E3F7281-D570-5F0C-3CCB-847112A19080}"/>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88" name="Google Shape;88;p17">
            <a:extLst>
              <a:ext uri="{FF2B5EF4-FFF2-40B4-BE49-F238E27FC236}">
                <a16:creationId xmlns:a16="http://schemas.microsoft.com/office/drawing/2014/main" id="{D3E785A0-922A-27F8-35C9-95E9222A8BEC}"/>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8</a:t>
            </a:fld>
            <a:endParaRPr/>
          </a:p>
        </p:txBody>
      </p:sp>
      <p:pic>
        <p:nvPicPr>
          <p:cNvPr id="89" name="Google Shape;89;p17" title="【POS】infra_ishida-1-2.drawio.png">
            <a:extLst>
              <a:ext uri="{FF2B5EF4-FFF2-40B4-BE49-F238E27FC236}">
                <a16:creationId xmlns:a16="http://schemas.microsoft.com/office/drawing/2014/main" id="{0C41D445-1C6B-CBF2-5D54-4E45730D87EC}"/>
              </a:ext>
            </a:extLst>
          </p:cNvPr>
          <p:cNvPicPr preferRelativeResize="0"/>
          <p:nvPr/>
        </p:nvPicPr>
        <p:blipFill>
          <a:blip r:embed="rId4">
            <a:alphaModFix/>
          </a:blip>
          <a:stretch>
            <a:fillRect/>
          </a:stretch>
        </p:blipFill>
        <p:spPr>
          <a:xfrm>
            <a:off x="453564" y="1685031"/>
            <a:ext cx="8035136" cy="2806575"/>
          </a:xfrm>
          <a:prstGeom prst="rect">
            <a:avLst/>
          </a:prstGeom>
          <a:noFill/>
          <a:ln>
            <a:noFill/>
          </a:ln>
        </p:spPr>
      </p:pic>
      <p:sp>
        <p:nvSpPr>
          <p:cNvPr id="2" name="TextBox 1">
            <a:extLst>
              <a:ext uri="{FF2B5EF4-FFF2-40B4-BE49-F238E27FC236}">
                <a16:creationId xmlns:a16="http://schemas.microsoft.com/office/drawing/2014/main" id="{5C5390FB-1298-4DED-E3B9-2AC592083B8D}"/>
              </a:ext>
            </a:extLst>
          </p:cNvPr>
          <p:cNvSpPr txBox="1"/>
          <p:nvPr/>
        </p:nvSpPr>
        <p:spPr>
          <a:xfrm>
            <a:off x="2682001" y="1779876"/>
            <a:ext cx="1377381" cy="246221"/>
          </a:xfrm>
          <a:prstGeom prst="rect">
            <a:avLst/>
          </a:prstGeom>
          <a:solidFill>
            <a:schemeClr val="bg1"/>
          </a:solidFill>
          <a:ln>
            <a:solidFill>
              <a:schemeClr val="accent1"/>
            </a:solidFill>
          </a:ln>
        </p:spPr>
        <p:txBody>
          <a:bodyPr wrap="square" rtlCol="0">
            <a:spAutoFit/>
          </a:bodyPr>
          <a:lstStyle/>
          <a:p>
            <a:r>
              <a:rPr lang="en-US" sz="1000" dirty="0" err="1"/>
              <a:t>Mạng</a:t>
            </a:r>
            <a:r>
              <a:rPr lang="en-US" sz="1000" dirty="0"/>
              <a:t> </a:t>
            </a:r>
            <a:r>
              <a:rPr lang="en-US" sz="1000" dirty="0" err="1"/>
              <a:t>nội</a:t>
            </a:r>
            <a:r>
              <a:rPr lang="en-US" sz="1000" dirty="0"/>
              <a:t> </a:t>
            </a:r>
            <a:r>
              <a:rPr lang="en-US" sz="1000" dirty="0" err="1"/>
              <a:t>bộ</a:t>
            </a:r>
            <a:r>
              <a:rPr lang="en-US" sz="1000" dirty="0"/>
              <a:t> USMH</a:t>
            </a:r>
          </a:p>
        </p:txBody>
      </p:sp>
      <p:sp>
        <p:nvSpPr>
          <p:cNvPr id="3" name="TextBox 2">
            <a:extLst>
              <a:ext uri="{FF2B5EF4-FFF2-40B4-BE49-F238E27FC236}">
                <a16:creationId xmlns:a16="http://schemas.microsoft.com/office/drawing/2014/main" id="{4FFC421A-DF8D-DFCA-1C86-CCF5E5A199E2}"/>
              </a:ext>
            </a:extLst>
          </p:cNvPr>
          <p:cNvSpPr txBox="1"/>
          <p:nvPr/>
        </p:nvSpPr>
        <p:spPr>
          <a:xfrm>
            <a:off x="3782441" y="3088318"/>
            <a:ext cx="1377381" cy="400110"/>
          </a:xfrm>
          <a:prstGeom prst="rect">
            <a:avLst/>
          </a:prstGeom>
          <a:solidFill>
            <a:schemeClr val="bg1"/>
          </a:solidFill>
          <a:ln>
            <a:solidFill>
              <a:schemeClr val="accent1"/>
            </a:solidFill>
          </a:ln>
        </p:spPr>
        <p:txBody>
          <a:bodyPr wrap="square" rtlCol="0">
            <a:spAutoFit/>
          </a:bodyPr>
          <a:lstStyle/>
          <a:p>
            <a:r>
              <a:rPr lang="en-US" sz="1000" dirty="0" err="1"/>
              <a:t>Máy</a:t>
            </a:r>
            <a:r>
              <a:rPr lang="en-US" sz="1000" dirty="0"/>
              <a:t> </a:t>
            </a:r>
            <a:r>
              <a:rPr lang="en-US" sz="1000" dirty="0" err="1"/>
              <a:t>chủ</a:t>
            </a:r>
            <a:r>
              <a:rPr lang="en-US" sz="1000" dirty="0"/>
              <a:t> </a:t>
            </a:r>
            <a:r>
              <a:rPr lang="en-US" sz="1000" dirty="0" err="1"/>
              <a:t>bảng</a:t>
            </a:r>
            <a:r>
              <a:rPr lang="en-US" sz="1000" dirty="0"/>
              <a:t> </a:t>
            </a:r>
            <a:r>
              <a:rPr lang="en-US" sz="1000" dirty="0" err="1"/>
              <a:t>giá</a:t>
            </a:r>
            <a:r>
              <a:rPr lang="en-US" sz="1000" dirty="0"/>
              <a:t> </a:t>
            </a:r>
            <a:r>
              <a:rPr lang="en-US" sz="1000" dirty="0" err="1"/>
              <a:t>điện</a:t>
            </a:r>
            <a:r>
              <a:rPr lang="en-US" sz="1000" dirty="0"/>
              <a:t> </a:t>
            </a:r>
            <a:r>
              <a:rPr lang="en-US" sz="1000" dirty="0" err="1"/>
              <a:t>tử</a:t>
            </a:r>
            <a:r>
              <a:rPr lang="en-US" sz="1000" dirty="0"/>
              <a:t> ISHIDA</a:t>
            </a:r>
          </a:p>
        </p:txBody>
      </p:sp>
      <p:sp>
        <p:nvSpPr>
          <p:cNvPr id="4" name="TextBox 3">
            <a:extLst>
              <a:ext uri="{FF2B5EF4-FFF2-40B4-BE49-F238E27FC236}">
                <a16:creationId xmlns:a16="http://schemas.microsoft.com/office/drawing/2014/main" id="{9ED55CF4-E467-BAB1-79A7-E5A5C0EC7AE7}"/>
              </a:ext>
            </a:extLst>
          </p:cNvPr>
          <p:cNvSpPr txBox="1"/>
          <p:nvPr/>
        </p:nvSpPr>
        <p:spPr>
          <a:xfrm>
            <a:off x="5313368" y="1779876"/>
            <a:ext cx="1377381" cy="246221"/>
          </a:xfrm>
          <a:prstGeom prst="rect">
            <a:avLst/>
          </a:prstGeom>
          <a:solidFill>
            <a:schemeClr val="bg1"/>
          </a:solidFill>
          <a:ln>
            <a:solidFill>
              <a:schemeClr val="accent1"/>
            </a:solidFill>
          </a:ln>
        </p:spPr>
        <p:txBody>
          <a:bodyPr wrap="square" rtlCol="0">
            <a:spAutoFit/>
          </a:bodyPr>
          <a:lstStyle/>
          <a:p>
            <a:r>
              <a:rPr lang="en-US" sz="1000" dirty="0" err="1"/>
              <a:t>bảng</a:t>
            </a:r>
            <a:r>
              <a:rPr lang="en-US" sz="1000" dirty="0"/>
              <a:t> </a:t>
            </a:r>
            <a:r>
              <a:rPr lang="en-US" sz="1000" dirty="0" err="1"/>
              <a:t>giá</a:t>
            </a:r>
            <a:r>
              <a:rPr lang="en-US" sz="1000" dirty="0"/>
              <a:t> </a:t>
            </a:r>
            <a:r>
              <a:rPr lang="en-US" sz="1000" dirty="0" err="1"/>
              <a:t>điện</a:t>
            </a:r>
            <a:r>
              <a:rPr lang="en-US" sz="1000" dirty="0"/>
              <a:t> </a:t>
            </a:r>
            <a:r>
              <a:rPr lang="en-US" sz="1000" dirty="0" err="1"/>
              <a:t>tử</a:t>
            </a:r>
            <a:endParaRPr lang="en-US" sz="1000" dirty="0"/>
          </a:p>
        </p:txBody>
      </p:sp>
      <p:sp>
        <p:nvSpPr>
          <p:cNvPr id="5" name="TextBox 4">
            <a:extLst>
              <a:ext uri="{FF2B5EF4-FFF2-40B4-BE49-F238E27FC236}">
                <a16:creationId xmlns:a16="http://schemas.microsoft.com/office/drawing/2014/main" id="{F391278C-90E8-776E-9600-29782D368AEC}"/>
              </a:ext>
            </a:extLst>
          </p:cNvPr>
          <p:cNvSpPr txBox="1"/>
          <p:nvPr/>
        </p:nvSpPr>
        <p:spPr>
          <a:xfrm>
            <a:off x="7657604" y="2842097"/>
            <a:ext cx="831095" cy="246221"/>
          </a:xfrm>
          <a:prstGeom prst="rect">
            <a:avLst/>
          </a:prstGeom>
          <a:solidFill>
            <a:schemeClr val="bg1"/>
          </a:solidFill>
          <a:ln>
            <a:solidFill>
              <a:schemeClr val="accent1"/>
            </a:solidFill>
          </a:ln>
        </p:spPr>
        <p:txBody>
          <a:bodyPr wrap="square" rtlCol="0">
            <a:spAutoFit/>
          </a:bodyPr>
          <a:lstStyle/>
          <a:p>
            <a:r>
              <a:rPr lang="en-US" sz="1000" dirty="0"/>
              <a:t>Pos Device</a:t>
            </a:r>
          </a:p>
        </p:txBody>
      </p:sp>
      <p:sp>
        <p:nvSpPr>
          <p:cNvPr id="6" name="TextBox 5">
            <a:extLst>
              <a:ext uri="{FF2B5EF4-FFF2-40B4-BE49-F238E27FC236}">
                <a16:creationId xmlns:a16="http://schemas.microsoft.com/office/drawing/2014/main" id="{30F685C0-BB34-03ED-2BF0-3F99FA78D247}"/>
              </a:ext>
            </a:extLst>
          </p:cNvPr>
          <p:cNvSpPr txBox="1"/>
          <p:nvPr/>
        </p:nvSpPr>
        <p:spPr>
          <a:xfrm>
            <a:off x="1365820" y="1506889"/>
            <a:ext cx="1377381" cy="246221"/>
          </a:xfrm>
          <a:prstGeom prst="rect">
            <a:avLst/>
          </a:prstGeom>
          <a:solidFill>
            <a:schemeClr val="bg1"/>
          </a:solidFill>
          <a:ln>
            <a:solidFill>
              <a:schemeClr val="accent1"/>
            </a:solidFill>
          </a:ln>
        </p:spPr>
        <p:txBody>
          <a:bodyPr wrap="square" rtlCol="0">
            <a:spAutoFit/>
          </a:bodyPr>
          <a:lstStyle/>
          <a:p>
            <a:r>
              <a:rPr lang="en-US" sz="1000" dirty="0" err="1"/>
              <a:t>không</a:t>
            </a:r>
            <a:r>
              <a:rPr lang="en-US" sz="1000" dirty="0"/>
              <a:t> </a:t>
            </a:r>
            <a:r>
              <a:rPr lang="en-US" sz="1000" dirty="0" err="1"/>
              <a:t>gửi</a:t>
            </a:r>
            <a:r>
              <a:rPr lang="en-US" sz="1000" dirty="0"/>
              <a:t> dc</a:t>
            </a:r>
          </a:p>
        </p:txBody>
      </p:sp>
      <p:sp>
        <p:nvSpPr>
          <p:cNvPr id="7" name="TextBox 6">
            <a:extLst>
              <a:ext uri="{FF2B5EF4-FFF2-40B4-BE49-F238E27FC236}">
                <a16:creationId xmlns:a16="http://schemas.microsoft.com/office/drawing/2014/main" id="{7CFF5315-8F2F-B38A-FAA3-DA5CBF64A34E}"/>
              </a:ext>
            </a:extLst>
          </p:cNvPr>
          <p:cNvSpPr txBox="1"/>
          <p:nvPr/>
        </p:nvSpPr>
        <p:spPr>
          <a:xfrm>
            <a:off x="4800600" y="4245384"/>
            <a:ext cx="3186546" cy="400110"/>
          </a:xfrm>
          <a:prstGeom prst="rect">
            <a:avLst/>
          </a:prstGeom>
          <a:solidFill>
            <a:schemeClr val="bg1"/>
          </a:solidFill>
          <a:ln>
            <a:solidFill>
              <a:schemeClr val="accent1"/>
            </a:solidFill>
          </a:ln>
        </p:spPr>
        <p:txBody>
          <a:bodyPr wrap="square" rtlCol="0">
            <a:spAutoFit/>
          </a:bodyPr>
          <a:lstStyle/>
          <a:p>
            <a:r>
              <a:rPr lang="en-US" sz="1000" dirty="0" err="1"/>
              <a:t>Giá</a:t>
            </a:r>
            <a:r>
              <a:rPr lang="en-US" sz="1000" dirty="0"/>
              <a:t> </a:t>
            </a:r>
            <a:r>
              <a:rPr lang="en-US" sz="1000" dirty="0" err="1"/>
              <a:t>hiển</a:t>
            </a:r>
            <a:r>
              <a:rPr lang="en-US" sz="1000" dirty="0"/>
              <a:t> </a:t>
            </a:r>
            <a:r>
              <a:rPr lang="en-US" sz="1000" dirty="0" err="1"/>
              <a:t>thị</a:t>
            </a:r>
            <a:r>
              <a:rPr lang="en-US" sz="1000" dirty="0"/>
              <a:t> </a:t>
            </a:r>
            <a:r>
              <a:rPr lang="en-US" sz="1000" dirty="0" err="1"/>
              <a:t>trên</a:t>
            </a:r>
            <a:r>
              <a:rPr lang="en-US" sz="1000" dirty="0"/>
              <a:t> 「</a:t>
            </a:r>
            <a:r>
              <a:rPr lang="en-US" sz="1000" dirty="0" err="1"/>
              <a:t>nhãn</a:t>
            </a:r>
            <a:r>
              <a:rPr lang="en-US" sz="1000" dirty="0"/>
              <a:t> </a:t>
            </a:r>
            <a:r>
              <a:rPr lang="en-US" sz="1000" dirty="0" err="1"/>
              <a:t>giá</a:t>
            </a:r>
            <a:r>
              <a:rPr lang="en-US" sz="1000" dirty="0"/>
              <a:t> </a:t>
            </a:r>
            <a:r>
              <a:rPr lang="en-US" sz="1000" dirty="0" err="1"/>
              <a:t>điện</a:t>
            </a:r>
            <a:r>
              <a:rPr lang="en-US" sz="1000" dirty="0"/>
              <a:t> </a:t>
            </a:r>
            <a:r>
              <a:rPr lang="en-US" sz="1000" dirty="0" err="1"/>
              <a:t>tử</a:t>
            </a:r>
            <a:r>
              <a:rPr lang="en-US" sz="1000" dirty="0"/>
              <a:t>」 </a:t>
            </a:r>
            <a:r>
              <a:rPr lang="en-US" sz="1000" dirty="0" err="1"/>
              <a:t>và</a:t>
            </a:r>
            <a:r>
              <a:rPr lang="en-US" sz="1000" dirty="0"/>
              <a:t> </a:t>
            </a:r>
            <a:r>
              <a:rPr lang="en-US" sz="1000" dirty="0" err="1"/>
              <a:t>trên</a:t>
            </a:r>
            <a:r>
              <a:rPr lang="en-US" sz="1000" dirty="0"/>
              <a:t> 「</a:t>
            </a:r>
            <a:r>
              <a:rPr lang="en-US" sz="1000" dirty="0" err="1"/>
              <a:t>màn</a:t>
            </a:r>
            <a:r>
              <a:rPr lang="en-US" sz="1000" dirty="0"/>
              <a:t> </a:t>
            </a:r>
            <a:r>
              <a:rPr lang="en-US" sz="1000" dirty="0" err="1"/>
              <a:t>hình</a:t>
            </a:r>
            <a:r>
              <a:rPr lang="en-US" sz="1000" dirty="0"/>
              <a:t> </a:t>
            </a:r>
            <a:r>
              <a:rPr lang="en-US" sz="1000" dirty="0" err="1"/>
              <a:t>thiết</a:t>
            </a:r>
            <a:r>
              <a:rPr lang="en-US" sz="1000" dirty="0"/>
              <a:t> </a:t>
            </a:r>
            <a:r>
              <a:rPr lang="en-US" sz="1000" dirty="0" err="1"/>
              <a:t>bị</a:t>
            </a:r>
            <a:r>
              <a:rPr lang="en-US" sz="1000" dirty="0"/>
              <a:t> </a:t>
            </a:r>
            <a:r>
              <a:rPr lang="en-US" sz="1000" dirty="0" err="1"/>
              <a:t>POS」bị</a:t>
            </a:r>
            <a:r>
              <a:rPr lang="en-US" sz="1000" dirty="0"/>
              <a:t> </a:t>
            </a:r>
            <a:r>
              <a:rPr lang="en-US" sz="1000" dirty="0" err="1"/>
              <a:t>khác</a:t>
            </a:r>
            <a:r>
              <a:rPr lang="en-US" sz="1000" dirty="0"/>
              <a:t> </a:t>
            </a:r>
            <a:r>
              <a:rPr lang="en-US" sz="1000" dirty="0" err="1"/>
              <a:t>nhau</a:t>
            </a:r>
            <a:r>
              <a:rPr lang="en-US" sz="1000" dirty="0"/>
              <a:t>.</a:t>
            </a:r>
          </a:p>
        </p:txBody>
      </p:sp>
    </p:spTree>
    <p:extLst>
      <p:ext uri="{BB962C8B-B14F-4D97-AF65-F5344CB8AC3E}">
        <p14:creationId xmlns:p14="http://schemas.microsoft.com/office/powerpoint/2010/main" val="3977343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8"/>
          <p:cNvSpPr txBox="1">
            <a:spLocks noGrp="1"/>
          </p:cNvSpPr>
          <p:nvPr>
            <p:ph type="title"/>
          </p:nvPr>
        </p:nvSpPr>
        <p:spPr>
          <a:xfrm>
            <a:off x="311700" y="2150849"/>
            <a:ext cx="8520600" cy="1368205"/>
          </a:xfrm>
          <a:prstGeom prst="rect">
            <a:avLst/>
          </a:prstGeom>
        </p:spPr>
        <p:txBody>
          <a:bodyPr spcFirstLastPara="1" wrap="square" lIns="91425" tIns="91425" rIns="91425" bIns="91425" anchor="ctr" anchorCtr="0">
            <a:normAutofit/>
          </a:bodyPr>
          <a:lstStyle/>
          <a:p>
            <a:pPr lvl="0"/>
            <a:r>
              <a:rPr lang="ja" sz="3000" dirty="0">
                <a:highlight>
                  <a:srgbClr val="FFFFFF"/>
                </a:highlight>
              </a:rPr>
              <a:t>2.インフラ設計方針</a:t>
            </a:r>
            <a:br>
              <a:rPr lang="en-US" altLang="ja" sz="3000" dirty="0">
                <a:highlight>
                  <a:srgbClr val="FFFFFF"/>
                </a:highlight>
              </a:rPr>
            </a:br>
            <a:r>
              <a:rPr lang="en-US" altLang="ja" sz="3000" dirty="0"/>
              <a:t>Phương </a:t>
            </a:r>
            <a:r>
              <a:rPr lang="en-US" altLang="ja" sz="3000" dirty="0" err="1"/>
              <a:t>châm</a:t>
            </a:r>
            <a:r>
              <a:rPr lang="en-US" altLang="ja" sz="3000" dirty="0"/>
              <a:t> </a:t>
            </a:r>
            <a:r>
              <a:rPr lang="en-US" altLang="ja" sz="3000" dirty="0" err="1"/>
              <a:t>thiết</a:t>
            </a:r>
            <a:r>
              <a:rPr lang="en-US" altLang="ja" sz="3000" dirty="0"/>
              <a:t> </a:t>
            </a:r>
            <a:r>
              <a:rPr lang="en-US" altLang="ja" sz="3000" dirty="0" err="1"/>
              <a:t>kế</a:t>
            </a:r>
            <a:r>
              <a:rPr lang="en-US" altLang="ja" sz="3000" dirty="0"/>
              <a:t> </a:t>
            </a:r>
            <a:r>
              <a:rPr lang="en-US" altLang="ja" sz="3000" dirty="0" err="1"/>
              <a:t>hạ</a:t>
            </a:r>
            <a:r>
              <a:rPr lang="en-US" altLang="ja" sz="3000" dirty="0"/>
              <a:t> </a:t>
            </a:r>
            <a:r>
              <a:rPr lang="en-US" altLang="ja" sz="3000" dirty="0" err="1"/>
              <a:t>tầng</a:t>
            </a:r>
            <a:endParaRPr sz="3000" dirty="0">
              <a:highlight>
                <a:srgbClr val="FFFFFF"/>
              </a:highlight>
            </a:endParaRPr>
          </a:p>
        </p:txBody>
      </p:sp>
      <p:pic>
        <p:nvPicPr>
          <p:cNvPr id="95" name="Google Shape;95;p18"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96" name="Google Shape;96;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9"/>
          <p:cNvSpPr txBox="1">
            <a:spLocks noGrp="1"/>
          </p:cNvSpPr>
          <p:nvPr>
            <p:ph type="title"/>
          </p:nvPr>
        </p:nvSpPr>
        <p:spPr>
          <a:xfrm>
            <a:off x="311700" y="4248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2-1.設計方針</a:t>
            </a:r>
            <a:endParaRPr>
              <a:highlight>
                <a:srgbClr val="D9D9D9"/>
              </a:highlight>
            </a:endParaRPr>
          </a:p>
        </p:txBody>
      </p:sp>
      <p:sp>
        <p:nvSpPr>
          <p:cNvPr id="102" name="Google Shape;102;p19"/>
          <p:cNvSpPr txBox="1">
            <a:spLocks noGrp="1"/>
          </p:cNvSpPr>
          <p:nvPr>
            <p:ph type="body" idx="1"/>
          </p:nvPr>
        </p:nvSpPr>
        <p:spPr>
          <a:xfrm>
            <a:off x="311700" y="1152475"/>
            <a:ext cx="8520600" cy="3510900"/>
          </a:xfrm>
          <a:prstGeom prst="rect">
            <a:avLst/>
          </a:prstGeom>
        </p:spPr>
        <p:txBody>
          <a:bodyPr spcFirstLastPara="1" wrap="square" lIns="91425" tIns="91425" rIns="91425" bIns="91425" anchor="t" anchorCtr="0">
            <a:normAutofit/>
          </a:bodyPr>
          <a:lstStyle/>
          <a:p>
            <a:pPr marL="457200" lvl="0" indent="-349250" algn="l" rtl="0">
              <a:spcBef>
                <a:spcPts val="0"/>
              </a:spcBef>
              <a:spcAft>
                <a:spcPts val="0"/>
              </a:spcAft>
              <a:buSzPts val="1900"/>
              <a:buChar char="●"/>
            </a:pPr>
            <a:r>
              <a:rPr lang="ja" sz="1900" dirty="0"/>
              <a:t>屋号（いなげや、カスミ、マルエツ、MV関東）全体に影響を受けない</a:t>
            </a:r>
            <a:endParaRPr sz="1900" dirty="0"/>
          </a:p>
          <a:p>
            <a:pPr marL="914400" lvl="1" indent="-349250" algn="l" rtl="0">
              <a:spcBef>
                <a:spcPts val="0"/>
              </a:spcBef>
              <a:spcAft>
                <a:spcPts val="0"/>
              </a:spcAft>
              <a:buSzPts val="1900"/>
              <a:buChar char="○"/>
            </a:pPr>
            <a:r>
              <a:rPr lang="ja" sz="1900" dirty="0"/>
              <a:t>ただし、一部のコンポーネント（例えば、エンドポイントなど）は共通利用する</a:t>
            </a:r>
            <a:endParaRPr sz="1900" dirty="0"/>
          </a:p>
          <a:p>
            <a:pPr marL="457200" lvl="0" indent="-349250" algn="l" rtl="0">
              <a:spcBef>
                <a:spcPts val="0"/>
              </a:spcBef>
              <a:spcAft>
                <a:spcPts val="0"/>
              </a:spcAft>
              <a:buSzPts val="1900"/>
              <a:buChar char="●"/>
            </a:pPr>
            <a:r>
              <a:rPr lang="ja" sz="1900" dirty="0"/>
              <a:t>将来、屋号が増えた場合でも、フレキシブルに追加できる</a:t>
            </a:r>
            <a:endParaRPr sz="1900" dirty="0"/>
          </a:p>
          <a:p>
            <a:pPr marL="457200" lvl="0" indent="-349250" algn="l" rtl="0">
              <a:spcBef>
                <a:spcPts val="0"/>
              </a:spcBef>
              <a:spcAft>
                <a:spcPts val="0"/>
              </a:spcAft>
              <a:buSzPts val="1900"/>
              <a:buChar char="●"/>
            </a:pPr>
            <a:r>
              <a:rPr lang="ja" sz="1900" dirty="0"/>
              <a:t>システム構成は、屋号の共通化を図る</a:t>
            </a:r>
            <a:endParaRPr sz="1900" dirty="0"/>
          </a:p>
          <a:p>
            <a:pPr marL="457200" lvl="0" indent="-349250" algn="l" rtl="0">
              <a:spcBef>
                <a:spcPts val="0"/>
              </a:spcBef>
              <a:spcAft>
                <a:spcPts val="0"/>
              </a:spcAft>
              <a:buSzPts val="1900"/>
              <a:buChar char="●"/>
            </a:pPr>
            <a:r>
              <a:rPr lang="ja" sz="1900" dirty="0"/>
              <a:t>アプリケーションが目的別に疎結合の構成を組める支援を行う</a:t>
            </a:r>
            <a:endParaRPr sz="1900" dirty="0"/>
          </a:p>
        </p:txBody>
      </p:sp>
      <p:pic>
        <p:nvPicPr>
          <p:cNvPr id="103" name="Google Shape;103;p19"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04" name="Google Shape;104;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7BDF4F03-D2F3-45AC-B4D3-BBF6570CEA38}"/>
            </a:ext>
          </a:extLst>
        </p:cNvPr>
        <p:cNvGrpSpPr/>
        <p:nvPr/>
      </p:nvGrpSpPr>
      <p:grpSpPr>
        <a:xfrm>
          <a:off x="0" y="0"/>
          <a:ext cx="0" cy="0"/>
          <a:chOff x="0" y="0"/>
          <a:chExt cx="0" cy="0"/>
        </a:xfrm>
      </p:grpSpPr>
      <p:sp>
        <p:nvSpPr>
          <p:cNvPr id="101" name="Google Shape;101;p19">
            <a:extLst>
              <a:ext uri="{FF2B5EF4-FFF2-40B4-BE49-F238E27FC236}">
                <a16:creationId xmlns:a16="http://schemas.microsoft.com/office/drawing/2014/main" id="{35E1DF77-E947-9276-DCA1-073E9E392F46}"/>
              </a:ext>
            </a:extLst>
          </p:cNvPr>
          <p:cNvSpPr txBox="1">
            <a:spLocks noGrp="1"/>
          </p:cNvSpPr>
          <p:nvPr>
            <p:ph type="title"/>
          </p:nvPr>
        </p:nvSpPr>
        <p:spPr>
          <a:xfrm>
            <a:off x="311700" y="424800"/>
            <a:ext cx="8520600" cy="572700"/>
          </a:xfrm>
          <a:prstGeom prst="rect">
            <a:avLst/>
          </a:prstGeom>
        </p:spPr>
        <p:txBody>
          <a:bodyPr spcFirstLastPara="1" wrap="square" lIns="91425" tIns="91425" rIns="91425" bIns="91425" anchor="t" anchorCtr="0">
            <a:normAutofit fontScale="90000"/>
          </a:bodyPr>
          <a:lstStyle/>
          <a:p>
            <a:pPr lvl="0"/>
            <a:r>
              <a:rPr lang="ja" dirty="0">
                <a:highlight>
                  <a:srgbClr val="D9D9D9"/>
                </a:highlight>
              </a:rPr>
              <a:t>2-1.</a:t>
            </a:r>
            <a:r>
              <a:rPr lang="en-US" altLang="ja" dirty="0"/>
              <a:t> Phương </a:t>
            </a:r>
            <a:r>
              <a:rPr lang="en-US" altLang="ja" dirty="0" err="1"/>
              <a:t>châm</a:t>
            </a:r>
            <a:r>
              <a:rPr lang="en-US" altLang="ja" dirty="0"/>
              <a:t> </a:t>
            </a:r>
            <a:r>
              <a:rPr lang="en-US" altLang="ja" dirty="0" err="1"/>
              <a:t>thiết</a:t>
            </a:r>
            <a:r>
              <a:rPr lang="en-US" altLang="ja" dirty="0"/>
              <a:t> </a:t>
            </a:r>
            <a:r>
              <a:rPr lang="en-US" altLang="ja" dirty="0" err="1"/>
              <a:t>kế</a:t>
            </a:r>
            <a:r>
              <a:rPr lang="en-US" altLang="ja" dirty="0"/>
              <a:t> </a:t>
            </a:r>
            <a:r>
              <a:rPr lang="en-US" altLang="ja" dirty="0" err="1"/>
              <a:t>hạ</a:t>
            </a:r>
            <a:r>
              <a:rPr lang="en-US" altLang="ja" dirty="0"/>
              <a:t> </a:t>
            </a:r>
            <a:r>
              <a:rPr lang="en-US" altLang="ja" dirty="0" err="1"/>
              <a:t>tầng</a:t>
            </a:r>
            <a:endParaRPr dirty="0">
              <a:highlight>
                <a:srgbClr val="D9D9D9"/>
              </a:highlight>
            </a:endParaRPr>
          </a:p>
        </p:txBody>
      </p:sp>
      <p:sp>
        <p:nvSpPr>
          <p:cNvPr id="102" name="Google Shape;102;p19">
            <a:extLst>
              <a:ext uri="{FF2B5EF4-FFF2-40B4-BE49-F238E27FC236}">
                <a16:creationId xmlns:a16="http://schemas.microsoft.com/office/drawing/2014/main" id="{AB09D7A6-02EF-6D78-AB15-2EDD16CF186E}"/>
              </a:ext>
            </a:extLst>
          </p:cNvPr>
          <p:cNvSpPr txBox="1">
            <a:spLocks noGrp="1"/>
          </p:cNvSpPr>
          <p:nvPr>
            <p:ph type="body" idx="1"/>
          </p:nvPr>
        </p:nvSpPr>
        <p:spPr>
          <a:xfrm>
            <a:off x="311700" y="1152475"/>
            <a:ext cx="8520600" cy="3510900"/>
          </a:xfrm>
          <a:prstGeom prst="rect">
            <a:avLst/>
          </a:prstGeom>
        </p:spPr>
        <p:txBody>
          <a:bodyPr spcFirstLastPara="1" wrap="square" lIns="91425" tIns="91425" rIns="91425" bIns="91425" anchor="t" anchorCtr="0">
            <a:normAutofit lnSpcReduction="10000"/>
          </a:bodyPr>
          <a:lstStyle/>
          <a:p>
            <a:pPr lvl="0" indent="-349250">
              <a:buSzPts val="1900"/>
            </a:pPr>
            <a:r>
              <a:rPr lang="vi-VN" altLang="ja" sz="1900" dirty="0"/>
              <a:t>Không bị ảnh hưởng toàn bộ đến các thương hiệu (Inageya, Kasumi, Maruetsu, MV Kanto),</a:t>
            </a:r>
          </a:p>
          <a:p>
            <a:pPr marL="107950" lvl="0" indent="0">
              <a:buSzPts val="1900"/>
              <a:buNone/>
            </a:pPr>
            <a:r>
              <a:rPr lang="en-US" altLang="ja" sz="1900" dirty="0"/>
              <a:t>       -&gt;</a:t>
            </a:r>
            <a:r>
              <a:rPr lang="vi-VN" altLang="ja" sz="1900" dirty="0"/>
              <a:t>tuy nhiên một số thành phần (ví dụ: endpoint, v.v.) sẽ được sử dụng chung.</a:t>
            </a:r>
          </a:p>
          <a:p>
            <a:pPr lvl="0" indent="-349250">
              <a:buSzPts val="1900"/>
            </a:pPr>
            <a:r>
              <a:rPr lang="vi-VN" altLang="ja" sz="1900" dirty="0"/>
              <a:t>Trong tương lai, nếu số lượng thương hiệu tăng lên thì vẫn có thể linh hoạt bổ sung.</a:t>
            </a:r>
          </a:p>
          <a:p>
            <a:pPr lvl="0" indent="-349250">
              <a:buSzPts val="1900"/>
            </a:pPr>
            <a:r>
              <a:rPr lang="vi-VN" altLang="ja" sz="1900" dirty="0"/>
              <a:t>Cấu trúc hệ thống được thiết kế nhằm hướng đến việc dùng chung giữa các thương hiệu.</a:t>
            </a:r>
          </a:p>
          <a:p>
            <a:pPr lvl="0" indent="-349250">
              <a:buSzPts val="1900"/>
            </a:pPr>
            <a:r>
              <a:rPr lang="vi-VN" altLang="ja" sz="1900" dirty="0"/>
              <a:t>Hỗ trợ xây dựng cấu trúc lỏng lẻo (loose coupling) của các ứng dụng theo từng mục đích sử dụng.</a:t>
            </a:r>
            <a:endParaRPr sz="1900" dirty="0"/>
          </a:p>
        </p:txBody>
      </p:sp>
      <p:pic>
        <p:nvPicPr>
          <p:cNvPr id="103" name="Google Shape;103;p19" title="logo-luvina-2022-2.png">
            <a:extLst>
              <a:ext uri="{FF2B5EF4-FFF2-40B4-BE49-F238E27FC236}">
                <a16:creationId xmlns:a16="http://schemas.microsoft.com/office/drawing/2014/main" id="{A45DEB54-8A88-0C97-5203-FD86B1379579}"/>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04" name="Google Shape;104;p19">
            <a:extLst>
              <a:ext uri="{FF2B5EF4-FFF2-40B4-BE49-F238E27FC236}">
                <a16:creationId xmlns:a16="http://schemas.microsoft.com/office/drawing/2014/main" id="{02B3DD47-C625-4F7E-4A96-725FDAE4AEEE}"/>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11</a:t>
            </a:fld>
            <a:endParaRPr/>
          </a:p>
        </p:txBody>
      </p:sp>
    </p:spTree>
    <p:extLst>
      <p:ext uri="{BB962C8B-B14F-4D97-AF65-F5344CB8AC3E}">
        <p14:creationId xmlns:p14="http://schemas.microsoft.com/office/powerpoint/2010/main" val="3019058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ja" sz="3000" dirty="0">
                <a:highlight>
                  <a:srgbClr val="FFFFFF"/>
                </a:highlight>
              </a:rPr>
              <a:t>3.AWSアカウント設計</a:t>
            </a:r>
            <a:br>
              <a:rPr lang="en-US" altLang="ja" sz="3000" dirty="0">
                <a:highlight>
                  <a:srgbClr val="FFFFFF"/>
                </a:highlight>
              </a:rPr>
            </a:br>
            <a:r>
              <a:rPr lang="en-US" altLang="ja" sz="3000" dirty="0">
                <a:highlight>
                  <a:srgbClr val="FFFFFF"/>
                </a:highlight>
              </a:rPr>
              <a:t>Setting account AWS</a:t>
            </a:r>
            <a:endParaRPr sz="3000" dirty="0">
              <a:highlight>
                <a:srgbClr val="FFFFFF"/>
              </a:highlight>
            </a:endParaRPr>
          </a:p>
        </p:txBody>
      </p:sp>
      <p:pic>
        <p:nvPicPr>
          <p:cNvPr id="110" name="Google Shape;110;p20"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11" name="Google Shape;111;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AB924CC3-C5A8-696B-B5AC-5093792CCBB2}"/>
            </a:ext>
          </a:extLst>
        </p:cNvPr>
        <p:cNvGrpSpPr/>
        <p:nvPr/>
      </p:nvGrpSpPr>
      <p:grpSpPr>
        <a:xfrm>
          <a:off x="0" y="0"/>
          <a:ext cx="0" cy="0"/>
          <a:chOff x="0" y="0"/>
          <a:chExt cx="0" cy="0"/>
        </a:xfrm>
      </p:grpSpPr>
      <p:sp>
        <p:nvSpPr>
          <p:cNvPr id="116" name="Google Shape;116;p21">
            <a:extLst>
              <a:ext uri="{FF2B5EF4-FFF2-40B4-BE49-F238E27FC236}">
                <a16:creationId xmlns:a16="http://schemas.microsoft.com/office/drawing/2014/main" id="{8D1CB700-FF22-DFBE-2546-55464623375C}"/>
              </a:ext>
            </a:extLst>
          </p:cNvPr>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dirty="0">
                <a:highlight>
                  <a:srgbClr val="D9D9D9"/>
                </a:highlight>
              </a:rPr>
              <a:t>3-1.AWSアカウント分割</a:t>
            </a:r>
            <a:endParaRPr dirty="0">
              <a:highlight>
                <a:srgbClr val="D9D9D9"/>
              </a:highlight>
            </a:endParaRPr>
          </a:p>
          <a:p>
            <a:pPr marL="0" lvl="0" indent="0" algn="l" rtl="0">
              <a:spcBef>
                <a:spcPts val="0"/>
              </a:spcBef>
              <a:spcAft>
                <a:spcPts val="0"/>
              </a:spcAft>
              <a:buNone/>
            </a:pPr>
            <a:endParaRPr dirty="0">
              <a:highlight>
                <a:srgbClr val="D9D9D9"/>
              </a:highlight>
            </a:endParaRPr>
          </a:p>
        </p:txBody>
      </p:sp>
      <p:pic>
        <p:nvPicPr>
          <p:cNvPr id="117" name="Google Shape;117;p21" title="logo-luvina-2022-2.png">
            <a:extLst>
              <a:ext uri="{FF2B5EF4-FFF2-40B4-BE49-F238E27FC236}">
                <a16:creationId xmlns:a16="http://schemas.microsoft.com/office/drawing/2014/main" id="{0FE1E209-B71D-BAB1-EA24-96BA8BB8DA53}"/>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18" name="Google Shape;118;p21">
            <a:extLst>
              <a:ext uri="{FF2B5EF4-FFF2-40B4-BE49-F238E27FC236}">
                <a16:creationId xmlns:a16="http://schemas.microsoft.com/office/drawing/2014/main" id="{5A2C299F-8816-528B-A38D-5FADB36A0687}"/>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13</a:t>
            </a:fld>
            <a:endParaRPr/>
          </a:p>
        </p:txBody>
      </p:sp>
      <p:graphicFrame>
        <p:nvGraphicFramePr>
          <p:cNvPr id="119" name="Google Shape;119;p21">
            <a:extLst>
              <a:ext uri="{FF2B5EF4-FFF2-40B4-BE49-F238E27FC236}">
                <a16:creationId xmlns:a16="http://schemas.microsoft.com/office/drawing/2014/main" id="{5EC6DD66-EF65-8629-7DAB-A2D0F5D9C8C6}"/>
              </a:ext>
            </a:extLst>
          </p:cNvPr>
          <p:cNvGraphicFramePr/>
          <p:nvPr/>
        </p:nvGraphicFramePr>
        <p:xfrm>
          <a:off x="680175" y="1279375"/>
          <a:ext cx="7783650" cy="1550850"/>
        </p:xfrm>
        <a:graphic>
          <a:graphicData uri="http://schemas.openxmlformats.org/drawingml/2006/table">
            <a:tbl>
              <a:tblPr>
                <a:noFill/>
                <a:tableStyleId>{87A281C8-0844-4F7E-8F5C-31C3930F0FE5}</a:tableStyleId>
              </a:tblPr>
              <a:tblGrid>
                <a:gridCol w="915550">
                  <a:extLst>
                    <a:ext uri="{9D8B030D-6E8A-4147-A177-3AD203B41FA5}">
                      <a16:colId xmlns:a16="http://schemas.microsoft.com/office/drawing/2014/main" val="20000"/>
                    </a:ext>
                  </a:extLst>
                </a:gridCol>
                <a:gridCol w="1760975">
                  <a:extLst>
                    <a:ext uri="{9D8B030D-6E8A-4147-A177-3AD203B41FA5}">
                      <a16:colId xmlns:a16="http://schemas.microsoft.com/office/drawing/2014/main" val="20001"/>
                    </a:ext>
                  </a:extLst>
                </a:gridCol>
                <a:gridCol w="5107125">
                  <a:extLst>
                    <a:ext uri="{9D8B030D-6E8A-4147-A177-3AD203B41FA5}">
                      <a16:colId xmlns:a16="http://schemas.microsoft.com/office/drawing/2014/main" val="20002"/>
                    </a:ext>
                  </a:extLst>
                </a:gridCol>
              </a:tblGrid>
              <a:tr h="516950">
                <a:tc>
                  <a:txBody>
                    <a:bodyPr/>
                    <a:lstStyle/>
                    <a:p>
                      <a:pPr marL="0" lvl="0" indent="0" algn="l" rtl="0">
                        <a:spcBef>
                          <a:spcPts val="0"/>
                        </a:spcBef>
                        <a:spcAft>
                          <a:spcPts val="0"/>
                        </a:spcAft>
                        <a:buNone/>
                      </a:pPr>
                      <a:r>
                        <a:rPr lang="ja" sz="1600" b="1">
                          <a:solidFill>
                            <a:schemeClr val="dk2"/>
                          </a:solidFill>
                        </a:rPr>
                        <a:t>NO</a:t>
                      </a:r>
                      <a:endParaRPr sz="1600" b="1">
                        <a:solidFill>
                          <a:schemeClr val="dk2"/>
                        </a:solidFill>
                      </a:endParaRPr>
                    </a:p>
                  </a:txBody>
                  <a:tcPr marL="91425" marR="91425" marT="91425" marB="91425">
                    <a:solidFill>
                      <a:schemeClr val="lt2"/>
                    </a:solidFill>
                  </a:tcPr>
                </a:tc>
                <a:tc gridSpan="2">
                  <a:txBody>
                    <a:bodyPr/>
                    <a:lstStyle/>
                    <a:p>
                      <a:pPr marL="0" lvl="0" indent="0" algn="l" rtl="0">
                        <a:spcBef>
                          <a:spcPts val="0"/>
                        </a:spcBef>
                        <a:spcAft>
                          <a:spcPts val="0"/>
                        </a:spcAft>
                        <a:buNone/>
                      </a:pPr>
                      <a:r>
                        <a:rPr lang="ja" sz="1600" b="1">
                          <a:solidFill>
                            <a:schemeClr val="dk2"/>
                          </a:solidFill>
                        </a:rPr>
                        <a:t>AWSアカウント</a:t>
                      </a:r>
                      <a:endParaRPr sz="1600" b="1">
                        <a:solidFill>
                          <a:schemeClr val="dk2"/>
                        </a:solidFill>
                      </a:endParaRPr>
                    </a:p>
                  </a:txBody>
                  <a:tcPr marL="91425" marR="91425" marT="91425" marB="91425">
                    <a:solidFill>
                      <a:schemeClr val="lt2"/>
                    </a:solidFill>
                  </a:tcPr>
                </a:tc>
                <a:tc hMerge="1">
                  <a:txBody>
                    <a:bodyPr/>
                    <a:lstStyle/>
                    <a:p>
                      <a:endParaRPr lang="en-US"/>
                    </a:p>
                  </a:txBody>
                  <a:tcPr/>
                </a:tc>
                <a:extLst>
                  <a:ext uri="{0D108BD9-81ED-4DB2-BD59-A6C34878D82A}">
                    <a16:rowId xmlns:a16="http://schemas.microsoft.com/office/drawing/2014/main" val="10000"/>
                  </a:ext>
                </a:extLst>
              </a:tr>
              <a:tr h="516950">
                <a:tc>
                  <a:txBody>
                    <a:bodyPr/>
                    <a:lstStyle/>
                    <a:p>
                      <a:pPr marL="0" lvl="0" indent="0" algn="l" rtl="0">
                        <a:spcBef>
                          <a:spcPts val="0"/>
                        </a:spcBef>
                        <a:spcAft>
                          <a:spcPts val="0"/>
                        </a:spcAft>
                        <a:buNone/>
                      </a:pPr>
                      <a:r>
                        <a:rPr lang="ja" sz="1600">
                          <a:solidFill>
                            <a:schemeClr val="dk2"/>
                          </a:solidFill>
                        </a:rPr>
                        <a:t>1</a:t>
                      </a:r>
                      <a:endParaRPr sz="1600">
                        <a:solidFill>
                          <a:schemeClr val="dk2"/>
                        </a:solidFill>
                      </a:endParaRPr>
                    </a:p>
                  </a:txBody>
                  <a:tcPr marL="91425" marR="91425" marT="91425" marB="91425"/>
                </a:tc>
                <a:tc rowSpan="2">
                  <a:txBody>
                    <a:bodyPr/>
                    <a:lstStyle/>
                    <a:p>
                      <a:pPr marL="0" lvl="0" indent="0" algn="l" rtl="0">
                        <a:spcBef>
                          <a:spcPts val="0"/>
                        </a:spcBef>
                        <a:spcAft>
                          <a:spcPts val="0"/>
                        </a:spcAft>
                        <a:buNone/>
                      </a:pPr>
                      <a:r>
                        <a:rPr lang="ja" sz="1600">
                          <a:solidFill>
                            <a:schemeClr val="dk2"/>
                          </a:solidFill>
                        </a:rPr>
                        <a:t>屋号共通</a:t>
                      </a:r>
                      <a:endParaRPr sz="1600">
                        <a:solidFill>
                          <a:schemeClr val="dk2"/>
                        </a:solidFill>
                      </a:endParaRPr>
                    </a:p>
                    <a:p>
                      <a:pPr marL="0" lvl="0" indent="0" algn="l" rtl="0">
                        <a:spcBef>
                          <a:spcPts val="0"/>
                        </a:spcBef>
                        <a:spcAft>
                          <a:spcPts val="0"/>
                        </a:spcAft>
                        <a:buNone/>
                      </a:pPr>
                      <a:endParaRPr sz="160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ja" sz="1600">
                          <a:solidFill>
                            <a:schemeClr val="dk2"/>
                          </a:solidFill>
                        </a:rPr>
                        <a:t>本番環境</a:t>
                      </a:r>
                      <a:endParaRPr sz="1600">
                        <a:solidFill>
                          <a:schemeClr val="dk2"/>
                        </a:solidFill>
                      </a:endParaRPr>
                    </a:p>
                  </a:txBody>
                  <a:tcPr marL="91425" marR="91425" marT="91425" marB="91425"/>
                </a:tc>
                <a:extLst>
                  <a:ext uri="{0D108BD9-81ED-4DB2-BD59-A6C34878D82A}">
                    <a16:rowId xmlns:a16="http://schemas.microsoft.com/office/drawing/2014/main" val="10001"/>
                  </a:ext>
                </a:extLst>
              </a:tr>
              <a:tr h="516950">
                <a:tc>
                  <a:txBody>
                    <a:bodyPr/>
                    <a:lstStyle/>
                    <a:p>
                      <a:pPr marL="0" lvl="0" indent="0" algn="l" rtl="0">
                        <a:spcBef>
                          <a:spcPts val="0"/>
                        </a:spcBef>
                        <a:spcAft>
                          <a:spcPts val="0"/>
                        </a:spcAft>
                        <a:buNone/>
                      </a:pPr>
                      <a:r>
                        <a:rPr lang="ja" sz="1600">
                          <a:solidFill>
                            <a:schemeClr val="dk2"/>
                          </a:solidFill>
                        </a:rPr>
                        <a:t>2</a:t>
                      </a:r>
                      <a:endParaRPr sz="1600">
                        <a:solidFill>
                          <a:schemeClr val="dk2"/>
                        </a:solidFill>
                      </a:endParaRPr>
                    </a:p>
                  </a:txBody>
                  <a:tcPr marL="91425" marR="91425" marT="91425" marB="91425"/>
                </a:tc>
                <a:tc vMerge="1">
                  <a:txBody>
                    <a:bodyPr/>
                    <a:lstStyle/>
                    <a:p>
                      <a:endParaRPr lang="en-US"/>
                    </a:p>
                  </a:txBody>
                  <a:tcPr/>
                </a:tc>
                <a:tc>
                  <a:txBody>
                    <a:bodyPr/>
                    <a:lstStyle/>
                    <a:p>
                      <a:pPr marL="0" lvl="0" indent="0" algn="l" rtl="0">
                        <a:spcBef>
                          <a:spcPts val="0"/>
                        </a:spcBef>
                        <a:spcAft>
                          <a:spcPts val="0"/>
                        </a:spcAft>
                        <a:buClr>
                          <a:schemeClr val="dk1"/>
                        </a:buClr>
                        <a:buSzPts val="1100"/>
                        <a:buFont typeface="Arial"/>
                        <a:buNone/>
                      </a:pPr>
                      <a:r>
                        <a:rPr lang="ja" sz="1600">
                          <a:solidFill>
                            <a:schemeClr val="dk2"/>
                          </a:solidFill>
                        </a:rPr>
                        <a:t>ステージング環境</a:t>
                      </a:r>
                      <a:endParaRPr sz="1600">
                        <a:solidFill>
                          <a:schemeClr val="dk2"/>
                        </a:solidFill>
                      </a:endParaRPr>
                    </a:p>
                  </a:txBody>
                  <a:tcPr marL="91425" marR="91425" marT="91425" marB="91425"/>
                </a:tc>
                <a:extLst>
                  <a:ext uri="{0D108BD9-81ED-4DB2-BD59-A6C34878D82A}">
                    <a16:rowId xmlns:a16="http://schemas.microsoft.com/office/drawing/2014/main" val="10002"/>
                  </a:ext>
                </a:extLst>
              </a:tr>
            </a:tbl>
          </a:graphicData>
        </a:graphic>
      </p:graphicFrame>
      <p:sp>
        <p:nvSpPr>
          <p:cNvPr id="120" name="Google Shape;120;p21">
            <a:extLst>
              <a:ext uri="{FF2B5EF4-FFF2-40B4-BE49-F238E27FC236}">
                <a16:creationId xmlns:a16="http://schemas.microsoft.com/office/drawing/2014/main" id="{994CFE9E-D38A-15D8-079E-56E0157AA232}"/>
              </a:ext>
            </a:extLst>
          </p:cNvPr>
          <p:cNvSpPr/>
          <p:nvPr/>
        </p:nvSpPr>
        <p:spPr>
          <a:xfrm>
            <a:off x="746150" y="3273125"/>
            <a:ext cx="7742700" cy="10746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sz="1800">
                <a:solidFill>
                  <a:schemeClr val="dk2"/>
                </a:solidFill>
              </a:rPr>
              <a:t>接続先であるUSMH側のDirect Connect Gatewayの制約により、</a:t>
            </a:r>
            <a:endParaRPr sz="1800">
              <a:solidFill>
                <a:schemeClr val="dk2"/>
              </a:solidFill>
            </a:endParaRPr>
          </a:p>
          <a:p>
            <a:pPr marL="0" lvl="0" indent="0" algn="l" rtl="0">
              <a:spcBef>
                <a:spcPts val="0"/>
              </a:spcBef>
              <a:spcAft>
                <a:spcPts val="0"/>
              </a:spcAft>
              <a:buNone/>
            </a:pPr>
            <a:r>
              <a:rPr lang="ja" sz="1800">
                <a:solidFill>
                  <a:schemeClr val="dk2"/>
                </a:solidFill>
              </a:rPr>
              <a:t>屋号別にAWSアカウントを作成しない</a:t>
            </a:r>
            <a:endParaRPr sz="1800">
              <a:solidFill>
                <a:schemeClr val="dk2"/>
              </a:solidFill>
            </a:endParaRPr>
          </a:p>
        </p:txBody>
      </p:sp>
    </p:spTree>
    <p:extLst>
      <p:ext uri="{BB962C8B-B14F-4D97-AF65-F5344CB8AC3E}">
        <p14:creationId xmlns:p14="http://schemas.microsoft.com/office/powerpoint/2010/main" val="10331236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1"/>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dirty="0">
                <a:highlight>
                  <a:srgbClr val="D9D9D9"/>
                </a:highlight>
              </a:rPr>
              <a:t>3-1.</a:t>
            </a:r>
            <a:r>
              <a:rPr lang="en-US" altLang="ja" dirty="0" err="1">
                <a:highlight>
                  <a:srgbClr val="D9D9D9"/>
                </a:highlight>
              </a:rPr>
              <a:t>Phân</a:t>
            </a:r>
            <a:r>
              <a:rPr lang="en-US" altLang="ja" dirty="0">
                <a:highlight>
                  <a:srgbClr val="D9D9D9"/>
                </a:highlight>
              </a:rPr>
              <a:t> </a:t>
            </a:r>
            <a:r>
              <a:rPr lang="en-US" altLang="ja" dirty="0" err="1">
                <a:highlight>
                  <a:srgbClr val="D9D9D9"/>
                </a:highlight>
              </a:rPr>
              <a:t>quyền</a:t>
            </a:r>
            <a:r>
              <a:rPr lang="en-US" altLang="ja" dirty="0">
                <a:highlight>
                  <a:srgbClr val="D9D9D9"/>
                </a:highlight>
              </a:rPr>
              <a:t> acc AWS</a:t>
            </a:r>
            <a:endParaRPr dirty="0">
              <a:highlight>
                <a:srgbClr val="D9D9D9"/>
              </a:highlight>
            </a:endParaRPr>
          </a:p>
          <a:p>
            <a:pPr marL="0" lvl="0" indent="0" algn="l" rtl="0">
              <a:spcBef>
                <a:spcPts val="0"/>
              </a:spcBef>
              <a:spcAft>
                <a:spcPts val="0"/>
              </a:spcAft>
              <a:buNone/>
            </a:pPr>
            <a:endParaRPr dirty="0">
              <a:highlight>
                <a:srgbClr val="D9D9D9"/>
              </a:highlight>
            </a:endParaRPr>
          </a:p>
        </p:txBody>
      </p:sp>
      <p:pic>
        <p:nvPicPr>
          <p:cNvPr id="117" name="Google Shape;117;p21"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18" name="Google Shape;118;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14</a:t>
            </a:fld>
            <a:endParaRPr/>
          </a:p>
        </p:txBody>
      </p:sp>
      <p:graphicFrame>
        <p:nvGraphicFramePr>
          <p:cNvPr id="119" name="Google Shape;119;p21"/>
          <p:cNvGraphicFramePr/>
          <p:nvPr>
            <p:extLst>
              <p:ext uri="{D42A27DB-BD31-4B8C-83A1-F6EECF244321}">
                <p14:modId xmlns:p14="http://schemas.microsoft.com/office/powerpoint/2010/main" val="44633833"/>
              </p:ext>
            </p:extLst>
          </p:nvPr>
        </p:nvGraphicFramePr>
        <p:xfrm>
          <a:off x="680175" y="1279375"/>
          <a:ext cx="7783650" cy="1550850"/>
        </p:xfrm>
        <a:graphic>
          <a:graphicData uri="http://schemas.openxmlformats.org/drawingml/2006/table">
            <a:tbl>
              <a:tblPr>
                <a:noFill/>
                <a:tableStyleId>{87A281C8-0844-4F7E-8F5C-31C3930F0FE5}</a:tableStyleId>
              </a:tblPr>
              <a:tblGrid>
                <a:gridCol w="915550">
                  <a:extLst>
                    <a:ext uri="{9D8B030D-6E8A-4147-A177-3AD203B41FA5}">
                      <a16:colId xmlns:a16="http://schemas.microsoft.com/office/drawing/2014/main" val="20000"/>
                    </a:ext>
                  </a:extLst>
                </a:gridCol>
                <a:gridCol w="1760975">
                  <a:extLst>
                    <a:ext uri="{9D8B030D-6E8A-4147-A177-3AD203B41FA5}">
                      <a16:colId xmlns:a16="http://schemas.microsoft.com/office/drawing/2014/main" val="20001"/>
                    </a:ext>
                  </a:extLst>
                </a:gridCol>
                <a:gridCol w="5107125">
                  <a:extLst>
                    <a:ext uri="{9D8B030D-6E8A-4147-A177-3AD203B41FA5}">
                      <a16:colId xmlns:a16="http://schemas.microsoft.com/office/drawing/2014/main" val="20002"/>
                    </a:ext>
                  </a:extLst>
                </a:gridCol>
              </a:tblGrid>
              <a:tr h="516950">
                <a:tc>
                  <a:txBody>
                    <a:bodyPr/>
                    <a:lstStyle/>
                    <a:p>
                      <a:pPr marL="0" lvl="0" indent="0" algn="l" rtl="0">
                        <a:spcBef>
                          <a:spcPts val="0"/>
                        </a:spcBef>
                        <a:spcAft>
                          <a:spcPts val="0"/>
                        </a:spcAft>
                        <a:buNone/>
                      </a:pPr>
                      <a:r>
                        <a:rPr lang="ja" sz="1600" b="1">
                          <a:solidFill>
                            <a:schemeClr val="dk2"/>
                          </a:solidFill>
                        </a:rPr>
                        <a:t>NO</a:t>
                      </a:r>
                      <a:endParaRPr sz="1600" b="1">
                        <a:solidFill>
                          <a:schemeClr val="dk2"/>
                        </a:solidFill>
                      </a:endParaRPr>
                    </a:p>
                  </a:txBody>
                  <a:tcPr marL="91425" marR="91425" marT="91425" marB="91425">
                    <a:solidFill>
                      <a:schemeClr val="lt2"/>
                    </a:solidFill>
                  </a:tcPr>
                </a:tc>
                <a:tc gridSpan="2">
                  <a:txBody>
                    <a:bodyPr/>
                    <a:lstStyle/>
                    <a:p>
                      <a:pPr marL="0" lvl="0" indent="0" algn="l" rtl="0">
                        <a:spcBef>
                          <a:spcPts val="0"/>
                        </a:spcBef>
                        <a:spcAft>
                          <a:spcPts val="0"/>
                        </a:spcAft>
                        <a:buNone/>
                      </a:pPr>
                      <a:r>
                        <a:rPr lang="ja" sz="1600" b="1" dirty="0">
                          <a:solidFill>
                            <a:schemeClr val="dk2"/>
                          </a:solidFill>
                        </a:rPr>
                        <a:t>AWS</a:t>
                      </a:r>
                      <a:r>
                        <a:rPr lang="en-US" altLang="ja" sz="1600" b="1" dirty="0">
                          <a:solidFill>
                            <a:schemeClr val="dk2"/>
                          </a:solidFill>
                        </a:rPr>
                        <a:t> acc</a:t>
                      </a:r>
                      <a:endParaRPr sz="1600" b="1" dirty="0">
                        <a:solidFill>
                          <a:schemeClr val="dk2"/>
                        </a:solidFill>
                      </a:endParaRPr>
                    </a:p>
                  </a:txBody>
                  <a:tcPr marL="91425" marR="91425" marT="91425" marB="91425">
                    <a:solidFill>
                      <a:schemeClr val="lt2"/>
                    </a:solidFill>
                  </a:tcPr>
                </a:tc>
                <a:tc hMerge="1">
                  <a:txBody>
                    <a:bodyPr/>
                    <a:lstStyle/>
                    <a:p>
                      <a:endParaRPr lang="en-US"/>
                    </a:p>
                  </a:txBody>
                  <a:tcPr/>
                </a:tc>
                <a:extLst>
                  <a:ext uri="{0D108BD9-81ED-4DB2-BD59-A6C34878D82A}">
                    <a16:rowId xmlns:a16="http://schemas.microsoft.com/office/drawing/2014/main" val="10000"/>
                  </a:ext>
                </a:extLst>
              </a:tr>
              <a:tr h="516950">
                <a:tc>
                  <a:txBody>
                    <a:bodyPr/>
                    <a:lstStyle/>
                    <a:p>
                      <a:pPr marL="0" lvl="0" indent="0" algn="l" rtl="0">
                        <a:spcBef>
                          <a:spcPts val="0"/>
                        </a:spcBef>
                        <a:spcAft>
                          <a:spcPts val="0"/>
                        </a:spcAft>
                        <a:buNone/>
                      </a:pPr>
                      <a:r>
                        <a:rPr lang="ja" sz="1600">
                          <a:solidFill>
                            <a:schemeClr val="dk2"/>
                          </a:solidFill>
                        </a:rPr>
                        <a:t>1</a:t>
                      </a:r>
                      <a:endParaRPr sz="1600">
                        <a:solidFill>
                          <a:schemeClr val="dk2"/>
                        </a:solidFill>
                      </a:endParaRPr>
                    </a:p>
                  </a:txBody>
                  <a:tcPr marL="91425" marR="91425" marT="91425" marB="91425"/>
                </a:tc>
                <a:tc rowSpan="2">
                  <a:txBody>
                    <a:bodyPr/>
                    <a:lstStyle/>
                    <a:p>
                      <a:pPr marL="0" lvl="0" indent="0" algn="l" rtl="0">
                        <a:spcBef>
                          <a:spcPts val="0"/>
                        </a:spcBef>
                        <a:spcAft>
                          <a:spcPts val="0"/>
                        </a:spcAft>
                        <a:buNone/>
                      </a:pPr>
                      <a:r>
                        <a:rPr lang="en-US" altLang="ja" sz="1600" dirty="0" err="1">
                          <a:solidFill>
                            <a:schemeClr val="dk2"/>
                          </a:solidFill>
                        </a:rPr>
                        <a:t>Dùng</a:t>
                      </a:r>
                      <a:r>
                        <a:rPr lang="en-US" altLang="ja" sz="1600" dirty="0">
                          <a:solidFill>
                            <a:schemeClr val="dk2"/>
                          </a:solidFill>
                        </a:rPr>
                        <a:t> </a:t>
                      </a:r>
                      <a:r>
                        <a:rPr lang="en-US" altLang="ja" sz="1600" dirty="0" err="1">
                          <a:solidFill>
                            <a:schemeClr val="dk2"/>
                          </a:solidFill>
                        </a:rPr>
                        <a:t>chung</a:t>
                      </a:r>
                      <a:r>
                        <a:rPr lang="en-US" altLang="ja" sz="1600" dirty="0">
                          <a:solidFill>
                            <a:schemeClr val="dk2"/>
                          </a:solidFill>
                        </a:rPr>
                        <a:t> </a:t>
                      </a:r>
                      <a:r>
                        <a:rPr lang="en-US" altLang="ja" sz="1600" dirty="0" err="1">
                          <a:solidFill>
                            <a:schemeClr val="dk2"/>
                          </a:solidFill>
                        </a:rPr>
                        <a:t>cho</a:t>
                      </a:r>
                      <a:r>
                        <a:rPr lang="en-US" altLang="ja" sz="1600" dirty="0">
                          <a:solidFill>
                            <a:schemeClr val="dk2"/>
                          </a:solidFill>
                        </a:rPr>
                        <a:t> </a:t>
                      </a:r>
                      <a:r>
                        <a:rPr lang="en-US" altLang="ja" sz="1600" dirty="0" err="1">
                          <a:solidFill>
                            <a:schemeClr val="dk2"/>
                          </a:solidFill>
                        </a:rPr>
                        <a:t>toàn</a:t>
                      </a:r>
                      <a:r>
                        <a:rPr lang="en-US" altLang="ja" sz="1600" dirty="0">
                          <a:solidFill>
                            <a:schemeClr val="dk2"/>
                          </a:solidFill>
                        </a:rPr>
                        <a:t> </a:t>
                      </a:r>
                      <a:r>
                        <a:rPr lang="en-US" altLang="ja" sz="1600" dirty="0" err="1">
                          <a:solidFill>
                            <a:schemeClr val="dk2"/>
                          </a:solidFill>
                        </a:rPr>
                        <a:t>bộ</a:t>
                      </a:r>
                      <a:r>
                        <a:rPr lang="en-US" altLang="ja" sz="1600" dirty="0">
                          <a:solidFill>
                            <a:schemeClr val="dk2"/>
                          </a:solidFill>
                        </a:rPr>
                        <a:t> </a:t>
                      </a:r>
                      <a:r>
                        <a:rPr lang="en-US" altLang="ja" sz="1600" dirty="0" err="1">
                          <a:solidFill>
                            <a:schemeClr val="dk2"/>
                          </a:solidFill>
                        </a:rPr>
                        <a:t>các</a:t>
                      </a:r>
                      <a:r>
                        <a:rPr lang="en-US" altLang="ja" sz="1600" dirty="0">
                          <a:solidFill>
                            <a:schemeClr val="dk2"/>
                          </a:solidFill>
                        </a:rPr>
                        <a:t> </a:t>
                      </a:r>
                      <a:r>
                        <a:rPr lang="en-US" altLang="ja" sz="1600" dirty="0" err="1">
                          <a:solidFill>
                            <a:schemeClr val="dk2"/>
                          </a:solidFill>
                        </a:rPr>
                        <a:t>cửa</a:t>
                      </a:r>
                      <a:r>
                        <a:rPr lang="en-US" altLang="ja" sz="1600" dirty="0">
                          <a:solidFill>
                            <a:schemeClr val="dk2"/>
                          </a:solidFill>
                        </a:rPr>
                        <a:t> </a:t>
                      </a:r>
                      <a:r>
                        <a:rPr lang="en-US" altLang="ja" sz="1600" dirty="0" err="1">
                          <a:solidFill>
                            <a:schemeClr val="dk2"/>
                          </a:solidFill>
                        </a:rPr>
                        <a:t>hàng</a:t>
                      </a:r>
                      <a:endParaRPr sz="1600" dirty="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US" sz="1600" dirty="0" err="1">
                          <a:solidFill>
                            <a:schemeClr val="dk2"/>
                          </a:solidFill>
                        </a:rPr>
                        <a:t>Môi</a:t>
                      </a:r>
                      <a:r>
                        <a:rPr lang="en-US" sz="1600" dirty="0">
                          <a:solidFill>
                            <a:schemeClr val="dk2"/>
                          </a:solidFill>
                        </a:rPr>
                        <a:t> </a:t>
                      </a:r>
                      <a:r>
                        <a:rPr lang="en-US" sz="1600" dirty="0" err="1">
                          <a:solidFill>
                            <a:schemeClr val="dk2"/>
                          </a:solidFill>
                        </a:rPr>
                        <a:t>trường</a:t>
                      </a:r>
                      <a:r>
                        <a:rPr lang="en-US" sz="1600" dirty="0">
                          <a:solidFill>
                            <a:schemeClr val="dk2"/>
                          </a:solidFill>
                        </a:rPr>
                        <a:t> prod</a:t>
                      </a:r>
                      <a:endParaRPr sz="1600" dirty="0">
                        <a:solidFill>
                          <a:schemeClr val="dk2"/>
                        </a:solidFill>
                      </a:endParaRPr>
                    </a:p>
                  </a:txBody>
                  <a:tcPr marL="91425" marR="91425" marT="91425" marB="91425"/>
                </a:tc>
                <a:extLst>
                  <a:ext uri="{0D108BD9-81ED-4DB2-BD59-A6C34878D82A}">
                    <a16:rowId xmlns:a16="http://schemas.microsoft.com/office/drawing/2014/main" val="10001"/>
                  </a:ext>
                </a:extLst>
              </a:tr>
              <a:tr h="516950">
                <a:tc>
                  <a:txBody>
                    <a:bodyPr/>
                    <a:lstStyle/>
                    <a:p>
                      <a:pPr marL="0" lvl="0" indent="0" algn="l" rtl="0">
                        <a:spcBef>
                          <a:spcPts val="0"/>
                        </a:spcBef>
                        <a:spcAft>
                          <a:spcPts val="0"/>
                        </a:spcAft>
                        <a:buNone/>
                      </a:pPr>
                      <a:r>
                        <a:rPr lang="ja" sz="1600">
                          <a:solidFill>
                            <a:schemeClr val="dk2"/>
                          </a:solidFill>
                        </a:rPr>
                        <a:t>2</a:t>
                      </a:r>
                      <a:endParaRPr sz="1600">
                        <a:solidFill>
                          <a:schemeClr val="dk2"/>
                        </a:solidFill>
                      </a:endParaRPr>
                    </a:p>
                  </a:txBody>
                  <a:tcPr marL="91425" marR="91425" marT="91425" marB="91425"/>
                </a:tc>
                <a:tc vMerge="1">
                  <a:txBody>
                    <a:bodyPr/>
                    <a:lstStyle/>
                    <a:p>
                      <a:endParaRPr lang="en-US"/>
                    </a:p>
                  </a:txBody>
                  <a:tcPr/>
                </a:tc>
                <a:tc>
                  <a:txBody>
                    <a:bodyPr/>
                    <a:lstStyle/>
                    <a:p>
                      <a:pPr marL="0" lvl="0" indent="0" algn="l" rtl="0">
                        <a:spcBef>
                          <a:spcPts val="0"/>
                        </a:spcBef>
                        <a:spcAft>
                          <a:spcPts val="0"/>
                        </a:spcAft>
                        <a:buClr>
                          <a:schemeClr val="dk1"/>
                        </a:buClr>
                        <a:buSzPts val="1100"/>
                        <a:buFont typeface="Arial"/>
                        <a:buNone/>
                      </a:pPr>
                      <a:r>
                        <a:rPr lang="en-US" altLang="ja" sz="1600" dirty="0" err="1">
                          <a:solidFill>
                            <a:schemeClr val="dk2"/>
                          </a:solidFill>
                        </a:rPr>
                        <a:t>Mô</a:t>
                      </a:r>
                      <a:r>
                        <a:rPr lang="en-US" altLang="ja" sz="1600" dirty="0">
                          <a:solidFill>
                            <a:schemeClr val="dk2"/>
                          </a:solidFill>
                        </a:rPr>
                        <a:t> </a:t>
                      </a:r>
                      <a:r>
                        <a:rPr lang="en-US" altLang="ja" sz="1600" dirty="0" err="1">
                          <a:solidFill>
                            <a:schemeClr val="dk2"/>
                          </a:solidFill>
                        </a:rPr>
                        <a:t>trường</a:t>
                      </a:r>
                      <a:r>
                        <a:rPr lang="en-US" altLang="ja" sz="1600" dirty="0">
                          <a:solidFill>
                            <a:schemeClr val="dk2"/>
                          </a:solidFill>
                        </a:rPr>
                        <a:t> stg</a:t>
                      </a:r>
                      <a:endParaRPr sz="1600" dirty="0">
                        <a:solidFill>
                          <a:schemeClr val="dk2"/>
                        </a:solidFill>
                      </a:endParaRPr>
                    </a:p>
                  </a:txBody>
                  <a:tcPr marL="91425" marR="91425" marT="91425" marB="91425"/>
                </a:tc>
                <a:extLst>
                  <a:ext uri="{0D108BD9-81ED-4DB2-BD59-A6C34878D82A}">
                    <a16:rowId xmlns:a16="http://schemas.microsoft.com/office/drawing/2014/main" val="10002"/>
                  </a:ext>
                </a:extLst>
              </a:tr>
            </a:tbl>
          </a:graphicData>
        </a:graphic>
      </p:graphicFrame>
      <p:sp>
        <p:nvSpPr>
          <p:cNvPr id="120" name="Google Shape;120;p21"/>
          <p:cNvSpPr/>
          <p:nvPr/>
        </p:nvSpPr>
        <p:spPr>
          <a:xfrm>
            <a:off x="746150" y="3273125"/>
            <a:ext cx="7742700" cy="10746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r>
              <a:rPr lang="en-US" altLang="ja" sz="1800" dirty="0">
                <a:solidFill>
                  <a:schemeClr val="dk2"/>
                </a:solidFill>
              </a:rPr>
              <a:t>Do </a:t>
            </a:r>
            <a:r>
              <a:rPr lang="en-US" altLang="ja" sz="1800" dirty="0" err="1">
                <a:solidFill>
                  <a:schemeClr val="dk2"/>
                </a:solidFill>
              </a:rPr>
              <a:t>giới</a:t>
            </a:r>
            <a:r>
              <a:rPr lang="en-US" altLang="ja" sz="1800" dirty="0">
                <a:solidFill>
                  <a:schemeClr val="dk2"/>
                </a:solidFill>
              </a:rPr>
              <a:t> </a:t>
            </a:r>
            <a:r>
              <a:rPr lang="en-US" altLang="ja" sz="1800" dirty="0" err="1">
                <a:solidFill>
                  <a:schemeClr val="dk2"/>
                </a:solidFill>
              </a:rPr>
              <a:t>hạn</a:t>
            </a:r>
            <a:r>
              <a:rPr lang="en-US" altLang="ja" sz="1800" dirty="0">
                <a:solidFill>
                  <a:schemeClr val="dk2"/>
                </a:solidFill>
              </a:rPr>
              <a:t> </a:t>
            </a:r>
            <a:r>
              <a:rPr lang="en-US" altLang="ja" sz="1800" dirty="0" err="1">
                <a:solidFill>
                  <a:schemeClr val="dk2"/>
                </a:solidFill>
              </a:rPr>
              <a:t>của</a:t>
            </a:r>
            <a:r>
              <a:rPr lang="en-US" altLang="ja" sz="1800" dirty="0">
                <a:solidFill>
                  <a:schemeClr val="dk2"/>
                </a:solidFill>
              </a:rPr>
              <a:t> Direct Connect Gateway </a:t>
            </a:r>
            <a:r>
              <a:rPr lang="en-US" altLang="ja" sz="1800" dirty="0" err="1">
                <a:solidFill>
                  <a:schemeClr val="dk2"/>
                </a:solidFill>
              </a:rPr>
              <a:t>phía</a:t>
            </a:r>
            <a:r>
              <a:rPr lang="en-US" altLang="ja" sz="1800" dirty="0">
                <a:solidFill>
                  <a:schemeClr val="dk2"/>
                </a:solidFill>
              </a:rPr>
              <a:t> USMH – </a:t>
            </a:r>
            <a:r>
              <a:rPr lang="en-US" altLang="ja" sz="1800" dirty="0" err="1">
                <a:solidFill>
                  <a:schemeClr val="dk2"/>
                </a:solidFill>
              </a:rPr>
              <a:t>là</a:t>
            </a:r>
            <a:r>
              <a:rPr lang="en-US" altLang="ja" sz="1800" dirty="0">
                <a:solidFill>
                  <a:schemeClr val="dk2"/>
                </a:solidFill>
              </a:rPr>
              <a:t> </a:t>
            </a:r>
            <a:r>
              <a:rPr lang="en-US" altLang="ja" sz="1800" dirty="0" err="1">
                <a:solidFill>
                  <a:schemeClr val="dk2"/>
                </a:solidFill>
              </a:rPr>
              <a:t>điểm</a:t>
            </a:r>
            <a:r>
              <a:rPr lang="en-US" altLang="ja" sz="1800" dirty="0">
                <a:solidFill>
                  <a:schemeClr val="dk2"/>
                </a:solidFill>
              </a:rPr>
              <a:t> </a:t>
            </a:r>
            <a:r>
              <a:rPr lang="en-US" altLang="ja" sz="1800" dirty="0" err="1">
                <a:solidFill>
                  <a:schemeClr val="dk2"/>
                </a:solidFill>
              </a:rPr>
              <a:t>kết</a:t>
            </a:r>
            <a:r>
              <a:rPr lang="en-US" altLang="ja" sz="1800" dirty="0">
                <a:solidFill>
                  <a:schemeClr val="dk2"/>
                </a:solidFill>
              </a:rPr>
              <a:t> </a:t>
            </a:r>
            <a:r>
              <a:rPr lang="en-US" altLang="ja" sz="1800" dirty="0" err="1">
                <a:solidFill>
                  <a:schemeClr val="dk2"/>
                </a:solidFill>
              </a:rPr>
              <a:t>nối</a:t>
            </a:r>
            <a:r>
              <a:rPr lang="en-US" altLang="ja" sz="1800" dirty="0">
                <a:solidFill>
                  <a:schemeClr val="dk2"/>
                </a:solidFill>
              </a:rPr>
              <a:t>,</a:t>
            </a:r>
          </a:p>
          <a:p>
            <a:pPr lvl="0"/>
            <a:r>
              <a:rPr lang="en-US" altLang="ja" sz="1800" dirty="0" err="1">
                <a:solidFill>
                  <a:schemeClr val="dk2"/>
                </a:solidFill>
              </a:rPr>
              <a:t>không</a:t>
            </a:r>
            <a:r>
              <a:rPr lang="en-US" altLang="ja" sz="1800" dirty="0">
                <a:solidFill>
                  <a:schemeClr val="dk2"/>
                </a:solidFill>
              </a:rPr>
              <a:t> </a:t>
            </a:r>
            <a:r>
              <a:rPr lang="en-US" altLang="ja" sz="1800" dirty="0" err="1">
                <a:solidFill>
                  <a:schemeClr val="dk2"/>
                </a:solidFill>
              </a:rPr>
              <a:t>tạo</a:t>
            </a:r>
            <a:r>
              <a:rPr lang="en-US" altLang="ja" sz="1800" dirty="0">
                <a:solidFill>
                  <a:schemeClr val="dk2"/>
                </a:solidFill>
              </a:rPr>
              <a:t> </a:t>
            </a:r>
            <a:r>
              <a:rPr lang="en-US" altLang="ja" sz="1800" dirty="0" err="1">
                <a:solidFill>
                  <a:schemeClr val="dk2"/>
                </a:solidFill>
              </a:rPr>
              <a:t>tài</a:t>
            </a:r>
            <a:r>
              <a:rPr lang="en-US" altLang="ja" sz="1800" dirty="0">
                <a:solidFill>
                  <a:schemeClr val="dk2"/>
                </a:solidFill>
              </a:rPr>
              <a:t> </a:t>
            </a:r>
            <a:r>
              <a:rPr lang="en-US" altLang="ja" sz="1800" dirty="0" err="1">
                <a:solidFill>
                  <a:schemeClr val="dk2"/>
                </a:solidFill>
              </a:rPr>
              <a:t>khoản</a:t>
            </a:r>
            <a:r>
              <a:rPr lang="en-US" altLang="ja" sz="1800" dirty="0">
                <a:solidFill>
                  <a:schemeClr val="dk2"/>
                </a:solidFill>
              </a:rPr>
              <a:t> AWS </a:t>
            </a:r>
            <a:r>
              <a:rPr lang="en-US" altLang="ja" sz="1800" dirty="0" err="1">
                <a:solidFill>
                  <a:schemeClr val="dk2"/>
                </a:solidFill>
              </a:rPr>
              <a:t>riêng</a:t>
            </a:r>
            <a:r>
              <a:rPr lang="en-US" altLang="ja" sz="1800" dirty="0">
                <a:solidFill>
                  <a:schemeClr val="dk2"/>
                </a:solidFill>
              </a:rPr>
              <a:t> </a:t>
            </a:r>
            <a:r>
              <a:rPr lang="en-US" altLang="ja" sz="1800" dirty="0" err="1">
                <a:solidFill>
                  <a:schemeClr val="dk2"/>
                </a:solidFill>
              </a:rPr>
              <a:t>cho</a:t>
            </a:r>
            <a:r>
              <a:rPr lang="en-US" altLang="ja" sz="1800" dirty="0">
                <a:solidFill>
                  <a:schemeClr val="dk2"/>
                </a:solidFill>
              </a:rPr>
              <a:t> </a:t>
            </a:r>
            <a:r>
              <a:rPr lang="en-US" altLang="ja" sz="1800" dirty="0" err="1">
                <a:solidFill>
                  <a:schemeClr val="dk2"/>
                </a:solidFill>
              </a:rPr>
              <a:t>từng</a:t>
            </a:r>
            <a:r>
              <a:rPr lang="en-US" altLang="ja" sz="1800" dirty="0">
                <a:solidFill>
                  <a:schemeClr val="dk2"/>
                </a:solidFill>
              </a:rPr>
              <a:t> </a:t>
            </a:r>
            <a:r>
              <a:rPr lang="en-US" altLang="ja" sz="1800" dirty="0" err="1">
                <a:solidFill>
                  <a:schemeClr val="dk2"/>
                </a:solidFill>
              </a:rPr>
              <a:t>cửa</a:t>
            </a:r>
            <a:r>
              <a:rPr lang="en-US" altLang="ja" sz="1800" dirty="0">
                <a:solidFill>
                  <a:schemeClr val="dk2"/>
                </a:solidFill>
              </a:rPr>
              <a:t> </a:t>
            </a:r>
            <a:r>
              <a:rPr lang="en-US" altLang="ja" sz="1800" dirty="0" err="1">
                <a:solidFill>
                  <a:schemeClr val="dk2"/>
                </a:solidFill>
              </a:rPr>
              <a:t>hàng</a:t>
            </a:r>
            <a:r>
              <a:rPr lang="en-US" altLang="ja" sz="1800" dirty="0">
                <a:solidFill>
                  <a:schemeClr val="dk2"/>
                </a:solidFill>
              </a:rPr>
              <a:t> (</a:t>
            </a:r>
            <a:r>
              <a:rPr lang="ja-JP" altLang="en-US" sz="1800" dirty="0">
                <a:solidFill>
                  <a:schemeClr val="dk2"/>
                </a:solidFill>
              </a:rPr>
              <a:t>屋号</a:t>
            </a:r>
            <a:r>
              <a:rPr lang="en-US" altLang="ja-JP" sz="1800" dirty="0">
                <a:solidFill>
                  <a:schemeClr val="dk2"/>
                </a:solidFill>
              </a:rPr>
              <a:t>).</a:t>
            </a:r>
            <a:endParaRPr sz="1800" dirty="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2"/>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3-2.AWSアカウントを分割する理由</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126" name="Google Shape;126;p22"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27" name="Google Shape;127;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15</a:t>
            </a:fld>
            <a:endParaRPr/>
          </a:p>
        </p:txBody>
      </p:sp>
      <p:sp>
        <p:nvSpPr>
          <p:cNvPr id="128" name="Google Shape;128;p22"/>
          <p:cNvSpPr txBox="1">
            <a:spLocks noGrp="1"/>
          </p:cNvSpPr>
          <p:nvPr>
            <p:ph type="body" idx="1"/>
          </p:nvPr>
        </p:nvSpPr>
        <p:spPr>
          <a:xfrm>
            <a:off x="311700" y="1152475"/>
            <a:ext cx="8263800" cy="3413700"/>
          </a:xfrm>
          <a:prstGeom prst="rect">
            <a:avLst/>
          </a:prstGeom>
        </p:spPr>
        <p:txBody>
          <a:bodyPr spcFirstLastPara="1" wrap="square" lIns="91425" tIns="91425" rIns="91425" bIns="91425" anchor="t" anchorCtr="0">
            <a:normAutofit/>
          </a:bodyPr>
          <a:lstStyle/>
          <a:p>
            <a:pPr marL="457200" lvl="0" indent="-349250" algn="l" rtl="0">
              <a:spcBef>
                <a:spcPts val="0"/>
              </a:spcBef>
              <a:spcAft>
                <a:spcPts val="0"/>
              </a:spcAft>
              <a:buSzPts val="1900"/>
              <a:buChar char="●"/>
            </a:pPr>
            <a:r>
              <a:rPr lang="ja" sz="1900"/>
              <a:t>アカウントごとのリソース数制限による事故を防止する</a:t>
            </a:r>
            <a:endParaRPr sz="1900"/>
          </a:p>
          <a:p>
            <a:pPr marL="457200" lvl="0" indent="-349250" algn="l" rtl="0">
              <a:spcBef>
                <a:spcPts val="0"/>
              </a:spcBef>
              <a:spcAft>
                <a:spcPts val="0"/>
              </a:spcAft>
              <a:buSzPts val="1900"/>
              <a:buChar char="●"/>
            </a:pPr>
            <a:r>
              <a:rPr lang="ja" sz="1900"/>
              <a:t>オペレーションミスによる事故を防止する</a:t>
            </a:r>
            <a:endParaRPr sz="1900"/>
          </a:p>
          <a:p>
            <a:pPr marL="457200" lvl="0" indent="-349250" algn="l" rtl="0">
              <a:spcBef>
                <a:spcPts val="0"/>
              </a:spcBef>
              <a:spcAft>
                <a:spcPts val="0"/>
              </a:spcAft>
              <a:buSzPts val="1900"/>
              <a:buChar char="●"/>
            </a:pPr>
            <a:r>
              <a:rPr lang="ja" sz="1900"/>
              <a:t>適切な権限付与を行うことにセキュリティが強化される</a:t>
            </a:r>
            <a:endParaRPr sz="1900"/>
          </a:p>
          <a:p>
            <a:pPr marL="457200" lvl="0" indent="-349250" algn="l" rtl="0">
              <a:spcBef>
                <a:spcPts val="0"/>
              </a:spcBef>
              <a:spcAft>
                <a:spcPts val="0"/>
              </a:spcAft>
              <a:buSzPts val="1900"/>
              <a:buChar char="●"/>
            </a:pPr>
            <a:r>
              <a:rPr lang="ja" sz="1900"/>
              <a:t>環境ごとのコストが容易に把握できる</a:t>
            </a:r>
            <a:endParaRPr sz="1167"/>
          </a:p>
          <a:p>
            <a:pPr marL="0" lvl="0" indent="0" algn="l" rtl="0">
              <a:lnSpc>
                <a:spcPct val="160000"/>
              </a:lnSpc>
              <a:spcBef>
                <a:spcPts val="3000"/>
              </a:spcBef>
              <a:spcAft>
                <a:spcPts val="0"/>
              </a:spcAft>
              <a:buClr>
                <a:schemeClr val="dk1"/>
              </a:buClr>
              <a:buSzPts val="1100"/>
              <a:buFont typeface="Arial"/>
              <a:buNone/>
            </a:pPr>
            <a:endParaRPr sz="1700" b="1">
              <a:solidFill>
                <a:schemeClr val="dk1"/>
              </a:solidFill>
              <a:highlight>
                <a:srgbClr val="FFFFFF"/>
              </a:highlight>
              <a:latin typeface="Meiryo"/>
              <a:ea typeface="Meiryo"/>
              <a:cs typeface="Meiryo"/>
              <a:sym typeface="Meiryo"/>
            </a:endParaRPr>
          </a:p>
          <a:p>
            <a:pPr marL="0" lvl="0" indent="0" algn="l" rtl="0">
              <a:spcBef>
                <a:spcPts val="1200"/>
              </a:spcBef>
              <a:spcAft>
                <a:spcPts val="1200"/>
              </a:spcAft>
              <a:buNone/>
            </a:pPr>
            <a:endParaRPr sz="17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4">
          <a:extLst>
            <a:ext uri="{FF2B5EF4-FFF2-40B4-BE49-F238E27FC236}">
              <a16:creationId xmlns:a16="http://schemas.microsoft.com/office/drawing/2014/main" id="{ED3A8178-4917-BADB-A777-E2182E31CC80}"/>
            </a:ext>
          </a:extLst>
        </p:cNvPr>
        <p:cNvGrpSpPr/>
        <p:nvPr/>
      </p:nvGrpSpPr>
      <p:grpSpPr>
        <a:xfrm>
          <a:off x="0" y="0"/>
          <a:ext cx="0" cy="0"/>
          <a:chOff x="0" y="0"/>
          <a:chExt cx="0" cy="0"/>
        </a:xfrm>
      </p:grpSpPr>
      <p:sp>
        <p:nvSpPr>
          <p:cNvPr id="125" name="Google Shape;125;p22">
            <a:extLst>
              <a:ext uri="{FF2B5EF4-FFF2-40B4-BE49-F238E27FC236}">
                <a16:creationId xmlns:a16="http://schemas.microsoft.com/office/drawing/2014/main" id="{2DDFFA31-DC07-DB03-5274-91E4D4BDC39E}"/>
              </a:ext>
            </a:extLst>
          </p:cNvPr>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dirty="0">
                <a:highlight>
                  <a:srgbClr val="D9D9D9"/>
                </a:highlight>
              </a:rPr>
              <a:t>3-2.</a:t>
            </a:r>
            <a:r>
              <a:rPr lang="en-US" altLang="ja" dirty="0">
                <a:highlight>
                  <a:srgbClr val="D9D9D9"/>
                </a:highlight>
              </a:rPr>
              <a:t>Lý do </a:t>
            </a:r>
            <a:r>
              <a:rPr lang="en-US" altLang="ja" dirty="0" err="1">
                <a:highlight>
                  <a:srgbClr val="D9D9D9"/>
                </a:highlight>
              </a:rPr>
              <a:t>phân</a:t>
            </a:r>
            <a:r>
              <a:rPr lang="en-US" altLang="ja" dirty="0">
                <a:highlight>
                  <a:srgbClr val="D9D9D9"/>
                </a:highlight>
              </a:rPr>
              <a:t> </a:t>
            </a:r>
            <a:r>
              <a:rPr lang="en-US" altLang="ja" dirty="0" err="1">
                <a:highlight>
                  <a:srgbClr val="D9D9D9"/>
                </a:highlight>
              </a:rPr>
              <a:t>quyền</a:t>
            </a:r>
            <a:r>
              <a:rPr lang="en-US" altLang="ja" dirty="0">
                <a:highlight>
                  <a:srgbClr val="D9D9D9"/>
                </a:highlight>
              </a:rPr>
              <a:t> acc AWS</a:t>
            </a:r>
            <a:endParaRPr dirty="0">
              <a:highlight>
                <a:srgbClr val="D9D9D9"/>
              </a:highlight>
            </a:endParaRPr>
          </a:p>
          <a:p>
            <a:pPr marL="0" lvl="0" indent="0" algn="l" rtl="0">
              <a:spcBef>
                <a:spcPts val="0"/>
              </a:spcBef>
              <a:spcAft>
                <a:spcPts val="0"/>
              </a:spcAft>
              <a:buNone/>
            </a:pPr>
            <a:endParaRPr dirty="0">
              <a:highlight>
                <a:srgbClr val="D9D9D9"/>
              </a:highlight>
            </a:endParaRPr>
          </a:p>
        </p:txBody>
      </p:sp>
      <p:pic>
        <p:nvPicPr>
          <p:cNvPr id="126" name="Google Shape;126;p22" title="logo-luvina-2022-2.png">
            <a:extLst>
              <a:ext uri="{FF2B5EF4-FFF2-40B4-BE49-F238E27FC236}">
                <a16:creationId xmlns:a16="http://schemas.microsoft.com/office/drawing/2014/main" id="{74152AC4-209E-B822-7541-D7C970270339}"/>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27" name="Google Shape;127;p22">
            <a:extLst>
              <a:ext uri="{FF2B5EF4-FFF2-40B4-BE49-F238E27FC236}">
                <a16:creationId xmlns:a16="http://schemas.microsoft.com/office/drawing/2014/main" id="{01C67A97-1812-97A6-C7DC-AB20E1ECEBA5}"/>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16</a:t>
            </a:fld>
            <a:endParaRPr/>
          </a:p>
        </p:txBody>
      </p:sp>
      <p:sp>
        <p:nvSpPr>
          <p:cNvPr id="128" name="Google Shape;128;p22">
            <a:extLst>
              <a:ext uri="{FF2B5EF4-FFF2-40B4-BE49-F238E27FC236}">
                <a16:creationId xmlns:a16="http://schemas.microsoft.com/office/drawing/2014/main" id="{D2384993-00BB-10CD-1179-060CBB2BB7D5}"/>
              </a:ext>
            </a:extLst>
          </p:cNvPr>
          <p:cNvSpPr txBox="1">
            <a:spLocks noGrp="1"/>
          </p:cNvSpPr>
          <p:nvPr>
            <p:ph type="body" idx="1"/>
          </p:nvPr>
        </p:nvSpPr>
        <p:spPr>
          <a:xfrm>
            <a:off x="311700" y="1152475"/>
            <a:ext cx="8263800" cy="3413700"/>
          </a:xfrm>
          <a:prstGeom prst="rect">
            <a:avLst/>
          </a:prstGeom>
        </p:spPr>
        <p:txBody>
          <a:bodyPr spcFirstLastPara="1" wrap="square" lIns="91425" tIns="91425" rIns="91425" bIns="91425" anchor="t" anchorCtr="0">
            <a:normAutofit/>
          </a:bodyPr>
          <a:lstStyle/>
          <a:p>
            <a:pPr lvl="0" indent="-349250">
              <a:buSzPts val="1900"/>
            </a:pPr>
            <a:r>
              <a:rPr lang="vi-VN" altLang="ja" sz="1900" dirty="0"/>
              <a:t>Ngăn ngừa sự cố do giới hạn số lượng tài nguyên trên mỗi tài khoản</a:t>
            </a:r>
          </a:p>
          <a:p>
            <a:pPr lvl="0" indent="-349250">
              <a:buSzPts val="1900"/>
            </a:pPr>
            <a:r>
              <a:rPr lang="vi-VN" altLang="ja" sz="1900" dirty="0"/>
              <a:t>Ngăn ngừa sự cố do thao tác nhầm lẫn</a:t>
            </a:r>
          </a:p>
          <a:p>
            <a:pPr lvl="0" indent="-349250">
              <a:buSzPts val="1900"/>
            </a:pPr>
            <a:r>
              <a:rPr lang="vi-VN" altLang="ja" sz="1900" dirty="0"/>
              <a:t>Tăng cường bảo mật nhờ việc cấp quyền phù hợp</a:t>
            </a:r>
          </a:p>
          <a:p>
            <a:pPr lvl="0" indent="-349250">
              <a:buSzPts val="1900"/>
            </a:pPr>
            <a:r>
              <a:rPr lang="vi-VN" altLang="ja" sz="1900" dirty="0"/>
              <a:t>Dễ dàng nắm bắt chi phí theo từng môi trường</a:t>
            </a:r>
            <a:endParaRPr sz="1700" b="1" dirty="0">
              <a:solidFill>
                <a:schemeClr val="dk1"/>
              </a:solidFill>
              <a:highlight>
                <a:srgbClr val="FFFFFF"/>
              </a:highlight>
              <a:latin typeface="Meiryo"/>
              <a:ea typeface="Meiryo"/>
              <a:cs typeface="Meiryo"/>
              <a:sym typeface="Meiryo"/>
            </a:endParaRPr>
          </a:p>
          <a:p>
            <a:pPr marL="0" lvl="0" indent="0" algn="l" rtl="0">
              <a:spcBef>
                <a:spcPts val="1200"/>
              </a:spcBef>
              <a:spcAft>
                <a:spcPts val="1200"/>
              </a:spcAft>
              <a:buNone/>
            </a:pPr>
            <a:endParaRPr sz="1700" dirty="0"/>
          </a:p>
        </p:txBody>
      </p:sp>
    </p:spTree>
    <p:extLst>
      <p:ext uri="{BB962C8B-B14F-4D97-AF65-F5344CB8AC3E}">
        <p14:creationId xmlns:p14="http://schemas.microsoft.com/office/powerpoint/2010/main" val="6412359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ja" sz="3000" dirty="0">
                <a:highlight>
                  <a:srgbClr val="FFFFFF"/>
                </a:highlight>
              </a:rPr>
              <a:t>4.ネットワーク構成</a:t>
            </a:r>
            <a:endParaRPr sz="3000" dirty="0">
              <a:highlight>
                <a:srgbClr val="FFFFFF"/>
              </a:highlight>
            </a:endParaRPr>
          </a:p>
          <a:p>
            <a:pPr lvl="0"/>
            <a:r>
              <a:rPr lang="ja" sz="3000" dirty="0">
                <a:highlight>
                  <a:srgbClr val="FFFFFF"/>
                </a:highlight>
              </a:rPr>
              <a:t>（既存のオンライン版POSサーバ）</a:t>
            </a:r>
            <a:br>
              <a:rPr lang="en-US" altLang="ja" sz="3000" dirty="0">
                <a:highlight>
                  <a:srgbClr val="FFFFFF"/>
                </a:highlight>
              </a:rPr>
            </a:br>
            <a:br>
              <a:rPr lang="en-US" altLang="ja" sz="3000" dirty="0">
                <a:highlight>
                  <a:srgbClr val="FFFFFF"/>
                </a:highlight>
              </a:rPr>
            </a:br>
            <a:r>
              <a:rPr lang="en-US" altLang="ja-JP" sz="3200" dirty="0" err="1">
                <a:highlight>
                  <a:srgbClr val="FFFFFF"/>
                </a:highlight>
              </a:rPr>
              <a:t>Cấu</a:t>
            </a:r>
            <a:r>
              <a:rPr lang="en-US" altLang="ja-JP" sz="3200" dirty="0">
                <a:highlight>
                  <a:srgbClr val="FFFFFF"/>
                </a:highlight>
              </a:rPr>
              <a:t> </a:t>
            </a:r>
            <a:r>
              <a:rPr lang="en-US" altLang="ja-JP" sz="3200" dirty="0" err="1">
                <a:highlight>
                  <a:srgbClr val="FFFFFF"/>
                </a:highlight>
              </a:rPr>
              <a:t>trúc</a:t>
            </a:r>
            <a:r>
              <a:rPr lang="en-US" altLang="ja-JP" sz="3200" dirty="0">
                <a:highlight>
                  <a:srgbClr val="FFFFFF"/>
                </a:highlight>
              </a:rPr>
              <a:t> </a:t>
            </a:r>
            <a:r>
              <a:rPr lang="en-US" altLang="ja-JP" sz="3200" dirty="0" err="1">
                <a:highlight>
                  <a:srgbClr val="FFFFFF"/>
                </a:highlight>
              </a:rPr>
              <a:t>mạng</a:t>
            </a:r>
            <a:r>
              <a:rPr lang="en-US" altLang="ja-JP" sz="3200" dirty="0">
                <a:highlight>
                  <a:srgbClr val="FFFFFF"/>
                </a:highlight>
              </a:rPr>
              <a:t> (POS Server Online </a:t>
            </a:r>
            <a:r>
              <a:rPr lang="en-US" altLang="ja-JP" sz="3200" dirty="0" err="1">
                <a:highlight>
                  <a:srgbClr val="FFFFFF"/>
                </a:highlight>
              </a:rPr>
              <a:t>hiện</a:t>
            </a:r>
            <a:r>
              <a:rPr lang="en-US" altLang="ja-JP" sz="3200" dirty="0">
                <a:highlight>
                  <a:srgbClr val="FFFFFF"/>
                </a:highlight>
              </a:rPr>
              <a:t> </a:t>
            </a:r>
            <a:r>
              <a:rPr lang="en-US" altLang="ja-JP" sz="3200" dirty="0" err="1">
                <a:highlight>
                  <a:srgbClr val="FFFFFF"/>
                </a:highlight>
              </a:rPr>
              <a:t>tại</a:t>
            </a:r>
            <a:r>
              <a:rPr lang="en-US" altLang="ja-JP" sz="3200" dirty="0">
                <a:highlight>
                  <a:srgbClr val="FFFFFF"/>
                </a:highlight>
              </a:rPr>
              <a:t>)</a:t>
            </a:r>
            <a:endParaRPr sz="3000" dirty="0">
              <a:highlight>
                <a:srgbClr val="FFFFFF"/>
              </a:highlight>
            </a:endParaRPr>
          </a:p>
        </p:txBody>
      </p:sp>
      <p:pic>
        <p:nvPicPr>
          <p:cNvPr id="134" name="Google Shape;134;p23"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35" name="Google Shape;135;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dirty="0">
                <a:highlight>
                  <a:srgbClr val="D9D9D9"/>
                </a:highlight>
              </a:rPr>
              <a:t>4-1.オンライン版POSサーバ</a:t>
            </a:r>
            <a:endParaRPr dirty="0">
              <a:highlight>
                <a:srgbClr val="D9D9D9"/>
              </a:highlight>
            </a:endParaRPr>
          </a:p>
        </p:txBody>
      </p:sp>
      <p:pic>
        <p:nvPicPr>
          <p:cNvPr id="141" name="Google Shape;141;p24"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42" name="Google Shape;142;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18</a:t>
            </a:fld>
            <a:endParaRPr/>
          </a:p>
        </p:txBody>
      </p:sp>
      <p:sp>
        <p:nvSpPr>
          <p:cNvPr id="143" name="Google Shape;143;p24"/>
          <p:cNvSpPr txBox="1">
            <a:spLocks noGrp="1"/>
          </p:cNvSpPr>
          <p:nvPr>
            <p:ph type="body" idx="1"/>
          </p:nvPr>
        </p:nvSpPr>
        <p:spPr>
          <a:xfrm>
            <a:off x="452550" y="1017725"/>
            <a:ext cx="3689100" cy="3629100"/>
          </a:xfrm>
          <a:prstGeom prst="rect">
            <a:avLst/>
          </a:prstGeom>
        </p:spPr>
        <p:txBody>
          <a:bodyPr spcFirstLastPara="1" wrap="square" lIns="91425" tIns="91425" rIns="91425" bIns="91425" anchor="t" anchorCtr="0">
            <a:noAutofit/>
          </a:bodyPr>
          <a:lstStyle/>
          <a:p>
            <a:pPr marL="457200" lvl="0" indent="-323850" algn="l" rtl="0">
              <a:lnSpc>
                <a:spcPct val="105000"/>
              </a:lnSpc>
              <a:spcBef>
                <a:spcPts val="0"/>
              </a:spcBef>
              <a:spcAft>
                <a:spcPts val="0"/>
              </a:spcAft>
              <a:buSzPts val="1500"/>
              <a:buChar char="●"/>
            </a:pPr>
            <a:r>
              <a:rPr lang="ja" sz="1500"/>
              <a:t>マルエツ、カスミ、MV関東がデジタル決済のチャージ機として利用</a:t>
            </a:r>
            <a:endParaRPr sz="1500"/>
          </a:p>
          <a:p>
            <a:pPr marL="457200" lvl="0" indent="-323850" algn="l" rtl="0">
              <a:lnSpc>
                <a:spcPct val="105000"/>
              </a:lnSpc>
              <a:spcBef>
                <a:spcPts val="0"/>
              </a:spcBef>
              <a:spcAft>
                <a:spcPts val="0"/>
              </a:spcAft>
              <a:buSzPts val="1500"/>
              <a:buChar char="●"/>
            </a:pPr>
            <a:r>
              <a:rPr lang="ja" sz="1500"/>
              <a:t>1日数回程度のアクセス</a:t>
            </a:r>
            <a:endParaRPr sz="1500"/>
          </a:p>
          <a:p>
            <a:pPr marL="457200" lvl="0" indent="-323850" algn="l" rtl="0">
              <a:lnSpc>
                <a:spcPct val="105000"/>
              </a:lnSpc>
              <a:spcBef>
                <a:spcPts val="0"/>
              </a:spcBef>
              <a:spcAft>
                <a:spcPts val="0"/>
              </a:spcAft>
              <a:buSzPts val="1500"/>
              <a:buChar char="●"/>
            </a:pPr>
            <a:r>
              <a:rPr lang="ja" sz="1500"/>
              <a:t>APIとDBは屋号共通</a:t>
            </a:r>
            <a:endParaRPr sz="1500"/>
          </a:p>
          <a:p>
            <a:pPr marL="457200" lvl="0" indent="-323850" algn="l" rtl="0">
              <a:lnSpc>
                <a:spcPct val="105000"/>
              </a:lnSpc>
              <a:spcBef>
                <a:spcPts val="0"/>
              </a:spcBef>
              <a:spcAft>
                <a:spcPts val="0"/>
              </a:spcAft>
              <a:buSzPts val="1500"/>
              <a:buChar char="●"/>
            </a:pPr>
            <a:r>
              <a:rPr lang="ja" sz="1500"/>
              <a:t>AWSとデータセンターで運用</a:t>
            </a:r>
            <a:endParaRPr sz="1500"/>
          </a:p>
          <a:p>
            <a:pPr marL="457200" lvl="0" indent="-323850" algn="l" rtl="0">
              <a:lnSpc>
                <a:spcPct val="105000"/>
              </a:lnSpc>
              <a:spcBef>
                <a:spcPts val="0"/>
              </a:spcBef>
              <a:spcAft>
                <a:spcPts val="0"/>
              </a:spcAft>
              <a:buSzPts val="1500"/>
              <a:buChar char="●"/>
            </a:pPr>
            <a:r>
              <a:rPr lang="ja" sz="1500"/>
              <a:t>オフライン版POSサーバ2.0との依存関係はない</a:t>
            </a:r>
            <a:endParaRPr sz="1500"/>
          </a:p>
          <a:p>
            <a:pPr marL="457200" lvl="0" indent="-323850" algn="l" rtl="0">
              <a:lnSpc>
                <a:spcPct val="105000"/>
              </a:lnSpc>
              <a:spcBef>
                <a:spcPts val="0"/>
              </a:spcBef>
              <a:spcAft>
                <a:spcPts val="0"/>
              </a:spcAft>
              <a:buSzPts val="1500"/>
              <a:buChar char="●"/>
            </a:pPr>
            <a:r>
              <a:rPr lang="ja" sz="1500"/>
              <a:t>AWS</a:t>
            </a:r>
            <a:endParaRPr sz="1500"/>
          </a:p>
          <a:p>
            <a:pPr marL="914400" lvl="1" indent="-323850" algn="l" rtl="0">
              <a:lnSpc>
                <a:spcPct val="105000"/>
              </a:lnSpc>
              <a:spcBef>
                <a:spcPts val="0"/>
              </a:spcBef>
              <a:spcAft>
                <a:spcPts val="0"/>
              </a:spcAft>
              <a:buSzPts val="1500"/>
              <a:buChar char="○"/>
            </a:pPr>
            <a:r>
              <a:rPr lang="ja" sz="1500"/>
              <a:t>ルビナがAWSアカウントのオーナー</a:t>
            </a:r>
            <a:endParaRPr sz="1500"/>
          </a:p>
          <a:p>
            <a:pPr marL="914400" lvl="1" indent="-323850" algn="l" rtl="0">
              <a:lnSpc>
                <a:spcPct val="105000"/>
              </a:lnSpc>
              <a:spcBef>
                <a:spcPts val="0"/>
              </a:spcBef>
              <a:spcAft>
                <a:spcPts val="0"/>
              </a:spcAft>
              <a:buSzPts val="1500"/>
              <a:buChar char="○"/>
            </a:pPr>
            <a:r>
              <a:rPr lang="ja" sz="1500"/>
              <a:t>VPC名として、AndroidPOSと呼ぶ</a:t>
            </a:r>
            <a:endParaRPr sz="1500"/>
          </a:p>
          <a:p>
            <a:pPr marL="457200" lvl="0" indent="-323850" algn="l" rtl="0">
              <a:lnSpc>
                <a:spcPct val="105000"/>
              </a:lnSpc>
              <a:spcBef>
                <a:spcPts val="0"/>
              </a:spcBef>
              <a:spcAft>
                <a:spcPts val="0"/>
              </a:spcAft>
              <a:buSzPts val="1500"/>
              <a:buChar char="●"/>
            </a:pPr>
            <a:r>
              <a:rPr lang="ja" sz="1500"/>
              <a:t>データセンター</a:t>
            </a:r>
            <a:endParaRPr sz="1500"/>
          </a:p>
          <a:p>
            <a:pPr marL="914400" lvl="1" indent="-323850" algn="l" rtl="0">
              <a:lnSpc>
                <a:spcPct val="105000"/>
              </a:lnSpc>
              <a:spcBef>
                <a:spcPts val="0"/>
              </a:spcBef>
              <a:spcAft>
                <a:spcPts val="0"/>
              </a:spcAft>
              <a:buSzPts val="1500"/>
              <a:buChar char="○"/>
            </a:pPr>
            <a:r>
              <a:rPr lang="ja" sz="1500"/>
              <a:t>将来、AWS（AndroidPOS）に移行する計画あり</a:t>
            </a:r>
            <a:endParaRPr sz="1500"/>
          </a:p>
          <a:p>
            <a:pPr marL="0" lvl="0" indent="0" algn="l" rtl="0">
              <a:lnSpc>
                <a:spcPct val="105000"/>
              </a:lnSpc>
              <a:spcBef>
                <a:spcPts val="1200"/>
              </a:spcBef>
              <a:spcAft>
                <a:spcPts val="0"/>
              </a:spcAft>
              <a:buNone/>
            </a:pPr>
            <a:endParaRPr sz="1500"/>
          </a:p>
          <a:p>
            <a:pPr marL="0" lvl="0" indent="0" algn="l" rtl="0">
              <a:lnSpc>
                <a:spcPct val="105000"/>
              </a:lnSpc>
              <a:spcBef>
                <a:spcPts val="1200"/>
              </a:spcBef>
              <a:spcAft>
                <a:spcPts val="1200"/>
              </a:spcAft>
              <a:buNone/>
            </a:pPr>
            <a:endParaRPr sz="1500"/>
          </a:p>
        </p:txBody>
      </p:sp>
      <p:pic>
        <p:nvPicPr>
          <p:cNvPr id="144" name="Google Shape;144;p24" title="【POS】infra_ishida-4-1.drawio.png"/>
          <p:cNvPicPr preferRelativeResize="0"/>
          <p:nvPr/>
        </p:nvPicPr>
        <p:blipFill>
          <a:blip r:embed="rId4">
            <a:alphaModFix/>
          </a:blip>
          <a:stretch>
            <a:fillRect/>
          </a:stretch>
        </p:blipFill>
        <p:spPr>
          <a:xfrm>
            <a:off x="4294050" y="1170125"/>
            <a:ext cx="4650140" cy="334069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EFA82C81-D622-363B-07B4-BC3E5EAFDE2A}"/>
            </a:ext>
          </a:extLst>
        </p:cNvPr>
        <p:cNvGrpSpPr/>
        <p:nvPr/>
      </p:nvGrpSpPr>
      <p:grpSpPr>
        <a:xfrm>
          <a:off x="0" y="0"/>
          <a:ext cx="0" cy="0"/>
          <a:chOff x="0" y="0"/>
          <a:chExt cx="0" cy="0"/>
        </a:xfrm>
      </p:grpSpPr>
      <p:sp>
        <p:nvSpPr>
          <p:cNvPr id="140" name="Google Shape;140;p24">
            <a:extLst>
              <a:ext uri="{FF2B5EF4-FFF2-40B4-BE49-F238E27FC236}">
                <a16:creationId xmlns:a16="http://schemas.microsoft.com/office/drawing/2014/main" id="{84BEAA35-2FD5-75FA-612A-4D3AA58A608F}"/>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dirty="0">
                <a:highlight>
                  <a:srgbClr val="D9D9D9"/>
                </a:highlight>
              </a:rPr>
              <a:t>4-1.</a:t>
            </a:r>
            <a:r>
              <a:rPr lang="en-US" altLang="ja" dirty="0">
                <a:highlight>
                  <a:srgbClr val="D9D9D9"/>
                </a:highlight>
              </a:rPr>
              <a:t>Pos server </a:t>
            </a:r>
            <a:r>
              <a:rPr lang="en-US" altLang="ja" dirty="0" err="1">
                <a:highlight>
                  <a:srgbClr val="D9D9D9"/>
                </a:highlight>
              </a:rPr>
              <a:t>bản</a:t>
            </a:r>
            <a:r>
              <a:rPr lang="en-US" altLang="ja" dirty="0">
                <a:highlight>
                  <a:srgbClr val="D9D9D9"/>
                </a:highlight>
              </a:rPr>
              <a:t> Online</a:t>
            </a:r>
            <a:endParaRPr dirty="0">
              <a:highlight>
                <a:srgbClr val="D9D9D9"/>
              </a:highlight>
            </a:endParaRPr>
          </a:p>
        </p:txBody>
      </p:sp>
      <p:pic>
        <p:nvPicPr>
          <p:cNvPr id="141" name="Google Shape;141;p24" title="logo-luvina-2022-2.png">
            <a:extLst>
              <a:ext uri="{FF2B5EF4-FFF2-40B4-BE49-F238E27FC236}">
                <a16:creationId xmlns:a16="http://schemas.microsoft.com/office/drawing/2014/main" id="{D2BE433E-06D7-41F5-5B94-1AEB22822B64}"/>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42" name="Google Shape;142;p24">
            <a:extLst>
              <a:ext uri="{FF2B5EF4-FFF2-40B4-BE49-F238E27FC236}">
                <a16:creationId xmlns:a16="http://schemas.microsoft.com/office/drawing/2014/main" id="{91FDC197-19DD-2BEB-40AD-8122C3F6D47E}"/>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19</a:t>
            </a:fld>
            <a:endParaRPr/>
          </a:p>
        </p:txBody>
      </p:sp>
      <p:sp>
        <p:nvSpPr>
          <p:cNvPr id="143" name="Google Shape;143;p24">
            <a:extLst>
              <a:ext uri="{FF2B5EF4-FFF2-40B4-BE49-F238E27FC236}">
                <a16:creationId xmlns:a16="http://schemas.microsoft.com/office/drawing/2014/main" id="{84E849E4-C653-9365-F6D8-3E7DFA7ACA5B}"/>
              </a:ext>
            </a:extLst>
          </p:cNvPr>
          <p:cNvSpPr txBox="1">
            <a:spLocks noGrp="1"/>
          </p:cNvSpPr>
          <p:nvPr>
            <p:ph type="body" idx="1"/>
          </p:nvPr>
        </p:nvSpPr>
        <p:spPr>
          <a:xfrm>
            <a:off x="452550" y="1017725"/>
            <a:ext cx="3689100" cy="3629100"/>
          </a:xfrm>
          <a:prstGeom prst="rect">
            <a:avLst/>
          </a:prstGeom>
        </p:spPr>
        <p:txBody>
          <a:bodyPr spcFirstLastPara="1" wrap="square" lIns="91425" tIns="91425" rIns="91425" bIns="91425" anchor="t" anchorCtr="0">
            <a:noAutofit/>
          </a:bodyPr>
          <a:lstStyle/>
          <a:p>
            <a:pPr lvl="0" indent="-323850">
              <a:lnSpc>
                <a:spcPct val="105000"/>
              </a:lnSpc>
              <a:buSzPts val="1500"/>
            </a:pPr>
            <a:r>
              <a:rPr lang="vi-VN" altLang="ja" sz="1100" dirty="0"/>
              <a:t>Maruetsu, Kasumi, MV Kanto sử dụng như là máy nạp tiền cho thanh toán số</a:t>
            </a:r>
          </a:p>
          <a:p>
            <a:pPr lvl="0" indent="-323850">
              <a:lnSpc>
                <a:spcPct val="105000"/>
              </a:lnSpc>
              <a:buSzPts val="1500"/>
            </a:pPr>
            <a:r>
              <a:rPr lang="vi-VN" altLang="ja" sz="1100" dirty="0"/>
              <a:t>Mỗi ngày truy cập khoảng vài lần</a:t>
            </a:r>
          </a:p>
          <a:p>
            <a:pPr lvl="0" indent="-323850">
              <a:lnSpc>
                <a:spcPct val="105000"/>
              </a:lnSpc>
              <a:buSzPts val="1500"/>
            </a:pPr>
            <a:r>
              <a:rPr lang="vi-VN" altLang="ja" sz="1100" dirty="0"/>
              <a:t>API và cơ sở dữ liệu dùng chung giữa các chuỗi cửa hàng</a:t>
            </a:r>
          </a:p>
          <a:p>
            <a:pPr lvl="0" indent="-323850">
              <a:lnSpc>
                <a:spcPct val="105000"/>
              </a:lnSpc>
              <a:buSzPts val="1500"/>
            </a:pPr>
            <a:r>
              <a:rPr lang="vi-VN" altLang="ja" sz="1100" dirty="0"/>
              <a:t>Vận hành trên AWS và trung tâm dữ liệu</a:t>
            </a:r>
          </a:p>
          <a:p>
            <a:pPr lvl="0" indent="-323850">
              <a:lnSpc>
                <a:spcPct val="105000"/>
              </a:lnSpc>
              <a:buSzPts val="1500"/>
            </a:pPr>
            <a:r>
              <a:rPr lang="vi-VN" altLang="ja" sz="1100" dirty="0"/>
              <a:t>Không có mối quan hệ phụ thuộc với POS Server Offline 2.0</a:t>
            </a:r>
          </a:p>
          <a:p>
            <a:pPr lvl="0" indent="-323850">
              <a:lnSpc>
                <a:spcPct val="105000"/>
              </a:lnSpc>
              <a:buSzPts val="1500"/>
            </a:pPr>
            <a:r>
              <a:rPr lang="vi-VN" altLang="ja" sz="1100" dirty="0"/>
              <a:t>AWS:</a:t>
            </a:r>
          </a:p>
          <a:p>
            <a:pPr marL="133350" lvl="0" indent="0">
              <a:lnSpc>
                <a:spcPct val="105000"/>
              </a:lnSpc>
              <a:buSzPts val="1500"/>
              <a:buNone/>
            </a:pPr>
            <a:r>
              <a:rPr lang="en-US" altLang="ja" sz="1100" dirty="0"/>
              <a:t>      </a:t>
            </a:r>
            <a:r>
              <a:rPr lang="vi-VN" altLang="ja" sz="1100" dirty="0"/>
              <a:t> Luvina là chủ sở hữu tài khoản AWS</a:t>
            </a:r>
          </a:p>
          <a:p>
            <a:pPr marL="133350" lvl="0" indent="0">
              <a:lnSpc>
                <a:spcPct val="105000"/>
              </a:lnSpc>
              <a:buSzPts val="1500"/>
              <a:buNone/>
            </a:pPr>
            <a:r>
              <a:rPr lang="en-US" altLang="ja" sz="1100" dirty="0"/>
              <a:t>      </a:t>
            </a:r>
            <a:r>
              <a:rPr lang="vi-VN" altLang="ja" sz="1100" dirty="0"/>
              <a:t> Tên VPC được gọi là AndroidPOS</a:t>
            </a:r>
          </a:p>
          <a:p>
            <a:pPr lvl="0" indent="-323850">
              <a:lnSpc>
                <a:spcPct val="105000"/>
              </a:lnSpc>
              <a:buSzPts val="1500"/>
            </a:pPr>
            <a:r>
              <a:rPr lang="vi-VN" altLang="ja" sz="1100" dirty="0"/>
              <a:t>Trung tâm dữ liệu:</a:t>
            </a:r>
            <a:r>
              <a:rPr lang="en-US" altLang="ja" sz="1100" dirty="0"/>
              <a:t> </a:t>
            </a:r>
            <a:r>
              <a:rPr lang="vi-VN" altLang="ja" sz="1100" dirty="0"/>
              <a:t>Có kế hoạch sẽ chuyển sang AWS (AndroidPOS) trong tương lai</a:t>
            </a:r>
            <a:endParaRPr sz="1100" dirty="0"/>
          </a:p>
        </p:txBody>
      </p:sp>
      <p:pic>
        <p:nvPicPr>
          <p:cNvPr id="144" name="Google Shape;144;p24" title="【POS】infra_ishida-4-1.drawio.png">
            <a:extLst>
              <a:ext uri="{FF2B5EF4-FFF2-40B4-BE49-F238E27FC236}">
                <a16:creationId xmlns:a16="http://schemas.microsoft.com/office/drawing/2014/main" id="{014FF20A-4F00-100B-0B2A-2606CD1D13FD}"/>
              </a:ext>
            </a:extLst>
          </p:cNvPr>
          <p:cNvPicPr preferRelativeResize="0"/>
          <p:nvPr/>
        </p:nvPicPr>
        <p:blipFill>
          <a:blip r:embed="rId4">
            <a:alphaModFix/>
          </a:blip>
          <a:stretch>
            <a:fillRect/>
          </a:stretch>
        </p:blipFill>
        <p:spPr>
          <a:xfrm>
            <a:off x="4294050" y="1170125"/>
            <a:ext cx="4650140" cy="3340691"/>
          </a:xfrm>
          <a:prstGeom prst="rect">
            <a:avLst/>
          </a:prstGeom>
          <a:noFill/>
          <a:ln>
            <a:noFill/>
          </a:ln>
        </p:spPr>
      </p:pic>
      <p:sp>
        <p:nvSpPr>
          <p:cNvPr id="2" name="TextBox 1">
            <a:extLst>
              <a:ext uri="{FF2B5EF4-FFF2-40B4-BE49-F238E27FC236}">
                <a16:creationId xmlns:a16="http://schemas.microsoft.com/office/drawing/2014/main" id="{638966B8-EBCD-E2E9-E7C5-AC20AA16C703}"/>
              </a:ext>
            </a:extLst>
          </p:cNvPr>
          <p:cNvSpPr txBox="1"/>
          <p:nvPr/>
        </p:nvSpPr>
        <p:spPr>
          <a:xfrm>
            <a:off x="5600880" y="3315392"/>
            <a:ext cx="624794" cy="40011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API dùng chung cho các tên thương hiệu cửa hàng</a:t>
            </a:r>
          </a:p>
        </p:txBody>
      </p:sp>
      <p:sp>
        <p:nvSpPr>
          <p:cNvPr id="3" name="TextBox 2">
            <a:extLst>
              <a:ext uri="{FF2B5EF4-FFF2-40B4-BE49-F238E27FC236}">
                <a16:creationId xmlns:a16="http://schemas.microsoft.com/office/drawing/2014/main" id="{22866CBD-7F89-31D3-09A0-ED08144B22D2}"/>
              </a:ext>
            </a:extLst>
          </p:cNvPr>
          <p:cNvSpPr txBox="1"/>
          <p:nvPr/>
        </p:nvSpPr>
        <p:spPr>
          <a:xfrm>
            <a:off x="5600880" y="4011104"/>
            <a:ext cx="624794" cy="40011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API dùng chung cho các tên thương hiệu cửa hàng</a:t>
            </a:r>
          </a:p>
        </p:txBody>
      </p:sp>
      <p:sp>
        <p:nvSpPr>
          <p:cNvPr id="4" name="TextBox 3">
            <a:extLst>
              <a:ext uri="{FF2B5EF4-FFF2-40B4-BE49-F238E27FC236}">
                <a16:creationId xmlns:a16="http://schemas.microsoft.com/office/drawing/2014/main" id="{6D33CF01-A2BF-AEAB-0CF4-6CC07A6BB3B9}"/>
              </a:ext>
            </a:extLst>
          </p:cNvPr>
          <p:cNvSpPr txBox="1"/>
          <p:nvPr/>
        </p:nvSpPr>
        <p:spPr>
          <a:xfrm>
            <a:off x="6306723" y="3244854"/>
            <a:ext cx="624794"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Cân nhắc di chuyển</a:t>
            </a:r>
          </a:p>
        </p:txBody>
      </p:sp>
      <p:sp>
        <p:nvSpPr>
          <p:cNvPr id="5" name="TextBox 4">
            <a:extLst>
              <a:ext uri="{FF2B5EF4-FFF2-40B4-BE49-F238E27FC236}">
                <a16:creationId xmlns:a16="http://schemas.microsoft.com/office/drawing/2014/main" id="{3BD69384-889A-D0C2-64DC-D9FB1D425FA9}"/>
              </a:ext>
            </a:extLst>
          </p:cNvPr>
          <p:cNvSpPr txBox="1"/>
          <p:nvPr/>
        </p:nvSpPr>
        <p:spPr>
          <a:xfrm>
            <a:off x="7171156" y="1192925"/>
            <a:ext cx="624794" cy="20005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700" dirty="0"/>
              <a:t>Kazumi</a:t>
            </a:r>
          </a:p>
        </p:txBody>
      </p:sp>
      <p:sp>
        <p:nvSpPr>
          <p:cNvPr id="6" name="TextBox 5">
            <a:extLst>
              <a:ext uri="{FF2B5EF4-FFF2-40B4-BE49-F238E27FC236}">
                <a16:creationId xmlns:a16="http://schemas.microsoft.com/office/drawing/2014/main" id="{A5A1AF5F-F261-C96E-A2D7-241CEA0E345B}"/>
              </a:ext>
            </a:extLst>
          </p:cNvPr>
          <p:cNvSpPr txBox="1"/>
          <p:nvPr/>
        </p:nvSpPr>
        <p:spPr>
          <a:xfrm>
            <a:off x="7948350" y="1203819"/>
            <a:ext cx="624794" cy="20005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700" dirty="0"/>
              <a:t>MV Kanto</a:t>
            </a:r>
          </a:p>
        </p:txBody>
      </p:sp>
      <p:sp>
        <p:nvSpPr>
          <p:cNvPr id="7" name="TextBox 6">
            <a:extLst>
              <a:ext uri="{FF2B5EF4-FFF2-40B4-BE49-F238E27FC236}">
                <a16:creationId xmlns:a16="http://schemas.microsoft.com/office/drawing/2014/main" id="{D159C181-3DF3-BF94-D376-5FFE95613129}"/>
              </a:ext>
            </a:extLst>
          </p:cNvPr>
          <p:cNvSpPr txBox="1"/>
          <p:nvPr/>
        </p:nvSpPr>
        <p:spPr>
          <a:xfrm>
            <a:off x="4947170" y="1192925"/>
            <a:ext cx="624794" cy="20005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700" dirty="0"/>
              <a:t>Maruetsu</a:t>
            </a:r>
          </a:p>
        </p:txBody>
      </p:sp>
    </p:spTree>
    <p:extLst>
      <p:ext uri="{BB962C8B-B14F-4D97-AF65-F5344CB8AC3E}">
        <p14:creationId xmlns:p14="http://schemas.microsoft.com/office/powerpoint/2010/main" val="36380280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ja" sz="3000" dirty="0">
                <a:highlight>
                  <a:srgbClr val="FFFFFF"/>
                </a:highlight>
              </a:rPr>
              <a:t>5.ネットワーク構成</a:t>
            </a:r>
            <a:endParaRPr sz="3000" dirty="0">
              <a:highlight>
                <a:srgbClr val="FFFFFF"/>
              </a:highlight>
            </a:endParaRPr>
          </a:p>
          <a:p>
            <a:pPr lvl="0"/>
            <a:r>
              <a:rPr lang="ja" sz="3000" dirty="0">
                <a:highlight>
                  <a:srgbClr val="FFFFFF"/>
                </a:highlight>
              </a:rPr>
              <a:t>（オフライン版POSサーバとUSHM閉域網）</a:t>
            </a:r>
            <a:br>
              <a:rPr lang="en-US" altLang="ja" sz="3000" dirty="0">
                <a:highlight>
                  <a:srgbClr val="FFFFFF"/>
                </a:highlight>
              </a:rPr>
            </a:br>
            <a:br>
              <a:rPr lang="en-US" altLang="ja" sz="3000" dirty="0">
                <a:highlight>
                  <a:srgbClr val="FFFFFF"/>
                </a:highlight>
              </a:rPr>
            </a:br>
            <a:r>
              <a:rPr lang="en-US" altLang="ja-JP" sz="3200" dirty="0" err="1">
                <a:highlight>
                  <a:srgbClr val="FFFFFF"/>
                </a:highlight>
              </a:rPr>
              <a:t>Cấu</a:t>
            </a:r>
            <a:r>
              <a:rPr lang="en-US" altLang="ja-JP" sz="3200" dirty="0">
                <a:highlight>
                  <a:srgbClr val="FFFFFF"/>
                </a:highlight>
              </a:rPr>
              <a:t> </a:t>
            </a:r>
            <a:r>
              <a:rPr lang="en-US" altLang="ja-JP" sz="3200" dirty="0" err="1">
                <a:highlight>
                  <a:srgbClr val="FFFFFF"/>
                </a:highlight>
              </a:rPr>
              <a:t>trúc</a:t>
            </a:r>
            <a:r>
              <a:rPr lang="en-US" altLang="ja-JP" sz="3200" dirty="0">
                <a:highlight>
                  <a:srgbClr val="FFFFFF"/>
                </a:highlight>
              </a:rPr>
              <a:t> </a:t>
            </a:r>
            <a:r>
              <a:rPr lang="en-US" altLang="ja-JP" sz="3200" dirty="0" err="1">
                <a:highlight>
                  <a:srgbClr val="FFFFFF"/>
                </a:highlight>
              </a:rPr>
              <a:t>mạng</a:t>
            </a:r>
            <a:r>
              <a:rPr lang="en-US" altLang="ja-JP" sz="3200" dirty="0">
                <a:highlight>
                  <a:srgbClr val="FFFFFF"/>
                </a:highlight>
              </a:rPr>
              <a:t> (POS Server Offline </a:t>
            </a:r>
            <a:r>
              <a:rPr lang="en-US" altLang="ja-JP" sz="3200" dirty="0" err="1">
                <a:highlight>
                  <a:srgbClr val="FFFFFF"/>
                </a:highlight>
              </a:rPr>
              <a:t>và</a:t>
            </a:r>
            <a:r>
              <a:rPr lang="en-US" altLang="ja-JP" sz="3200" dirty="0">
                <a:highlight>
                  <a:srgbClr val="FFFFFF"/>
                </a:highlight>
              </a:rPr>
              <a:t> </a:t>
            </a:r>
            <a:r>
              <a:rPr lang="en-US" altLang="ja-JP" sz="3200" dirty="0" err="1">
                <a:highlight>
                  <a:srgbClr val="FFFFFF"/>
                </a:highlight>
              </a:rPr>
              <a:t>mạng</a:t>
            </a:r>
            <a:r>
              <a:rPr lang="en-US" altLang="ja-JP" sz="3200" dirty="0">
                <a:highlight>
                  <a:srgbClr val="FFFFFF"/>
                </a:highlight>
              </a:rPr>
              <a:t> </a:t>
            </a:r>
            <a:r>
              <a:rPr lang="en-US" altLang="ja-JP" sz="3200" dirty="0" err="1">
                <a:highlight>
                  <a:srgbClr val="FFFFFF"/>
                </a:highlight>
              </a:rPr>
              <a:t>nội</a:t>
            </a:r>
            <a:r>
              <a:rPr lang="en-US" altLang="ja-JP" sz="3200" dirty="0">
                <a:highlight>
                  <a:srgbClr val="FFFFFF"/>
                </a:highlight>
              </a:rPr>
              <a:t> </a:t>
            </a:r>
            <a:r>
              <a:rPr lang="en-US" altLang="ja-JP" sz="3200" dirty="0" err="1">
                <a:highlight>
                  <a:srgbClr val="FFFFFF"/>
                </a:highlight>
              </a:rPr>
              <a:t>bộ</a:t>
            </a:r>
            <a:r>
              <a:rPr lang="en-US" altLang="ja-JP" sz="3200" dirty="0">
                <a:highlight>
                  <a:srgbClr val="FFFFFF"/>
                </a:highlight>
              </a:rPr>
              <a:t> USMH)</a:t>
            </a:r>
            <a:endParaRPr sz="3000" dirty="0">
              <a:highlight>
                <a:srgbClr val="FFFFFF"/>
              </a:highlight>
            </a:endParaRPr>
          </a:p>
        </p:txBody>
      </p:sp>
      <p:pic>
        <p:nvPicPr>
          <p:cNvPr id="150" name="Google Shape;150;p25"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51" name="Google Shape;151;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dirty="0">
                <a:highlight>
                  <a:srgbClr val="D9D9D9"/>
                </a:highlight>
              </a:rPr>
              <a:t>5-1.スパイク環境</a:t>
            </a:r>
            <a:endParaRPr dirty="0">
              <a:highlight>
                <a:srgbClr val="D9D9D9"/>
              </a:highlight>
            </a:endParaRPr>
          </a:p>
        </p:txBody>
      </p:sp>
      <p:sp>
        <p:nvSpPr>
          <p:cNvPr id="157" name="Google Shape;157;p26"/>
          <p:cNvSpPr txBox="1">
            <a:spLocks noGrp="1"/>
          </p:cNvSpPr>
          <p:nvPr>
            <p:ph type="body" idx="1"/>
          </p:nvPr>
        </p:nvSpPr>
        <p:spPr>
          <a:xfrm>
            <a:off x="341400" y="1051500"/>
            <a:ext cx="4298700" cy="3388200"/>
          </a:xfrm>
          <a:prstGeom prst="rect">
            <a:avLst/>
          </a:prstGeom>
        </p:spPr>
        <p:txBody>
          <a:bodyPr spcFirstLastPara="1" wrap="square" lIns="91425" tIns="91425" rIns="91425" bIns="91425" anchor="t" anchorCtr="0">
            <a:noAutofit/>
          </a:bodyPr>
          <a:lstStyle/>
          <a:p>
            <a:pPr marL="457200" lvl="0" indent="-324961" algn="l" rtl="0">
              <a:spcBef>
                <a:spcPts val="0"/>
              </a:spcBef>
              <a:spcAft>
                <a:spcPts val="0"/>
              </a:spcAft>
              <a:buClr>
                <a:srgbClr val="333333"/>
              </a:buClr>
              <a:buSzPts val="1518"/>
              <a:buChar char="●"/>
            </a:pPr>
            <a:r>
              <a:rPr lang="ja" sz="1517">
                <a:solidFill>
                  <a:srgbClr val="333333"/>
                </a:solidFill>
              </a:rPr>
              <a:t>オンライン版POSサーバのAWSアカウントを使って、オフライン版POSサーバ2.0向けにスパイク環境を構築する</a:t>
            </a:r>
            <a:endParaRPr sz="1517">
              <a:solidFill>
                <a:srgbClr val="333333"/>
              </a:solidFill>
            </a:endParaRPr>
          </a:p>
          <a:p>
            <a:pPr marL="457200" lvl="0" indent="-324961" algn="l" rtl="0">
              <a:spcBef>
                <a:spcPts val="0"/>
              </a:spcBef>
              <a:spcAft>
                <a:spcPts val="0"/>
              </a:spcAft>
              <a:buClr>
                <a:srgbClr val="333333"/>
              </a:buClr>
              <a:buSzPts val="1518"/>
              <a:buChar char="●"/>
            </a:pPr>
            <a:r>
              <a:rPr lang="ja" sz="1517">
                <a:solidFill>
                  <a:srgbClr val="333333"/>
                </a:solidFill>
              </a:rPr>
              <a:t>開発とインフラチームが速やかに検証できるように</a:t>
            </a:r>
            <a:endParaRPr sz="1517">
              <a:solidFill>
                <a:srgbClr val="333333"/>
              </a:solidFill>
            </a:endParaRPr>
          </a:p>
          <a:p>
            <a:pPr marL="457200" lvl="0" indent="-324961" algn="l" rtl="0">
              <a:spcBef>
                <a:spcPts val="0"/>
              </a:spcBef>
              <a:spcAft>
                <a:spcPts val="0"/>
              </a:spcAft>
              <a:buClr>
                <a:srgbClr val="333333"/>
              </a:buClr>
              <a:buSzPts val="1518"/>
              <a:buChar char="●"/>
            </a:pPr>
            <a:r>
              <a:rPr lang="ja" sz="1517">
                <a:solidFill>
                  <a:srgbClr val="333333"/>
                </a:solidFill>
              </a:rPr>
              <a:t>AndroidPOSと、干渉しないようにネットワークレベルで分離する</a:t>
            </a:r>
            <a:endParaRPr sz="1517">
              <a:solidFill>
                <a:srgbClr val="333333"/>
              </a:solidFill>
            </a:endParaRPr>
          </a:p>
          <a:p>
            <a:pPr marL="457200" lvl="0" indent="-324961" algn="l" rtl="0">
              <a:spcBef>
                <a:spcPts val="0"/>
              </a:spcBef>
              <a:spcAft>
                <a:spcPts val="0"/>
              </a:spcAft>
              <a:buClr>
                <a:srgbClr val="333333"/>
              </a:buClr>
              <a:buSzPts val="1518"/>
              <a:buChar char="●"/>
            </a:pPr>
            <a:r>
              <a:rPr lang="ja" sz="1517">
                <a:solidFill>
                  <a:srgbClr val="333333"/>
                </a:solidFill>
              </a:rPr>
              <a:t>スパイク環境は将来も、ルビナの検証環境用として残す</a:t>
            </a:r>
            <a:endParaRPr sz="1517">
              <a:solidFill>
                <a:srgbClr val="333333"/>
              </a:solidFill>
            </a:endParaRPr>
          </a:p>
          <a:p>
            <a:pPr marL="457200" lvl="0" indent="-324961" algn="l" rtl="0">
              <a:spcBef>
                <a:spcPts val="0"/>
              </a:spcBef>
              <a:spcAft>
                <a:spcPts val="0"/>
              </a:spcAft>
              <a:buClr>
                <a:srgbClr val="333333"/>
              </a:buClr>
              <a:buSzPts val="1518"/>
              <a:buChar char="●"/>
            </a:pPr>
            <a:r>
              <a:rPr lang="ja" sz="1517">
                <a:solidFill>
                  <a:srgbClr val="333333"/>
                </a:solidFill>
              </a:rPr>
              <a:t>現時点では、OCや中継サーバからのマスタ受信やISHIDA電子棚札サーバへのマスタ送信は実施しない方針になった</a:t>
            </a:r>
            <a:endParaRPr sz="1517">
              <a:solidFill>
                <a:srgbClr val="333333"/>
              </a:solidFill>
            </a:endParaRPr>
          </a:p>
        </p:txBody>
      </p:sp>
      <p:pic>
        <p:nvPicPr>
          <p:cNvPr id="158" name="Google Shape;158;p26"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59" name="Google Shape;159;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21</a:t>
            </a:fld>
            <a:endParaRPr/>
          </a:p>
        </p:txBody>
      </p:sp>
      <p:pic>
        <p:nvPicPr>
          <p:cNvPr id="160" name="Google Shape;160;p26" title="【POS】Infra-5-3.drawio.png"/>
          <p:cNvPicPr preferRelativeResize="0"/>
          <p:nvPr/>
        </p:nvPicPr>
        <p:blipFill>
          <a:blip r:embed="rId4">
            <a:alphaModFix/>
          </a:blip>
          <a:stretch>
            <a:fillRect/>
          </a:stretch>
        </p:blipFill>
        <p:spPr>
          <a:xfrm>
            <a:off x="4895375" y="1098900"/>
            <a:ext cx="3730301" cy="334069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5">
          <a:extLst>
            <a:ext uri="{FF2B5EF4-FFF2-40B4-BE49-F238E27FC236}">
              <a16:creationId xmlns:a16="http://schemas.microsoft.com/office/drawing/2014/main" id="{63145CCC-8119-BAD7-6E86-58E32A80B7E9}"/>
            </a:ext>
          </a:extLst>
        </p:cNvPr>
        <p:cNvGrpSpPr/>
        <p:nvPr/>
      </p:nvGrpSpPr>
      <p:grpSpPr>
        <a:xfrm>
          <a:off x="0" y="0"/>
          <a:ext cx="0" cy="0"/>
          <a:chOff x="0" y="0"/>
          <a:chExt cx="0" cy="0"/>
        </a:xfrm>
      </p:grpSpPr>
      <p:sp>
        <p:nvSpPr>
          <p:cNvPr id="156" name="Google Shape;156;p26">
            <a:extLst>
              <a:ext uri="{FF2B5EF4-FFF2-40B4-BE49-F238E27FC236}">
                <a16:creationId xmlns:a16="http://schemas.microsoft.com/office/drawing/2014/main" id="{3E4BC290-D780-63C6-E62C-CDA858AF0428}"/>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dirty="0">
                <a:highlight>
                  <a:srgbClr val="D9D9D9"/>
                </a:highlight>
              </a:rPr>
              <a:t>5-1.</a:t>
            </a:r>
            <a:r>
              <a:rPr lang="en-US" altLang="ja" dirty="0" err="1">
                <a:highlight>
                  <a:srgbClr val="D9D9D9"/>
                </a:highlight>
              </a:rPr>
              <a:t>Môi</a:t>
            </a:r>
            <a:r>
              <a:rPr lang="en-US" altLang="ja" dirty="0">
                <a:highlight>
                  <a:srgbClr val="D9D9D9"/>
                </a:highlight>
              </a:rPr>
              <a:t> </a:t>
            </a:r>
            <a:r>
              <a:rPr lang="en-US" altLang="ja" dirty="0" err="1">
                <a:highlight>
                  <a:srgbClr val="D9D9D9"/>
                </a:highlight>
              </a:rPr>
              <a:t>trường</a:t>
            </a:r>
            <a:r>
              <a:rPr lang="en-US" altLang="ja" dirty="0">
                <a:highlight>
                  <a:srgbClr val="D9D9D9"/>
                </a:highlight>
              </a:rPr>
              <a:t> spike</a:t>
            </a:r>
            <a:endParaRPr dirty="0">
              <a:highlight>
                <a:srgbClr val="D9D9D9"/>
              </a:highlight>
            </a:endParaRPr>
          </a:p>
        </p:txBody>
      </p:sp>
      <p:sp>
        <p:nvSpPr>
          <p:cNvPr id="157" name="Google Shape;157;p26">
            <a:extLst>
              <a:ext uri="{FF2B5EF4-FFF2-40B4-BE49-F238E27FC236}">
                <a16:creationId xmlns:a16="http://schemas.microsoft.com/office/drawing/2014/main" id="{5B7C6125-DEF9-CFEF-936F-FA0F322A2259}"/>
              </a:ext>
            </a:extLst>
          </p:cNvPr>
          <p:cNvSpPr txBox="1">
            <a:spLocks noGrp="1"/>
          </p:cNvSpPr>
          <p:nvPr>
            <p:ph type="body" idx="1"/>
          </p:nvPr>
        </p:nvSpPr>
        <p:spPr>
          <a:xfrm>
            <a:off x="341400" y="1051500"/>
            <a:ext cx="4298700" cy="3388200"/>
          </a:xfrm>
          <a:prstGeom prst="rect">
            <a:avLst/>
          </a:prstGeom>
        </p:spPr>
        <p:txBody>
          <a:bodyPr spcFirstLastPara="1" wrap="square" lIns="91425" tIns="91425" rIns="91425" bIns="91425" anchor="t" anchorCtr="0">
            <a:noAutofit/>
          </a:bodyPr>
          <a:lstStyle/>
          <a:p>
            <a:pPr lvl="0" indent="-324961">
              <a:buClr>
                <a:srgbClr val="333333"/>
              </a:buClr>
              <a:buSzPts val="1518"/>
            </a:pPr>
            <a:r>
              <a:rPr lang="vi-VN" altLang="ja" sz="1517" dirty="0">
                <a:solidFill>
                  <a:srgbClr val="333333"/>
                </a:solidFill>
              </a:rPr>
              <a:t>Sử dụng tài khoản AWS của POS Server bản online để xây dựng môi trường Spike cho POS Server bản offline 2.0</a:t>
            </a:r>
          </a:p>
          <a:p>
            <a:pPr lvl="0" indent="-324961">
              <a:buClr>
                <a:srgbClr val="333333"/>
              </a:buClr>
              <a:buSzPts val="1518"/>
            </a:pPr>
            <a:r>
              <a:rPr lang="vi-VN" altLang="ja" sz="1517" dirty="0">
                <a:solidFill>
                  <a:srgbClr val="333333"/>
                </a:solidFill>
              </a:rPr>
              <a:t>Nhằm giúp nhóm phát triển và hạ tầng có thể kiểm tra nhanh chóng</a:t>
            </a:r>
          </a:p>
          <a:p>
            <a:pPr lvl="0" indent="-324961">
              <a:buClr>
                <a:srgbClr val="333333"/>
              </a:buClr>
              <a:buSzPts val="1518"/>
            </a:pPr>
            <a:r>
              <a:rPr lang="vi-VN" altLang="ja" sz="1517" dirty="0">
                <a:solidFill>
                  <a:srgbClr val="333333"/>
                </a:solidFill>
              </a:rPr>
              <a:t>Tách biệt ở cấp độ mạng để không gây ảnh hưởng đến Android POS</a:t>
            </a:r>
          </a:p>
          <a:p>
            <a:pPr lvl="0" indent="-324961">
              <a:buClr>
                <a:srgbClr val="333333"/>
              </a:buClr>
              <a:buSzPts val="1518"/>
            </a:pPr>
            <a:r>
              <a:rPr lang="vi-VN" altLang="ja" sz="1517" dirty="0">
                <a:solidFill>
                  <a:srgbClr val="333333"/>
                </a:solidFill>
              </a:rPr>
              <a:t>Môi trường Spike sẽ được giữ lại để làm môi trường kiểm tra cho Rubina trong tương lai</a:t>
            </a:r>
          </a:p>
          <a:p>
            <a:pPr lvl="0" indent="-324961">
              <a:buClr>
                <a:srgbClr val="333333"/>
              </a:buClr>
              <a:buSzPts val="1518"/>
            </a:pPr>
            <a:r>
              <a:rPr lang="vi-VN" altLang="ja" sz="1517" dirty="0">
                <a:solidFill>
                  <a:srgbClr val="333333"/>
                </a:solidFill>
              </a:rPr>
              <a:t>Hiện tại, dự kiến không thực hiện việc nhận master từ OC hay máy chủ trung gian, cũng như không gửi master đến máy chủ bảng giá điện tử ISHIDA</a:t>
            </a:r>
          </a:p>
        </p:txBody>
      </p:sp>
      <p:pic>
        <p:nvPicPr>
          <p:cNvPr id="158" name="Google Shape;158;p26" title="logo-luvina-2022-2.png">
            <a:extLst>
              <a:ext uri="{FF2B5EF4-FFF2-40B4-BE49-F238E27FC236}">
                <a16:creationId xmlns:a16="http://schemas.microsoft.com/office/drawing/2014/main" id="{91051E19-DE18-83FE-D81A-3EDDE425D1DC}"/>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59" name="Google Shape;159;p26">
            <a:extLst>
              <a:ext uri="{FF2B5EF4-FFF2-40B4-BE49-F238E27FC236}">
                <a16:creationId xmlns:a16="http://schemas.microsoft.com/office/drawing/2014/main" id="{DA3BB969-D404-F201-82BC-FD70B10CA19A}"/>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22</a:t>
            </a:fld>
            <a:endParaRPr/>
          </a:p>
        </p:txBody>
      </p:sp>
      <p:pic>
        <p:nvPicPr>
          <p:cNvPr id="160" name="Google Shape;160;p26" title="【POS】Infra-5-3.drawio.png">
            <a:extLst>
              <a:ext uri="{FF2B5EF4-FFF2-40B4-BE49-F238E27FC236}">
                <a16:creationId xmlns:a16="http://schemas.microsoft.com/office/drawing/2014/main" id="{D05F4B77-1C48-B00A-8252-512AF948E3D3}"/>
              </a:ext>
            </a:extLst>
          </p:cNvPr>
          <p:cNvPicPr preferRelativeResize="0"/>
          <p:nvPr/>
        </p:nvPicPr>
        <p:blipFill>
          <a:blip r:embed="rId4">
            <a:alphaModFix/>
          </a:blip>
          <a:stretch>
            <a:fillRect/>
          </a:stretch>
        </p:blipFill>
        <p:spPr>
          <a:xfrm>
            <a:off x="4895375" y="1098900"/>
            <a:ext cx="3730301" cy="3340692"/>
          </a:xfrm>
          <a:prstGeom prst="rect">
            <a:avLst/>
          </a:prstGeom>
          <a:noFill/>
          <a:ln>
            <a:noFill/>
          </a:ln>
        </p:spPr>
      </p:pic>
      <p:sp>
        <p:nvSpPr>
          <p:cNvPr id="2" name="TextBox 1">
            <a:extLst>
              <a:ext uri="{FF2B5EF4-FFF2-40B4-BE49-F238E27FC236}">
                <a16:creationId xmlns:a16="http://schemas.microsoft.com/office/drawing/2014/main" id="{C23A1697-639F-9464-1D19-A394055F6C2E}"/>
              </a:ext>
            </a:extLst>
          </p:cNvPr>
          <p:cNvSpPr txBox="1"/>
          <p:nvPr/>
        </p:nvSpPr>
        <p:spPr>
          <a:xfrm>
            <a:off x="7724944" y="2325529"/>
            <a:ext cx="1056904" cy="246221"/>
          </a:xfrm>
          <a:prstGeom prst="rect">
            <a:avLst/>
          </a:prstGeom>
          <a:solidFill>
            <a:schemeClr val="bg1"/>
          </a:solidFill>
          <a:ln>
            <a:solidFill>
              <a:schemeClr val="accent1"/>
            </a:solidFill>
          </a:ln>
        </p:spPr>
        <p:txBody>
          <a:bodyPr wrap="square" rtlCol="0">
            <a:spAutoFit/>
          </a:bodyPr>
          <a:lstStyle/>
          <a:p>
            <a:r>
              <a:rPr lang="en-US" sz="1000" dirty="0" err="1"/>
              <a:t>Nội</a:t>
            </a:r>
            <a:r>
              <a:rPr lang="en-US" sz="1000" dirty="0"/>
              <a:t> </a:t>
            </a:r>
            <a:r>
              <a:rPr lang="en-US" sz="1000" dirty="0" err="1"/>
              <a:t>bộ</a:t>
            </a:r>
            <a:r>
              <a:rPr lang="en-US" sz="1000" dirty="0"/>
              <a:t> USMH</a:t>
            </a:r>
          </a:p>
        </p:txBody>
      </p:sp>
      <p:sp>
        <p:nvSpPr>
          <p:cNvPr id="3" name="TextBox 2">
            <a:extLst>
              <a:ext uri="{FF2B5EF4-FFF2-40B4-BE49-F238E27FC236}">
                <a16:creationId xmlns:a16="http://schemas.microsoft.com/office/drawing/2014/main" id="{2DDEA909-1B59-0ACE-BC95-A4877A4FB316}"/>
              </a:ext>
            </a:extLst>
          </p:cNvPr>
          <p:cNvSpPr txBox="1"/>
          <p:nvPr/>
        </p:nvSpPr>
        <p:spPr>
          <a:xfrm>
            <a:off x="5487435" y="3683274"/>
            <a:ext cx="802529" cy="246221"/>
          </a:xfrm>
          <a:prstGeom prst="rect">
            <a:avLst/>
          </a:prstGeom>
          <a:solidFill>
            <a:schemeClr val="bg1"/>
          </a:solidFill>
          <a:ln>
            <a:solidFill>
              <a:schemeClr val="accent1"/>
            </a:solidFill>
          </a:ln>
        </p:spPr>
        <p:txBody>
          <a:bodyPr wrap="square" rtlCol="0">
            <a:spAutoFit/>
          </a:bodyPr>
          <a:lstStyle/>
          <a:p>
            <a:r>
              <a:rPr lang="en-US" sz="1000" dirty="0"/>
              <a:t>spike</a:t>
            </a:r>
          </a:p>
        </p:txBody>
      </p:sp>
    </p:spTree>
    <p:extLst>
      <p:ext uri="{BB962C8B-B14F-4D97-AF65-F5344CB8AC3E}">
        <p14:creationId xmlns:p14="http://schemas.microsoft.com/office/powerpoint/2010/main" val="21245604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5-2.オフライン版POSサーバ2.0とUSMH閉域網</a:t>
            </a:r>
            <a:endParaRPr>
              <a:highlight>
                <a:srgbClr val="D9D9D9"/>
              </a:highlight>
            </a:endParaRPr>
          </a:p>
        </p:txBody>
      </p:sp>
      <p:pic>
        <p:nvPicPr>
          <p:cNvPr id="166" name="Google Shape;166;p27"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67" name="Google Shape;167;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23</a:t>
            </a:fld>
            <a:endParaRPr/>
          </a:p>
        </p:txBody>
      </p:sp>
      <p:pic>
        <p:nvPicPr>
          <p:cNvPr id="168" name="Google Shape;168;p27" title="【POS】infra_ishida-5-2帯域.drawio.png"/>
          <p:cNvPicPr preferRelativeResize="0"/>
          <p:nvPr/>
        </p:nvPicPr>
        <p:blipFill>
          <a:blip r:embed="rId4">
            <a:alphaModFix/>
          </a:blip>
          <a:stretch>
            <a:fillRect/>
          </a:stretch>
        </p:blipFill>
        <p:spPr>
          <a:xfrm>
            <a:off x="1188700" y="1017725"/>
            <a:ext cx="6527224" cy="38763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4">
          <a:extLst>
            <a:ext uri="{FF2B5EF4-FFF2-40B4-BE49-F238E27FC236}">
              <a16:creationId xmlns:a16="http://schemas.microsoft.com/office/drawing/2014/main" id="{1BD900FE-7510-C602-DA9C-D7123D797CAD}"/>
            </a:ext>
          </a:extLst>
        </p:cNvPr>
        <p:cNvGrpSpPr/>
        <p:nvPr/>
      </p:nvGrpSpPr>
      <p:grpSpPr>
        <a:xfrm>
          <a:off x="0" y="0"/>
          <a:ext cx="0" cy="0"/>
          <a:chOff x="0" y="0"/>
          <a:chExt cx="0" cy="0"/>
        </a:xfrm>
      </p:grpSpPr>
      <p:sp>
        <p:nvSpPr>
          <p:cNvPr id="165" name="Google Shape;165;p27">
            <a:extLst>
              <a:ext uri="{FF2B5EF4-FFF2-40B4-BE49-F238E27FC236}">
                <a16:creationId xmlns:a16="http://schemas.microsoft.com/office/drawing/2014/main" id="{C27B9D1D-D872-46FE-A606-BB163D6B3315}"/>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lvl="0"/>
            <a:r>
              <a:rPr lang="ja" sz="1600" dirty="0">
                <a:highlight>
                  <a:srgbClr val="D9D9D9"/>
                </a:highlight>
              </a:rPr>
              <a:t>5-2.</a:t>
            </a:r>
            <a:r>
              <a:rPr lang="en-US" sz="1600" dirty="0">
                <a:highlight>
                  <a:srgbClr val="D9D9D9"/>
                </a:highlight>
              </a:rPr>
              <a:t> POS server </a:t>
            </a:r>
            <a:r>
              <a:rPr lang="en-US" sz="1600" dirty="0" err="1">
                <a:highlight>
                  <a:srgbClr val="D9D9D9"/>
                </a:highlight>
              </a:rPr>
              <a:t>phiên</a:t>
            </a:r>
            <a:r>
              <a:rPr lang="en-US" sz="1600" dirty="0">
                <a:highlight>
                  <a:srgbClr val="D9D9D9"/>
                </a:highlight>
              </a:rPr>
              <a:t> </a:t>
            </a:r>
            <a:r>
              <a:rPr lang="en-US" sz="1600" dirty="0" err="1">
                <a:highlight>
                  <a:srgbClr val="D9D9D9"/>
                </a:highlight>
              </a:rPr>
              <a:t>bản</a:t>
            </a:r>
            <a:r>
              <a:rPr lang="en-US" sz="1600" dirty="0">
                <a:highlight>
                  <a:srgbClr val="D9D9D9"/>
                </a:highlight>
              </a:rPr>
              <a:t> offline 2.0 </a:t>
            </a:r>
            <a:r>
              <a:rPr lang="en-US" sz="1600" dirty="0" err="1">
                <a:highlight>
                  <a:srgbClr val="D9D9D9"/>
                </a:highlight>
              </a:rPr>
              <a:t>và</a:t>
            </a:r>
            <a:r>
              <a:rPr lang="en-US" sz="1600" dirty="0">
                <a:highlight>
                  <a:srgbClr val="D9D9D9"/>
                </a:highlight>
              </a:rPr>
              <a:t> </a:t>
            </a:r>
            <a:r>
              <a:rPr lang="en-US" sz="1600" dirty="0" err="1">
                <a:highlight>
                  <a:srgbClr val="D9D9D9"/>
                </a:highlight>
              </a:rPr>
              <a:t>mạng</a:t>
            </a:r>
            <a:r>
              <a:rPr lang="en-US" sz="1600" dirty="0">
                <a:highlight>
                  <a:srgbClr val="D9D9D9"/>
                </a:highlight>
              </a:rPr>
              <a:t> </a:t>
            </a:r>
            <a:r>
              <a:rPr lang="en-US" sz="1600" dirty="0" err="1">
                <a:highlight>
                  <a:srgbClr val="D9D9D9"/>
                </a:highlight>
              </a:rPr>
              <a:t>nội</a:t>
            </a:r>
            <a:r>
              <a:rPr lang="en-US" sz="1600" dirty="0">
                <a:highlight>
                  <a:srgbClr val="D9D9D9"/>
                </a:highlight>
              </a:rPr>
              <a:t> </a:t>
            </a:r>
            <a:r>
              <a:rPr lang="en-US" sz="1600" dirty="0" err="1">
                <a:highlight>
                  <a:srgbClr val="D9D9D9"/>
                </a:highlight>
              </a:rPr>
              <a:t>bộ</a:t>
            </a:r>
            <a:r>
              <a:rPr lang="en-US" sz="1600" dirty="0">
                <a:highlight>
                  <a:srgbClr val="D9D9D9"/>
                </a:highlight>
              </a:rPr>
              <a:t> </a:t>
            </a:r>
            <a:r>
              <a:rPr lang="en-US" sz="1600" dirty="0" err="1">
                <a:highlight>
                  <a:srgbClr val="D9D9D9"/>
                </a:highlight>
              </a:rPr>
              <a:t>kín</a:t>
            </a:r>
            <a:r>
              <a:rPr lang="en-US" sz="1600" dirty="0">
                <a:highlight>
                  <a:srgbClr val="D9D9D9"/>
                </a:highlight>
              </a:rPr>
              <a:t> </a:t>
            </a:r>
            <a:r>
              <a:rPr lang="en-US" sz="1600" dirty="0" err="1">
                <a:highlight>
                  <a:srgbClr val="D9D9D9"/>
                </a:highlight>
              </a:rPr>
              <a:t>của</a:t>
            </a:r>
            <a:r>
              <a:rPr lang="en-US" sz="1600" dirty="0">
                <a:highlight>
                  <a:srgbClr val="D9D9D9"/>
                </a:highlight>
              </a:rPr>
              <a:t> USMH (USMH Closed Network)</a:t>
            </a:r>
            <a:endParaRPr sz="1600" dirty="0">
              <a:highlight>
                <a:srgbClr val="D9D9D9"/>
              </a:highlight>
            </a:endParaRPr>
          </a:p>
        </p:txBody>
      </p:sp>
      <p:pic>
        <p:nvPicPr>
          <p:cNvPr id="166" name="Google Shape;166;p27" title="logo-luvina-2022-2.png">
            <a:extLst>
              <a:ext uri="{FF2B5EF4-FFF2-40B4-BE49-F238E27FC236}">
                <a16:creationId xmlns:a16="http://schemas.microsoft.com/office/drawing/2014/main" id="{4878F5B3-F8B0-1A21-BCAF-3597862F36B6}"/>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67" name="Google Shape;167;p27">
            <a:extLst>
              <a:ext uri="{FF2B5EF4-FFF2-40B4-BE49-F238E27FC236}">
                <a16:creationId xmlns:a16="http://schemas.microsoft.com/office/drawing/2014/main" id="{20EDE4F4-2E2E-4C63-0BD1-44D21254D817}"/>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24</a:t>
            </a:fld>
            <a:endParaRPr/>
          </a:p>
        </p:txBody>
      </p:sp>
      <p:pic>
        <p:nvPicPr>
          <p:cNvPr id="3" name="Picture 2">
            <a:extLst>
              <a:ext uri="{FF2B5EF4-FFF2-40B4-BE49-F238E27FC236}">
                <a16:creationId xmlns:a16="http://schemas.microsoft.com/office/drawing/2014/main" id="{5D006B82-82E7-B8E0-3DBA-DA2FD76F08C7}"/>
              </a:ext>
            </a:extLst>
          </p:cNvPr>
          <p:cNvPicPr>
            <a:picLocks noChangeAspect="1"/>
          </p:cNvPicPr>
          <p:nvPr/>
        </p:nvPicPr>
        <p:blipFill>
          <a:blip r:embed="rId4"/>
          <a:stretch>
            <a:fillRect/>
          </a:stretch>
        </p:blipFill>
        <p:spPr>
          <a:xfrm>
            <a:off x="790647" y="1271910"/>
            <a:ext cx="6689192" cy="3498583"/>
          </a:xfrm>
          <a:prstGeom prst="rect">
            <a:avLst/>
          </a:prstGeom>
        </p:spPr>
      </p:pic>
    </p:spTree>
    <p:extLst>
      <p:ext uri="{BB962C8B-B14F-4D97-AF65-F5344CB8AC3E}">
        <p14:creationId xmlns:p14="http://schemas.microsoft.com/office/powerpoint/2010/main" val="38433652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5-3.Direct Connectのトラフィック状況（2025/5/30）</a:t>
            </a:r>
            <a:endParaRPr>
              <a:highlight>
                <a:srgbClr val="D9D9D9"/>
              </a:highlight>
            </a:endParaRPr>
          </a:p>
        </p:txBody>
      </p:sp>
      <p:pic>
        <p:nvPicPr>
          <p:cNvPr id="174" name="Google Shape;174;p28"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75" name="Google Shape;175;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25</a:t>
            </a:fld>
            <a:endParaRPr/>
          </a:p>
        </p:txBody>
      </p:sp>
      <p:sp>
        <p:nvSpPr>
          <p:cNvPr id="176" name="Google Shape;176;p28"/>
          <p:cNvSpPr txBox="1">
            <a:spLocks noGrp="1"/>
          </p:cNvSpPr>
          <p:nvPr>
            <p:ph type="body" idx="1"/>
          </p:nvPr>
        </p:nvSpPr>
        <p:spPr>
          <a:xfrm>
            <a:off x="311700" y="1091075"/>
            <a:ext cx="8224800" cy="36198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ja" sz="1217">
                <a:solidFill>
                  <a:srgbClr val="333333"/>
                </a:solidFill>
              </a:rPr>
              <a:t>USMH新川さんからの状況提供</a:t>
            </a:r>
            <a:endParaRPr sz="1217">
              <a:solidFill>
                <a:srgbClr val="333333"/>
              </a:solidFill>
            </a:endParaRPr>
          </a:p>
          <a:p>
            <a:pPr marL="457200" lvl="0" indent="-323850" algn="l" rtl="0">
              <a:spcBef>
                <a:spcPts val="1200"/>
              </a:spcBef>
              <a:spcAft>
                <a:spcPts val="0"/>
              </a:spcAft>
              <a:buClr>
                <a:srgbClr val="434343"/>
              </a:buClr>
              <a:buSzPts val="1500"/>
              <a:buChar char="●"/>
            </a:pPr>
            <a:r>
              <a:rPr lang="ja" sz="1500">
                <a:solidFill>
                  <a:srgbClr val="434343"/>
                </a:solidFill>
              </a:rPr>
              <a:t>USMH網ーAWS（100Mbps）</a:t>
            </a:r>
            <a:endParaRPr sz="1500">
              <a:solidFill>
                <a:srgbClr val="434343"/>
              </a:solidFill>
            </a:endParaRPr>
          </a:p>
          <a:p>
            <a:pPr marL="914400" lvl="1" indent="-323850" algn="l" rtl="0">
              <a:spcBef>
                <a:spcPts val="0"/>
              </a:spcBef>
              <a:spcAft>
                <a:spcPts val="0"/>
              </a:spcAft>
              <a:buClr>
                <a:srgbClr val="434343"/>
              </a:buClr>
              <a:buSzPts val="1500"/>
              <a:buChar char="○"/>
            </a:pPr>
            <a:r>
              <a:rPr lang="ja" sz="1500">
                <a:solidFill>
                  <a:srgbClr val="434343"/>
                </a:solidFill>
              </a:rPr>
              <a:t>網全体で見ると特定の顕著なスパイクはない</a:t>
            </a:r>
            <a:endParaRPr sz="1500">
              <a:solidFill>
                <a:srgbClr val="434343"/>
              </a:solidFill>
            </a:endParaRPr>
          </a:p>
          <a:p>
            <a:pPr marL="914400" lvl="1" indent="-323850" algn="l" rtl="0">
              <a:spcBef>
                <a:spcPts val="0"/>
              </a:spcBef>
              <a:spcAft>
                <a:spcPts val="0"/>
              </a:spcAft>
              <a:buClr>
                <a:srgbClr val="434343"/>
              </a:buClr>
              <a:buSzPts val="1500"/>
              <a:buChar char="○"/>
            </a:pPr>
            <a:r>
              <a:rPr lang="ja" sz="1500">
                <a:solidFill>
                  <a:srgbClr val="434343"/>
                </a:solidFill>
              </a:rPr>
              <a:t>MAX値（瞬間最大風速）で</a:t>
            </a:r>
            <a:r>
              <a:rPr lang="ja" sz="1500">
                <a:solidFill>
                  <a:srgbClr val="FF0000"/>
                </a:solidFill>
              </a:rPr>
              <a:t>22</a:t>
            </a:r>
            <a:r>
              <a:rPr lang="ja" sz="1500">
                <a:solidFill>
                  <a:srgbClr val="434343"/>
                </a:solidFill>
              </a:rPr>
              <a:t>%</a:t>
            </a:r>
            <a:endParaRPr sz="1500">
              <a:solidFill>
                <a:srgbClr val="434343"/>
              </a:solidFill>
            </a:endParaRPr>
          </a:p>
          <a:p>
            <a:pPr marL="457200" lvl="0" indent="-323850" algn="l" rtl="0">
              <a:spcBef>
                <a:spcPts val="0"/>
              </a:spcBef>
              <a:spcAft>
                <a:spcPts val="0"/>
              </a:spcAft>
              <a:buClr>
                <a:srgbClr val="434343"/>
              </a:buClr>
              <a:buSzPts val="1500"/>
              <a:buChar char="●"/>
            </a:pPr>
            <a:r>
              <a:rPr lang="ja" sz="1500">
                <a:solidFill>
                  <a:srgbClr val="434343"/>
                </a:solidFill>
              </a:rPr>
              <a:t>いなげやーUSMH網（50Mbps）</a:t>
            </a:r>
            <a:endParaRPr sz="1500">
              <a:solidFill>
                <a:srgbClr val="434343"/>
              </a:solidFill>
            </a:endParaRPr>
          </a:p>
          <a:p>
            <a:pPr marL="914400" lvl="1" indent="-323850" algn="l" rtl="0">
              <a:spcBef>
                <a:spcPts val="0"/>
              </a:spcBef>
              <a:spcAft>
                <a:spcPts val="0"/>
              </a:spcAft>
              <a:buClr>
                <a:srgbClr val="434343"/>
              </a:buClr>
              <a:buSzPts val="1500"/>
              <a:buChar char="○"/>
            </a:pPr>
            <a:r>
              <a:rPr lang="ja" sz="1500">
                <a:solidFill>
                  <a:srgbClr val="434343"/>
                </a:solidFill>
              </a:rPr>
              <a:t>網全体で見ると特定の顕著なスパイクはない</a:t>
            </a:r>
            <a:endParaRPr sz="1500">
              <a:solidFill>
                <a:srgbClr val="434343"/>
              </a:solidFill>
            </a:endParaRPr>
          </a:p>
          <a:p>
            <a:pPr marL="914400" lvl="1" indent="-323850" algn="l" rtl="0">
              <a:spcBef>
                <a:spcPts val="0"/>
              </a:spcBef>
              <a:spcAft>
                <a:spcPts val="0"/>
              </a:spcAft>
              <a:buClr>
                <a:srgbClr val="434343"/>
              </a:buClr>
              <a:buSzPts val="1500"/>
              <a:buChar char="○"/>
            </a:pPr>
            <a:r>
              <a:rPr lang="ja" sz="1500">
                <a:solidFill>
                  <a:srgbClr val="434343"/>
                </a:solidFill>
              </a:rPr>
              <a:t>MAX値（瞬間最大風速）で</a:t>
            </a:r>
            <a:r>
              <a:rPr lang="ja" sz="1500">
                <a:solidFill>
                  <a:srgbClr val="FF0000"/>
                </a:solidFill>
              </a:rPr>
              <a:t>2.4</a:t>
            </a:r>
            <a:r>
              <a:rPr lang="ja" sz="1500">
                <a:solidFill>
                  <a:srgbClr val="434343"/>
                </a:solidFill>
              </a:rPr>
              <a:t>%</a:t>
            </a:r>
            <a:endParaRPr sz="1500">
              <a:solidFill>
                <a:srgbClr val="434343"/>
              </a:solidFill>
            </a:endParaRPr>
          </a:p>
          <a:p>
            <a:pPr marL="457200" lvl="0" indent="-323850" algn="l" rtl="0">
              <a:spcBef>
                <a:spcPts val="0"/>
              </a:spcBef>
              <a:spcAft>
                <a:spcPts val="0"/>
              </a:spcAft>
              <a:buClr>
                <a:srgbClr val="434343"/>
              </a:buClr>
              <a:buSzPts val="1500"/>
              <a:buChar char="●"/>
            </a:pPr>
            <a:r>
              <a:rPr lang="ja" sz="1500">
                <a:solidFill>
                  <a:srgbClr val="FF0000"/>
                </a:solidFill>
              </a:rPr>
              <a:t>毎日AM5時前</a:t>
            </a:r>
            <a:r>
              <a:rPr lang="ja" sz="1500">
                <a:solidFill>
                  <a:srgbClr val="434343"/>
                </a:solidFill>
              </a:rPr>
              <a:t>後に波形が上がる</a:t>
            </a:r>
            <a:endParaRPr sz="1500">
              <a:solidFill>
                <a:srgbClr val="434343"/>
              </a:solidFill>
            </a:endParaRPr>
          </a:p>
          <a:p>
            <a:pPr marL="914400" lvl="1" indent="-323850" algn="l" rtl="0">
              <a:spcBef>
                <a:spcPts val="0"/>
              </a:spcBef>
              <a:spcAft>
                <a:spcPts val="0"/>
              </a:spcAft>
              <a:buClr>
                <a:srgbClr val="434343"/>
              </a:buClr>
              <a:buSzPts val="1500"/>
              <a:buChar char="○"/>
            </a:pPr>
            <a:r>
              <a:rPr lang="ja" sz="1500">
                <a:solidFill>
                  <a:srgbClr val="434343"/>
                </a:solidFill>
              </a:rPr>
              <a:t>いなげや様のPOSServerから、Scan＆Goへ、商品Master等のデータを16店舗分を送信している時間帯</a:t>
            </a:r>
            <a:endParaRPr sz="1500">
              <a:solidFill>
                <a:srgbClr val="434343"/>
              </a:solidFill>
            </a:endParaRPr>
          </a:p>
          <a:p>
            <a:pPr marL="457200" lvl="0" indent="0" algn="l" rtl="0">
              <a:spcBef>
                <a:spcPts val="1200"/>
              </a:spcBef>
              <a:spcAft>
                <a:spcPts val="1200"/>
              </a:spcAft>
              <a:buNone/>
            </a:pPr>
            <a:endParaRPr sz="1817">
              <a:solidFill>
                <a:srgbClr val="333333"/>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2">
          <a:extLst>
            <a:ext uri="{FF2B5EF4-FFF2-40B4-BE49-F238E27FC236}">
              <a16:creationId xmlns:a16="http://schemas.microsoft.com/office/drawing/2014/main" id="{5ADBA199-0CD4-AB53-D514-2258ED0D637F}"/>
            </a:ext>
          </a:extLst>
        </p:cNvPr>
        <p:cNvGrpSpPr/>
        <p:nvPr/>
      </p:nvGrpSpPr>
      <p:grpSpPr>
        <a:xfrm>
          <a:off x="0" y="0"/>
          <a:ext cx="0" cy="0"/>
          <a:chOff x="0" y="0"/>
          <a:chExt cx="0" cy="0"/>
        </a:xfrm>
      </p:grpSpPr>
      <p:sp>
        <p:nvSpPr>
          <p:cNvPr id="173" name="Google Shape;173;p28">
            <a:extLst>
              <a:ext uri="{FF2B5EF4-FFF2-40B4-BE49-F238E27FC236}">
                <a16:creationId xmlns:a16="http://schemas.microsoft.com/office/drawing/2014/main" id="{13FDB562-36FD-0097-A36B-C2287F07C408}"/>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lvl="0"/>
            <a:r>
              <a:rPr lang="ja" dirty="0">
                <a:highlight>
                  <a:srgbClr val="D9D9D9"/>
                </a:highlight>
              </a:rPr>
              <a:t>5-3.</a:t>
            </a:r>
            <a:r>
              <a:rPr lang="vi-VN" dirty="0">
                <a:highlight>
                  <a:srgbClr val="D9D9D9"/>
                </a:highlight>
              </a:rPr>
              <a:t> Tình hình lưu lượng Direct Connect (ngày 30/05/2025)</a:t>
            </a:r>
            <a:endParaRPr dirty="0">
              <a:highlight>
                <a:srgbClr val="D9D9D9"/>
              </a:highlight>
            </a:endParaRPr>
          </a:p>
        </p:txBody>
      </p:sp>
      <p:pic>
        <p:nvPicPr>
          <p:cNvPr id="174" name="Google Shape;174;p28" title="logo-luvina-2022-2.png">
            <a:extLst>
              <a:ext uri="{FF2B5EF4-FFF2-40B4-BE49-F238E27FC236}">
                <a16:creationId xmlns:a16="http://schemas.microsoft.com/office/drawing/2014/main" id="{DDB555F8-1E23-FE9F-6123-14E75CEAFBA0}"/>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75" name="Google Shape;175;p28">
            <a:extLst>
              <a:ext uri="{FF2B5EF4-FFF2-40B4-BE49-F238E27FC236}">
                <a16:creationId xmlns:a16="http://schemas.microsoft.com/office/drawing/2014/main" id="{AF74069F-E371-F58E-9593-41508E418588}"/>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26</a:t>
            </a:fld>
            <a:endParaRPr/>
          </a:p>
        </p:txBody>
      </p:sp>
      <p:sp>
        <p:nvSpPr>
          <p:cNvPr id="176" name="Google Shape;176;p28">
            <a:extLst>
              <a:ext uri="{FF2B5EF4-FFF2-40B4-BE49-F238E27FC236}">
                <a16:creationId xmlns:a16="http://schemas.microsoft.com/office/drawing/2014/main" id="{2B36807C-7AAD-F42A-F6A2-0D9D5DD89FF9}"/>
              </a:ext>
            </a:extLst>
          </p:cNvPr>
          <p:cNvSpPr txBox="1">
            <a:spLocks noGrp="1"/>
          </p:cNvSpPr>
          <p:nvPr>
            <p:ph type="body" idx="1"/>
          </p:nvPr>
        </p:nvSpPr>
        <p:spPr>
          <a:xfrm>
            <a:off x="311700" y="1091075"/>
            <a:ext cx="8224800" cy="3619800"/>
          </a:xfrm>
          <a:prstGeom prst="rect">
            <a:avLst/>
          </a:prstGeom>
        </p:spPr>
        <p:txBody>
          <a:bodyPr spcFirstLastPara="1" wrap="square" lIns="91425" tIns="91425" rIns="91425" bIns="91425" anchor="t" anchorCtr="0">
            <a:noAutofit/>
          </a:bodyPr>
          <a:lstStyle/>
          <a:p>
            <a:pPr marL="0" lvl="0" indent="0">
              <a:spcBef>
                <a:spcPts val="1200"/>
              </a:spcBef>
              <a:buNone/>
            </a:pPr>
            <a:r>
              <a:rPr lang="vi-VN" altLang="ja" sz="1217" dirty="0">
                <a:solidFill>
                  <a:srgbClr val="333333"/>
                </a:solidFill>
              </a:rPr>
              <a:t>Thông tin do ông Niikawa bên USMH cung cấp:</a:t>
            </a:r>
          </a:p>
          <a:p>
            <a:pPr marL="0" lvl="0" indent="0">
              <a:spcBef>
                <a:spcPts val="1200"/>
              </a:spcBef>
              <a:buNone/>
            </a:pPr>
            <a:r>
              <a:rPr lang="vi-VN" altLang="ja" sz="1217" dirty="0">
                <a:solidFill>
                  <a:srgbClr val="333333"/>
                </a:solidFill>
              </a:rPr>
              <a:t>-Mạng USMH ⇔ AWS (100Mbps)</a:t>
            </a:r>
          </a:p>
          <a:p>
            <a:pPr marL="0" lvl="0" indent="0">
              <a:spcBef>
                <a:spcPts val="1200"/>
              </a:spcBef>
              <a:buNone/>
            </a:pPr>
            <a:r>
              <a:rPr lang="vi-VN" altLang="ja" sz="1217" dirty="0">
                <a:solidFill>
                  <a:srgbClr val="333333"/>
                </a:solidFill>
              </a:rPr>
              <a:t> </a:t>
            </a:r>
            <a:r>
              <a:rPr lang="en-US" altLang="ja" sz="1217" dirty="0">
                <a:solidFill>
                  <a:srgbClr val="333333"/>
                </a:solidFill>
              </a:rPr>
              <a:t>  </a:t>
            </a:r>
            <a:r>
              <a:rPr lang="vi-VN" altLang="ja" sz="1217" dirty="0">
                <a:solidFill>
                  <a:srgbClr val="333333"/>
                </a:solidFill>
              </a:rPr>
              <a:t>Không có spike (gia tăng đột biến) đặc biệt nào khi nhìn tổng thể toàn mạng</a:t>
            </a:r>
          </a:p>
          <a:p>
            <a:pPr marL="0" lvl="0" indent="0">
              <a:spcBef>
                <a:spcPts val="1200"/>
              </a:spcBef>
              <a:buNone/>
            </a:pPr>
            <a:r>
              <a:rPr lang="vi-VN" altLang="ja" sz="1217" dirty="0">
                <a:solidFill>
                  <a:srgbClr val="333333"/>
                </a:solidFill>
              </a:rPr>
              <a:t> </a:t>
            </a:r>
            <a:r>
              <a:rPr lang="en-US" altLang="ja" sz="1217" dirty="0">
                <a:solidFill>
                  <a:srgbClr val="333333"/>
                </a:solidFill>
              </a:rPr>
              <a:t>  </a:t>
            </a:r>
            <a:r>
              <a:rPr lang="vi-VN" altLang="ja" sz="1217" dirty="0">
                <a:solidFill>
                  <a:srgbClr val="333333"/>
                </a:solidFill>
              </a:rPr>
              <a:t>Giá trị tối đa (MAX - tốc độ đỉnh trong thời điểm ngắn): </a:t>
            </a:r>
            <a:r>
              <a:rPr lang="vi-VN" altLang="ja" sz="1217" b="1" dirty="0">
                <a:solidFill>
                  <a:srgbClr val="FF0000"/>
                </a:solidFill>
              </a:rPr>
              <a:t>22%</a:t>
            </a:r>
          </a:p>
          <a:p>
            <a:pPr marL="0" lvl="0" indent="0">
              <a:spcBef>
                <a:spcPts val="1200"/>
              </a:spcBef>
              <a:buNone/>
            </a:pPr>
            <a:r>
              <a:rPr lang="vi-VN" altLang="ja" sz="1217" dirty="0">
                <a:solidFill>
                  <a:srgbClr val="333333"/>
                </a:solidFill>
              </a:rPr>
              <a:t>-Inageya ⇔ Mạng USMH (50Mbps)</a:t>
            </a:r>
          </a:p>
          <a:p>
            <a:pPr marL="0" lvl="0" indent="0">
              <a:spcBef>
                <a:spcPts val="1200"/>
              </a:spcBef>
              <a:buNone/>
            </a:pPr>
            <a:r>
              <a:rPr lang="vi-VN" altLang="ja" sz="1217" dirty="0">
                <a:solidFill>
                  <a:srgbClr val="333333"/>
                </a:solidFill>
              </a:rPr>
              <a:t> </a:t>
            </a:r>
            <a:r>
              <a:rPr lang="en-US" altLang="ja" sz="1217" dirty="0">
                <a:solidFill>
                  <a:srgbClr val="333333"/>
                </a:solidFill>
              </a:rPr>
              <a:t> </a:t>
            </a:r>
            <a:r>
              <a:rPr lang="vi-VN" altLang="ja" sz="1217" dirty="0">
                <a:solidFill>
                  <a:srgbClr val="333333"/>
                </a:solidFill>
              </a:rPr>
              <a:t>Không có spike đáng kể nào khi nhìn tổng thể toàn mạng</a:t>
            </a:r>
          </a:p>
          <a:p>
            <a:pPr marL="0" lvl="0" indent="0">
              <a:spcBef>
                <a:spcPts val="1200"/>
              </a:spcBef>
              <a:buNone/>
            </a:pPr>
            <a:r>
              <a:rPr lang="vi-VN" altLang="ja" sz="1217" dirty="0">
                <a:solidFill>
                  <a:srgbClr val="333333"/>
                </a:solidFill>
              </a:rPr>
              <a:t> </a:t>
            </a:r>
            <a:r>
              <a:rPr lang="en-US" altLang="ja" sz="1217" dirty="0">
                <a:solidFill>
                  <a:srgbClr val="333333"/>
                </a:solidFill>
              </a:rPr>
              <a:t> </a:t>
            </a:r>
            <a:r>
              <a:rPr lang="vi-VN" altLang="ja" sz="1217" dirty="0">
                <a:solidFill>
                  <a:srgbClr val="333333"/>
                </a:solidFill>
              </a:rPr>
              <a:t>Giá trị tối đa (MAX - tốc độ đỉnh trong thời điểm ngắn): </a:t>
            </a:r>
            <a:r>
              <a:rPr lang="vi-VN" altLang="ja" sz="1217" b="1" dirty="0">
                <a:solidFill>
                  <a:srgbClr val="FF0000"/>
                </a:solidFill>
              </a:rPr>
              <a:t>2.4%</a:t>
            </a:r>
          </a:p>
          <a:p>
            <a:pPr marL="0" lvl="0" indent="0">
              <a:spcBef>
                <a:spcPts val="1200"/>
              </a:spcBef>
              <a:buNone/>
            </a:pPr>
            <a:r>
              <a:rPr lang="vi-VN" altLang="ja" sz="1217" dirty="0">
                <a:solidFill>
                  <a:srgbClr val="333333"/>
                </a:solidFill>
              </a:rPr>
              <a:t>-Khoảng trước </a:t>
            </a:r>
            <a:r>
              <a:rPr lang="vi-VN" altLang="ja" sz="1217" b="1" dirty="0">
                <a:solidFill>
                  <a:srgbClr val="FF0000"/>
                </a:solidFill>
              </a:rPr>
              <a:t>5 giờ sáng </a:t>
            </a:r>
            <a:r>
              <a:rPr lang="vi-VN" altLang="ja" sz="1217" dirty="0">
                <a:solidFill>
                  <a:srgbClr val="333333"/>
                </a:solidFill>
              </a:rPr>
              <a:t>hằng ngày, dạng sóng lưu lượng tăng lên</a:t>
            </a:r>
          </a:p>
          <a:p>
            <a:pPr marL="0" lvl="0" indent="0">
              <a:spcBef>
                <a:spcPts val="1200"/>
              </a:spcBef>
              <a:buNone/>
            </a:pPr>
            <a:r>
              <a:rPr lang="vi-VN" altLang="ja" sz="1217" dirty="0">
                <a:solidFill>
                  <a:srgbClr val="333333"/>
                </a:solidFill>
              </a:rPr>
              <a:t> </a:t>
            </a:r>
            <a:r>
              <a:rPr lang="en-US" altLang="ja" sz="1217" dirty="0">
                <a:solidFill>
                  <a:srgbClr val="333333"/>
                </a:solidFill>
              </a:rPr>
              <a:t> </a:t>
            </a:r>
            <a:r>
              <a:rPr lang="vi-VN" altLang="ja" sz="1217" dirty="0">
                <a:solidFill>
                  <a:srgbClr val="333333"/>
                </a:solidFill>
              </a:rPr>
              <a:t>Đây là thời gian mà từ POS Server của Inageya, dữ liệu như master sản phẩm... được gửi đến Scan &amp; Go cho 16 cửa hàng.</a:t>
            </a:r>
            <a:endParaRPr sz="1817" dirty="0">
              <a:solidFill>
                <a:srgbClr val="333333"/>
              </a:solidFill>
            </a:endParaRPr>
          </a:p>
        </p:txBody>
      </p:sp>
    </p:spTree>
    <p:extLst>
      <p:ext uri="{BB962C8B-B14F-4D97-AF65-F5344CB8AC3E}">
        <p14:creationId xmlns:p14="http://schemas.microsoft.com/office/powerpoint/2010/main" val="10616920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9"/>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lvl="0"/>
            <a:r>
              <a:rPr lang="ja" dirty="0">
                <a:highlight>
                  <a:srgbClr val="D9D9D9"/>
                </a:highlight>
              </a:rPr>
              <a:t>5-4.帯域検証</a:t>
            </a:r>
            <a:r>
              <a:rPr lang="en-US" altLang="ja" dirty="0">
                <a:highlight>
                  <a:srgbClr val="D9D9D9"/>
                </a:highlight>
              </a:rPr>
              <a:t>/</a:t>
            </a:r>
            <a:r>
              <a:rPr lang="vi-VN" altLang="ja" dirty="0"/>
              <a:t> Xác minh năng lực đường truyền mạng</a:t>
            </a:r>
            <a:endParaRPr dirty="0">
              <a:highlight>
                <a:srgbClr val="D9D9D9"/>
              </a:highlight>
            </a:endParaRPr>
          </a:p>
          <a:p>
            <a:pPr marL="0" lvl="0" indent="0" algn="l" rtl="0">
              <a:spcBef>
                <a:spcPts val="0"/>
              </a:spcBef>
              <a:spcAft>
                <a:spcPts val="0"/>
              </a:spcAft>
              <a:buNone/>
            </a:pPr>
            <a:endParaRPr dirty="0">
              <a:highlight>
                <a:srgbClr val="D9D9D9"/>
              </a:highlight>
            </a:endParaRPr>
          </a:p>
        </p:txBody>
      </p:sp>
      <p:pic>
        <p:nvPicPr>
          <p:cNvPr id="182" name="Google Shape;182;p29"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83" name="Google Shape;183;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27</a:t>
            </a:fld>
            <a:endParaRPr/>
          </a:p>
        </p:txBody>
      </p:sp>
      <p:sp>
        <p:nvSpPr>
          <p:cNvPr id="184" name="Google Shape;184;p29"/>
          <p:cNvSpPr txBox="1">
            <a:spLocks noGrp="1"/>
          </p:cNvSpPr>
          <p:nvPr>
            <p:ph type="body" idx="1"/>
          </p:nvPr>
        </p:nvSpPr>
        <p:spPr>
          <a:xfrm>
            <a:off x="311700" y="1092450"/>
            <a:ext cx="81609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ja" dirty="0"/>
              <a:t>帯域拡張のリードタイムは最大1ヶ月を見込んでおく</a:t>
            </a:r>
            <a:endParaRPr dirty="0"/>
          </a:p>
          <a:p>
            <a:pPr marL="457200" lvl="0" indent="-342900" algn="l" rtl="0">
              <a:spcBef>
                <a:spcPts val="0"/>
              </a:spcBef>
              <a:spcAft>
                <a:spcPts val="0"/>
              </a:spcAft>
              <a:buSzPts val="1800"/>
              <a:buChar char="●"/>
            </a:pPr>
            <a:r>
              <a:rPr lang="ja" dirty="0">
                <a:solidFill>
                  <a:srgbClr val="FF0000"/>
                </a:solidFill>
              </a:rPr>
              <a:t>スパイク環境</a:t>
            </a:r>
            <a:r>
              <a:rPr lang="ja" dirty="0"/>
              <a:t>を使って、早い時期に帯域チェックを実施する</a:t>
            </a:r>
            <a:endParaRPr lang="en-US" altLang="ja" dirty="0"/>
          </a:p>
          <a:p>
            <a:pPr marL="457200" lvl="0" indent="-342900" algn="l" rtl="0">
              <a:spcBef>
                <a:spcPts val="0"/>
              </a:spcBef>
              <a:spcAft>
                <a:spcPts val="0"/>
              </a:spcAft>
              <a:buSzPts val="1800"/>
              <a:buChar char="●"/>
            </a:pPr>
            <a:endParaRPr lang="en-US" dirty="0"/>
          </a:p>
          <a:p>
            <a:pPr marL="457200" lvl="0" indent="-342900" algn="l" rtl="0">
              <a:spcBef>
                <a:spcPts val="0"/>
              </a:spcBef>
              <a:spcAft>
                <a:spcPts val="0"/>
              </a:spcAft>
              <a:buSzPts val="1800"/>
              <a:buChar char="●"/>
            </a:pPr>
            <a:endParaRPr lang="en-US" dirty="0"/>
          </a:p>
          <a:p>
            <a:pPr lvl="0"/>
            <a:r>
              <a:rPr lang="vi-VN" dirty="0"/>
              <a:t>Thời gian chuẩn bị để mở rộng băng thông dự kiến tối đa là 1 tháng.</a:t>
            </a:r>
            <a:br>
              <a:rPr lang="vi-VN" dirty="0"/>
            </a:br>
            <a:r>
              <a:rPr lang="vi-VN" dirty="0"/>
              <a:t>Sử dụng </a:t>
            </a:r>
            <a:r>
              <a:rPr lang="vi-VN" dirty="0">
                <a:solidFill>
                  <a:srgbClr val="FF0000"/>
                </a:solidFill>
              </a:rPr>
              <a:t>môi trường spike </a:t>
            </a:r>
            <a:r>
              <a:rPr lang="vi-VN" dirty="0"/>
              <a:t>để thực hiện kiểm tra băng thông từ sớm.</a:t>
            </a:r>
            <a:endParaRPr dirty="0"/>
          </a:p>
          <a:p>
            <a:pPr marL="0" lvl="0" indent="0" algn="l" rtl="0">
              <a:spcBef>
                <a:spcPts val="1200"/>
              </a:spcBef>
              <a:spcAft>
                <a:spcPts val="1200"/>
              </a:spcAft>
              <a:buNone/>
            </a:pPr>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ja" sz="3000" dirty="0">
                <a:highlight>
                  <a:srgbClr val="FFFFFF"/>
                </a:highlight>
              </a:rPr>
              <a:t>6.ネットワーク構成</a:t>
            </a:r>
            <a:endParaRPr sz="3000" dirty="0">
              <a:highlight>
                <a:srgbClr val="FFFFFF"/>
              </a:highlight>
            </a:endParaRPr>
          </a:p>
          <a:p>
            <a:pPr lvl="0"/>
            <a:r>
              <a:rPr lang="ja" sz="3000" dirty="0">
                <a:highlight>
                  <a:srgbClr val="FFFFFF"/>
                </a:highlight>
              </a:rPr>
              <a:t>（ルビナオフィス）</a:t>
            </a:r>
            <a:br>
              <a:rPr lang="en-US" altLang="ja" sz="3000" dirty="0">
                <a:highlight>
                  <a:srgbClr val="FFFFFF"/>
                </a:highlight>
              </a:rPr>
            </a:br>
            <a:br>
              <a:rPr lang="en-US" altLang="ja" sz="3000" dirty="0">
                <a:highlight>
                  <a:srgbClr val="FFFFFF"/>
                </a:highlight>
              </a:rPr>
            </a:br>
            <a:r>
              <a:rPr lang="en-US" sz="3200" b="1" dirty="0">
                <a:highlight>
                  <a:srgbClr val="FFFFFF"/>
                </a:highlight>
              </a:rPr>
              <a:t>6. </a:t>
            </a:r>
            <a:r>
              <a:rPr lang="en-US" sz="3200" b="1" dirty="0" err="1">
                <a:highlight>
                  <a:srgbClr val="FFFFFF"/>
                </a:highlight>
              </a:rPr>
              <a:t>Cấu</a:t>
            </a:r>
            <a:r>
              <a:rPr lang="en-US" sz="3200" b="1" dirty="0">
                <a:highlight>
                  <a:srgbClr val="FFFFFF"/>
                </a:highlight>
              </a:rPr>
              <a:t> </a:t>
            </a:r>
            <a:r>
              <a:rPr lang="en-US" sz="3200" b="1" dirty="0" err="1">
                <a:highlight>
                  <a:srgbClr val="FFFFFF"/>
                </a:highlight>
              </a:rPr>
              <a:t>trúc</a:t>
            </a:r>
            <a:r>
              <a:rPr lang="en-US" sz="3200" b="1" dirty="0">
                <a:highlight>
                  <a:srgbClr val="FFFFFF"/>
                </a:highlight>
              </a:rPr>
              <a:t> </a:t>
            </a:r>
            <a:r>
              <a:rPr lang="en-US" sz="3200" b="1" dirty="0" err="1">
                <a:highlight>
                  <a:srgbClr val="FFFFFF"/>
                </a:highlight>
              </a:rPr>
              <a:t>mạng</a:t>
            </a:r>
            <a:br>
              <a:rPr lang="en-US" sz="3200" dirty="0">
                <a:highlight>
                  <a:srgbClr val="FFFFFF"/>
                </a:highlight>
              </a:rPr>
            </a:br>
            <a:r>
              <a:rPr lang="en-US" sz="3200" dirty="0">
                <a:highlight>
                  <a:srgbClr val="FFFFFF"/>
                </a:highlight>
              </a:rPr>
              <a:t>(</a:t>
            </a:r>
            <a:r>
              <a:rPr lang="en-US" sz="3200" dirty="0" err="1">
                <a:highlight>
                  <a:srgbClr val="FFFFFF"/>
                </a:highlight>
              </a:rPr>
              <a:t>Trụ</a:t>
            </a:r>
            <a:r>
              <a:rPr lang="en-US" sz="3200" dirty="0">
                <a:highlight>
                  <a:srgbClr val="FFFFFF"/>
                </a:highlight>
              </a:rPr>
              <a:t> </a:t>
            </a:r>
            <a:r>
              <a:rPr lang="en-US" sz="3200" dirty="0" err="1">
                <a:highlight>
                  <a:srgbClr val="FFFFFF"/>
                </a:highlight>
              </a:rPr>
              <a:t>sở</a:t>
            </a:r>
            <a:r>
              <a:rPr lang="en-US" sz="3200" dirty="0">
                <a:highlight>
                  <a:srgbClr val="FFFFFF"/>
                </a:highlight>
              </a:rPr>
              <a:t> </a:t>
            </a:r>
            <a:r>
              <a:rPr lang="en-US" sz="3200" dirty="0" err="1">
                <a:highlight>
                  <a:srgbClr val="FFFFFF"/>
                </a:highlight>
              </a:rPr>
              <a:t>văn</a:t>
            </a:r>
            <a:r>
              <a:rPr lang="en-US" sz="3200" dirty="0">
                <a:highlight>
                  <a:srgbClr val="FFFFFF"/>
                </a:highlight>
              </a:rPr>
              <a:t> </a:t>
            </a:r>
            <a:r>
              <a:rPr lang="en-US" sz="3200" dirty="0" err="1">
                <a:highlight>
                  <a:srgbClr val="FFFFFF"/>
                </a:highlight>
              </a:rPr>
              <a:t>phòng</a:t>
            </a:r>
            <a:r>
              <a:rPr lang="en-US" sz="3200" dirty="0">
                <a:highlight>
                  <a:srgbClr val="FFFFFF"/>
                </a:highlight>
              </a:rPr>
              <a:t> Luvina)</a:t>
            </a:r>
            <a:br>
              <a:rPr lang="en-US" altLang="ja" sz="3000" dirty="0">
                <a:highlight>
                  <a:srgbClr val="FFFFFF"/>
                </a:highlight>
              </a:rPr>
            </a:br>
            <a:br>
              <a:rPr lang="en-US" altLang="ja" sz="3000" dirty="0">
                <a:highlight>
                  <a:srgbClr val="FFFFFF"/>
                </a:highlight>
              </a:rPr>
            </a:br>
            <a:endParaRPr sz="3000" dirty="0">
              <a:highlight>
                <a:srgbClr val="FFFFFF"/>
              </a:highlight>
            </a:endParaRPr>
          </a:p>
        </p:txBody>
      </p:sp>
      <p:pic>
        <p:nvPicPr>
          <p:cNvPr id="190" name="Google Shape;190;p30"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91" name="Google Shape;191;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dirty="0">
                <a:highlight>
                  <a:srgbClr val="D9D9D9"/>
                </a:highlight>
              </a:rPr>
              <a:t>6-1.ルビナオフィスからの接続</a:t>
            </a:r>
            <a:endParaRPr dirty="0">
              <a:highlight>
                <a:srgbClr val="D9D9D9"/>
              </a:highlight>
            </a:endParaRPr>
          </a:p>
        </p:txBody>
      </p:sp>
      <p:pic>
        <p:nvPicPr>
          <p:cNvPr id="197" name="Google Shape;197;p31"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98" name="Google Shape;198;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29</a:t>
            </a:fld>
            <a:endParaRPr/>
          </a:p>
        </p:txBody>
      </p:sp>
      <p:graphicFrame>
        <p:nvGraphicFramePr>
          <p:cNvPr id="199" name="Google Shape;199;p31"/>
          <p:cNvGraphicFramePr/>
          <p:nvPr/>
        </p:nvGraphicFramePr>
        <p:xfrm>
          <a:off x="858825" y="1291325"/>
          <a:ext cx="7581150" cy="2531970"/>
        </p:xfrm>
        <a:graphic>
          <a:graphicData uri="http://schemas.openxmlformats.org/drawingml/2006/table">
            <a:tbl>
              <a:tblPr>
                <a:noFill/>
                <a:tableStyleId>{87A281C8-0844-4F7E-8F5C-31C3930F0FE5}</a:tableStyleId>
              </a:tblPr>
              <a:tblGrid>
                <a:gridCol w="1891325">
                  <a:extLst>
                    <a:ext uri="{9D8B030D-6E8A-4147-A177-3AD203B41FA5}">
                      <a16:colId xmlns:a16="http://schemas.microsoft.com/office/drawing/2014/main" val="20000"/>
                    </a:ext>
                  </a:extLst>
                </a:gridCol>
                <a:gridCol w="5689825">
                  <a:extLst>
                    <a:ext uri="{9D8B030D-6E8A-4147-A177-3AD203B41FA5}">
                      <a16:colId xmlns:a16="http://schemas.microsoft.com/office/drawing/2014/main" val="20001"/>
                    </a:ext>
                  </a:extLst>
                </a:gridCol>
              </a:tblGrid>
              <a:tr h="489900">
                <a:tc>
                  <a:txBody>
                    <a:bodyPr/>
                    <a:lstStyle/>
                    <a:p>
                      <a:pPr marL="0" lvl="0" indent="0" algn="l" rtl="0">
                        <a:spcBef>
                          <a:spcPts val="0"/>
                        </a:spcBef>
                        <a:spcAft>
                          <a:spcPts val="0"/>
                        </a:spcAft>
                        <a:buNone/>
                      </a:pPr>
                      <a:r>
                        <a:rPr lang="ja" b="1">
                          <a:solidFill>
                            <a:schemeClr val="dk2"/>
                          </a:solidFill>
                        </a:rPr>
                        <a:t>接続元</a:t>
                      </a:r>
                      <a:endParaRPr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b="1">
                          <a:solidFill>
                            <a:schemeClr val="dk2"/>
                          </a:solidFill>
                        </a:rPr>
                        <a:t>接続先</a:t>
                      </a:r>
                      <a:endParaRPr b="1">
                        <a:solidFill>
                          <a:schemeClr val="dk2"/>
                        </a:solidFill>
                      </a:endParaRPr>
                    </a:p>
                  </a:txBody>
                  <a:tcPr marL="91425" marR="91425" marT="91425" marB="91425">
                    <a:solidFill>
                      <a:schemeClr val="lt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ja"/>
                        <a:t>検証用POS端末</a:t>
                      </a:r>
                      <a:endParaRPr/>
                    </a:p>
                  </a:txBody>
                  <a:tcPr marL="91425" marR="91425" marT="91425" marB="91425"/>
                </a:tc>
                <a:tc>
                  <a:txBody>
                    <a:bodyPr/>
                    <a:lstStyle/>
                    <a:p>
                      <a:pPr marL="0" lvl="0" indent="0" algn="l" rtl="0">
                        <a:spcBef>
                          <a:spcPts val="0"/>
                        </a:spcBef>
                        <a:spcAft>
                          <a:spcPts val="0"/>
                        </a:spcAft>
                        <a:buNone/>
                      </a:pPr>
                      <a:r>
                        <a:rPr lang="ja"/>
                        <a:t>いなげや閉域網にあるセイコー決済クレジットなどの外部サービス</a:t>
                      </a:r>
                      <a:endParaRPr/>
                    </a:p>
                    <a:p>
                      <a:pPr marL="0" lvl="0" indent="0" algn="l" rtl="0">
                        <a:spcBef>
                          <a:spcPts val="0"/>
                        </a:spcBef>
                        <a:spcAft>
                          <a:spcPts val="0"/>
                        </a:spcAft>
                        <a:buNone/>
                      </a:pPr>
                      <a:r>
                        <a:rPr lang="ja"/>
                        <a:t>※Site-to-Site VPN接続がシステム要件である</a:t>
                      </a:r>
                      <a:endParaRPr/>
                    </a:p>
                    <a:p>
                      <a:pPr marL="0" lvl="0" indent="0" algn="l" rtl="0">
                        <a:spcBef>
                          <a:spcPts val="0"/>
                        </a:spcBef>
                        <a:spcAft>
                          <a:spcPts val="0"/>
                        </a:spcAft>
                        <a:buNone/>
                      </a:pPr>
                      <a:r>
                        <a:rPr lang="ja"/>
                        <a:t>※経路については、既存のAndroidPOS経由をそのまま活用する</a:t>
                      </a:r>
                      <a:endParaRPr/>
                    </a:p>
                  </a:txBody>
                  <a:tcPr marL="91425" marR="91425" marT="91425" marB="91425"/>
                </a:tc>
                <a:extLst>
                  <a:ext uri="{0D108BD9-81ED-4DB2-BD59-A6C34878D82A}">
                    <a16:rowId xmlns:a16="http://schemas.microsoft.com/office/drawing/2014/main" val="10001"/>
                  </a:ext>
                </a:extLst>
              </a:tr>
              <a:tr h="381000">
                <a:tc rowSpan="2">
                  <a:txBody>
                    <a:bodyPr/>
                    <a:lstStyle/>
                    <a:p>
                      <a:pPr marL="0" lvl="0" indent="0" algn="l" rtl="0">
                        <a:spcBef>
                          <a:spcPts val="0"/>
                        </a:spcBef>
                        <a:spcAft>
                          <a:spcPts val="0"/>
                        </a:spcAft>
                        <a:buNone/>
                      </a:pPr>
                      <a:r>
                        <a:rPr lang="ja"/>
                        <a:t>開発者PC端末</a:t>
                      </a:r>
                      <a:endParaRPr/>
                    </a:p>
                  </a:txBody>
                  <a:tcPr marL="91425" marR="91425" marT="91425" marB="91425"/>
                </a:tc>
                <a:tc>
                  <a:txBody>
                    <a:bodyPr/>
                    <a:lstStyle/>
                    <a:p>
                      <a:pPr marL="0" lvl="0" indent="0" algn="l" rtl="0">
                        <a:spcBef>
                          <a:spcPts val="0"/>
                        </a:spcBef>
                        <a:spcAft>
                          <a:spcPts val="0"/>
                        </a:spcAft>
                        <a:buNone/>
                      </a:pPr>
                      <a:r>
                        <a:rPr lang="ja"/>
                        <a:t>オフラインPOSサーバ内にある管理画面</a:t>
                      </a:r>
                      <a:endParaRPr/>
                    </a:p>
                  </a:txBody>
                  <a:tcPr marL="91425" marR="91425" marT="91425" marB="91425"/>
                </a:tc>
                <a:extLst>
                  <a:ext uri="{0D108BD9-81ED-4DB2-BD59-A6C34878D82A}">
                    <a16:rowId xmlns:a16="http://schemas.microsoft.com/office/drawing/2014/main" val="10002"/>
                  </a:ext>
                </a:extLst>
              </a:tr>
              <a:tr h="381000">
                <a:tc vMerge="1">
                  <a:txBody>
                    <a:bodyPr/>
                    <a:lstStyle/>
                    <a:p>
                      <a:endParaRPr lang="en-US"/>
                    </a:p>
                  </a:txBody>
                  <a:tcPr/>
                </a:tc>
                <a:tc>
                  <a:txBody>
                    <a:bodyPr/>
                    <a:lstStyle/>
                    <a:p>
                      <a:pPr marL="0" lvl="0" indent="0" algn="l" rtl="0">
                        <a:spcBef>
                          <a:spcPts val="0"/>
                        </a:spcBef>
                        <a:spcAft>
                          <a:spcPts val="0"/>
                        </a:spcAft>
                        <a:buNone/>
                      </a:pPr>
                      <a:r>
                        <a:rPr lang="ja"/>
                        <a:t>開発・保守作業</a:t>
                      </a:r>
                      <a:endParaRPr/>
                    </a:p>
                    <a:p>
                      <a:pPr marL="0" lvl="0" indent="0" algn="l" rtl="0">
                        <a:spcBef>
                          <a:spcPts val="0"/>
                        </a:spcBef>
                        <a:spcAft>
                          <a:spcPts val="0"/>
                        </a:spcAft>
                        <a:buNone/>
                      </a:pPr>
                      <a:r>
                        <a:rPr lang="ja"/>
                        <a:t>例）SQL文を使ったDBへのアクセス</a:t>
                      </a:r>
                      <a:endParaRPr/>
                    </a:p>
                    <a:p>
                      <a:pPr marL="0" lvl="0" indent="0" algn="l" rtl="0">
                        <a:spcBef>
                          <a:spcPts val="0"/>
                        </a:spcBef>
                        <a:spcAft>
                          <a:spcPts val="0"/>
                        </a:spcAft>
                        <a:buNone/>
                      </a:pPr>
                      <a:r>
                        <a:rPr lang="ja"/>
                        <a:t>例）</a:t>
                      </a:r>
                      <a:r>
                        <a:rPr lang="ja">
                          <a:solidFill>
                            <a:schemeClr val="dk1"/>
                          </a:solidFill>
                        </a:rPr>
                        <a:t>S3バケット内のCSVファイルのダウンロード</a:t>
                      </a:r>
                      <a:endParaRP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95">
          <a:extLst>
            <a:ext uri="{FF2B5EF4-FFF2-40B4-BE49-F238E27FC236}">
              <a16:creationId xmlns:a16="http://schemas.microsoft.com/office/drawing/2014/main" id="{FC84AA13-B0C0-0190-6D5A-3F0EED9642AE}"/>
            </a:ext>
          </a:extLst>
        </p:cNvPr>
        <p:cNvGrpSpPr/>
        <p:nvPr/>
      </p:nvGrpSpPr>
      <p:grpSpPr>
        <a:xfrm>
          <a:off x="0" y="0"/>
          <a:ext cx="0" cy="0"/>
          <a:chOff x="0" y="0"/>
          <a:chExt cx="0" cy="0"/>
        </a:xfrm>
      </p:grpSpPr>
      <p:sp>
        <p:nvSpPr>
          <p:cNvPr id="196" name="Google Shape;196;p31">
            <a:extLst>
              <a:ext uri="{FF2B5EF4-FFF2-40B4-BE49-F238E27FC236}">
                <a16:creationId xmlns:a16="http://schemas.microsoft.com/office/drawing/2014/main" id="{E3AA3C01-270C-FC5C-C1E6-B64918B49D90}"/>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dirty="0">
                <a:highlight>
                  <a:srgbClr val="D9D9D9"/>
                </a:highlight>
              </a:rPr>
              <a:t>6-1.</a:t>
            </a:r>
            <a:r>
              <a:rPr lang="en-US" altLang="ja" dirty="0" err="1">
                <a:highlight>
                  <a:srgbClr val="D9D9D9"/>
                </a:highlight>
              </a:rPr>
              <a:t>Môi</a:t>
            </a:r>
            <a:r>
              <a:rPr lang="en-US" altLang="ja" dirty="0">
                <a:highlight>
                  <a:srgbClr val="D9D9D9"/>
                </a:highlight>
              </a:rPr>
              <a:t> </a:t>
            </a:r>
            <a:r>
              <a:rPr lang="en-US" altLang="ja" dirty="0" err="1">
                <a:highlight>
                  <a:srgbClr val="D9D9D9"/>
                </a:highlight>
              </a:rPr>
              <a:t>trường</a:t>
            </a:r>
            <a:r>
              <a:rPr lang="en-US" altLang="ja" dirty="0">
                <a:highlight>
                  <a:srgbClr val="D9D9D9"/>
                </a:highlight>
              </a:rPr>
              <a:t> Luvina</a:t>
            </a:r>
            <a:endParaRPr dirty="0">
              <a:highlight>
                <a:srgbClr val="D9D9D9"/>
              </a:highlight>
            </a:endParaRPr>
          </a:p>
        </p:txBody>
      </p:sp>
      <p:pic>
        <p:nvPicPr>
          <p:cNvPr id="197" name="Google Shape;197;p31" title="logo-luvina-2022-2.png">
            <a:extLst>
              <a:ext uri="{FF2B5EF4-FFF2-40B4-BE49-F238E27FC236}">
                <a16:creationId xmlns:a16="http://schemas.microsoft.com/office/drawing/2014/main" id="{82E2D4D3-C9D4-62AB-5610-EFA407F9B01D}"/>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98" name="Google Shape;198;p31">
            <a:extLst>
              <a:ext uri="{FF2B5EF4-FFF2-40B4-BE49-F238E27FC236}">
                <a16:creationId xmlns:a16="http://schemas.microsoft.com/office/drawing/2014/main" id="{7F5CF27D-862F-9B6F-0F00-1716E675105E}"/>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30</a:t>
            </a:fld>
            <a:endParaRPr/>
          </a:p>
        </p:txBody>
      </p:sp>
      <p:graphicFrame>
        <p:nvGraphicFramePr>
          <p:cNvPr id="199" name="Google Shape;199;p31">
            <a:extLst>
              <a:ext uri="{FF2B5EF4-FFF2-40B4-BE49-F238E27FC236}">
                <a16:creationId xmlns:a16="http://schemas.microsoft.com/office/drawing/2014/main" id="{4BA05105-805E-3771-8456-18CB60D8B64E}"/>
              </a:ext>
            </a:extLst>
          </p:cNvPr>
          <p:cNvGraphicFramePr/>
          <p:nvPr>
            <p:extLst>
              <p:ext uri="{D42A27DB-BD31-4B8C-83A1-F6EECF244321}">
                <p14:modId xmlns:p14="http://schemas.microsoft.com/office/powerpoint/2010/main" val="3142054032"/>
              </p:ext>
            </p:extLst>
          </p:nvPr>
        </p:nvGraphicFramePr>
        <p:xfrm>
          <a:off x="858825" y="1291325"/>
          <a:ext cx="7581150" cy="2958690"/>
        </p:xfrm>
        <a:graphic>
          <a:graphicData uri="http://schemas.openxmlformats.org/drawingml/2006/table">
            <a:tbl>
              <a:tblPr>
                <a:noFill/>
                <a:tableStyleId>{87A281C8-0844-4F7E-8F5C-31C3930F0FE5}</a:tableStyleId>
              </a:tblPr>
              <a:tblGrid>
                <a:gridCol w="1891325">
                  <a:extLst>
                    <a:ext uri="{9D8B030D-6E8A-4147-A177-3AD203B41FA5}">
                      <a16:colId xmlns:a16="http://schemas.microsoft.com/office/drawing/2014/main" val="20000"/>
                    </a:ext>
                  </a:extLst>
                </a:gridCol>
                <a:gridCol w="5689825">
                  <a:extLst>
                    <a:ext uri="{9D8B030D-6E8A-4147-A177-3AD203B41FA5}">
                      <a16:colId xmlns:a16="http://schemas.microsoft.com/office/drawing/2014/main" val="20001"/>
                    </a:ext>
                  </a:extLst>
                </a:gridCol>
              </a:tblGrid>
              <a:tr h="489900">
                <a:tc>
                  <a:txBody>
                    <a:bodyPr/>
                    <a:lstStyle/>
                    <a:p>
                      <a:pPr marL="0" lvl="0" indent="0" algn="l" rtl="0">
                        <a:spcBef>
                          <a:spcPts val="0"/>
                        </a:spcBef>
                        <a:spcAft>
                          <a:spcPts val="0"/>
                        </a:spcAft>
                        <a:buNone/>
                      </a:pPr>
                      <a:r>
                        <a:rPr lang="en-US" altLang="ja" b="1" dirty="0" err="1">
                          <a:solidFill>
                            <a:schemeClr val="dk2"/>
                          </a:solidFill>
                        </a:rPr>
                        <a:t>Nguồn</a:t>
                      </a:r>
                      <a:r>
                        <a:rPr lang="en-US" altLang="ja" b="1" dirty="0">
                          <a:solidFill>
                            <a:schemeClr val="dk2"/>
                          </a:solidFill>
                        </a:rPr>
                        <a:t> </a:t>
                      </a:r>
                      <a:r>
                        <a:rPr lang="en-US" altLang="ja" b="1" dirty="0" err="1">
                          <a:solidFill>
                            <a:schemeClr val="dk2"/>
                          </a:solidFill>
                        </a:rPr>
                        <a:t>kết</a:t>
                      </a:r>
                      <a:r>
                        <a:rPr lang="en-US" altLang="ja" b="1" dirty="0">
                          <a:solidFill>
                            <a:schemeClr val="dk2"/>
                          </a:solidFill>
                        </a:rPr>
                        <a:t> </a:t>
                      </a:r>
                      <a:r>
                        <a:rPr lang="en-US" altLang="ja" b="1" dirty="0" err="1">
                          <a:solidFill>
                            <a:schemeClr val="dk2"/>
                          </a:solidFill>
                        </a:rPr>
                        <a:t>nối</a:t>
                      </a:r>
                      <a:endParaRPr b="1" dirty="0">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en-US" altLang="ja" b="1" dirty="0" err="1">
                          <a:solidFill>
                            <a:schemeClr val="dk2"/>
                          </a:solidFill>
                        </a:rPr>
                        <a:t>Đích</a:t>
                      </a:r>
                      <a:r>
                        <a:rPr lang="en-US" altLang="ja" b="1" dirty="0">
                          <a:solidFill>
                            <a:schemeClr val="dk2"/>
                          </a:solidFill>
                        </a:rPr>
                        <a:t> </a:t>
                      </a:r>
                      <a:r>
                        <a:rPr lang="en-US" altLang="ja" b="1" dirty="0" err="1">
                          <a:solidFill>
                            <a:schemeClr val="dk2"/>
                          </a:solidFill>
                        </a:rPr>
                        <a:t>kết</a:t>
                      </a:r>
                      <a:r>
                        <a:rPr lang="en-US" altLang="ja" b="1" dirty="0">
                          <a:solidFill>
                            <a:schemeClr val="dk2"/>
                          </a:solidFill>
                        </a:rPr>
                        <a:t> </a:t>
                      </a:r>
                      <a:r>
                        <a:rPr lang="en-US" altLang="ja" b="1" dirty="0" err="1">
                          <a:solidFill>
                            <a:schemeClr val="dk2"/>
                          </a:solidFill>
                        </a:rPr>
                        <a:t>nối</a:t>
                      </a:r>
                      <a:endParaRPr b="1" dirty="0">
                        <a:solidFill>
                          <a:schemeClr val="dk2"/>
                        </a:solidFill>
                      </a:endParaRPr>
                    </a:p>
                  </a:txBody>
                  <a:tcPr marL="91425" marR="91425" marT="91425" marB="91425">
                    <a:solidFill>
                      <a:schemeClr val="lt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US" altLang="ja" dirty="0" err="1"/>
                        <a:t>Thiết</a:t>
                      </a:r>
                      <a:r>
                        <a:rPr lang="en-US" altLang="ja" dirty="0"/>
                        <a:t> </a:t>
                      </a:r>
                      <a:r>
                        <a:rPr lang="en-US" altLang="ja" dirty="0" err="1"/>
                        <a:t>bị</a:t>
                      </a:r>
                      <a:r>
                        <a:rPr lang="en-US" altLang="ja" dirty="0"/>
                        <a:t> POS </a:t>
                      </a:r>
                      <a:r>
                        <a:rPr lang="en-US" altLang="ja" dirty="0" err="1"/>
                        <a:t>kiểm</a:t>
                      </a:r>
                      <a:r>
                        <a:rPr lang="en-US" altLang="ja" dirty="0"/>
                        <a:t> </a:t>
                      </a:r>
                      <a:r>
                        <a:rPr lang="en-US" altLang="ja" dirty="0" err="1"/>
                        <a:t>thử</a:t>
                      </a:r>
                      <a:endParaRPr dirty="0"/>
                    </a:p>
                  </a:txBody>
                  <a:tcPr marL="91425" marR="91425" marT="91425" marB="91425"/>
                </a:tc>
                <a:tc>
                  <a:txBody>
                    <a:bodyPr/>
                    <a:lstStyle/>
                    <a:p>
                      <a:pPr marL="0" lvl="0" indent="0" algn="l" rtl="0">
                        <a:spcBef>
                          <a:spcPts val="0"/>
                        </a:spcBef>
                        <a:spcAft>
                          <a:spcPts val="0"/>
                        </a:spcAft>
                        <a:buNone/>
                      </a:pPr>
                      <a:r>
                        <a:rPr lang="vi-VN" altLang="ja" dirty="0"/>
                        <a:t>Các dịch vụ bên ngoài như thanh toán thẻ tín dụng Seiko nằm trong mạng nội bộ của Inageya</a:t>
                      </a:r>
                    </a:p>
                    <a:p>
                      <a:pPr marL="0" lvl="0" indent="0" algn="l" rtl="0">
                        <a:spcBef>
                          <a:spcPts val="0"/>
                        </a:spcBef>
                        <a:spcAft>
                          <a:spcPts val="0"/>
                        </a:spcAft>
                        <a:buNone/>
                      </a:pPr>
                      <a:r>
                        <a:rPr lang="vi-VN" altLang="ja" dirty="0"/>
                        <a:t>※ Yêu cầu hệ thống là phải kết nối bằng Site-to-Site VPN</a:t>
                      </a:r>
                    </a:p>
                    <a:p>
                      <a:pPr marL="0" lvl="0" indent="0" algn="l" rtl="0">
                        <a:spcBef>
                          <a:spcPts val="0"/>
                        </a:spcBef>
                        <a:spcAft>
                          <a:spcPts val="0"/>
                        </a:spcAft>
                        <a:buNone/>
                      </a:pPr>
                      <a:r>
                        <a:rPr lang="vi-VN" altLang="ja" dirty="0"/>
                        <a:t>※ Tuyến đường mạng sẽ tiếp tục sử dụng thông qua Android POS hiện có</a:t>
                      </a:r>
                    </a:p>
                  </a:txBody>
                  <a:tcPr marL="91425" marR="91425" marT="91425" marB="91425"/>
                </a:tc>
                <a:extLst>
                  <a:ext uri="{0D108BD9-81ED-4DB2-BD59-A6C34878D82A}">
                    <a16:rowId xmlns:a16="http://schemas.microsoft.com/office/drawing/2014/main" val="10001"/>
                  </a:ext>
                </a:extLst>
              </a:tr>
              <a:tr h="381000">
                <a:tc rowSpan="2">
                  <a:txBody>
                    <a:bodyPr/>
                    <a:lstStyle/>
                    <a:p>
                      <a:pPr marL="0" lvl="0" indent="0" algn="l" rtl="0">
                        <a:spcBef>
                          <a:spcPts val="0"/>
                        </a:spcBef>
                        <a:spcAft>
                          <a:spcPts val="0"/>
                        </a:spcAft>
                        <a:buNone/>
                      </a:pPr>
                      <a:r>
                        <a:rPr lang="en-US" altLang="ja" dirty="0" err="1"/>
                        <a:t>Máy</a:t>
                      </a:r>
                      <a:r>
                        <a:rPr lang="en-US" altLang="ja" dirty="0"/>
                        <a:t> </a:t>
                      </a:r>
                      <a:r>
                        <a:rPr lang="en-US" altLang="ja" dirty="0" err="1"/>
                        <a:t>tính</a:t>
                      </a:r>
                      <a:r>
                        <a:rPr lang="en-US" altLang="ja" dirty="0"/>
                        <a:t> </a:t>
                      </a:r>
                      <a:r>
                        <a:rPr lang="en-US" altLang="ja" dirty="0" err="1"/>
                        <a:t>của</a:t>
                      </a:r>
                      <a:r>
                        <a:rPr lang="en-US" altLang="ja" dirty="0"/>
                        <a:t> dev</a:t>
                      </a:r>
                      <a:endParaRPr dirty="0"/>
                    </a:p>
                  </a:txBody>
                  <a:tcPr marL="91425" marR="91425" marT="91425" marB="91425"/>
                </a:tc>
                <a:tc>
                  <a:txBody>
                    <a:bodyPr/>
                    <a:lstStyle/>
                    <a:p>
                      <a:pPr marL="0" lvl="0" indent="0" algn="l" rtl="0">
                        <a:spcBef>
                          <a:spcPts val="0"/>
                        </a:spcBef>
                        <a:spcAft>
                          <a:spcPts val="0"/>
                        </a:spcAft>
                        <a:buNone/>
                      </a:pPr>
                      <a:r>
                        <a:rPr lang="en-US" altLang="ja" dirty="0" err="1"/>
                        <a:t>Màn</a:t>
                      </a:r>
                      <a:r>
                        <a:rPr lang="en-US" altLang="ja" dirty="0"/>
                        <a:t> </a:t>
                      </a:r>
                      <a:r>
                        <a:rPr lang="en-US" altLang="ja" dirty="0" err="1"/>
                        <a:t>hình</a:t>
                      </a:r>
                      <a:r>
                        <a:rPr lang="en-US" altLang="ja" dirty="0"/>
                        <a:t> </a:t>
                      </a:r>
                      <a:r>
                        <a:rPr lang="en-US" altLang="ja" dirty="0" err="1"/>
                        <a:t>quản</a:t>
                      </a:r>
                      <a:r>
                        <a:rPr lang="en-US" altLang="ja" dirty="0"/>
                        <a:t> </a:t>
                      </a:r>
                      <a:r>
                        <a:rPr lang="en-US" altLang="ja" dirty="0" err="1"/>
                        <a:t>lý</a:t>
                      </a:r>
                      <a:r>
                        <a:rPr lang="en-US" altLang="ja" dirty="0"/>
                        <a:t> </a:t>
                      </a:r>
                      <a:r>
                        <a:rPr lang="en-US" altLang="ja" dirty="0" err="1"/>
                        <a:t>nằm</a:t>
                      </a:r>
                      <a:r>
                        <a:rPr lang="en-US" altLang="ja" dirty="0"/>
                        <a:t> </a:t>
                      </a:r>
                      <a:r>
                        <a:rPr lang="en-US" altLang="ja" dirty="0" err="1"/>
                        <a:t>trong</a:t>
                      </a:r>
                      <a:r>
                        <a:rPr lang="en-US" altLang="ja" dirty="0"/>
                        <a:t> </a:t>
                      </a:r>
                      <a:r>
                        <a:rPr lang="en-US" altLang="ja" dirty="0" err="1"/>
                        <a:t>máy</a:t>
                      </a:r>
                      <a:r>
                        <a:rPr lang="en-US" altLang="ja" dirty="0"/>
                        <a:t> </a:t>
                      </a:r>
                      <a:r>
                        <a:rPr lang="en-US" altLang="ja" dirty="0" err="1"/>
                        <a:t>chủ</a:t>
                      </a:r>
                      <a:r>
                        <a:rPr lang="en-US" altLang="ja" dirty="0"/>
                        <a:t> POS </a:t>
                      </a:r>
                      <a:r>
                        <a:rPr lang="en-US" altLang="ja" dirty="0" err="1"/>
                        <a:t>phiên</a:t>
                      </a:r>
                      <a:r>
                        <a:rPr lang="en-US" altLang="ja" dirty="0"/>
                        <a:t> </a:t>
                      </a:r>
                      <a:r>
                        <a:rPr lang="en-US" altLang="ja" dirty="0" err="1"/>
                        <a:t>bản</a:t>
                      </a:r>
                      <a:r>
                        <a:rPr lang="en-US" altLang="ja" dirty="0"/>
                        <a:t> offline</a:t>
                      </a:r>
                    </a:p>
                  </a:txBody>
                  <a:tcPr marL="91425" marR="91425" marT="91425" marB="91425"/>
                </a:tc>
                <a:extLst>
                  <a:ext uri="{0D108BD9-81ED-4DB2-BD59-A6C34878D82A}">
                    <a16:rowId xmlns:a16="http://schemas.microsoft.com/office/drawing/2014/main" val="10002"/>
                  </a:ext>
                </a:extLst>
              </a:tr>
              <a:tr h="381000">
                <a:tc vMerge="1">
                  <a:txBody>
                    <a:bodyPr/>
                    <a:lstStyle/>
                    <a:p>
                      <a:endParaRPr lang="en-US"/>
                    </a:p>
                  </a:txBody>
                  <a:tcPr/>
                </a:tc>
                <a:tc>
                  <a:txBody>
                    <a:bodyPr/>
                    <a:lstStyle/>
                    <a:p>
                      <a:pPr marL="0" lvl="0" indent="0" algn="l" rtl="0">
                        <a:spcBef>
                          <a:spcPts val="0"/>
                        </a:spcBef>
                        <a:spcAft>
                          <a:spcPts val="0"/>
                        </a:spcAft>
                        <a:buNone/>
                      </a:pPr>
                      <a:r>
                        <a:rPr lang="vi-VN" altLang="ja" dirty="0"/>
                        <a:t>Thực hiện công việc phát triển và bảo trì</a:t>
                      </a:r>
                    </a:p>
                    <a:p>
                      <a:pPr marL="0" lvl="0" indent="0" algn="l" rtl="0">
                        <a:spcBef>
                          <a:spcPts val="0"/>
                        </a:spcBef>
                        <a:spcAft>
                          <a:spcPts val="0"/>
                        </a:spcAft>
                        <a:buNone/>
                      </a:pPr>
                      <a:r>
                        <a:rPr lang="vi-VN" altLang="ja" dirty="0"/>
                        <a:t>Ví dụ: Truy cập cơ sở dữ liệu bằng câu lệnh SQL</a:t>
                      </a:r>
                    </a:p>
                    <a:p>
                      <a:pPr marL="0" lvl="0" indent="0" algn="l" rtl="0">
                        <a:spcBef>
                          <a:spcPts val="0"/>
                        </a:spcBef>
                        <a:spcAft>
                          <a:spcPts val="0"/>
                        </a:spcAft>
                        <a:buNone/>
                      </a:pPr>
                      <a:r>
                        <a:rPr lang="vi-VN" altLang="ja" dirty="0"/>
                        <a:t>Ví dụ: Tải tệp CSV trong S3 bucket về</a:t>
                      </a:r>
                      <a:endParaRPr dirty="0"/>
                    </a:p>
                  </a:txBody>
                  <a:tcPr marL="91425" marR="91425" marT="91425" marB="91425"/>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3869240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dirty="0">
                <a:highlight>
                  <a:srgbClr val="D9D9D9"/>
                </a:highlight>
              </a:rPr>
              <a:t>6-2.開発者PC端末からのアクセス</a:t>
            </a:r>
            <a:r>
              <a:rPr lang="en-US" altLang="ja" dirty="0">
                <a:highlight>
                  <a:srgbClr val="D9D9D9"/>
                </a:highlight>
              </a:rPr>
              <a:t>/ </a:t>
            </a:r>
            <a:r>
              <a:rPr lang="en-US" altLang="ja" dirty="0" err="1">
                <a:highlight>
                  <a:srgbClr val="D9D9D9"/>
                </a:highlight>
              </a:rPr>
              <a:t>Truy</a:t>
            </a:r>
            <a:r>
              <a:rPr lang="en-US" altLang="ja" dirty="0">
                <a:highlight>
                  <a:srgbClr val="D9D9D9"/>
                </a:highlight>
              </a:rPr>
              <a:t> </a:t>
            </a:r>
            <a:r>
              <a:rPr lang="en-US" altLang="ja" dirty="0" err="1">
                <a:highlight>
                  <a:srgbClr val="D9D9D9"/>
                </a:highlight>
              </a:rPr>
              <a:t>cập</a:t>
            </a:r>
            <a:r>
              <a:rPr lang="en-US" altLang="ja" dirty="0">
                <a:highlight>
                  <a:srgbClr val="D9D9D9"/>
                </a:highlight>
              </a:rPr>
              <a:t> </a:t>
            </a:r>
            <a:r>
              <a:rPr lang="en-US" altLang="ja" dirty="0" err="1">
                <a:highlight>
                  <a:srgbClr val="D9D9D9"/>
                </a:highlight>
              </a:rPr>
              <a:t>từ</a:t>
            </a:r>
            <a:r>
              <a:rPr lang="en-US" altLang="ja" dirty="0">
                <a:highlight>
                  <a:srgbClr val="D9D9D9"/>
                </a:highlight>
              </a:rPr>
              <a:t> PC </a:t>
            </a:r>
            <a:r>
              <a:rPr lang="en-US" altLang="ja" dirty="0" err="1">
                <a:highlight>
                  <a:srgbClr val="D9D9D9"/>
                </a:highlight>
              </a:rPr>
              <a:t>của</a:t>
            </a:r>
            <a:r>
              <a:rPr lang="en-US" altLang="ja" dirty="0">
                <a:highlight>
                  <a:srgbClr val="D9D9D9"/>
                </a:highlight>
              </a:rPr>
              <a:t> dev</a:t>
            </a:r>
            <a:endParaRPr dirty="0">
              <a:highlight>
                <a:srgbClr val="D9D9D9"/>
              </a:highlight>
            </a:endParaRPr>
          </a:p>
        </p:txBody>
      </p:sp>
      <p:pic>
        <p:nvPicPr>
          <p:cNvPr id="205" name="Google Shape;205;p32"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06" name="Google Shape;206;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31</a:t>
            </a:fld>
            <a:endParaRPr/>
          </a:p>
        </p:txBody>
      </p:sp>
      <p:pic>
        <p:nvPicPr>
          <p:cNvPr id="207" name="Google Shape;207;p32" title="【POS】infra_ishida-6-2.drawio (1).png"/>
          <p:cNvPicPr preferRelativeResize="0"/>
          <p:nvPr/>
        </p:nvPicPr>
        <p:blipFill>
          <a:blip r:embed="rId4">
            <a:alphaModFix/>
          </a:blip>
          <a:stretch>
            <a:fillRect/>
          </a:stretch>
        </p:blipFill>
        <p:spPr>
          <a:xfrm>
            <a:off x="1124400" y="1089125"/>
            <a:ext cx="6760838" cy="38209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ja" sz="3000" dirty="0">
                <a:highlight>
                  <a:srgbClr val="FFFFFF"/>
                </a:highlight>
              </a:rPr>
              <a:t>7.AWSアカウント管理</a:t>
            </a:r>
            <a:br>
              <a:rPr lang="en-US" altLang="ja" sz="3000" dirty="0">
                <a:highlight>
                  <a:srgbClr val="FFFFFF"/>
                </a:highlight>
              </a:rPr>
            </a:br>
            <a:br>
              <a:rPr lang="en-US" altLang="ja" sz="3000" dirty="0">
                <a:highlight>
                  <a:srgbClr val="FFFFFF"/>
                </a:highlight>
              </a:rPr>
            </a:br>
            <a:r>
              <a:rPr lang="en-US" altLang="ja" sz="3000" dirty="0">
                <a:highlight>
                  <a:srgbClr val="FFFFFF"/>
                </a:highlight>
              </a:rPr>
              <a:t>Quản </a:t>
            </a:r>
            <a:r>
              <a:rPr lang="en-US" altLang="ja" sz="3000" dirty="0" err="1">
                <a:highlight>
                  <a:srgbClr val="FFFFFF"/>
                </a:highlight>
              </a:rPr>
              <a:t>lý</a:t>
            </a:r>
            <a:r>
              <a:rPr lang="en-US" altLang="ja" sz="3000" dirty="0">
                <a:highlight>
                  <a:srgbClr val="FFFFFF"/>
                </a:highlight>
              </a:rPr>
              <a:t> AWS account</a:t>
            </a:r>
            <a:endParaRPr sz="3000" dirty="0">
              <a:highlight>
                <a:srgbClr val="FFFFFF"/>
              </a:highlight>
            </a:endParaRPr>
          </a:p>
        </p:txBody>
      </p:sp>
      <p:pic>
        <p:nvPicPr>
          <p:cNvPr id="213" name="Google Shape;213;p33"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14" name="Google Shape;214;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34"/>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7-1.AWSアカウントのオーナー</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220" name="Google Shape;220;p34"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21" name="Google Shape;221;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33</a:t>
            </a:fld>
            <a:endParaRPr/>
          </a:p>
        </p:txBody>
      </p:sp>
      <p:sp>
        <p:nvSpPr>
          <p:cNvPr id="222" name="Google Shape;222;p34"/>
          <p:cNvSpPr txBox="1">
            <a:spLocks noGrp="1"/>
          </p:cNvSpPr>
          <p:nvPr>
            <p:ph type="body" idx="1"/>
          </p:nvPr>
        </p:nvSpPr>
        <p:spPr>
          <a:xfrm>
            <a:off x="432525" y="1109175"/>
            <a:ext cx="8136000" cy="3426600"/>
          </a:xfrm>
          <a:prstGeom prst="rect">
            <a:avLst/>
          </a:prstGeom>
        </p:spPr>
        <p:txBody>
          <a:bodyPr spcFirstLastPara="1" wrap="square" lIns="91425" tIns="91425" rIns="91425" bIns="91425" anchor="t" anchorCtr="0">
            <a:noAutofit/>
          </a:bodyPr>
          <a:lstStyle/>
          <a:p>
            <a:pPr marL="457200" lvl="0" indent="-342900" algn="l" rtl="0">
              <a:lnSpc>
                <a:spcPct val="95000"/>
              </a:lnSpc>
              <a:spcBef>
                <a:spcPts val="0"/>
              </a:spcBef>
              <a:spcAft>
                <a:spcPts val="0"/>
              </a:spcAft>
              <a:buSzPts val="1800"/>
              <a:buChar char="●"/>
            </a:pPr>
            <a:r>
              <a:rPr lang="ja"/>
              <a:t>AWSアカウントのオーナーは、 Luvina Software JSC とする</a:t>
            </a:r>
            <a:endParaRPr/>
          </a:p>
          <a:p>
            <a:pPr marL="457200" lvl="0" indent="-342900" algn="l" rtl="0">
              <a:lnSpc>
                <a:spcPct val="95000"/>
              </a:lnSpc>
              <a:spcBef>
                <a:spcPts val="0"/>
              </a:spcBef>
              <a:spcAft>
                <a:spcPts val="0"/>
              </a:spcAft>
              <a:buSzPts val="1800"/>
              <a:buChar char="●"/>
            </a:pPr>
            <a:r>
              <a:rPr lang="ja"/>
              <a:t>Luvina Software JSCからUSMH様へ、毎月のAWS使用料を請求させていただく</a:t>
            </a:r>
            <a:endParaRPr/>
          </a:p>
          <a:p>
            <a:pPr marL="914400" lvl="1" indent="-342900" algn="l" rtl="0">
              <a:lnSpc>
                <a:spcPct val="95000"/>
              </a:lnSpc>
              <a:spcBef>
                <a:spcPts val="0"/>
              </a:spcBef>
              <a:spcAft>
                <a:spcPts val="0"/>
              </a:spcAft>
              <a:buSzPts val="1800"/>
              <a:buChar char="○"/>
            </a:pPr>
            <a:r>
              <a:rPr lang="ja" sz="1800"/>
              <a:t>実際のAWS利用料＋15%</a:t>
            </a:r>
            <a:endParaRPr sz="1800"/>
          </a:p>
          <a:p>
            <a:pPr marL="457200" lvl="0" indent="-342900" algn="l" rtl="0">
              <a:lnSpc>
                <a:spcPct val="95000"/>
              </a:lnSpc>
              <a:spcBef>
                <a:spcPts val="0"/>
              </a:spcBef>
              <a:spcAft>
                <a:spcPts val="0"/>
              </a:spcAft>
              <a:buSzPts val="1800"/>
              <a:buChar char="●"/>
            </a:pPr>
            <a:r>
              <a:rPr lang="ja"/>
              <a:t>15%の内容</a:t>
            </a:r>
            <a:endParaRPr/>
          </a:p>
          <a:p>
            <a:pPr marL="914400" lvl="1" indent="-342900" algn="l" rtl="0">
              <a:lnSpc>
                <a:spcPct val="95000"/>
              </a:lnSpc>
              <a:spcBef>
                <a:spcPts val="0"/>
              </a:spcBef>
              <a:spcAft>
                <a:spcPts val="0"/>
              </a:spcAft>
              <a:buSzPts val="1800"/>
              <a:buChar char="○"/>
            </a:pPr>
            <a:r>
              <a:rPr lang="ja" sz="1800"/>
              <a:t>請求代行</a:t>
            </a:r>
            <a:endParaRPr sz="1800"/>
          </a:p>
          <a:p>
            <a:pPr marL="914400" lvl="1" indent="-342900" algn="l" rtl="0">
              <a:lnSpc>
                <a:spcPct val="95000"/>
              </a:lnSpc>
              <a:spcBef>
                <a:spcPts val="0"/>
              </a:spcBef>
              <a:spcAft>
                <a:spcPts val="0"/>
              </a:spcAft>
              <a:buSzPts val="1800"/>
              <a:buChar char="○"/>
            </a:pPr>
            <a:r>
              <a:rPr lang="ja" sz="1800"/>
              <a:t>AWS技術支援</a:t>
            </a:r>
            <a:endParaRPr sz="1800"/>
          </a:p>
          <a:p>
            <a:pPr marL="1371600" lvl="2" indent="-342900" algn="l" rtl="0">
              <a:lnSpc>
                <a:spcPct val="95000"/>
              </a:lnSpc>
              <a:spcBef>
                <a:spcPts val="0"/>
              </a:spcBef>
              <a:spcAft>
                <a:spcPts val="0"/>
              </a:spcAft>
              <a:buSzPts val="1800"/>
              <a:buChar char="■"/>
            </a:pPr>
            <a:r>
              <a:rPr lang="ja" sz="1800"/>
              <a:t>AWSサポートプランの契約（本番・ステージング環境は、Developerプランを想定）</a:t>
            </a:r>
            <a:endParaRPr sz="1800"/>
          </a:p>
          <a:p>
            <a:pPr marL="1371600" lvl="2" indent="-342900" algn="l" rtl="0">
              <a:lnSpc>
                <a:spcPct val="95000"/>
              </a:lnSpc>
              <a:spcBef>
                <a:spcPts val="0"/>
              </a:spcBef>
              <a:spcAft>
                <a:spcPts val="0"/>
              </a:spcAft>
              <a:buSzPts val="1800"/>
              <a:buChar char="■"/>
            </a:pPr>
            <a:r>
              <a:rPr lang="ja" sz="1800"/>
              <a:t>Luvina Software JSCが代行して、直接AWSへ問い合わせを行う</a:t>
            </a:r>
            <a:endParaRPr sz="18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18">
          <a:extLst>
            <a:ext uri="{FF2B5EF4-FFF2-40B4-BE49-F238E27FC236}">
              <a16:creationId xmlns:a16="http://schemas.microsoft.com/office/drawing/2014/main" id="{1A67FBDF-3159-DA66-68A5-08158BD0384C}"/>
            </a:ext>
          </a:extLst>
        </p:cNvPr>
        <p:cNvGrpSpPr/>
        <p:nvPr/>
      </p:nvGrpSpPr>
      <p:grpSpPr>
        <a:xfrm>
          <a:off x="0" y="0"/>
          <a:ext cx="0" cy="0"/>
          <a:chOff x="0" y="0"/>
          <a:chExt cx="0" cy="0"/>
        </a:xfrm>
      </p:grpSpPr>
      <p:sp>
        <p:nvSpPr>
          <p:cNvPr id="219" name="Google Shape;219;p34">
            <a:extLst>
              <a:ext uri="{FF2B5EF4-FFF2-40B4-BE49-F238E27FC236}">
                <a16:creationId xmlns:a16="http://schemas.microsoft.com/office/drawing/2014/main" id="{62E95D8E-9BE0-FCD9-D8E0-FE5AF7F456B8}"/>
              </a:ext>
            </a:extLst>
          </p:cNvPr>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lvl="0"/>
            <a:r>
              <a:rPr lang="ja" dirty="0">
                <a:highlight>
                  <a:srgbClr val="D9D9D9"/>
                </a:highlight>
              </a:rPr>
              <a:t>7-1.</a:t>
            </a:r>
            <a:r>
              <a:rPr lang="en-US" altLang="ja" dirty="0"/>
              <a:t> </a:t>
            </a:r>
            <a:r>
              <a:rPr lang="en-US" altLang="ja" dirty="0" err="1"/>
              <a:t>Chủ</a:t>
            </a:r>
            <a:r>
              <a:rPr lang="en-US" altLang="ja" dirty="0"/>
              <a:t> </a:t>
            </a:r>
            <a:r>
              <a:rPr lang="en-US" altLang="ja" dirty="0" err="1"/>
              <a:t>sở</a:t>
            </a:r>
            <a:r>
              <a:rPr lang="en-US" altLang="ja" dirty="0"/>
              <a:t> </a:t>
            </a:r>
            <a:r>
              <a:rPr lang="en-US" altLang="ja" dirty="0" err="1"/>
              <a:t>hữu</a:t>
            </a:r>
            <a:r>
              <a:rPr lang="en-US" altLang="ja" dirty="0"/>
              <a:t> </a:t>
            </a:r>
            <a:r>
              <a:rPr lang="en-US" altLang="ja" dirty="0" err="1"/>
              <a:t>tài</a:t>
            </a:r>
            <a:r>
              <a:rPr lang="en-US" altLang="ja" dirty="0"/>
              <a:t> </a:t>
            </a:r>
            <a:r>
              <a:rPr lang="en-US" altLang="ja" dirty="0" err="1"/>
              <a:t>khoản</a:t>
            </a:r>
            <a:r>
              <a:rPr lang="en-US" altLang="ja" dirty="0"/>
              <a:t> AWS</a:t>
            </a:r>
            <a:endParaRPr dirty="0">
              <a:highlight>
                <a:srgbClr val="D9D9D9"/>
              </a:highlight>
            </a:endParaRPr>
          </a:p>
          <a:p>
            <a:pPr marL="0" lvl="0" indent="0" algn="l" rtl="0">
              <a:spcBef>
                <a:spcPts val="0"/>
              </a:spcBef>
              <a:spcAft>
                <a:spcPts val="0"/>
              </a:spcAft>
              <a:buNone/>
            </a:pPr>
            <a:endParaRPr dirty="0">
              <a:highlight>
                <a:srgbClr val="D9D9D9"/>
              </a:highlight>
            </a:endParaRPr>
          </a:p>
        </p:txBody>
      </p:sp>
      <p:pic>
        <p:nvPicPr>
          <p:cNvPr id="220" name="Google Shape;220;p34" title="logo-luvina-2022-2.png">
            <a:extLst>
              <a:ext uri="{FF2B5EF4-FFF2-40B4-BE49-F238E27FC236}">
                <a16:creationId xmlns:a16="http://schemas.microsoft.com/office/drawing/2014/main" id="{E1CB7EE5-C51E-0DAC-2EFC-35F0AC6DAB7B}"/>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21" name="Google Shape;221;p34">
            <a:extLst>
              <a:ext uri="{FF2B5EF4-FFF2-40B4-BE49-F238E27FC236}">
                <a16:creationId xmlns:a16="http://schemas.microsoft.com/office/drawing/2014/main" id="{136ADDF0-8FAE-C00E-4D48-1A713FF245DF}"/>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34</a:t>
            </a:fld>
            <a:endParaRPr/>
          </a:p>
        </p:txBody>
      </p:sp>
      <p:sp>
        <p:nvSpPr>
          <p:cNvPr id="222" name="Google Shape;222;p34">
            <a:extLst>
              <a:ext uri="{FF2B5EF4-FFF2-40B4-BE49-F238E27FC236}">
                <a16:creationId xmlns:a16="http://schemas.microsoft.com/office/drawing/2014/main" id="{D3149B33-1ECE-C56F-13E5-1880343B22EF}"/>
              </a:ext>
            </a:extLst>
          </p:cNvPr>
          <p:cNvSpPr txBox="1">
            <a:spLocks noGrp="1"/>
          </p:cNvSpPr>
          <p:nvPr>
            <p:ph type="body" idx="1"/>
          </p:nvPr>
        </p:nvSpPr>
        <p:spPr>
          <a:xfrm>
            <a:off x="432525" y="1109175"/>
            <a:ext cx="8136000" cy="3426600"/>
          </a:xfrm>
          <a:prstGeom prst="rect">
            <a:avLst/>
          </a:prstGeom>
        </p:spPr>
        <p:txBody>
          <a:bodyPr spcFirstLastPara="1" wrap="square" lIns="91425" tIns="91425" rIns="91425" bIns="91425" anchor="t" anchorCtr="0">
            <a:noAutofit/>
          </a:bodyPr>
          <a:lstStyle/>
          <a:p>
            <a:pPr lvl="0">
              <a:lnSpc>
                <a:spcPct val="95000"/>
              </a:lnSpc>
            </a:pPr>
            <a:r>
              <a:rPr lang="vi-VN" sz="1400" dirty="0"/>
              <a:t>Chủ sở hữu tài khoản AWS</a:t>
            </a:r>
          </a:p>
          <a:p>
            <a:pPr marL="114300" lvl="0" indent="0">
              <a:lnSpc>
                <a:spcPct val="95000"/>
              </a:lnSpc>
              <a:buNone/>
            </a:pPr>
            <a:r>
              <a:rPr lang="en-US" sz="1400" dirty="0"/>
              <a:t>  </a:t>
            </a:r>
            <a:r>
              <a:rPr lang="vi-VN" sz="1400" dirty="0"/>
              <a:t>Chủ sở hữu tài khoản AWS sẽ là Công ty Cổ phần Phần mềm Luvina (Luvina Software JSC)</a:t>
            </a:r>
          </a:p>
          <a:p>
            <a:pPr marL="114300" lvl="0" indent="0">
              <a:lnSpc>
                <a:spcPct val="95000"/>
              </a:lnSpc>
              <a:buNone/>
            </a:pPr>
            <a:r>
              <a:rPr lang="en-US" sz="1400" dirty="0"/>
              <a:t>  </a:t>
            </a:r>
            <a:r>
              <a:rPr lang="vi-VN" sz="1400" dirty="0"/>
              <a:t>Luvina Software JSC sẽ thay mặt gửi hóa đơn chi phí sử dụng AWS hằng tháng cho phía USMH</a:t>
            </a:r>
            <a:r>
              <a:rPr lang="en-US" sz="1400" dirty="0"/>
              <a:t>:</a:t>
            </a:r>
            <a:endParaRPr lang="vi-VN" sz="1400" dirty="0"/>
          </a:p>
          <a:p>
            <a:pPr marL="114300" lvl="0" indent="0">
              <a:lnSpc>
                <a:spcPct val="95000"/>
              </a:lnSpc>
              <a:buNone/>
            </a:pPr>
            <a:r>
              <a:rPr lang="en-US" sz="1400" dirty="0"/>
              <a:t>         </a:t>
            </a:r>
            <a:r>
              <a:rPr lang="vi-VN" sz="1400" dirty="0"/>
              <a:t> Bao gồm: Chi phí sử dụng AWS thực tế + 15%</a:t>
            </a:r>
          </a:p>
          <a:p>
            <a:pPr lvl="0">
              <a:lnSpc>
                <a:spcPct val="95000"/>
              </a:lnSpc>
            </a:pPr>
            <a:endParaRPr lang="vi-VN" sz="1400" dirty="0"/>
          </a:p>
          <a:p>
            <a:pPr lvl="0">
              <a:lnSpc>
                <a:spcPct val="95000"/>
              </a:lnSpc>
            </a:pPr>
            <a:r>
              <a:rPr lang="vi-VN" sz="1400" dirty="0"/>
              <a:t>Nội dung của phần 15% bao gồm:</a:t>
            </a:r>
          </a:p>
          <a:p>
            <a:pPr marL="114300" lvl="0" indent="0">
              <a:lnSpc>
                <a:spcPct val="95000"/>
              </a:lnSpc>
              <a:buNone/>
            </a:pPr>
            <a:r>
              <a:rPr lang="en-US" sz="1400" dirty="0"/>
              <a:t>     </a:t>
            </a:r>
            <a:r>
              <a:rPr lang="vi-VN" sz="1400" dirty="0"/>
              <a:t>Đại lý trung gian thực hiện việc xuất hóa đơn</a:t>
            </a:r>
            <a:endParaRPr lang="en-US" sz="1400" dirty="0"/>
          </a:p>
          <a:p>
            <a:pPr marL="114300" lvl="0" indent="0">
              <a:lnSpc>
                <a:spcPct val="95000"/>
              </a:lnSpc>
              <a:buNone/>
            </a:pPr>
            <a:r>
              <a:rPr lang="en-US" sz="1400" dirty="0"/>
              <a:t>     </a:t>
            </a:r>
            <a:r>
              <a:rPr lang="vi-VN" sz="1400" dirty="0"/>
              <a:t>Hỗ trợ kỹ thuật về AWS</a:t>
            </a:r>
            <a:r>
              <a:rPr lang="en-US" sz="1400" dirty="0"/>
              <a:t>:</a:t>
            </a:r>
            <a:endParaRPr lang="vi-VN" sz="1400" dirty="0"/>
          </a:p>
          <a:p>
            <a:pPr marL="114300" lvl="0" indent="0">
              <a:lnSpc>
                <a:spcPct val="95000"/>
              </a:lnSpc>
              <a:buNone/>
            </a:pPr>
            <a:r>
              <a:rPr lang="en-US" sz="1400" dirty="0"/>
              <a:t>          </a:t>
            </a:r>
            <a:r>
              <a:rPr lang="vi-VN" sz="1400" dirty="0"/>
              <a:t>Ký hợp đồng gói hỗ trợ AWS (với môi trường production và staging dự kiến sử dụng gói Developer)</a:t>
            </a:r>
          </a:p>
          <a:p>
            <a:pPr marL="114300" lvl="0" indent="0">
              <a:lnSpc>
                <a:spcPct val="95000"/>
              </a:lnSpc>
              <a:buNone/>
            </a:pPr>
            <a:r>
              <a:rPr lang="en-US" sz="1400" dirty="0"/>
              <a:t>          </a:t>
            </a:r>
            <a:r>
              <a:rPr lang="vi-VN" sz="1400" dirty="0"/>
              <a:t>Luvina Software JSC sẽ đại diện để liên hệ trực tiếp với AWS khi cần thiết</a:t>
            </a:r>
            <a:endParaRPr sz="1400" dirty="0"/>
          </a:p>
        </p:txBody>
      </p:sp>
    </p:spTree>
    <p:extLst>
      <p:ext uri="{BB962C8B-B14F-4D97-AF65-F5344CB8AC3E}">
        <p14:creationId xmlns:p14="http://schemas.microsoft.com/office/powerpoint/2010/main" val="6338597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5"/>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7-2.AWSサポートプラン</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228" name="Google Shape;228;p35"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29" name="Google Shape;229;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35</a:t>
            </a:fld>
            <a:endParaRPr/>
          </a:p>
        </p:txBody>
      </p:sp>
      <p:graphicFrame>
        <p:nvGraphicFramePr>
          <p:cNvPr id="230" name="Google Shape;230;p35"/>
          <p:cNvGraphicFramePr/>
          <p:nvPr/>
        </p:nvGraphicFramePr>
        <p:xfrm>
          <a:off x="705175" y="1065450"/>
          <a:ext cx="7627350" cy="3870780"/>
        </p:xfrm>
        <a:graphic>
          <a:graphicData uri="http://schemas.openxmlformats.org/drawingml/2006/table">
            <a:tbl>
              <a:tblPr>
                <a:noFill/>
                <a:tableStyleId>{87A281C8-0844-4F7E-8F5C-31C3930F0FE5}</a:tableStyleId>
              </a:tblPr>
              <a:tblGrid>
                <a:gridCol w="904500">
                  <a:extLst>
                    <a:ext uri="{9D8B030D-6E8A-4147-A177-3AD203B41FA5}">
                      <a16:colId xmlns:a16="http://schemas.microsoft.com/office/drawing/2014/main" val="20000"/>
                    </a:ext>
                  </a:extLst>
                </a:gridCol>
                <a:gridCol w="904500">
                  <a:extLst>
                    <a:ext uri="{9D8B030D-6E8A-4147-A177-3AD203B41FA5}">
                      <a16:colId xmlns:a16="http://schemas.microsoft.com/office/drawing/2014/main" val="20001"/>
                    </a:ext>
                  </a:extLst>
                </a:gridCol>
                <a:gridCol w="1678900">
                  <a:extLst>
                    <a:ext uri="{9D8B030D-6E8A-4147-A177-3AD203B41FA5}">
                      <a16:colId xmlns:a16="http://schemas.microsoft.com/office/drawing/2014/main" val="20002"/>
                    </a:ext>
                  </a:extLst>
                </a:gridCol>
                <a:gridCol w="3087500">
                  <a:extLst>
                    <a:ext uri="{9D8B030D-6E8A-4147-A177-3AD203B41FA5}">
                      <a16:colId xmlns:a16="http://schemas.microsoft.com/office/drawing/2014/main" val="20003"/>
                    </a:ext>
                  </a:extLst>
                </a:gridCol>
                <a:gridCol w="1051950">
                  <a:extLst>
                    <a:ext uri="{9D8B030D-6E8A-4147-A177-3AD203B41FA5}">
                      <a16:colId xmlns:a16="http://schemas.microsoft.com/office/drawing/2014/main" val="20004"/>
                    </a:ext>
                  </a:extLst>
                </a:gridCol>
              </a:tblGrid>
              <a:tr h="336525">
                <a:tc>
                  <a:txBody>
                    <a:bodyPr/>
                    <a:lstStyle/>
                    <a:p>
                      <a:pPr marL="0" lvl="0" indent="0" algn="l" rtl="0">
                        <a:spcBef>
                          <a:spcPts val="0"/>
                        </a:spcBef>
                        <a:spcAft>
                          <a:spcPts val="0"/>
                        </a:spcAft>
                        <a:buNone/>
                      </a:pPr>
                      <a:r>
                        <a:rPr lang="ja" sz="1100" b="1">
                          <a:solidFill>
                            <a:schemeClr val="dk2"/>
                          </a:solidFill>
                        </a:rPr>
                        <a:t>プラン</a:t>
                      </a:r>
                      <a:endParaRPr sz="11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sz="1100" b="1">
                          <a:solidFill>
                            <a:schemeClr val="dk2"/>
                          </a:solidFill>
                        </a:rPr>
                        <a:t>POSサーバ</a:t>
                      </a:r>
                      <a:endParaRPr sz="11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sz="1100" b="1">
                          <a:solidFill>
                            <a:schemeClr val="dk2"/>
                          </a:solidFill>
                        </a:rPr>
                        <a:t>ユースケース</a:t>
                      </a:r>
                      <a:endParaRPr sz="11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sz="1100" b="1">
                          <a:solidFill>
                            <a:schemeClr val="dk2"/>
                          </a:solidFill>
                        </a:rPr>
                        <a:t>ケースの重要度と応答時間</a:t>
                      </a:r>
                      <a:endParaRPr sz="11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sz="1100" b="1">
                          <a:solidFill>
                            <a:schemeClr val="dk2"/>
                          </a:solidFill>
                        </a:rPr>
                        <a:t>料金</a:t>
                      </a:r>
                      <a:endParaRPr sz="1100" b="1">
                        <a:solidFill>
                          <a:schemeClr val="dk2"/>
                        </a:solidFill>
                      </a:endParaRPr>
                    </a:p>
                  </a:txBody>
                  <a:tcPr marL="91425" marR="91425" marT="91425" marB="91425">
                    <a:solidFill>
                      <a:schemeClr val="lt2"/>
                    </a:solidFill>
                  </a:tcPr>
                </a:tc>
                <a:extLst>
                  <a:ext uri="{0D108BD9-81ED-4DB2-BD59-A6C34878D82A}">
                    <a16:rowId xmlns:a16="http://schemas.microsoft.com/office/drawing/2014/main" val="10000"/>
                  </a:ext>
                </a:extLst>
              </a:tr>
              <a:tr h="440675">
                <a:tc>
                  <a:txBody>
                    <a:bodyPr/>
                    <a:lstStyle/>
                    <a:p>
                      <a:pPr marL="0" lvl="0" indent="0" algn="l" rtl="0">
                        <a:spcBef>
                          <a:spcPts val="0"/>
                        </a:spcBef>
                        <a:spcAft>
                          <a:spcPts val="0"/>
                        </a:spcAft>
                        <a:buClr>
                          <a:schemeClr val="dk1"/>
                        </a:buClr>
                        <a:buSzPts val="1100"/>
                        <a:buFont typeface="Arial"/>
                        <a:buNone/>
                      </a:pPr>
                      <a:r>
                        <a:rPr lang="ja" sz="900">
                          <a:solidFill>
                            <a:schemeClr val="dk2"/>
                          </a:solidFill>
                        </a:rPr>
                        <a:t>Basic</a:t>
                      </a:r>
                      <a:endParaRPr sz="900">
                        <a:solidFill>
                          <a:schemeClr val="dk2"/>
                        </a:solidFill>
                      </a:endParaRPr>
                    </a:p>
                  </a:txBody>
                  <a:tcPr marL="91425" marR="91425" marT="91425" marB="91425"/>
                </a:tc>
                <a:tc>
                  <a:txBody>
                    <a:bodyPr/>
                    <a:lstStyle/>
                    <a:p>
                      <a:pPr marL="0" lvl="0" indent="0" algn="l" rtl="0">
                        <a:spcBef>
                          <a:spcPts val="0"/>
                        </a:spcBef>
                        <a:spcAft>
                          <a:spcPts val="0"/>
                        </a:spcAft>
                        <a:buNone/>
                      </a:pPr>
                      <a:r>
                        <a:rPr lang="ja" sz="900">
                          <a:solidFill>
                            <a:schemeClr val="dk2"/>
                          </a:solidFill>
                        </a:rPr>
                        <a:t>スパイク</a:t>
                      </a:r>
                      <a:endParaRPr sz="90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ja" sz="900" dirty="0">
                          <a:solidFill>
                            <a:schemeClr val="dk2"/>
                          </a:solidFill>
                        </a:rPr>
                        <a:t>すべてのAWSのお客様に提供</a:t>
                      </a:r>
                      <a:endParaRPr sz="900" dirty="0">
                        <a:solidFill>
                          <a:schemeClr val="dk2"/>
                        </a:solidFill>
                      </a:endParaRPr>
                    </a:p>
                  </a:txBody>
                  <a:tcPr marL="91425" marR="91425" marT="91425" marB="91425"/>
                </a:tc>
                <a:tc>
                  <a:txBody>
                    <a:bodyPr/>
                    <a:lstStyle/>
                    <a:p>
                      <a:pPr marL="0" lvl="0" indent="0" algn="l" rtl="0">
                        <a:spcBef>
                          <a:spcPts val="0"/>
                        </a:spcBef>
                        <a:spcAft>
                          <a:spcPts val="0"/>
                        </a:spcAft>
                        <a:buNone/>
                      </a:pPr>
                      <a:r>
                        <a:rPr lang="ja" sz="900">
                          <a:solidFill>
                            <a:schemeClr val="dk2"/>
                          </a:solidFill>
                          <a:highlight>
                            <a:schemeClr val="lt1"/>
                          </a:highlight>
                        </a:rPr>
                        <a:t>なし</a:t>
                      </a:r>
                      <a:endParaRPr sz="900">
                        <a:solidFill>
                          <a:schemeClr val="dk2"/>
                        </a:solidFill>
                        <a:highlight>
                          <a:schemeClr val="lt1"/>
                        </a:highlight>
                      </a:endParaRPr>
                    </a:p>
                  </a:txBody>
                  <a:tcPr marL="91425" marR="91425" marT="91425" marB="91425"/>
                </a:tc>
                <a:tc>
                  <a:txBody>
                    <a:bodyPr/>
                    <a:lstStyle/>
                    <a:p>
                      <a:pPr marL="0" lvl="0" indent="0" algn="l" rtl="0">
                        <a:spcBef>
                          <a:spcPts val="0"/>
                        </a:spcBef>
                        <a:spcAft>
                          <a:spcPts val="0"/>
                        </a:spcAft>
                        <a:buNone/>
                      </a:pPr>
                      <a:r>
                        <a:rPr lang="ja" sz="900">
                          <a:solidFill>
                            <a:schemeClr val="dk2"/>
                          </a:solidFill>
                          <a:highlight>
                            <a:schemeClr val="lt1"/>
                          </a:highlight>
                        </a:rPr>
                        <a:t>無料</a:t>
                      </a:r>
                      <a:endParaRPr sz="900">
                        <a:solidFill>
                          <a:schemeClr val="dk2"/>
                        </a:solidFill>
                        <a:highlight>
                          <a:schemeClr val="lt1"/>
                        </a:highlight>
                      </a:endParaRPr>
                    </a:p>
                  </a:txBody>
                  <a:tcPr marL="91425" marR="91425" marT="91425" marB="91425"/>
                </a:tc>
                <a:extLst>
                  <a:ext uri="{0D108BD9-81ED-4DB2-BD59-A6C34878D82A}">
                    <a16:rowId xmlns:a16="http://schemas.microsoft.com/office/drawing/2014/main" val="10001"/>
                  </a:ext>
                </a:extLst>
              </a:tr>
              <a:tr h="440675">
                <a:tc>
                  <a:txBody>
                    <a:bodyPr/>
                    <a:lstStyle/>
                    <a:p>
                      <a:pPr marL="0" lvl="0" indent="0" algn="l" rtl="0">
                        <a:spcBef>
                          <a:spcPts val="0"/>
                        </a:spcBef>
                        <a:spcAft>
                          <a:spcPts val="0"/>
                        </a:spcAft>
                        <a:buClr>
                          <a:schemeClr val="dk1"/>
                        </a:buClr>
                        <a:buSzPts val="1100"/>
                        <a:buFont typeface="Arial"/>
                        <a:buNone/>
                      </a:pPr>
                      <a:r>
                        <a:rPr lang="ja" sz="900">
                          <a:solidFill>
                            <a:schemeClr val="dk2"/>
                          </a:solidFill>
                        </a:rPr>
                        <a:t>Developer</a:t>
                      </a:r>
                      <a:endParaRPr sz="900">
                        <a:solidFill>
                          <a:schemeClr val="dk2"/>
                        </a:solidFill>
                      </a:endParaRPr>
                    </a:p>
                  </a:txBody>
                  <a:tcPr marL="91425" marR="91425" marT="91425" marB="91425">
                    <a:solidFill>
                      <a:schemeClr val="accent6"/>
                    </a:solidFill>
                  </a:tcPr>
                </a:tc>
                <a:tc>
                  <a:txBody>
                    <a:bodyPr/>
                    <a:lstStyle/>
                    <a:p>
                      <a:pPr marL="0" lvl="0" indent="0" algn="l" rtl="0">
                        <a:spcBef>
                          <a:spcPts val="0"/>
                        </a:spcBef>
                        <a:spcAft>
                          <a:spcPts val="0"/>
                        </a:spcAft>
                        <a:buNone/>
                      </a:pPr>
                      <a:r>
                        <a:rPr lang="ja" sz="900">
                          <a:solidFill>
                            <a:schemeClr val="dk2"/>
                          </a:solidFill>
                        </a:rPr>
                        <a:t>ステージング</a:t>
                      </a:r>
                      <a:endParaRPr sz="900">
                        <a:solidFill>
                          <a:schemeClr val="dk2"/>
                        </a:solidFill>
                      </a:endParaRPr>
                    </a:p>
                    <a:p>
                      <a:pPr marL="0" lvl="0" indent="0" algn="l" rtl="0">
                        <a:spcBef>
                          <a:spcPts val="0"/>
                        </a:spcBef>
                        <a:spcAft>
                          <a:spcPts val="0"/>
                        </a:spcAft>
                        <a:buNone/>
                      </a:pPr>
                      <a:r>
                        <a:rPr lang="ja" sz="900">
                          <a:solidFill>
                            <a:schemeClr val="dk2"/>
                          </a:solidFill>
                        </a:rPr>
                        <a:t>本番</a:t>
                      </a:r>
                      <a:endParaRPr sz="900">
                        <a:solidFill>
                          <a:schemeClr val="dk2"/>
                        </a:solidFill>
                      </a:endParaRPr>
                    </a:p>
                  </a:txBody>
                  <a:tcPr marL="91425" marR="91425" marT="91425" marB="91425">
                    <a:solidFill>
                      <a:schemeClr val="accent6"/>
                    </a:solidFill>
                  </a:tcPr>
                </a:tc>
                <a:tc>
                  <a:txBody>
                    <a:bodyPr/>
                    <a:lstStyle/>
                    <a:p>
                      <a:pPr marL="0" lvl="0" indent="0" algn="l" rtl="0">
                        <a:spcBef>
                          <a:spcPts val="0"/>
                        </a:spcBef>
                        <a:spcAft>
                          <a:spcPts val="0"/>
                        </a:spcAft>
                        <a:buClr>
                          <a:schemeClr val="dk1"/>
                        </a:buClr>
                        <a:buSzPts val="1100"/>
                        <a:buFont typeface="Arial"/>
                        <a:buNone/>
                      </a:pPr>
                      <a:r>
                        <a:rPr lang="ja" sz="900">
                          <a:solidFill>
                            <a:schemeClr val="dk2"/>
                          </a:solidFill>
                        </a:rPr>
                        <a:t>各種サービスをお試し、テストをご希望の方</a:t>
                      </a:r>
                      <a:endParaRPr sz="900">
                        <a:solidFill>
                          <a:schemeClr val="dk2"/>
                        </a:solidFill>
                      </a:endParaRPr>
                    </a:p>
                  </a:txBody>
                  <a:tcPr marL="91425" marR="91425" marT="91425" marB="91425">
                    <a:solidFill>
                      <a:schemeClr val="accent6"/>
                    </a:solidFill>
                  </a:tcPr>
                </a:tc>
                <a:tc>
                  <a:txBody>
                    <a:bodyPr/>
                    <a:lstStyle/>
                    <a:p>
                      <a:pPr marL="0" lvl="0" indent="0" algn="l" rtl="0">
                        <a:spcBef>
                          <a:spcPts val="0"/>
                        </a:spcBef>
                        <a:spcAft>
                          <a:spcPts val="0"/>
                        </a:spcAft>
                        <a:buNone/>
                      </a:pPr>
                      <a:r>
                        <a:rPr lang="ja" sz="900">
                          <a:solidFill>
                            <a:schemeClr val="dk2"/>
                          </a:solidFill>
                          <a:highlight>
                            <a:schemeClr val="lt1"/>
                          </a:highlight>
                        </a:rPr>
                        <a:t>一般的なガイダンス: &lt; 24 時間</a:t>
                      </a:r>
                      <a:endParaRPr sz="900">
                        <a:solidFill>
                          <a:schemeClr val="dk2"/>
                        </a:solidFill>
                        <a:highlight>
                          <a:schemeClr val="lt1"/>
                        </a:highlight>
                      </a:endParaRPr>
                    </a:p>
                    <a:p>
                      <a:pPr marL="0" lvl="0" indent="0" algn="l" rtl="0">
                        <a:spcBef>
                          <a:spcPts val="0"/>
                        </a:spcBef>
                        <a:spcAft>
                          <a:spcPts val="0"/>
                        </a:spcAft>
                        <a:buNone/>
                      </a:pPr>
                      <a:r>
                        <a:rPr lang="ja" sz="900">
                          <a:solidFill>
                            <a:schemeClr val="dk2"/>
                          </a:solidFill>
                          <a:highlight>
                            <a:schemeClr val="lt1"/>
                          </a:highlight>
                        </a:rPr>
                        <a:t>システム障害: &lt; 12 時間</a:t>
                      </a:r>
                      <a:endParaRPr sz="900">
                        <a:solidFill>
                          <a:schemeClr val="dk2"/>
                        </a:solidFill>
                        <a:highlight>
                          <a:schemeClr val="lt1"/>
                        </a:highlight>
                      </a:endParaRPr>
                    </a:p>
                  </a:txBody>
                  <a:tcPr marL="91425" marR="91425" marT="91425" marB="91425">
                    <a:solidFill>
                      <a:schemeClr val="accent6"/>
                    </a:solidFill>
                  </a:tcPr>
                </a:tc>
                <a:tc rowSpan="4">
                  <a:txBody>
                    <a:bodyPr/>
                    <a:lstStyle/>
                    <a:p>
                      <a:pPr marL="0" lvl="0" indent="0" algn="l" rtl="0">
                        <a:spcBef>
                          <a:spcPts val="0"/>
                        </a:spcBef>
                        <a:spcAft>
                          <a:spcPts val="0"/>
                        </a:spcAft>
                        <a:buNone/>
                      </a:pPr>
                      <a:r>
                        <a:rPr lang="ja" sz="900">
                          <a:solidFill>
                            <a:schemeClr val="dk2"/>
                          </a:solidFill>
                          <a:highlight>
                            <a:srgbClr val="FFFFFF"/>
                          </a:highlight>
                          <a:latin typeface="Meiryo"/>
                          <a:ea typeface="Meiryo"/>
                          <a:cs typeface="Meiryo"/>
                          <a:sym typeface="Meiryo"/>
                        </a:rPr>
                        <a:t>有料</a:t>
                      </a:r>
                      <a:endParaRPr sz="900">
                        <a:solidFill>
                          <a:schemeClr val="dk2"/>
                        </a:solidFill>
                        <a:highlight>
                          <a:srgbClr val="FFFFFF"/>
                        </a:highlight>
                        <a:latin typeface="Meiryo"/>
                        <a:ea typeface="Meiryo"/>
                        <a:cs typeface="Meiryo"/>
                        <a:sym typeface="Meiryo"/>
                      </a:endParaRPr>
                    </a:p>
                  </a:txBody>
                  <a:tcPr marL="91425" marR="91425" marT="91425" marB="91425"/>
                </a:tc>
                <a:extLst>
                  <a:ext uri="{0D108BD9-81ED-4DB2-BD59-A6C34878D82A}">
                    <a16:rowId xmlns:a16="http://schemas.microsoft.com/office/drawing/2014/main" val="10002"/>
                  </a:ext>
                </a:extLst>
              </a:tr>
              <a:tr h="705125">
                <a:tc>
                  <a:txBody>
                    <a:bodyPr/>
                    <a:lstStyle/>
                    <a:p>
                      <a:pPr marL="0" lvl="0" indent="0" algn="l" rtl="0">
                        <a:spcBef>
                          <a:spcPts val="0"/>
                        </a:spcBef>
                        <a:spcAft>
                          <a:spcPts val="0"/>
                        </a:spcAft>
                        <a:buClr>
                          <a:schemeClr val="dk1"/>
                        </a:buClr>
                        <a:buSzPts val="1100"/>
                        <a:buFont typeface="Arial"/>
                        <a:buNone/>
                      </a:pPr>
                      <a:r>
                        <a:rPr lang="ja" sz="900">
                          <a:solidFill>
                            <a:schemeClr val="dk2"/>
                          </a:solidFill>
                        </a:rPr>
                        <a:t>Business</a:t>
                      </a:r>
                      <a:endParaRPr sz="900">
                        <a:solidFill>
                          <a:schemeClr val="dk2"/>
                        </a:solidFill>
                      </a:endParaRPr>
                    </a:p>
                  </a:txBody>
                  <a:tcPr marL="91425" marR="91425" marT="91425" marB="91425"/>
                </a:tc>
                <a:tc>
                  <a:txBody>
                    <a:bodyPr/>
                    <a:lstStyle/>
                    <a:p>
                      <a:pPr marL="0" lvl="0" indent="0" algn="l" rtl="0">
                        <a:spcBef>
                          <a:spcPts val="0"/>
                        </a:spcBef>
                        <a:spcAft>
                          <a:spcPts val="0"/>
                        </a:spcAft>
                        <a:buNone/>
                      </a:pPr>
                      <a:endParaRPr sz="90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ja" sz="900" dirty="0">
                          <a:solidFill>
                            <a:schemeClr val="dk2"/>
                          </a:solidFill>
                        </a:rPr>
                        <a:t>本番環境のワークロードをお持ちの方におすすめする最小枠</a:t>
                      </a:r>
                      <a:endParaRPr sz="900" dirty="0">
                        <a:solidFill>
                          <a:schemeClr val="dk2"/>
                        </a:solidFill>
                      </a:endParaRPr>
                    </a:p>
                  </a:txBody>
                  <a:tcPr marL="91425" marR="91425" marT="91425" marB="91425"/>
                </a:tc>
                <a:tc>
                  <a:txBody>
                    <a:bodyPr/>
                    <a:lstStyle/>
                    <a:p>
                      <a:pPr marL="0" lvl="0" indent="0" algn="l" rtl="0">
                        <a:spcBef>
                          <a:spcPts val="0"/>
                        </a:spcBef>
                        <a:spcAft>
                          <a:spcPts val="0"/>
                        </a:spcAft>
                        <a:buNone/>
                      </a:pPr>
                      <a:r>
                        <a:rPr lang="ja" sz="900">
                          <a:solidFill>
                            <a:schemeClr val="dk2"/>
                          </a:solidFill>
                          <a:highlight>
                            <a:schemeClr val="lt1"/>
                          </a:highlight>
                        </a:rPr>
                        <a:t>一般的なガイダンス: &lt; 24 時間</a:t>
                      </a:r>
                      <a:endParaRPr sz="900">
                        <a:solidFill>
                          <a:schemeClr val="dk2"/>
                        </a:solidFill>
                        <a:highlight>
                          <a:schemeClr val="lt1"/>
                        </a:highlight>
                      </a:endParaRPr>
                    </a:p>
                    <a:p>
                      <a:pPr marL="0" lvl="0" indent="0" algn="l" rtl="0">
                        <a:spcBef>
                          <a:spcPts val="0"/>
                        </a:spcBef>
                        <a:spcAft>
                          <a:spcPts val="0"/>
                        </a:spcAft>
                        <a:buNone/>
                      </a:pPr>
                      <a:r>
                        <a:rPr lang="ja" sz="900">
                          <a:solidFill>
                            <a:schemeClr val="dk2"/>
                          </a:solidFill>
                          <a:highlight>
                            <a:schemeClr val="lt1"/>
                          </a:highlight>
                        </a:rPr>
                        <a:t>システム障害: &lt; 12 時間</a:t>
                      </a:r>
                      <a:endParaRPr sz="900">
                        <a:solidFill>
                          <a:schemeClr val="dk2"/>
                        </a:solidFill>
                        <a:highlight>
                          <a:schemeClr val="lt1"/>
                        </a:highlight>
                      </a:endParaRPr>
                    </a:p>
                    <a:p>
                      <a:pPr marL="0" lvl="0" indent="0" algn="l" rtl="0">
                        <a:spcBef>
                          <a:spcPts val="0"/>
                        </a:spcBef>
                        <a:spcAft>
                          <a:spcPts val="0"/>
                        </a:spcAft>
                        <a:buNone/>
                      </a:pPr>
                      <a:r>
                        <a:rPr lang="ja" sz="900">
                          <a:solidFill>
                            <a:schemeClr val="dk2"/>
                          </a:solidFill>
                          <a:highlight>
                            <a:schemeClr val="lt1"/>
                          </a:highlight>
                        </a:rPr>
                        <a:t>本番システムの障害: &lt; 4 時間</a:t>
                      </a:r>
                      <a:endParaRPr sz="900">
                        <a:solidFill>
                          <a:schemeClr val="dk2"/>
                        </a:solidFill>
                        <a:highlight>
                          <a:schemeClr val="lt1"/>
                        </a:highlight>
                      </a:endParaRPr>
                    </a:p>
                    <a:p>
                      <a:pPr marL="0" lvl="0" indent="0" algn="l" rtl="0">
                        <a:spcBef>
                          <a:spcPts val="0"/>
                        </a:spcBef>
                        <a:spcAft>
                          <a:spcPts val="0"/>
                        </a:spcAft>
                        <a:buNone/>
                      </a:pPr>
                      <a:r>
                        <a:rPr lang="ja" sz="900">
                          <a:solidFill>
                            <a:schemeClr val="dk2"/>
                          </a:solidFill>
                          <a:highlight>
                            <a:schemeClr val="lt1"/>
                          </a:highlight>
                        </a:rPr>
                        <a:t>本番システムのダウン: &lt; 1 時間</a:t>
                      </a:r>
                      <a:endParaRPr sz="900">
                        <a:solidFill>
                          <a:schemeClr val="dk2"/>
                        </a:solidFill>
                        <a:highlight>
                          <a:schemeClr val="lt1"/>
                        </a:highlight>
                      </a:endParaRPr>
                    </a:p>
                  </a:txBody>
                  <a:tcPr marL="91425" marR="91425" marT="91425" marB="91425"/>
                </a:tc>
                <a:tc vMerge="1">
                  <a:txBody>
                    <a:bodyPr/>
                    <a:lstStyle/>
                    <a:p>
                      <a:endParaRPr lang="en-US"/>
                    </a:p>
                  </a:txBody>
                  <a:tcPr/>
                </a:tc>
                <a:extLst>
                  <a:ext uri="{0D108BD9-81ED-4DB2-BD59-A6C34878D82A}">
                    <a16:rowId xmlns:a16="http://schemas.microsoft.com/office/drawing/2014/main" val="10003"/>
                  </a:ext>
                </a:extLst>
              </a:tr>
              <a:tr h="837375">
                <a:tc>
                  <a:txBody>
                    <a:bodyPr/>
                    <a:lstStyle/>
                    <a:p>
                      <a:pPr marL="0" lvl="0" indent="0" algn="l" rtl="0">
                        <a:spcBef>
                          <a:spcPts val="0"/>
                        </a:spcBef>
                        <a:spcAft>
                          <a:spcPts val="0"/>
                        </a:spcAft>
                        <a:buClr>
                          <a:schemeClr val="dk1"/>
                        </a:buClr>
                        <a:buSzPts val="1100"/>
                        <a:buFont typeface="Arial"/>
                        <a:buNone/>
                      </a:pPr>
                      <a:r>
                        <a:rPr lang="ja" sz="900">
                          <a:solidFill>
                            <a:schemeClr val="dk2"/>
                          </a:solidFill>
                        </a:rPr>
                        <a:t>Enterprise On-Ramp</a:t>
                      </a:r>
                      <a:endParaRPr sz="900">
                        <a:solidFill>
                          <a:schemeClr val="dk2"/>
                        </a:solidFill>
                      </a:endParaRPr>
                    </a:p>
                  </a:txBody>
                  <a:tcPr marL="91425" marR="91425" marT="91425" marB="91425"/>
                </a:tc>
                <a:tc>
                  <a:txBody>
                    <a:bodyPr/>
                    <a:lstStyle/>
                    <a:p>
                      <a:pPr marL="0" lvl="0" indent="0" algn="l" rtl="0">
                        <a:spcBef>
                          <a:spcPts val="0"/>
                        </a:spcBef>
                        <a:spcAft>
                          <a:spcPts val="0"/>
                        </a:spcAft>
                        <a:buNone/>
                      </a:pPr>
                      <a:endParaRPr sz="900">
                        <a:solidFill>
                          <a:schemeClr val="dk2"/>
                        </a:solidFill>
                      </a:endParaRPr>
                    </a:p>
                  </a:txBody>
                  <a:tcPr marL="91425" marR="91425" marT="91425" marB="91425"/>
                </a:tc>
                <a:tc>
                  <a:txBody>
                    <a:bodyPr/>
                    <a:lstStyle/>
                    <a:p>
                      <a:pPr marL="0" lvl="0" indent="0" algn="l" rtl="0">
                        <a:spcBef>
                          <a:spcPts val="0"/>
                        </a:spcBef>
                        <a:spcAft>
                          <a:spcPts val="0"/>
                        </a:spcAft>
                        <a:buNone/>
                      </a:pPr>
                      <a:r>
                        <a:rPr lang="ja" sz="900" dirty="0">
                          <a:solidFill>
                            <a:schemeClr val="dk2"/>
                          </a:solidFill>
                        </a:rPr>
                        <a:t>本番環境および/またはビジネスクリティカルなワークロードをお持ちの方におすすめします。</a:t>
                      </a:r>
                      <a:endParaRPr sz="900" dirty="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ja" sz="900">
                          <a:solidFill>
                            <a:schemeClr val="dk2"/>
                          </a:solidFill>
                          <a:highlight>
                            <a:schemeClr val="lt1"/>
                          </a:highlight>
                        </a:rPr>
                        <a:t>一般的なガイダンス: &lt; 24 時間</a:t>
                      </a:r>
                      <a:endParaRPr sz="90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ja" sz="900">
                          <a:solidFill>
                            <a:schemeClr val="dk2"/>
                          </a:solidFill>
                          <a:highlight>
                            <a:schemeClr val="lt1"/>
                          </a:highlight>
                        </a:rPr>
                        <a:t>システム障害: &lt; 12 時間</a:t>
                      </a:r>
                      <a:endParaRPr sz="90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ja" sz="900">
                          <a:solidFill>
                            <a:schemeClr val="dk2"/>
                          </a:solidFill>
                          <a:highlight>
                            <a:schemeClr val="lt1"/>
                          </a:highlight>
                        </a:rPr>
                        <a:t>本番システムの障害: &lt; 4 時間</a:t>
                      </a:r>
                      <a:endParaRPr sz="90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ja" sz="900">
                          <a:solidFill>
                            <a:schemeClr val="dk2"/>
                          </a:solidFill>
                          <a:highlight>
                            <a:schemeClr val="lt1"/>
                          </a:highlight>
                        </a:rPr>
                        <a:t>本番システムのダウン: &lt; 1 時間</a:t>
                      </a:r>
                      <a:endParaRPr sz="900">
                        <a:solidFill>
                          <a:schemeClr val="dk2"/>
                        </a:solidFill>
                        <a:highlight>
                          <a:schemeClr val="lt1"/>
                        </a:highlight>
                      </a:endParaRPr>
                    </a:p>
                    <a:p>
                      <a:pPr marL="0" lvl="0" indent="0" algn="l" rtl="0">
                        <a:spcBef>
                          <a:spcPts val="0"/>
                        </a:spcBef>
                        <a:spcAft>
                          <a:spcPts val="0"/>
                        </a:spcAft>
                        <a:buNone/>
                      </a:pPr>
                      <a:r>
                        <a:rPr lang="ja" sz="900">
                          <a:solidFill>
                            <a:schemeClr val="dk2"/>
                          </a:solidFill>
                          <a:highlight>
                            <a:schemeClr val="lt1"/>
                          </a:highlight>
                        </a:rPr>
                        <a:t>ビジネスクリティカルなシステムのダウン: &lt; 30 分</a:t>
                      </a:r>
                      <a:endParaRPr sz="900">
                        <a:solidFill>
                          <a:schemeClr val="dk2"/>
                        </a:solidFill>
                        <a:highlight>
                          <a:schemeClr val="lt1"/>
                        </a:highlight>
                      </a:endParaRPr>
                    </a:p>
                  </a:txBody>
                  <a:tcPr marL="91425" marR="91425" marT="91425" marB="91425"/>
                </a:tc>
                <a:tc vMerge="1">
                  <a:txBody>
                    <a:bodyPr/>
                    <a:lstStyle/>
                    <a:p>
                      <a:endParaRPr lang="en-US"/>
                    </a:p>
                  </a:txBody>
                  <a:tcPr/>
                </a:tc>
                <a:extLst>
                  <a:ext uri="{0D108BD9-81ED-4DB2-BD59-A6C34878D82A}">
                    <a16:rowId xmlns:a16="http://schemas.microsoft.com/office/drawing/2014/main" val="10004"/>
                  </a:ext>
                </a:extLst>
              </a:tr>
              <a:tr h="969575">
                <a:tc>
                  <a:txBody>
                    <a:bodyPr/>
                    <a:lstStyle/>
                    <a:p>
                      <a:pPr marL="0" lvl="0" indent="0" algn="l" rtl="0">
                        <a:spcBef>
                          <a:spcPts val="0"/>
                        </a:spcBef>
                        <a:spcAft>
                          <a:spcPts val="0"/>
                        </a:spcAft>
                        <a:buNone/>
                      </a:pPr>
                      <a:r>
                        <a:rPr lang="ja" sz="900">
                          <a:solidFill>
                            <a:schemeClr val="dk2"/>
                          </a:solidFill>
                        </a:rPr>
                        <a:t>Enterprise</a:t>
                      </a:r>
                      <a:endParaRPr sz="900">
                        <a:solidFill>
                          <a:schemeClr val="dk2"/>
                        </a:solidFill>
                      </a:endParaRPr>
                    </a:p>
                  </a:txBody>
                  <a:tcPr marL="91425" marR="91425" marT="91425" marB="91425"/>
                </a:tc>
                <a:tc>
                  <a:txBody>
                    <a:bodyPr/>
                    <a:lstStyle/>
                    <a:p>
                      <a:pPr marL="0" lvl="0" indent="0" algn="l" rtl="0">
                        <a:spcBef>
                          <a:spcPts val="0"/>
                        </a:spcBef>
                        <a:spcAft>
                          <a:spcPts val="0"/>
                        </a:spcAft>
                        <a:buNone/>
                      </a:pPr>
                      <a:endParaRPr sz="900">
                        <a:solidFill>
                          <a:schemeClr val="dk2"/>
                        </a:solidFill>
                      </a:endParaRPr>
                    </a:p>
                  </a:txBody>
                  <a:tcPr marL="91425" marR="91425" marT="91425" marB="91425"/>
                </a:tc>
                <a:tc>
                  <a:txBody>
                    <a:bodyPr/>
                    <a:lstStyle/>
                    <a:p>
                      <a:pPr marL="0" lvl="0" indent="0" algn="l" rtl="0">
                        <a:spcBef>
                          <a:spcPts val="0"/>
                        </a:spcBef>
                        <a:spcAft>
                          <a:spcPts val="0"/>
                        </a:spcAft>
                        <a:buNone/>
                      </a:pPr>
                      <a:r>
                        <a:rPr lang="ja" sz="900">
                          <a:solidFill>
                            <a:schemeClr val="dk2"/>
                          </a:solidFill>
                        </a:rPr>
                        <a:t>AWS にビジネスおよび/またはミッションクリティカルなワークロードをお持ちの方におすすめします</a:t>
                      </a:r>
                      <a:endParaRPr sz="90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ja" sz="900" dirty="0">
                          <a:solidFill>
                            <a:schemeClr val="dk2"/>
                          </a:solidFill>
                          <a:highlight>
                            <a:schemeClr val="lt1"/>
                          </a:highlight>
                        </a:rPr>
                        <a:t>一般的なガイダンス: &lt; 24 時間</a:t>
                      </a:r>
                      <a:endParaRPr sz="900" dirty="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ja" sz="900" dirty="0">
                          <a:solidFill>
                            <a:schemeClr val="dk2"/>
                          </a:solidFill>
                          <a:highlight>
                            <a:schemeClr val="lt1"/>
                          </a:highlight>
                        </a:rPr>
                        <a:t>システム障害: &lt; 12 時間</a:t>
                      </a:r>
                      <a:endParaRPr sz="900" dirty="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ja" sz="900" dirty="0">
                          <a:solidFill>
                            <a:schemeClr val="dk2"/>
                          </a:solidFill>
                          <a:highlight>
                            <a:schemeClr val="lt1"/>
                          </a:highlight>
                        </a:rPr>
                        <a:t>本番システムの障害: &lt; 4 時間</a:t>
                      </a:r>
                      <a:endParaRPr sz="900" dirty="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ja" sz="900" dirty="0">
                          <a:solidFill>
                            <a:schemeClr val="dk2"/>
                          </a:solidFill>
                          <a:highlight>
                            <a:schemeClr val="lt1"/>
                          </a:highlight>
                        </a:rPr>
                        <a:t>本番システムのダウン: &lt; 1 時間</a:t>
                      </a:r>
                      <a:endParaRPr sz="900" dirty="0">
                        <a:solidFill>
                          <a:schemeClr val="dk2"/>
                        </a:solidFill>
                        <a:highlight>
                          <a:schemeClr val="lt1"/>
                        </a:highlight>
                      </a:endParaRPr>
                    </a:p>
                    <a:p>
                      <a:pPr marL="0" lvl="0" indent="0" algn="l" rtl="0">
                        <a:spcBef>
                          <a:spcPts val="0"/>
                        </a:spcBef>
                        <a:spcAft>
                          <a:spcPts val="0"/>
                        </a:spcAft>
                        <a:buNone/>
                      </a:pPr>
                      <a:r>
                        <a:rPr lang="ja" sz="900" dirty="0">
                          <a:solidFill>
                            <a:schemeClr val="dk2"/>
                          </a:solidFill>
                          <a:highlight>
                            <a:schemeClr val="lt1"/>
                          </a:highlight>
                        </a:rPr>
                        <a:t>ビジネス/ミッションクリティカルなシステムのダウン: &lt; 15 分</a:t>
                      </a:r>
                      <a:endParaRPr sz="900" dirty="0">
                        <a:solidFill>
                          <a:schemeClr val="dk2"/>
                        </a:solidFill>
                        <a:highlight>
                          <a:schemeClr val="lt1"/>
                        </a:highlight>
                      </a:endParaRPr>
                    </a:p>
                  </a:txBody>
                  <a:tcPr marL="91425" marR="91425" marT="91425" marB="91425"/>
                </a:tc>
                <a:tc vMerge="1">
                  <a:txBody>
                    <a:bodyPr/>
                    <a:lstStyle/>
                    <a:p>
                      <a:endParaRPr lang="en-US"/>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26">
          <a:extLst>
            <a:ext uri="{FF2B5EF4-FFF2-40B4-BE49-F238E27FC236}">
              <a16:creationId xmlns:a16="http://schemas.microsoft.com/office/drawing/2014/main" id="{84D996B6-0733-D182-B880-9461909B659F}"/>
            </a:ext>
          </a:extLst>
        </p:cNvPr>
        <p:cNvGrpSpPr/>
        <p:nvPr/>
      </p:nvGrpSpPr>
      <p:grpSpPr>
        <a:xfrm>
          <a:off x="0" y="0"/>
          <a:ext cx="0" cy="0"/>
          <a:chOff x="0" y="0"/>
          <a:chExt cx="0" cy="0"/>
        </a:xfrm>
      </p:grpSpPr>
      <p:sp>
        <p:nvSpPr>
          <p:cNvPr id="227" name="Google Shape;227;p35">
            <a:extLst>
              <a:ext uri="{FF2B5EF4-FFF2-40B4-BE49-F238E27FC236}">
                <a16:creationId xmlns:a16="http://schemas.microsoft.com/office/drawing/2014/main" id="{1971772E-4757-326D-7C31-6624597681EE}"/>
              </a:ext>
            </a:extLst>
          </p:cNvPr>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lvl="0"/>
            <a:r>
              <a:rPr lang="ja" dirty="0">
                <a:highlight>
                  <a:srgbClr val="D9D9D9"/>
                </a:highlight>
              </a:rPr>
              <a:t>7-2.</a:t>
            </a:r>
            <a:r>
              <a:rPr lang="en-US" altLang="ja" dirty="0"/>
              <a:t> </a:t>
            </a:r>
            <a:r>
              <a:rPr lang="en-US" altLang="ja" dirty="0" err="1"/>
              <a:t>Gói</a:t>
            </a:r>
            <a:r>
              <a:rPr lang="en-US" altLang="ja" dirty="0"/>
              <a:t> AWS Support</a:t>
            </a:r>
            <a:endParaRPr dirty="0">
              <a:highlight>
                <a:srgbClr val="D9D9D9"/>
              </a:highlight>
            </a:endParaRPr>
          </a:p>
          <a:p>
            <a:pPr marL="0" lvl="0" indent="0" algn="l" rtl="0">
              <a:spcBef>
                <a:spcPts val="0"/>
              </a:spcBef>
              <a:spcAft>
                <a:spcPts val="0"/>
              </a:spcAft>
              <a:buNone/>
            </a:pPr>
            <a:endParaRPr dirty="0">
              <a:highlight>
                <a:srgbClr val="D9D9D9"/>
              </a:highlight>
            </a:endParaRPr>
          </a:p>
        </p:txBody>
      </p:sp>
      <p:pic>
        <p:nvPicPr>
          <p:cNvPr id="228" name="Google Shape;228;p35" title="logo-luvina-2022-2.png">
            <a:extLst>
              <a:ext uri="{FF2B5EF4-FFF2-40B4-BE49-F238E27FC236}">
                <a16:creationId xmlns:a16="http://schemas.microsoft.com/office/drawing/2014/main" id="{0753CA0B-3132-27B8-4EB1-C2CD72CE2547}"/>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29" name="Google Shape;229;p35">
            <a:extLst>
              <a:ext uri="{FF2B5EF4-FFF2-40B4-BE49-F238E27FC236}">
                <a16:creationId xmlns:a16="http://schemas.microsoft.com/office/drawing/2014/main" id="{853781E1-A7F6-8D94-B00E-4677B9765025}"/>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36</a:t>
            </a:fld>
            <a:endParaRPr/>
          </a:p>
        </p:txBody>
      </p:sp>
      <p:graphicFrame>
        <p:nvGraphicFramePr>
          <p:cNvPr id="230" name="Google Shape;230;p35">
            <a:extLst>
              <a:ext uri="{FF2B5EF4-FFF2-40B4-BE49-F238E27FC236}">
                <a16:creationId xmlns:a16="http://schemas.microsoft.com/office/drawing/2014/main" id="{119BDC89-78CB-850F-6146-114CBF43BD0F}"/>
              </a:ext>
            </a:extLst>
          </p:cNvPr>
          <p:cNvGraphicFramePr/>
          <p:nvPr>
            <p:extLst>
              <p:ext uri="{D42A27DB-BD31-4B8C-83A1-F6EECF244321}">
                <p14:modId xmlns:p14="http://schemas.microsoft.com/office/powerpoint/2010/main" val="2308959217"/>
              </p:ext>
            </p:extLst>
          </p:nvPr>
        </p:nvGraphicFramePr>
        <p:xfrm>
          <a:off x="705175" y="1065450"/>
          <a:ext cx="7627350" cy="4312740"/>
        </p:xfrm>
        <a:graphic>
          <a:graphicData uri="http://schemas.openxmlformats.org/drawingml/2006/table">
            <a:tbl>
              <a:tblPr>
                <a:noFill/>
                <a:tableStyleId>{87A281C8-0844-4F7E-8F5C-31C3930F0FE5}</a:tableStyleId>
              </a:tblPr>
              <a:tblGrid>
                <a:gridCol w="904500">
                  <a:extLst>
                    <a:ext uri="{9D8B030D-6E8A-4147-A177-3AD203B41FA5}">
                      <a16:colId xmlns:a16="http://schemas.microsoft.com/office/drawing/2014/main" val="20000"/>
                    </a:ext>
                  </a:extLst>
                </a:gridCol>
                <a:gridCol w="904500">
                  <a:extLst>
                    <a:ext uri="{9D8B030D-6E8A-4147-A177-3AD203B41FA5}">
                      <a16:colId xmlns:a16="http://schemas.microsoft.com/office/drawing/2014/main" val="20001"/>
                    </a:ext>
                  </a:extLst>
                </a:gridCol>
                <a:gridCol w="1678900">
                  <a:extLst>
                    <a:ext uri="{9D8B030D-6E8A-4147-A177-3AD203B41FA5}">
                      <a16:colId xmlns:a16="http://schemas.microsoft.com/office/drawing/2014/main" val="20002"/>
                    </a:ext>
                  </a:extLst>
                </a:gridCol>
                <a:gridCol w="3087500">
                  <a:extLst>
                    <a:ext uri="{9D8B030D-6E8A-4147-A177-3AD203B41FA5}">
                      <a16:colId xmlns:a16="http://schemas.microsoft.com/office/drawing/2014/main" val="20003"/>
                    </a:ext>
                  </a:extLst>
                </a:gridCol>
                <a:gridCol w="1051950">
                  <a:extLst>
                    <a:ext uri="{9D8B030D-6E8A-4147-A177-3AD203B41FA5}">
                      <a16:colId xmlns:a16="http://schemas.microsoft.com/office/drawing/2014/main" val="20004"/>
                    </a:ext>
                  </a:extLst>
                </a:gridCol>
              </a:tblGrid>
              <a:tr h="336525">
                <a:tc>
                  <a:txBody>
                    <a:bodyPr/>
                    <a:lstStyle/>
                    <a:p>
                      <a:pPr marL="0" lvl="0" indent="0" algn="l" rtl="0">
                        <a:spcBef>
                          <a:spcPts val="0"/>
                        </a:spcBef>
                        <a:spcAft>
                          <a:spcPts val="0"/>
                        </a:spcAft>
                        <a:buNone/>
                      </a:pPr>
                      <a:r>
                        <a:rPr lang="en-US" sz="1100" b="1" dirty="0" err="1">
                          <a:solidFill>
                            <a:schemeClr val="dk2"/>
                          </a:solidFill>
                        </a:rPr>
                        <a:t>Gói</a:t>
                      </a:r>
                      <a:endParaRPr sz="1100" b="1" dirty="0">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sz="1100" b="1" dirty="0">
                          <a:solidFill>
                            <a:schemeClr val="dk2"/>
                          </a:solidFill>
                        </a:rPr>
                        <a:t>POS</a:t>
                      </a:r>
                      <a:r>
                        <a:rPr lang="en-US" altLang="ja" sz="1100" b="1" dirty="0">
                          <a:solidFill>
                            <a:schemeClr val="dk2"/>
                          </a:solidFill>
                        </a:rPr>
                        <a:t> server</a:t>
                      </a:r>
                      <a:endParaRPr sz="1100" b="1" dirty="0">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en-US" sz="1100" b="1" dirty="0">
                          <a:solidFill>
                            <a:schemeClr val="dk2"/>
                          </a:solidFill>
                        </a:rPr>
                        <a:t>User case</a:t>
                      </a:r>
                      <a:endParaRPr sz="1100" b="1" dirty="0">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vi-VN" altLang="ja" sz="1100" b="1" dirty="0">
                          <a:solidFill>
                            <a:schemeClr val="dk2"/>
                          </a:solidFill>
                        </a:rPr>
                        <a:t>Mức độ ưu tiên của sự cố (case) và thời gian phản hồi</a:t>
                      </a:r>
                      <a:endParaRPr sz="1100" b="1" dirty="0">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en-US" altLang="ja" sz="1100" b="1" dirty="0" err="1">
                          <a:solidFill>
                            <a:schemeClr val="dk2"/>
                          </a:solidFill>
                        </a:rPr>
                        <a:t>Giá</a:t>
                      </a:r>
                      <a:endParaRPr sz="1100" b="1" dirty="0">
                        <a:solidFill>
                          <a:schemeClr val="dk2"/>
                        </a:solidFill>
                      </a:endParaRPr>
                    </a:p>
                  </a:txBody>
                  <a:tcPr marL="91425" marR="91425" marT="91425" marB="91425">
                    <a:solidFill>
                      <a:schemeClr val="lt2"/>
                    </a:solidFill>
                  </a:tcPr>
                </a:tc>
                <a:extLst>
                  <a:ext uri="{0D108BD9-81ED-4DB2-BD59-A6C34878D82A}">
                    <a16:rowId xmlns:a16="http://schemas.microsoft.com/office/drawing/2014/main" val="10000"/>
                  </a:ext>
                </a:extLst>
              </a:tr>
              <a:tr h="440675">
                <a:tc>
                  <a:txBody>
                    <a:bodyPr/>
                    <a:lstStyle/>
                    <a:p>
                      <a:pPr marL="0" lvl="0" indent="0" algn="l" rtl="0">
                        <a:spcBef>
                          <a:spcPts val="0"/>
                        </a:spcBef>
                        <a:spcAft>
                          <a:spcPts val="0"/>
                        </a:spcAft>
                        <a:buClr>
                          <a:schemeClr val="dk1"/>
                        </a:buClr>
                        <a:buSzPts val="1100"/>
                        <a:buFont typeface="Arial"/>
                        <a:buNone/>
                      </a:pPr>
                      <a:r>
                        <a:rPr lang="ja" sz="900">
                          <a:solidFill>
                            <a:schemeClr val="dk2"/>
                          </a:solidFill>
                        </a:rPr>
                        <a:t>Basic</a:t>
                      </a:r>
                      <a:endParaRPr sz="900">
                        <a:solidFill>
                          <a:schemeClr val="dk2"/>
                        </a:solidFill>
                      </a:endParaRPr>
                    </a:p>
                  </a:txBody>
                  <a:tcPr marL="91425" marR="91425" marT="91425" marB="91425"/>
                </a:tc>
                <a:tc>
                  <a:txBody>
                    <a:bodyPr/>
                    <a:lstStyle/>
                    <a:p>
                      <a:pPr marL="0" lvl="0" indent="0" algn="l" rtl="0">
                        <a:spcBef>
                          <a:spcPts val="0"/>
                        </a:spcBef>
                        <a:spcAft>
                          <a:spcPts val="0"/>
                        </a:spcAft>
                        <a:buNone/>
                      </a:pPr>
                      <a:r>
                        <a:rPr lang="en-US" altLang="ja" sz="900" dirty="0">
                          <a:solidFill>
                            <a:schemeClr val="dk2"/>
                          </a:solidFill>
                        </a:rPr>
                        <a:t>Spiker</a:t>
                      </a:r>
                      <a:endParaRPr sz="900" dirty="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vi-VN" altLang="ja" sz="900" dirty="0">
                          <a:solidFill>
                            <a:schemeClr val="dk2"/>
                          </a:solidFill>
                        </a:rPr>
                        <a:t>Được cung cấp cho tất cả khách hàng của AWS</a:t>
                      </a:r>
                      <a:endParaRPr sz="900" dirty="0">
                        <a:solidFill>
                          <a:schemeClr val="dk2"/>
                        </a:solidFill>
                      </a:endParaRPr>
                    </a:p>
                  </a:txBody>
                  <a:tcPr marL="91425" marR="91425" marT="91425" marB="91425"/>
                </a:tc>
                <a:tc>
                  <a:txBody>
                    <a:bodyPr/>
                    <a:lstStyle/>
                    <a:p>
                      <a:pPr marL="0" lvl="0" indent="0" algn="l" rtl="0">
                        <a:spcBef>
                          <a:spcPts val="0"/>
                        </a:spcBef>
                        <a:spcAft>
                          <a:spcPts val="0"/>
                        </a:spcAft>
                        <a:buNone/>
                      </a:pPr>
                      <a:r>
                        <a:rPr lang="en-US" sz="900" dirty="0">
                          <a:solidFill>
                            <a:schemeClr val="dk2"/>
                          </a:solidFill>
                          <a:highlight>
                            <a:schemeClr val="lt1"/>
                          </a:highlight>
                        </a:rPr>
                        <a:t>Ko </a:t>
                      </a:r>
                      <a:r>
                        <a:rPr lang="en-US" sz="900" dirty="0" err="1">
                          <a:solidFill>
                            <a:schemeClr val="dk2"/>
                          </a:solidFill>
                          <a:highlight>
                            <a:schemeClr val="lt1"/>
                          </a:highlight>
                        </a:rPr>
                        <a:t>có</a:t>
                      </a:r>
                      <a:endParaRPr sz="900" dirty="0">
                        <a:solidFill>
                          <a:schemeClr val="dk2"/>
                        </a:solidFill>
                        <a:highlight>
                          <a:schemeClr val="lt1"/>
                        </a:highlight>
                      </a:endParaRPr>
                    </a:p>
                  </a:txBody>
                  <a:tcPr marL="91425" marR="91425" marT="91425" marB="91425"/>
                </a:tc>
                <a:tc>
                  <a:txBody>
                    <a:bodyPr/>
                    <a:lstStyle/>
                    <a:p>
                      <a:pPr marL="0" lvl="0" indent="0" algn="l" rtl="0">
                        <a:spcBef>
                          <a:spcPts val="0"/>
                        </a:spcBef>
                        <a:spcAft>
                          <a:spcPts val="0"/>
                        </a:spcAft>
                        <a:buNone/>
                      </a:pPr>
                      <a:r>
                        <a:rPr lang="en-US" sz="900" dirty="0">
                          <a:solidFill>
                            <a:schemeClr val="dk2"/>
                          </a:solidFill>
                          <a:highlight>
                            <a:schemeClr val="lt1"/>
                          </a:highlight>
                        </a:rPr>
                        <a:t>Free</a:t>
                      </a:r>
                      <a:endParaRPr sz="900" dirty="0">
                        <a:solidFill>
                          <a:schemeClr val="dk2"/>
                        </a:solidFill>
                        <a:highlight>
                          <a:schemeClr val="lt1"/>
                        </a:highlight>
                      </a:endParaRPr>
                    </a:p>
                  </a:txBody>
                  <a:tcPr marL="91425" marR="91425" marT="91425" marB="91425"/>
                </a:tc>
                <a:extLst>
                  <a:ext uri="{0D108BD9-81ED-4DB2-BD59-A6C34878D82A}">
                    <a16:rowId xmlns:a16="http://schemas.microsoft.com/office/drawing/2014/main" val="10001"/>
                  </a:ext>
                </a:extLst>
              </a:tr>
              <a:tr h="440675">
                <a:tc>
                  <a:txBody>
                    <a:bodyPr/>
                    <a:lstStyle/>
                    <a:p>
                      <a:pPr marL="0" lvl="0" indent="0" algn="l" rtl="0">
                        <a:spcBef>
                          <a:spcPts val="0"/>
                        </a:spcBef>
                        <a:spcAft>
                          <a:spcPts val="0"/>
                        </a:spcAft>
                        <a:buClr>
                          <a:schemeClr val="dk1"/>
                        </a:buClr>
                        <a:buSzPts val="1100"/>
                        <a:buFont typeface="Arial"/>
                        <a:buNone/>
                      </a:pPr>
                      <a:r>
                        <a:rPr lang="ja" sz="900">
                          <a:solidFill>
                            <a:schemeClr val="dk2"/>
                          </a:solidFill>
                        </a:rPr>
                        <a:t>Developer</a:t>
                      </a:r>
                      <a:endParaRPr sz="900">
                        <a:solidFill>
                          <a:schemeClr val="dk2"/>
                        </a:solidFill>
                      </a:endParaRPr>
                    </a:p>
                  </a:txBody>
                  <a:tcPr marL="91425" marR="91425" marT="91425" marB="91425">
                    <a:solidFill>
                      <a:schemeClr val="accent6"/>
                    </a:solidFill>
                  </a:tcPr>
                </a:tc>
                <a:tc>
                  <a:txBody>
                    <a:bodyPr/>
                    <a:lstStyle/>
                    <a:p>
                      <a:pPr marL="0" lvl="0" indent="0" algn="l" rtl="0">
                        <a:spcBef>
                          <a:spcPts val="0"/>
                        </a:spcBef>
                        <a:spcAft>
                          <a:spcPts val="0"/>
                        </a:spcAft>
                        <a:buNone/>
                      </a:pPr>
                      <a:r>
                        <a:rPr lang="en-US" altLang="ja" sz="900" dirty="0">
                          <a:solidFill>
                            <a:schemeClr val="dk2"/>
                          </a:solidFill>
                        </a:rPr>
                        <a:t>Staging</a:t>
                      </a:r>
                      <a:endParaRPr sz="900" dirty="0">
                        <a:solidFill>
                          <a:schemeClr val="dk2"/>
                        </a:solidFill>
                      </a:endParaRPr>
                    </a:p>
                    <a:p>
                      <a:pPr marL="0" lvl="0" indent="0" algn="l" rtl="0">
                        <a:spcBef>
                          <a:spcPts val="0"/>
                        </a:spcBef>
                        <a:spcAft>
                          <a:spcPts val="0"/>
                        </a:spcAft>
                        <a:buNone/>
                      </a:pPr>
                      <a:r>
                        <a:rPr lang="en-US" sz="900" dirty="0">
                          <a:solidFill>
                            <a:schemeClr val="dk2"/>
                          </a:solidFill>
                        </a:rPr>
                        <a:t>Product</a:t>
                      </a:r>
                      <a:endParaRPr sz="900" dirty="0">
                        <a:solidFill>
                          <a:schemeClr val="dk2"/>
                        </a:solidFill>
                      </a:endParaRPr>
                    </a:p>
                  </a:txBody>
                  <a:tcPr marL="91425" marR="91425" marT="91425" marB="91425">
                    <a:solidFill>
                      <a:schemeClr val="accent6"/>
                    </a:solidFill>
                  </a:tcPr>
                </a:tc>
                <a:tc>
                  <a:txBody>
                    <a:bodyPr/>
                    <a:lstStyle/>
                    <a:p>
                      <a:pPr marL="0" lvl="0" indent="0" algn="l" rtl="0">
                        <a:spcBef>
                          <a:spcPts val="0"/>
                        </a:spcBef>
                        <a:spcAft>
                          <a:spcPts val="0"/>
                        </a:spcAft>
                        <a:buClr>
                          <a:schemeClr val="dk1"/>
                        </a:buClr>
                        <a:buSzPts val="1100"/>
                        <a:buFont typeface="Arial"/>
                        <a:buNone/>
                      </a:pPr>
                      <a:r>
                        <a:rPr lang="en-US" altLang="ja" sz="900" dirty="0" err="1">
                          <a:solidFill>
                            <a:schemeClr val="dk2"/>
                          </a:solidFill>
                        </a:rPr>
                        <a:t>Dành</a:t>
                      </a:r>
                      <a:r>
                        <a:rPr lang="en-US" altLang="ja" sz="900" dirty="0">
                          <a:solidFill>
                            <a:schemeClr val="dk2"/>
                          </a:solidFill>
                        </a:rPr>
                        <a:t> </a:t>
                      </a:r>
                      <a:r>
                        <a:rPr lang="en-US" altLang="ja" sz="900" dirty="0" err="1">
                          <a:solidFill>
                            <a:schemeClr val="dk2"/>
                          </a:solidFill>
                        </a:rPr>
                        <a:t>cho</a:t>
                      </a:r>
                      <a:r>
                        <a:rPr lang="en-US" altLang="ja" sz="900" dirty="0">
                          <a:solidFill>
                            <a:schemeClr val="dk2"/>
                          </a:solidFill>
                        </a:rPr>
                        <a:t> </a:t>
                      </a:r>
                      <a:r>
                        <a:rPr lang="en-US" altLang="ja" sz="900" dirty="0" err="1">
                          <a:solidFill>
                            <a:schemeClr val="dk2"/>
                          </a:solidFill>
                        </a:rPr>
                        <a:t>những</a:t>
                      </a:r>
                      <a:r>
                        <a:rPr lang="en-US" altLang="ja" sz="900" dirty="0">
                          <a:solidFill>
                            <a:schemeClr val="dk2"/>
                          </a:solidFill>
                        </a:rPr>
                        <a:t> ai </a:t>
                      </a:r>
                      <a:r>
                        <a:rPr lang="en-US" altLang="ja" sz="900" dirty="0" err="1">
                          <a:solidFill>
                            <a:schemeClr val="dk2"/>
                          </a:solidFill>
                        </a:rPr>
                        <a:t>muốn</a:t>
                      </a:r>
                      <a:r>
                        <a:rPr lang="en-US" altLang="ja" sz="900" dirty="0">
                          <a:solidFill>
                            <a:schemeClr val="dk2"/>
                          </a:solidFill>
                        </a:rPr>
                        <a:t> </a:t>
                      </a:r>
                      <a:r>
                        <a:rPr lang="en-US" altLang="ja" sz="900" dirty="0" err="1">
                          <a:solidFill>
                            <a:schemeClr val="dk2"/>
                          </a:solidFill>
                        </a:rPr>
                        <a:t>dùng</a:t>
                      </a:r>
                      <a:r>
                        <a:rPr lang="en-US" altLang="ja" sz="900" dirty="0">
                          <a:solidFill>
                            <a:schemeClr val="dk2"/>
                          </a:solidFill>
                        </a:rPr>
                        <a:t> </a:t>
                      </a:r>
                      <a:r>
                        <a:rPr lang="en-US" altLang="ja" sz="900" dirty="0" err="1">
                          <a:solidFill>
                            <a:schemeClr val="dk2"/>
                          </a:solidFill>
                        </a:rPr>
                        <a:t>thử</a:t>
                      </a:r>
                      <a:r>
                        <a:rPr lang="en-US" altLang="ja" sz="900" dirty="0">
                          <a:solidFill>
                            <a:schemeClr val="dk2"/>
                          </a:solidFill>
                        </a:rPr>
                        <a:t> </a:t>
                      </a:r>
                      <a:r>
                        <a:rPr lang="en-US" altLang="ja" sz="900" dirty="0" err="1">
                          <a:solidFill>
                            <a:schemeClr val="dk2"/>
                          </a:solidFill>
                        </a:rPr>
                        <a:t>và</a:t>
                      </a:r>
                      <a:r>
                        <a:rPr lang="en-US" altLang="ja" sz="900" dirty="0">
                          <a:solidFill>
                            <a:schemeClr val="dk2"/>
                          </a:solidFill>
                        </a:rPr>
                        <a:t> </a:t>
                      </a:r>
                      <a:r>
                        <a:rPr lang="en-US" altLang="ja" sz="900" dirty="0" err="1">
                          <a:solidFill>
                            <a:schemeClr val="dk2"/>
                          </a:solidFill>
                        </a:rPr>
                        <a:t>kiểm</a:t>
                      </a:r>
                      <a:r>
                        <a:rPr lang="en-US" altLang="ja" sz="900" dirty="0">
                          <a:solidFill>
                            <a:schemeClr val="dk2"/>
                          </a:solidFill>
                        </a:rPr>
                        <a:t> </a:t>
                      </a:r>
                      <a:r>
                        <a:rPr lang="en-US" altLang="ja" sz="900" dirty="0" err="1">
                          <a:solidFill>
                            <a:schemeClr val="dk2"/>
                          </a:solidFill>
                        </a:rPr>
                        <a:t>tra</a:t>
                      </a:r>
                      <a:r>
                        <a:rPr lang="en-US" altLang="ja" sz="900" dirty="0">
                          <a:solidFill>
                            <a:schemeClr val="dk2"/>
                          </a:solidFill>
                        </a:rPr>
                        <a:t> </a:t>
                      </a:r>
                      <a:r>
                        <a:rPr lang="en-US" altLang="ja" sz="900" dirty="0" err="1">
                          <a:solidFill>
                            <a:schemeClr val="dk2"/>
                          </a:solidFill>
                        </a:rPr>
                        <a:t>các</a:t>
                      </a:r>
                      <a:r>
                        <a:rPr lang="en-US" altLang="ja" sz="900" dirty="0">
                          <a:solidFill>
                            <a:schemeClr val="dk2"/>
                          </a:solidFill>
                        </a:rPr>
                        <a:t> </a:t>
                      </a:r>
                      <a:r>
                        <a:rPr lang="en-US" altLang="ja" sz="900" dirty="0" err="1">
                          <a:solidFill>
                            <a:schemeClr val="dk2"/>
                          </a:solidFill>
                        </a:rPr>
                        <a:t>dịch</a:t>
                      </a:r>
                      <a:r>
                        <a:rPr lang="en-US" altLang="ja" sz="900" dirty="0">
                          <a:solidFill>
                            <a:schemeClr val="dk2"/>
                          </a:solidFill>
                        </a:rPr>
                        <a:t> </a:t>
                      </a:r>
                      <a:r>
                        <a:rPr lang="en-US" altLang="ja" sz="900" dirty="0" err="1">
                          <a:solidFill>
                            <a:schemeClr val="dk2"/>
                          </a:solidFill>
                        </a:rPr>
                        <a:t>vụ</a:t>
                      </a:r>
                      <a:r>
                        <a:rPr lang="en-US" altLang="ja" sz="900" dirty="0">
                          <a:solidFill>
                            <a:schemeClr val="dk2"/>
                          </a:solidFill>
                        </a:rPr>
                        <a:t> </a:t>
                      </a:r>
                      <a:r>
                        <a:rPr lang="en-US" altLang="ja" sz="900" dirty="0" err="1">
                          <a:solidFill>
                            <a:schemeClr val="dk2"/>
                          </a:solidFill>
                        </a:rPr>
                        <a:t>khác</a:t>
                      </a:r>
                      <a:r>
                        <a:rPr lang="en-US" altLang="ja" sz="900" dirty="0">
                          <a:solidFill>
                            <a:schemeClr val="dk2"/>
                          </a:solidFill>
                        </a:rPr>
                        <a:t> </a:t>
                      </a:r>
                      <a:r>
                        <a:rPr lang="en-US" altLang="ja" sz="900" dirty="0" err="1">
                          <a:solidFill>
                            <a:schemeClr val="dk2"/>
                          </a:solidFill>
                        </a:rPr>
                        <a:t>nhau</a:t>
                      </a:r>
                      <a:endParaRPr sz="900" dirty="0">
                        <a:solidFill>
                          <a:schemeClr val="dk2"/>
                        </a:solidFill>
                      </a:endParaRPr>
                    </a:p>
                  </a:txBody>
                  <a:tcPr marL="91425" marR="91425" marT="91425" marB="91425">
                    <a:solidFill>
                      <a:schemeClr val="accent6"/>
                    </a:solidFill>
                  </a:tcPr>
                </a:tc>
                <a:tc>
                  <a:txBody>
                    <a:bodyPr/>
                    <a:lstStyle/>
                    <a:p>
                      <a:pPr marL="0" lvl="0" indent="0" algn="l" rtl="0">
                        <a:spcBef>
                          <a:spcPts val="0"/>
                        </a:spcBef>
                        <a:spcAft>
                          <a:spcPts val="0"/>
                        </a:spcAft>
                        <a:buNone/>
                      </a:pPr>
                      <a:r>
                        <a:rPr lang="vi-VN" altLang="ja" sz="900" dirty="0">
                          <a:solidFill>
                            <a:schemeClr val="dk2"/>
                          </a:solidFill>
                        </a:rPr>
                        <a:t>Hướng dẫn chung: Dưới 24 giờ</a:t>
                      </a:r>
                    </a:p>
                    <a:p>
                      <a:pPr marL="0" lvl="0" indent="0" algn="l" rtl="0">
                        <a:spcBef>
                          <a:spcPts val="0"/>
                        </a:spcBef>
                        <a:spcAft>
                          <a:spcPts val="0"/>
                        </a:spcAft>
                        <a:buNone/>
                      </a:pPr>
                      <a:r>
                        <a:rPr lang="vi-VN" altLang="ja" sz="900" dirty="0">
                          <a:solidFill>
                            <a:schemeClr val="dk2"/>
                          </a:solidFill>
                        </a:rPr>
                        <a:t>Sự cố hệ thống: Dưới 12 giờ</a:t>
                      </a:r>
                      <a:endParaRPr sz="900" dirty="0">
                        <a:solidFill>
                          <a:schemeClr val="dk2"/>
                        </a:solidFill>
                        <a:highlight>
                          <a:schemeClr val="lt1"/>
                        </a:highlight>
                      </a:endParaRPr>
                    </a:p>
                  </a:txBody>
                  <a:tcPr marL="91425" marR="91425" marT="91425" marB="91425">
                    <a:solidFill>
                      <a:schemeClr val="accent6"/>
                    </a:solidFill>
                  </a:tcPr>
                </a:tc>
                <a:tc rowSpan="4">
                  <a:txBody>
                    <a:bodyPr/>
                    <a:lstStyle/>
                    <a:p>
                      <a:pPr marL="0" lvl="0" indent="0" algn="l" rtl="0">
                        <a:spcBef>
                          <a:spcPts val="0"/>
                        </a:spcBef>
                        <a:spcAft>
                          <a:spcPts val="0"/>
                        </a:spcAft>
                        <a:buNone/>
                      </a:pPr>
                      <a:r>
                        <a:rPr lang="en-US" sz="900" dirty="0" err="1">
                          <a:solidFill>
                            <a:schemeClr val="dk2"/>
                          </a:solidFill>
                          <a:highlight>
                            <a:srgbClr val="FFFFFF"/>
                          </a:highlight>
                          <a:latin typeface="Meiryo"/>
                          <a:ea typeface="Meiryo"/>
                          <a:cs typeface="Meiryo"/>
                          <a:sym typeface="Meiryo"/>
                        </a:rPr>
                        <a:t>Trả</a:t>
                      </a:r>
                      <a:r>
                        <a:rPr lang="en-US" sz="900" dirty="0">
                          <a:solidFill>
                            <a:schemeClr val="dk2"/>
                          </a:solidFill>
                          <a:highlight>
                            <a:srgbClr val="FFFFFF"/>
                          </a:highlight>
                          <a:latin typeface="Meiryo"/>
                          <a:ea typeface="Meiryo"/>
                          <a:cs typeface="Meiryo"/>
                          <a:sym typeface="Meiryo"/>
                        </a:rPr>
                        <a:t> </a:t>
                      </a:r>
                      <a:r>
                        <a:rPr lang="en-US" sz="900" dirty="0" err="1">
                          <a:solidFill>
                            <a:schemeClr val="dk2"/>
                          </a:solidFill>
                          <a:highlight>
                            <a:srgbClr val="FFFFFF"/>
                          </a:highlight>
                          <a:latin typeface="Meiryo"/>
                          <a:ea typeface="Meiryo"/>
                          <a:cs typeface="Meiryo"/>
                          <a:sym typeface="Meiryo"/>
                        </a:rPr>
                        <a:t>phí</a:t>
                      </a:r>
                      <a:endParaRPr sz="900" dirty="0">
                        <a:solidFill>
                          <a:schemeClr val="dk2"/>
                        </a:solidFill>
                        <a:highlight>
                          <a:srgbClr val="FFFFFF"/>
                        </a:highlight>
                        <a:latin typeface="Meiryo"/>
                        <a:ea typeface="Meiryo"/>
                        <a:cs typeface="Meiryo"/>
                        <a:sym typeface="Meiryo"/>
                      </a:endParaRPr>
                    </a:p>
                  </a:txBody>
                  <a:tcPr marL="91425" marR="91425" marT="91425" marB="91425"/>
                </a:tc>
                <a:extLst>
                  <a:ext uri="{0D108BD9-81ED-4DB2-BD59-A6C34878D82A}">
                    <a16:rowId xmlns:a16="http://schemas.microsoft.com/office/drawing/2014/main" val="10002"/>
                  </a:ext>
                </a:extLst>
              </a:tr>
              <a:tr h="705125">
                <a:tc>
                  <a:txBody>
                    <a:bodyPr/>
                    <a:lstStyle/>
                    <a:p>
                      <a:pPr marL="0" lvl="0" indent="0" algn="l" rtl="0">
                        <a:spcBef>
                          <a:spcPts val="0"/>
                        </a:spcBef>
                        <a:spcAft>
                          <a:spcPts val="0"/>
                        </a:spcAft>
                        <a:buClr>
                          <a:schemeClr val="dk1"/>
                        </a:buClr>
                        <a:buSzPts val="1100"/>
                        <a:buFont typeface="Arial"/>
                        <a:buNone/>
                      </a:pPr>
                      <a:r>
                        <a:rPr lang="ja" sz="900">
                          <a:solidFill>
                            <a:schemeClr val="dk2"/>
                          </a:solidFill>
                        </a:rPr>
                        <a:t>Business</a:t>
                      </a:r>
                      <a:endParaRPr sz="900">
                        <a:solidFill>
                          <a:schemeClr val="dk2"/>
                        </a:solidFill>
                      </a:endParaRPr>
                    </a:p>
                  </a:txBody>
                  <a:tcPr marL="91425" marR="91425" marT="91425" marB="91425"/>
                </a:tc>
                <a:tc>
                  <a:txBody>
                    <a:bodyPr/>
                    <a:lstStyle/>
                    <a:p>
                      <a:pPr marL="0" lvl="0" indent="0" algn="l" rtl="0">
                        <a:spcBef>
                          <a:spcPts val="0"/>
                        </a:spcBef>
                        <a:spcAft>
                          <a:spcPts val="0"/>
                        </a:spcAft>
                        <a:buNone/>
                      </a:pPr>
                      <a:endParaRPr sz="90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vi-VN" altLang="ja" sz="900" dirty="0">
                          <a:solidFill>
                            <a:schemeClr val="dk2"/>
                          </a:solidFill>
                        </a:rPr>
                        <a:t>Gói tối thiểu được khuyến nghị cho những người có workload trên môi trường production</a:t>
                      </a:r>
                      <a:endParaRPr sz="900" dirty="0">
                        <a:solidFill>
                          <a:schemeClr val="dk2"/>
                        </a:solidFill>
                      </a:endParaRPr>
                    </a:p>
                  </a:txBody>
                  <a:tcPr marL="91425" marR="91425" marT="91425" marB="91425"/>
                </a:tc>
                <a:tc>
                  <a:txBody>
                    <a:bodyPr/>
                    <a:lstStyle/>
                    <a:p>
                      <a:pPr marL="0" lvl="0" indent="0" algn="l" rtl="0">
                        <a:spcBef>
                          <a:spcPts val="0"/>
                        </a:spcBef>
                        <a:spcAft>
                          <a:spcPts val="0"/>
                        </a:spcAft>
                        <a:buNone/>
                      </a:pPr>
                      <a:r>
                        <a:rPr lang="vi-VN" altLang="ja" sz="900" dirty="0">
                          <a:solidFill>
                            <a:schemeClr val="dk2"/>
                          </a:solidFill>
                        </a:rPr>
                        <a:t>Hướng dẫn chung: Dưới 24 giờ</a:t>
                      </a:r>
                    </a:p>
                    <a:p>
                      <a:pPr marL="0" lvl="0" indent="0" algn="l" rtl="0">
                        <a:spcBef>
                          <a:spcPts val="0"/>
                        </a:spcBef>
                        <a:spcAft>
                          <a:spcPts val="0"/>
                        </a:spcAft>
                        <a:buNone/>
                      </a:pPr>
                      <a:r>
                        <a:rPr lang="vi-VN" altLang="ja" sz="900" dirty="0">
                          <a:solidFill>
                            <a:schemeClr val="dk2"/>
                          </a:solidFill>
                        </a:rPr>
                        <a:t>Sự cố hệ thống: Dưới 12 giờ</a:t>
                      </a:r>
                    </a:p>
                    <a:p>
                      <a:pPr marL="0" lvl="0" indent="0" algn="l" rtl="0">
                        <a:spcBef>
                          <a:spcPts val="0"/>
                        </a:spcBef>
                        <a:spcAft>
                          <a:spcPts val="0"/>
                        </a:spcAft>
                        <a:buNone/>
                      </a:pPr>
                      <a:r>
                        <a:rPr lang="vi-VN" altLang="ja" sz="900" dirty="0">
                          <a:solidFill>
                            <a:schemeClr val="dk2"/>
                          </a:solidFill>
                        </a:rPr>
                        <a:t>Sự cố hệ thống production: Dưới 4 giờ</a:t>
                      </a:r>
                    </a:p>
                    <a:p>
                      <a:pPr marL="0" lvl="0" indent="0" algn="l" rtl="0">
                        <a:spcBef>
                          <a:spcPts val="0"/>
                        </a:spcBef>
                        <a:spcAft>
                          <a:spcPts val="0"/>
                        </a:spcAft>
                        <a:buNone/>
                      </a:pPr>
                      <a:r>
                        <a:rPr lang="vi-VN" altLang="ja" sz="900" dirty="0">
                          <a:solidFill>
                            <a:schemeClr val="dk2"/>
                          </a:solidFill>
                        </a:rPr>
                        <a:t>Hệ thống production ngừng hoạt động: Dưới 1 giờ</a:t>
                      </a:r>
                      <a:endParaRPr sz="900" dirty="0">
                        <a:solidFill>
                          <a:schemeClr val="dk2"/>
                        </a:solidFill>
                        <a:highlight>
                          <a:schemeClr val="lt1"/>
                        </a:highlight>
                      </a:endParaRPr>
                    </a:p>
                  </a:txBody>
                  <a:tcPr marL="91425" marR="91425" marT="91425" marB="91425"/>
                </a:tc>
                <a:tc vMerge="1">
                  <a:txBody>
                    <a:bodyPr/>
                    <a:lstStyle/>
                    <a:p>
                      <a:endParaRPr lang="en-US"/>
                    </a:p>
                  </a:txBody>
                  <a:tcPr/>
                </a:tc>
                <a:extLst>
                  <a:ext uri="{0D108BD9-81ED-4DB2-BD59-A6C34878D82A}">
                    <a16:rowId xmlns:a16="http://schemas.microsoft.com/office/drawing/2014/main" val="10003"/>
                  </a:ext>
                </a:extLst>
              </a:tr>
              <a:tr h="837375">
                <a:tc>
                  <a:txBody>
                    <a:bodyPr/>
                    <a:lstStyle/>
                    <a:p>
                      <a:pPr marL="0" lvl="0" indent="0" algn="l" rtl="0">
                        <a:spcBef>
                          <a:spcPts val="0"/>
                        </a:spcBef>
                        <a:spcAft>
                          <a:spcPts val="0"/>
                        </a:spcAft>
                        <a:buClr>
                          <a:schemeClr val="dk1"/>
                        </a:buClr>
                        <a:buSzPts val="1100"/>
                        <a:buFont typeface="Arial"/>
                        <a:buNone/>
                      </a:pPr>
                      <a:r>
                        <a:rPr lang="ja" sz="900">
                          <a:solidFill>
                            <a:schemeClr val="dk2"/>
                          </a:solidFill>
                        </a:rPr>
                        <a:t>Enterprise On-Ramp</a:t>
                      </a:r>
                      <a:endParaRPr sz="900">
                        <a:solidFill>
                          <a:schemeClr val="dk2"/>
                        </a:solidFill>
                      </a:endParaRPr>
                    </a:p>
                  </a:txBody>
                  <a:tcPr marL="91425" marR="91425" marT="91425" marB="91425"/>
                </a:tc>
                <a:tc>
                  <a:txBody>
                    <a:bodyPr/>
                    <a:lstStyle/>
                    <a:p>
                      <a:pPr marL="0" lvl="0" indent="0" algn="l" rtl="0">
                        <a:spcBef>
                          <a:spcPts val="0"/>
                        </a:spcBef>
                        <a:spcAft>
                          <a:spcPts val="0"/>
                        </a:spcAft>
                        <a:buNone/>
                      </a:pPr>
                      <a:endParaRPr sz="900">
                        <a:solidFill>
                          <a:schemeClr val="dk2"/>
                        </a:solidFill>
                      </a:endParaRPr>
                    </a:p>
                  </a:txBody>
                  <a:tcPr marL="91425" marR="91425" marT="91425" marB="91425"/>
                </a:tc>
                <a:tc>
                  <a:txBody>
                    <a:bodyPr/>
                    <a:lstStyle/>
                    <a:p>
                      <a:pPr marL="0" lvl="0" indent="0" algn="l" rtl="0">
                        <a:spcBef>
                          <a:spcPts val="0"/>
                        </a:spcBef>
                        <a:spcAft>
                          <a:spcPts val="0"/>
                        </a:spcAft>
                        <a:buNone/>
                      </a:pPr>
                      <a:r>
                        <a:rPr lang="vi-VN" altLang="ja" sz="900" dirty="0">
                          <a:solidFill>
                            <a:schemeClr val="dk2"/>
                          </a:solidFill>
                        </a:rPr>
                        <a:t>Khuyến nghị cho những người có workload trên môi trường production và/hoặc workload quan trọng đối với hoạt động kinh doanh</a:t>
                      </a:r>
                      <a:endParaRPr sz="900" dirty="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vi-VN" altLang="ja" sz="900" dirty="0">
                          <a:solidFill>
                            <a:schemeClr val="dk2"/>
                          </a:solidFill>
                        </a:rPr>
                        <a:t>Hướng dẫn chung: Dưới 24 giờ</a:t>
                      </a:r>
                    </a:p>
                    <a:p>
                      <a:pPr marL="0" lvl="0" indent="0" algn="l" rtl="0">
                        <a:spcBef>
                          <a:spcPts val="0"/>
                        </a:spcBef>
                        <a:spcAft>
                          <a:spcPts val="0"/>
                        </a:spcAft>
                        <a:buClr>
                          <a:schemeClr val="dk1"/>
                        </a:buClr>
                        <a:buSzPts val="1100"/>
                        <a:buFont typeface="Arial"/>
                        <a:buNone/>
                      </a:pPr>
                      <a:r>
                        <a:rPr lang="vi-VN" altLang="ja" sz="900" dirty="0">
                          <a:solidFill>
                            <a:schemeClr val="dk2"/>
                          </a:solidFill>
                        </a:rPr>
                        <a:t>Sự cố hệ thống production: Dưới 4 giờ</a:t>
                      </a:r>
                    </a:p>
                    <a:p>
                      <a:pPr marL="0" lvl="0" indent="0" algn="l" rtl="0">
                        <a:spcBef>
                          <a:spcPts val="0"/>
                        </a:spcBef>
                        <a:spcAft>
                          <a:spcPts val="0"/>
                        </a:spcAft>
                        <a:buClr>
                          <a:schemeClr val="dk1"/>
                        </a:buClr>
                        <a:buSzPts val="1100"/>
                        <a:buFont typeface="Arial"/>
                        <a:buNone/>
                      </a:pPr>
                      <a:r>
                        <a:rPr lang="vi-VN" altLang="ja" sz="900" dirty="0">
                          <a:solidFill>
                            <a:schemeClr val="dk2"/>
                          </a:solidFill>
                        </a:rPr>
                        <a:t>Hệ thống production ngừng hoạt động: Dưới 1 giờ</a:t>
                      </a:r>
                    </a:p>
                    <a:p>
                      <a:pPr marL="0" lvl="0" indent="0" algn="l" rtl="0">
                        <a:spcBef>
                          <a:spcPts val="0"/>
                        </a:spcBef>
                        <a:spcAft>
                          <a:spcPts val="0"/>
                        </a:spcAft>
                        <a:buClr>
                          <a:schemeClr val="dk1"/>
                        </a:buClr>
                        <a:buSzPts val="1100"/>
                        <a:buFont typeface="Arial"/>
                        <a:buNone/>
                      </a:pPr>
                      <a:r>
                        <a:rPr lang="vi-VN" altLang="ja" sz="900" dirty="0">
                          <a:solidFill>
                            <a:schemeClr val="dk2"/>
                          </a:solidFill>
                        </a:rPr>
                        <a:t>Hệ thống quan trọng cho kinh doanh ngừng hoạt động: Dưới 30 phút</a:t>
                      </a:r>
                      <a:endParaRPr sz="900" dirty="0">
                        <a:solidFill>
                          <a:schemeClr val="dk2"/>
                        </a:solidFill>
                        <a:highlight>
                          <a:schemeClr val="lt1"/>
                        </a:highlight>
                      </a:endParaRPr>
                    </a:p>
                  </a:txBody>
                  <a:tcPr marL="91425" marR="91425" marT="91425" marB="91425"/>
                </a:tc>
                <a:tc vMerge="1">
                  <a:txBody>
                    <a:bodyPr/>
                    <a:lstStyle/>
                    <a:p>
                      <a:endParaRPr lang="en-US"/>
                    </a:p>
                  </a:txBody>
                  <a:tcPr/>
                </a:tc>
                <a:extLst>
                  <a:ext uri="{0D108BD9-81ED-4DB2-BD59-A6C34878D82A}">
                    <a16:rowId xmlns:a16="http://schemas.microsoft.com/office/drawing/2014/main" val="10004"/>
                  </a:ext>
                </a:extLst>
              </a:tr>
              <a:tr h="969575">
                <a:tc>
                  <a:txBody>
                    <a:bodyPr/>
                    <a:lstStyle/>
                    <a:p>
                      <a:pPr marL="0" lvl="0" indent="0" algn="l" rtl="0">
                        <a:spcBef>
                          <a:spcPts val="0"/>
                        </a:spcBef>
                        <a:spcAft>
                          <a:spcPts val="0"/>
                        </a:spcAft>
                        <a:buNone/>
                      </a:pPr>
                      <a:r>
                        <a:rPr lang="ja" sz="900">
                          <a:solidFill>
                            <a:schemeClr val="dk2"/>
                          </a:solidFill>
                        </a:rPr>
                        <a:t>Enterprise</a:t>
                      </a:r>
                      <a:endParaRPr sz="900">
                        <a:solidFill>
                          <a:schemeClr val="dk2"/>
                        </a:solidFill>
                      </a:endParaRPr>
                    </a:p>
                  </a:txBody>
                  <a:tcPr marL="91425" marR="91425" marT="91425" marB="91425"/>
                </a:tc>
                <a:tc>
                  <a:txBody>
                    <a:bodyPr/>
                    <a:lstStyle/>
                    <a:p>
                      <a:pPr marL="0" lvl="0" indent="0" algn="l" rtl="0">
                        <a:spcBef>
                          <a:spcPts val="0"/>
                        </a:spcBef>
                        <a:spcAft>
                          <a:spcPts val="0"/>
                        </a:spcAft>
                        <a:buNone/>
                      </a:pPr>
                      <a:endParaRPr sz="900">
                        <a:solidFill>
                          <a:schemeClr val="dk2"/>
                        </a:solidFill>
                      </a:endParaRPr>
                    </a:p>
                  </a:txBody>
                  <a:tcPr marL="91425" marR="91425" marT="91425" marB="91425"/>
                </a:tc>
                <a:tc>
                  <a:txBody>
                    <a:bodyPr/>
                    <a:lstStyle/>
                    <a:p>
                      <a:pPr marL="0" lvl="0" indent="0" algn="l" rtl="0">
                        <a:spcBef>
                          <a:spcPts val="0"/>
                        </a:spcBef>
                        <a:spcAft>
                          <a:spcPts val="0"/>
                        </a:spcAft>
                        <a:buNone/>
                      </a:pPr>
                      <a:r>
                        <a:rPr lang="vi-VN" altLang="ja" sz="900" dirty="0">
                          <a:solidFill>
                            <a:schemeClr val="dk2"/>
                          </a:solidFill>
                        </a:rPr>
                        <a:t>Khuyến nghị cho những người có workload liên quan đến hoạt động kinh doanh và/hoặc nhiệm vụ quan trọng trên AWS:</a:t>
                      </a:r>
                    </a:p>
                    <a:p>
                      <a:pPr marL="0" lvl="0" indent="0" algn="l" rtl="0">
                        <a:spcBef>
                          <a:spcPts val="0"/>
                        </a:spcBef>
                        <a:spcAft>
                          <a:spcPts val="0"/>
                        </a:spcAft>
                        <a:buNone/>
                      </a:pPr>
                      <a:r>
                        <a:rPr lang="vi-VN" altLang="ja" sz="900" dirty="0">
                          <a:solidFill>
                            <a:schemeClr val="dk2"/>
                          </a:solidFill>
                        </a:rPr>
                        <a:t>Hướng dẫn chung: Dưới 24 giờ</a:t>
                      </a:r>
                      <a:endParaRPr sz="900" dirty="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vi-VN" altLang="ja" sz="900" dirty="0">
                          <a:solidFill>
                            <a:schemeClr val="dk2"/>
                          </a:solidFill>
                        </a:rPr>
                        <a:t>Sự cố hệ thống: Dưới 12 giờ</a:t>
                      </a:r>
                    </a:p>
                    <a:p>
                      <a:pPr marL="0" lvl="0" indent="0" algn="l" rtl="0">
                        <a:spcBef>
                          <a:spcPts val="0"/>
                        </a:spcBef>
                        <a:spcAft>
                          <a:spcPts val="0"/>
                        </a:spcAft>
                        <a:buClr>
                          <a:schemeClr val="dk1"/>
                        </a:buClr>
                        <a:buSzPts val="1100"/>
                        <a:buFont typeface="Arial"/>
                        <a:buNone/>
                      </a:pPr>
                      <a:r>
                        <a:rPr lang="vi-VN" altLang="ja" sz="900" dirty="0">
                          <a:solidFill>
                            <a:schemeClr val="dk2"/>
                          </a:solidFill>
                        </a:rPr>
                        <a:t>Sự cố hệ thống production: Dưới 4 giờ</a:t>
                      </a:r>
                    </a:p>
                    <a:p>
                      <a:pPr marL="0" lvl="0" indent="0" algn="l" rtl="0">
                        <a:spcBef>
                          <a:spcPts val="0"/>
                        </a:spcBef>
                        <a:spcAft>
                          <a:spcPts val="0"/>
                        </a:spcAft>
                        <a:buClr>
                          <a:schemeClr val="dk1"/>
                        </a:buClr>
                        <a:buSzPts val="1100"/>
                        <a:buFont typeface="Arial"/>
                        <a:buNone/>
                      </a:pPr>
                      <a:r>
                        <a:rPr lang="vi-VN" altLang="ja" sz="900" dirty="0">
                          <a:solidFill>
                            <a:schemeClr val="dk2"/>
                          </a:solidFill>
                        </a:rPr>
                        <a:t>Hệ thống production ngừng hoạt động: Dưới 1 giờ</a:t>
                      </a:r>
                    </a:p>
                    <a:p>
                      <a:pPr marL="0" lvl="0" indent="0" algn="l" rtl="0">
                        <a:spcBef>
                          <a:spcPts val="0"/>
                        </a:spcBef>
                        <a:spcAft>
                          <a:spcPts val="0"/>
                        </a:spcAft>
                        <a:buClr>
                          <a:schemeClr val="dk1"/>
                        </a:buClr>
                        <a:buSzPts val="1100"/>
                        <a:buFont typeface="Arial"/>
                        <a:buNone/>
                      </a:pPr>
                      <a:r>
                        <a:rPr lang="vi-VN" altLang="ja" sz="900" dirty="0">
                          <a:solidFill>
                            <a:schemeClr val="dk2"/>
                          </a:solidFill>
                        </a:rPr>
                        <a:t>Hệ thống kinh doanh/nhiệm vụ quan trọng ngừng hoạt động: Dưới 15 phút</a:t>
                      </a:r>
                      <a:endParaRPr sz="900" dirty="0">
                        <a:solidFill>
                          <a:schemeClr val="dk2"/>
                        </a:solidFill>
                        <a:highlight>
                          <a:schemeClr val="lt1"/>
                        </a:highlight>
                      </a:endParaRPr>
                    </a:p>
                  </a:txBody>
                  <a:tcPr marL="91425" marR="91425" marT="91425" marB="91425"/>
                </a:tc>
                <a:tc vMerge="1">
                  <a:txBody>
                    <a:bodyPr/>
                    <a:lstStyle/>
                    <a:p>
                      <a:endParaRPr lang="en-US"/>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459217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ja" sz="3000" dirty="0">
                <a:highlight>
                  <a:srgbClr val="FFFFFF"/>
                </a:highlight>
              </a:rPr>
              <a:t>8.システム構成</a:t>
            </a:r>
            <a:br>
              <a:rPr lang="en-US" altLang="ja" sz="3000" dirty="0">
                <a:highlight>
                  <a:srgbClr val="FFFFFF"/>
                </a:highlight>
              </a:rPr>
            </a:br>
            <a:br>
              <a:rPr lang="en-US" altLang="ja" sz="3000" dirty="0">
                <a:highlight>
                  <a:srgbClr val="FFFFFF"/>
                </a:highlight>
              </a:rPr>
            </a:br>
            <a:r>
              <a:rPr lang="en-US" altLang="ja" sz="3000" dirty="0" err="1">
                <a:highlight>
                  <a:srgbClr val="FFFFFF"/>
                </a:highlight>
              </a:rPr>
              <a:t>Cấu</a:t>
            </a:r>
            <a:r>
              <a:rPr lang="en-US" altLang="ja" sz="3000" dirty="0">
                <a:highlight>
                  <a:srgbClr val="FFFFFF"/>
                </a:highlight>
              </a:rPr>
              <a:t> </a:t>
            </a:r>
            <a:r>
              <a:rPr lang="en-US" altLang="ja" sz="3000" dirty="0" err="1">
                <a:highlight>
                  <a:srgbClr val="FFFFFF"/>
                </a:highlight>
              </a:rPr>
              <a:t>trúc</a:t>
            </a:r>
            <a:r>
              <a:rPr lang="en-US" altLang="ja" sz="3000" dirty="0">
                <a:highlight>
                  <a:srgbClr val="FFFFFF"/>
                </a:highlight>
              </a:rPr>
              <a:t> </a:t>
            </a:r>
            <a:r>
              <a:rPr lang="en-US" altLang="ja" sz="3000" dirty="0" err="1">
                <a:highlight>
                  <a:srgbClr val="FFFFFF"/>
                </a:highlight>
              </a:rPr>
              <a:t>hệ</a:t>
            </a:r>
            <a:r>
              <a:rPr lang="en-US" altLang="ja" sz="3000" dirty="0">
                <a:highlight>
                  <a:srgbClr val="FFFFFF"/>
                </a:highlight>
              </a:rPr>
              <a:t> </a:t>
            </a:r>
            <a:r>
              <a:rPr lang="en-US" altLang="ja" sz="3000" dirty="0" err="1">
                <a:highlight>
                  <a:srgbClr val="FFFFFF"/>
                </a:highlight>
              </a:rPr>
              <a:t>thông</a:t>
            </a:r>
            <a:endParaRPr sz="3000" dirty="0">
              <a:highlight>
                <a:srgbClr val="FFFFFF"/>
              </a:highlight>
            </a:endParaRPr>
          </a:p>
        </p:txBody>
      </p:sp>
      <p:pic>
        <p:nvPicPr>
          <p:cNvPr id="236" name="Google Shape;236;p36"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37" name="Google Shape;237;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7"/>
          <p:cNvSpPr txBox="1">
            <a:spLocks noGrp="1"/>
          </p:cNvSpPr>
          <p:nvPr>
            <p:ph type="title"/>
          </p:nvPr>
        </p:nvSpPr>
        <p:spPr>
          <a:xfrm>
            <a:off x="311700" y="419475"/>
            <a:ext cx="44718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8-1.処理フロー</a:t>
            </a:r>
            <a:endParaRPr>
              <a:highlight>
                <a:srgbClr val="D9D9D9"/>
              </a:highlight>
            </a:endParaRPr>
          </a:p>
          <a:p>
            <a:pPr marL="0" lvl="0" indent="0" algn="l" rtl="0">
              <a:spcBef>
                <a:spcPts val="0"/>
              </a:spcBef>
              <a:spcAft>
                <a:spcPts val="0"/>
              </a:spcAft>
              <a:buNone/>
            </a:pPr>
            <a:endParaRPr>
              <a:highlight>
                <a:srgbClr val="D9D9D9"/>
              </a:highlight>
            </a:endParaRPr>
          </a:p>
        </p:txBody>
      </p:sp>
      <p:sp>
        <p:nvSpPr>
          <p:cNvPr id="243" name="Google Shape;243;p37"/>
          <p:cNvSpPr txBox="1">
            <a:spLocks noGrp="1"/>
          </p:cNvSpPr>
          <p:nvPr>
            <p:ph type="body" idx="1"/>
          </p:nvPr>
        </p:nvSpPr>
        <p:spPr>
          <a:xfrm>
            <a:off x="468375" y="1105325"/>
            <a:ext cx="7815300" cy="35955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ja"/>
              <a:t>マスタファイル（外部連携マスタ）を受信する</a:t>
            </a:r>
            <a:endParaRPr/>
          </a:p>
          <a:p>
            <a:pPr marL="914400" lvl="1" indent="-342900" algn="l" rtl="0">
              <a:lnSpc>
                <a:spcPct val="105000"/>
              </a:lnSpc>
              <a:spcBef>
                <a:spcPts val="0"/>
              </a:spcBef>
              <a:spcAft>
                <a:spcPts val="0"/>
              </a:spcAft>
              <a:buSzPts val="1800"/>
              <a:buChar char="○"/>
            </a:pPr>
            <a:r>
              <a:rPr lang="ja" sz="1800"/>
              <a:t>ZIP形式</a:t>
            </a:r>
            <a:endParaRPr sz="1800"/>
          </a:p>
          <a:p>
            <a:pPr marL="1371600" lvl="2" indent="-342900" algn="l" rtl="0">
              <a:lnSpc>
                <a:spcPct val="105000"/>
              </a:lnSpc>
              <a:spcBef>
                <a:spcPts val="0"/>
              </a:spcBef>
              <a:spcAft>
                <a:spcPts val="0"/>
              </a:spcAft>
              <a:buSzPts val="1800"/>
              <a:buChar char="■"/>
            </a:pPr>
            <a:r>
              <a:rPr lang="ja" sz="1800"/>
              <a:t>中身はCSV</a:t>
            </a:r>
            <a:endParaRPr sz="1800"/>
          </a:p>
          <a:p>
            <a:pPr marL="914400" lvl="1" indent="-342900" algn="l" rtl="0">
              <a:lnSpc>
                <a:spcPct val="105000"/>
              </a:lnSpc>
              <a:spcBef>
                <a:spcPts val="0"/>
              </a:spcBef>
              <a:spcAft>
                <a:spcPts val="0"/>
              </a:spcAft>
              <a:buSzPts val="1800"/>
              <a:buChar char="○"/>
            </a:pPr>
            <a:r>
              <a:rPr lang="ja" sz="1800"/>
              <a:t>SFTPで受信</a:t>
            </a:r>
            <a:endParaRPr sz="1800"/>
          </a:p>
          <a:p>
            <a:pPr marL="1371600" lvl="2" indent="-342900" algn="l" rtl="0">
              <a:lnSpc>
                <a:spcPct val="105000"/>
              </a:lnSpc>
              <a:spcBef>
                <a:spcPts val="0"/>
              </a:spcBef>
              <a:spcAft>
                <a:spcPts val="0"/>
              </a:spcAft>
              <a:buSzPts val="1800"/>
              <a:buChar char="■"/>
            </a:pPr>
            <a:r>
              <a:rPr lang="ja" sz="1800"/>
              <a:t>SSH認証方式</a:t>
            </a:r>
            <a:endParaRPr sz="1800"/>
          </a:p>
          <a:p>
            <a:pPr marL="914400" lvl="1" indent="-342900" algn="l" rtl="0">
              <a:lnSpc>
                <a:spcPct val="105000"/>
              </a:lnSpc>
              <a:spcBef>
                <a:spcPts val="0"/>
              </a:spcBef>
              <a:spcAft>
                <a:spcPts val="0"/>
              </a:spcAft>
              <a:buSzPts val="1800"/>
              <a:buChar char="○"/>
            </a:pPr>
            <a:r>
              <a:rPr lang="ja" sz="1800"/>
              <a:t>ファイル行数とサイズ</a:t>
            </a:r>
            <a:endParaRPr sz="1800"/>
          </a:p>
          <a:p>
            <a:pPr marL="1371600" lvl="2" indent="-342900" algn="l" rtl="0">
              <a:lnSpc>
                <a:spcPct val="105000"/>
              </a:lnSpc>
              <a:spcBef>
                <a:spcPts val="0"/>
              </a:spcBef>
              <a:spcAft>
                <a:spcPts val="0"/>
              </a:spcAft>
              <a:buSzPts val="1800"/>
              <a:buChar char="■"/>
            </a:pPr>
            <a:r>
              <a:rPr lang="ja" sz="1800"/>
              <a:t>商品マスタが最大で10万行以上、数GB</a:t>
            </a:r>
            <a:endParaRPr sz="1800"/>
          </a:p>
          <a:p>
            <a:pPr marL="457200" lvl="0" indent="-342900" algn="l" rtl="0">
              <a:spcBef>
                <a:spcPts val="0"/>
              </a:spcBef>
              <a:spcAft>
                <a:spcPts val="0"/>
              </a:spcAft>
              <a:buSzPts val="1800"/>
              <a:buChar char="●"/>
            </a:pPr>
            <a:r>
              <a:rPr lang="ja"/>
              <a:t>データ変換する（POSマスタ）</a:t>
            </a:r>
            <a:endParaRPr/>
          </a:p>
          <a:p>
            <a:pPr marL="457200" lvl="0" indent="-342900" algn="l" rtl="0">
              <a:spcBef>
                <a:spcPts val="0"/>
              </a:spcBef>
              <a:spcAft>
                <a:spcPts val="0"/>
              </a:spcAft>
              <a:buSzPts val="1800"/>
              <a:buChar char="●"/>
            </a:pPr>
            <a:r>
              <a:rPr lang="ja"/>
              <a:t>POSマスタをISHIDA電子棚札サーバに送信する</a:t>
            </a:r>
            <a:endParaRPr/>
          </a:p>
          <a:p>
            <a:pPr marL="914400" lvl="1" indent="-342900" algn="l" rtl="0">
              <a:lnSpc>
                <a:spcPct val="105000"/>
              </a:lnSpc>
              <a:spcBef>
                <a:spcPts val="0"/>
              </a:spcBef>
              <a:spcAft>
                <a:spcPts val="0"/>
              </a:spcAft>
              <a:buSzPts val="1800"/>
              <a:buChar char="○"/>
            </a:pPr>
            <a:r>
              <a:rPr lang="ja" sz="1800"/>
              <a:t>CSV形式</a:t>
            </a:r>
            <a:endParaRPr sz="1800"/>
          </a:p>
        </p:txBody>
      </p:sp>
      <p:pic>
        <p:nvPicPr>
          <p:cNvPr id="244" name="Google Shape;244;p37"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45" name="Google Shape;245;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38</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41">
          <a:extLst>
            <a:ext uri="{FF2B5EF4-FFF2-40B4-BE49-F238E27FC236}">
              <a16:creationId xmlns:a16="http://schemas.microsoft.com/office/drawing/2014/main" id="{44C1D0A6-8905-ABD4-CE6B-35B493298004}"/>
            </a:ext>
          </a:extLst>
        </p:cNvPr>
        <p:cNvGrpSpPr/>
        <p:nvPr/>
      </p:nvGrpSpPr>
      <p:grpSpPr>
        <a:xfrm>
          <a:off x="0" y="0"/>
          <a:ext cx="0" cy="0"/>
          <a:chOff x="0" y="0"/>
          <a:chExt cx="0" cy="0"/>
        </a:xfrm>
      </p:grpSpPr>
      <p:sp>
        <p:nvSpPr>
          <p:cNvPr id="242" name="Google Shape;242;p37">
            <a:extLst>
              <a:ext uri="{FF2B5EF4-FFF2-40B4-BE49-F238E27FC236}">
                <a16:creationId xmlns:a16="http://schemas.microsoft.com/office/drawing/2014/main" id="{FEC5F9D7-0593-B988-2259-9D348E034C68}"/>
              </a:ext>
            </a:extLst>
          </p:cNvPr>
          <p:cNvSpPr txBox="1">
            <a:spLocks noGrp="1"/>
          </p:cNvSpPr>
          <p:nvPr>
            <p:ph type="title"/>
          </p:nvPr>
        </p:nvSpPr>
        <p:spPr>
          <a:xfrm>
            <a:off x="311700" y="419475"/>
            <a:ext cx="44718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dirty="0">
                <a:highlight>
                  <a:srgbClr val="D9D9D9"/>
                </a:highlight>
              </a:rPr>
              <a:t>8-1.</a:t>
            </a:r>
            <a:r>
              <a:rPr lang="en-US" altLang="ja" dirty="0">
                <a:highlight>
                  <a:srgbClr val="D9D9D9"/>
                </a:highlight>
              </a:rPr>
              <a:t>Flow </a:t>
            </a:r>
            <a:r>
              <a:rPr lang="en-US" altLang="ja" dirty="0" err="1">
                <a:highlight>
                  <a:srgbClr val="D9D9D9"/>
                </a:highlight>
              </a:rPr>
              <a:t>xử</a:t>
            </a:r>
            <a:r>
              <a:rPr lang="en-US" altLang="ja" dirty="0">
                <a:highlight>
                  <a:srgbClr val="D9D9D9"/>
                </a:highlight>
              </a:rPr>
              <a:t> </a:t>
            </a:r>
            <a:r>
              <a:rPr lang="en-US" altLang="ja" dirty="0" err="1">
                <a:highlight>
                  <a:srgbClr val="D9D9D9"/>
                </a:highlight>
              </a:rPr>
              <a:t>lý</a:t>
            </a:r>
            <a:endParaRPr dirty="0">
              <a:highlight>
                <a:srgbClr val="D9D9D9"/>
              </a:highlight>
            </a:endParaRPr>
          </a:p>
          <a:p>
            <a:pPr marL="0" lvl="0" indent="0" algn="l" rtl="0">
              <a:spcBef>
                <a:spcPts val="0"/>
              </a:spcBef>
              <a:spcAft>
                <a:spcPts val="0"/>
              </a:spcAft>
              <a:buNone/>
            </a:pPr>
            <a:endParaRPr dirty="0">
              <a:highlight>
                <a:srgbClr val="D9D9D9"/>
              </a:highlight>
            </a:endParaRPr>
          </a:p>
        </p:txBody>
      </p:sp>
      <p:sp>
        <p:nvSpPr>
          <p:cNvPr id="243" name="Google Shape;243;p37">
            <a:extLst>
              <a:ext uri="{FF2B5EF4-FFF2-40B4-BE49-F238E27FC236}">
                <a16:creationId xmlns:a16="http://schemas.microsoft.com/office/drawing/2014/main" id="{09FF2CB1-2226-6144-B01C-216271A3B091}"/>
              </a:ext>
            </a:extLst>
          </p:cNvPr>
          <p:cNvSpPr txBox="1">
            <a:spLocks noGrp="1"/>
          </p:cNvSpPr>
          <p:nvPr>
            <p:ph type="body" idx="1"/>
          </p:nvPr>
        </p:nvSpPr>
        <p:spPr>
          <a:xfrm>
            <a:off x="468375" y="1105325"/>
            <a:ext cx="7815300" cy="3595500"/>
          </a:xfrm>
          <a:prstGeom prst="rect">
            <a:avLst/>
          </a:prstGeom>
        </p:spPr>
        <p:txBody>
          <a:bodyPr spcFirstLastPara="1" wrap="square" lIns="91425" tIns="91425" rIns="91425" bIns="91425" anchor="t" anchorCtr="0">
            <a:noAutofit/>
          </a:bodyPr>
          <a:lstStyle/>
          <a:p>
            <a:pPr marL="114300" lvl="0" indent="0">
              <a:buNone/>
            </a:pPr>
            <a:r>
              <a:rPr lang="vi-VN" dirty="0"/>
              <a:t>● Nhận file master (master liên kết bên ngoài)</a:t>
            </a:r>
          </a:p>
          <a:p>
            <a:pPr marL="114300" lvl="0" indent="0">
              <a:buNone/>
            </a:pPr>
            <a:r>
              <a:rPr lang="vi-VN" dirty="0"/>
              <a:t> - Dạng ZIP</a:t>
            </a:r>
          </a:p>
          <a:p>
            <a:pPr marL="114300" lvl="0" indent="0">
              <a:buNone/>
            </a:pPr>
            <a:r>
              <a:rPr lang="vi-VN" dirty="0"/>
              <a:t>  + Bên trong là file CSV</a:t>
            </a:r>
          </a:p>
          <a:p>
            <a:pPr marL="114300" lvl="0" indent="0">
              <a:buNone/>
            </a:pPr>
            <a:r>
              <a:rPr lang="vi-VN" dirty="0"/>
              <a:t> - Nhận qua SFTP</a:t>
            </a:r>
          </a:p>
          <a:p>
            <a:pPr marL="114300" lvl="0" indent="0">
              <a:buNone/>
            </a:pPr>
            <a:r>
              <a:rPr lang="vi-VN" dirty="0"/>
              <a:t>  + Phương thức xác thực: SSH</a:t>
            </a:r>
          </a:p>
          <a:p>
            <a:pPr marL="114300" lvl="0" indent="0">
              <a:buNone/>
            </a:pPr>
            <a:r>
              <a:rPr lang="vi-VN" dirty="0"/>
              <a:t> - Số dòng và dung lượng file:</a:t>
            </a:r>
          </a:p>
          <a:p>
            <a:pPr marL="114300" lvl="0" indent="0">
              <a:buNone/>
            </a:pPr>
            <a:r>
              <a:rPr lang="vi-VN" dirty="0"/>
              <a:t>  + File master sản phẩm có thể lên đến hơn 100.000 dòng, vài GB</a:t>
            </a:r>
          </a:p>
          <a:p>
            <a:pPr marL="114300" lvl="0" indent="0">
              <a:buNone/>
            </a:pPr>
            <a:r>
              <a:rPr lang="vi-VN" dirty="0"/>
              <a:t>● Chuyển đổi dữ liệu (thành POS master)</a:t>
            </a:r>
          </a:p>
          <a:p>
            <a:pPr marL="114300" lvl="0" indent="0">
              <a:buNone/>
            </a:pPr>
            <a:r>
              <a:rPr lang="vi-VN" dirty="0"/>
              <a:t>● Gửi POS master đến server nhãn giá điện tử ISHIDA</a:t>
            </a:r>
          </a:p>
          <a:p>
            <a:pPr marL="114300" lvl="0" indent="0">
              <a:buNone/>
            </a:pPr>
            <a:r>
              <a:rPr lang="vi-VN" dirty="0"/>
              <a:t> - Dạng CSV</a:t>
            </a:r>
            <a:endParaRPr sz="1800" dirty="0"/>
          </a:p>
        </p:txBody>
      </p:sp>
      <p:pic>
        <p:nvPicPr>
          <p:cNvPr id="244" name="Google Shape;244;p37" title="logo-luvina-2022-2.png">
            <a:extLst>
              <a:ext uri="{FF2B5EF4-FFF2-40B4-BE49-F238E27FC236}">
                <a16:creationId xmlns:a16="http://schemas.microsoft.com/office/drawing/2014/main" id="{080779B5-C8F4-F8AB-D7DB-C258BD1FBFD5}"/>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45" name="Google Shape;245;p37">
            <a:extLst>
              <a:ext uri="{FF2B5EF4-FFF2-40B4-BE49-F238E27FC236}">
                <a16:creationId xmlns:a16="http://schemas.microsoft.com/office/drawing/2014/main" id="{034ABCF7-8B05-7D88-2545-286385C7BA7A}"/>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39</a:t>
            </a:fld>
            <a:endParaRPr/>
          </a:p>
        </p:txBody>
      </p:sp>
    </p:spTree>
    <p:extLst>
      <p:ext uri="{BB962C8B-B14F-4D97-AF65-F5344CB8AC3E}">
        <p14:creationId xmlns:p14="http://schemas.microsoft.com/office/powerpoint/2010/main" val="9276934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38"/>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a:bodyPr>
          <a:lstStyle/>
          <a:p>
            <a:pPr lvl="0"/>
            <a:r>
              <a:rPr lang="ja" sz="2000" dirty="0">
                <a:highlight>
                  <a:srgbClr val="D9D9D9"/>
                </a:highlight>
              </a:rPr>
              <a:t>8-2.外部接続の全体図</a:t>
            </a:r>
            <a:endParaRPr sz="2000" dirty="0">
              <a:highlight>
                <a:srgbClr val="D9D9D9"/>
              </a:highlight>
            </a:endParaRPr>
          </a:p>
        </p:txBody>
      </p:sp>
      <p:pic>
        <p:nvPicPr>
          <p:cNvPr id="251" name="Google Shape;251;p38"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52" name="Google Shape;252;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40</a:t>
            </a:fld>
            <a:endParaRPr/>
          </a:p>
        </p:txBody>
      </p:sp>
      <p:pic>
        <p:nvPicPr>
          <p:cNvPr id="253" name="Google Shape;253;p38" title="【POS】infra_ishida-8-2.drawio (1).png"/>
          <p:cNvPicPr preferRelativeResize="0"/>
          <p:nvPr/>
        </p:nvPicPr>
        <p:blipFill>
          <a:blip r:embed="rId4">
            <a:alphaModFix/>
          </a:blip>
          <a:stretch>
            <a:fillRect/>
          </a:stretch>
        </p:blipFill>
        <p:spPr>
          <a:xfrm>
            <a:off x="960900" y="1100275"/>
            <a:ext cx="6690787" cy="38465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49">
          <a:extLst>
            <a:ext uri="{FF2B5EF4-FFF2-40B4-BE49-F238E27FC236}">
              <a16:creationId xmlns:a16="http://schemas.microsoft.com/office/drawing/2014/main" id="{C8F524C0-50FB-C621-A241-2293949F452A}"/>
            </a:ext>
          </a:extLst>
        </p:cNvPr>
        <p:cNvGrpSpPr/>
        <p:nvPr/>
      </p:nvGrpSpPr>
      <p:grpSpPr>
        <a:xfrm>
          <a:off x="0" y="0"/>
          <a:ext cx="0" cy="0"/>
          <a:chOff x="0" y="0"/>
          <a:chExt cx="0" cy="0"/>
        </a:xfrm>
      </p:grpSpPr>
      <p:sp>
        <p:nvSpPr>
          <p:cNvPr id="250" name="Google Shape;250;p38">
            <a:extLst>
              <a:ext uri="{FF2B5EF4-FFF2-40B4-BE49-F238E27FC236}">
                <a16:creationId xmlns:a16="http://schemas.microsoft.com/office/drawing/2014/main" id="{3D69CE20-B7DD-EA5B-CA9E-9C0A9104E748}"/>
              </a:ext>
            </a:extLst>
          </p:cNvPr>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a:bodyPr>
          <a:lstStyle/>
          <a:p>
            <a:pPr lvl="0"/>
            <a:r>
              <a:rPr lang="ja" sz="2000" dirty="0">
                <a:highlight>
                  <a:srgbClr val="D9D9D9"/>
                </a:highlight>
              </a:rPr>
              <a:t>8-2.</a:t>
            </a:r>
            <a:r>
              <a:rPr lang="vi-VN" sz="2000" dirty="0">
                <a:highlight>
                  <a:srgbClr val="D9D9D9"/>
                </a:highlight>
              </a:rPr>
              <a:t> Tổng quan sơ đồ kết nối với hệ thống bên ngoài</a:t>
            </a:r>
            <a:endParaRPr sz="2000" dirty="0">
              <a:highlight>
                <a:srgbClr val="D9D9D9"/>
              </a:highlight>
            </a:endParaRPr>
          </a:p>
        </p:txBody>
      </p:sp>
      <p:pic>
        <p:nvPicPr>
          <p:cNvPr id="251" name="Google Shape;251;p38" title="logo-luvina-2022-2.png">
            <a:extLst>
              <a:ext uri="{FF2B5EF4-FFF2-40B4-BE49-F238E27FC236}">
                <a16:creationId xmlns:a16="http://schemas.microsoft.com/office/drawing/2014/main" id="{D24064B4-B61C-6D72-3603-B5D7667BEE61}"/>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52" name="Google Shape;252;p38">
            <a:extLst>
              <a:ext uri="{FF2B5EF4-FFF2-40B4-BE49-F238E27FC236}">
                <a16:creationId xmlns:a16="http://schemas.microsoft.com/office/drawing/2014/main" id="{3B2A5EBF-8911-D2C0-DA75-68DE71D6920A}"/>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41</a:t>
            </a:fld>
            <a:endParaRPr/>
          </a:p>
        </p:txBody>
      </p:sp>
      <p:grpSp>
        <p:nvGrpSpPr>
          <p:cNvPr id="2" name="Group 1">
            <a:extLst>
              <a:ext uri="{FF2B5EF4-FFF2-40B4-BE49-F238E27FC236}">
                <a16:creationId xmlns:a16="http://schemas.microsoft.com/office/drawing/2014/main" id="{E421A92D-1B03-C892-2D41-6812E0BB8C50}"/>
              </a:ext>
            </a:extLst>
          </p:cNvPr>
          <p:cNvGrpSpPr/>
          <p:nvPr/>
        </p:nvGrpSpPr>
        <p:grpSpPr>
          <a:xfrm>
            <a:off x="693725" y="1141825"/>
            <a:ext cx="7116489" cy="4040511"/>
            <a:chOff x="0" y="0"/>
            <a:chExt cx="7752512" cy="4467224"/>
          </a:xfrm>
        </p:grpSpPr>
        <p:pic>
          <p:nvPicPr>
            <p:cNvPr id="3" name="Picture 2">
              <a:extLst>
                <a:ext uri="{FF2B5EF4-FFF2-40B4-BE49-F238E27FC236}">
                  <a16:creationId xmlns:a16="http://schemas.microsoft.com/office/drawing/2014/main" id="{2770D234-3AD8-4905-958F-7A51413C7A9C}"/>
                </a:ext>
              </a:extLst>
            </p:cNvPr>
            <p:cNvPicPr>
              <a:picLocks noChangeAspect="1"/>
            </p:cNvPicPr>
            <p:nvPr/>
          </p:nvPicPr>
          <p:blipFill>
            <a:blip r:embed="rId4"/>
            <a:stretch>
              <a:fillRect/>
            </a:stretch>
          </p:blipFill>
          <p:spPr>
            <a:xfrm>
              <a:off x="0" y="0"/>
              <a:ext cx="7752512" cy="4467224"/>
            </a:xfrm>
            <a:prstGeom prst="rect">
              <a:avLst/>
            </a:prstGeom>
          </p:spPr>
        </p:pic>
        <p:sp>
          <p:nvSpPr>
            <p:cNvPr id="4" name="Rectangle 3">
              <a:extLst>
                <a:ext uri="{FF2B5EF4-FFF2-40B4-BE49-F238E27FC236}">
                  <a16:creationId xmlns:a16="http://schemas.microsoft.com/office/drawing/2014/main" id="{5FED4A8F-87D1-58F9-3FA1-905EF68D0F13}"/>
                </a:ext>
              </a:extLst>
            </p:cNvPr>
            <p:cNvSpPr/>
            <p:nvPr/>
          </p:nvSpPr>
          <p:spPr>
            <a:xfrm>
              <a:off x="361950" y="200024"/>
              <a:ext cx="923925" cy="4953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900"/>
                <a:t>Hệ thống OC - Môi trường chính thức</a:t>
              </a:r>
              <a:endParaRPr lang="en-US" sz="900"/>
            </a:p>
          </p:txBody>
        </p:sp>
        <p:sp>
          <p:nvSpPr>
            <p:cNvPr id="5" name="Rectangle 4">
              <a:extLst>
                <a:ext uri="{FF2B5EF4-FFF2-40B4-BE49-F238E27FC236}">
                  <a16:creationId xmlns:a16="http://schemas.microsoft.com/office/drawing/2014/main" id="{94457C54-4EEC-4F71-A485-9EE7CE010F76}"/>
                </a:ext>
              </a:extLst>
            </p:cNvPr>
            <p:cNvSpPr/>
            <p:nvPr/>
          </p:nvSpPr>
          <p:spPr>
            <a:xfrm>
              <a:off x="2085975" y="266701"/>
              <a:ext cx="923925" cy="3238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900"/>
                <a:t>Batch định kỳ</a:t>
              </a:r>
            </a:p>
          </p:txBody>
        </p:sp>
        <p:sp>
          <p:nvSpPr>
            <p:cNvPr id="6" name="Rectangle 5">
              <a:extLst>
                <a:ext uri="{FF2B5EF4-FFF2-40B4-BE49-F238E27FC236}">
                  <a16:creationId xmlns:a16="http://schemas.microsoft.com/office/drawing/2014/main" id="{9FE87A41-4A0F-408D-8363-E611AEC5FB40}"/>
                </a:ext>
              </a:extLst>
            </p:cNvPr>
            <p:cNvSpPr/>
            <p:nvPr/>
          </p:nvSpPr>
          <p:spPr>
            <a:xfrm>
              <a:off x="2276475" y="1257299"/>
              <a:ext cx="1219200" cy="5715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800"/>
                <a:t>Batch định kỳ (7/8~15)</a:t>
              </a:r>
              <a:br>
                <a:rPr lang="vi-VN" sz="800"/>
              </a:br>
              <a:r>
                <a:rPr lang="vi-VN" sz="800" i="1"/>
                <a:t>Toàn bộ dữ liệu như ở môi trường chính thức</a:t>
              </a:r>
              <a:endParaRPr lang="en-US" sz="800"/>
            </a:p>
          </p:txBody>
        </p:sp>
        <p:sp>
          <p:nvSpPr>
            <p:cNvPr id="7" name="Rectangle 6">
              <a:extLst>
                <a:ext uri="{FF2B5EF4-FFF2-40B4-BE49-F238E27FC236}">
                  <a16:creationId xmlns:a16="http://schemas.microsoft.com/office/drawing/2014/main" id="{3230087D-AC75-40CF-9959-C2AECC7F63F6}"/>
                </a:ext>
              </a:extLst>
            </p:cNvPr>
            <p:cNvSpPr/>
            <p:nvPr/>
          </p:nvSpPr>
          <p:spPr>
            <a:xfrm>
              <a:off x="1524000" y="1943100"/>
              <a:ext cx="1219200" cy="10287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800"/>
                <a:t>Batch định kỳ</a:t>
              </a:r>
              <a:br>
                <a:rPr lang="vi-VN" sz="800"/>
              </a:br>
              <a:r>
                <a:rPr lang="vi-VN" sz="800" b="1"/>
                <a:t>1:30~2:00 sáng</a:t>
              </a:r>
              <a:br>
                <a:rPr lang="vi-VN" sz="800"/>
              </a:br>
              <a:r>
                <a:rPr lang="vi-VN" sz="800" i="1"/>
                <a:t>Đầu tháng / cuối tháng số lượng nhiều nên thời gian xử lý có thể chậm trễ</a:t>
              </a:r>
              <a:endParaRPr lang="en-US" sz="800"/>
            </a:p>
          </p:txBody>
        </p:sp>
        <p:sp>
          <p:nvSpPr>
            <p:cNvPr id="8" name="Rectangle 7">
              <a:extLst>
                <a:ext uri="{FF2B5EF4-FFF2-40B4-BE49-F238E27FC236}">
                  <a16:creationId xmlns:a16="http://schemas.microsoft.com/office/drawing/2014/main" id="{E4E76FCB-A109-4B4E-8BB8-CA1A707A3985}"/>
                </a:ext>
              </a:extLst>
            </p:cNvPr>
            <p:cNvSpPr/>
            <p:nvPr/>
          </p:nvSpPr>
          <p:spPr>
            <a:xfrm>
              <a:off x="3876675" y="133350"/>
              <a:ext cx="923925" cy="4953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900"/>
                <a:t>AWS - Môi trường chính thức</a:t>
              </a:r>
              <a:endParaRPr lang="en-US" sz="900"/>
            </a:p>
          </p:txBody>
        </p:sp>
        <p:sp>
          <p:nvSpPr>
            <p:cNvPr id="9" name="Rectangle 8">
              <a:extLst>
                <a:ext uri="{FF2B5EF4-FFF2-40B4-BE49-F238E27FC236}">
                  <a16:creationId xmlns:a16="http://schemas.microsoft.com/office/drawing/2014/main" id="{6B421EEB-4730-47DB-98B4-0F4D57DCF0E4}"/>
                </a:ext>
              </a:extLst>
            </p:cNvPr>
            <p:cNvSpPr/>
            <p:nvPr/>
          </p:nvSpPr>
          <p:spPr>
            <a:xfrm>
              <a:off x="4371975" y="809625"/>
              <a:ext cx="1905000" cy="10001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900"/>
                <a:t>Khi batch chênh lệch hoạt động bình thường</a:t>
              </a:r>
              <a:br>
                <a:rPr lang="vi-VN" sz="900"/>
              </a:br>
              <a:r>
                <a:rPr lang="vi-VN" sz="900"/>
                <a:t>→ (Điều chỉnh lịch trình)</a:t>
              </a:r>
              <a:br>
                <a:rPr lang="vi-VN" sz="900"/>
              </a:br>
              <a:r>
                <a:rPr lang="vi-VN" sz="900"/>
                <a:t>→ Gửi toàn bộ dữ liệu lần đầu (cho Biplogy, Towa)</a:t>
              </a:r>
              <a:br>
                <a:rPr lang="vi-VN" sz="900"/>
              </a:br>
              <a:r>
                <a:rPr lang="vi-VN" sz="900"/>
                <a:t>→ Sau đó, gửi dữ liệu chênh lệch hàng ngày</a:t>
              </a:r>
              <a:endParaRPr lang="en-US" sz="900"/>
            </a:p>
          </p:txBody>
        </p:sp>
        <p:sp>
          <p:nvSpPr>
            <p:cNvPr id="10" name="Rectangle 9">
              <a:extLst>
                <a:ext uri="{FF2B5EF4-FFF2-40B4-BE49-F238E27FC236}">
                  <a16:creationId xmlns:a16="http://schemas.microsoft.com/office/drawing/2014/main" id="{89504399-0D67-445F-838A-5019C7934B92}"/>
                </a:ext>
              </a:extLst>
            </p:cNvPr>
            <p:cNvSpPr/>
            <p:nvPr/>
          </p:nvSpPr>
          <p:spPr>
            <a:xfrm>
              <a:off x="6105525" y="152400"/>
              <a:ext cx="1371600" cy="6286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900"/>
                <a:t>(Máy chủ nhãn điện tử ISHIDA tại cửa hàng Banpaku Kinenkouen</a:t>
              </a:r>
            </a:p>
          </p:txBody>
        </p:sp>
        <p:sp>
          <p:nvSpPr>
            <p:cNvPr id="11" name="Rectangle 10">
              <a:extLst>
                <a:ext uri="{FF2B5EF4-FFF2-40B4-BE49-F238E27FC236}">
                  <a16:creationId xmlns:a16="http://schemas.microsoft.com/office/drawing/2014/main" id="{D41E101A-05C9-4231-82BF-4FCD2F543660}"/>
                </a:ext>
              </a:extLst>
            </p:cNvPr>
            <p:cNvSpPr/>
            <p:nvPr/>
          </p:nvSpPr>
          <p:spPr>
            <a:xfrm>
              <a:off x="3771900" y="2486025"/>
              <a:ext cx="1219200" cy="5715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800"/>
                <a:t>AWS - Môi trường staging</a:t>
              </a:r>
              <a:endParaRPr lang="en-US" sz="800"/>
            </a:p>
          </p:txBody>
        </p:sp>
        <p:sp>
          <p:nvSpPr>
            <p:cNvPr id="12" name="Rectangle 11">
              <a:extLst>
                <a:ext uri="{FF2B5EF4-FFF2-40B4-BE49-F238E27FC236}">
                  <a16:creationId xmlns:a16="http://schemas.microsoft.com/office/drawing/2014/main" id="{1715F2DE-88B4-497D-8A27-79945D8A4AC4}"/>
                </a:ext>
              </a:extLst>
            </p:cNvPr>
            <p:cNvSpPr/>
            <p:nvPr/>
          </p:nvSpPr>
          <p:spPr>
            <a:xfrm>
              <a:off x="4438650" y="3257550"/>
              <a:ext cx="542926" cy="3905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600"/>
                <a:t>Dành cho cửa hàng 9176</a:t>
              </a:r>
            </a:p>
          </p:txBody>
        </p:sp>
        <p:sp>
          <p:nvSpPr>
            <p:cNvPr id="13" name="Rectangle 12">
              <a:extLst>
                <a:ext uri="{FF2B5EF4-FFF2-40B4-BE49-F238E27FC236}">
                  <a16:creationId xmlns:a16="http://schemas.microsoft.com/office/drawing/2014/main" id="{86CA90C0-38F4-41FE-933D-398F534134BC}"/>
                </a:ext>
              </a:extLst>
            </p:cNvPr>
            <p:cNvSpPr/>
            <p:nvPr/>
          </p:nvSpPr>
          <p:spPr>
            <a:xfrm>
              <a:off x="4029075" y="3790951"/>
              <a:ext cx="742950"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800"/>
                <a:t>Xử lý thủ công</a:t>
              </a:r>
            </a:p>
          </p:txBody>
        </p:sp>
        <p:sp>
          <p:nvSpPr>
            <p:cNvPr id="14" name="Rectangle 13">
              <a:extLst>
                <a:ext uri="{FF2B5EF4-FFF2-40B4-BE49-F238E27FC236}">
                  <a16:creationId xmlns:a16="http://schemas.microsoft.com/office/drawing/2014/main" id="{46624DD9-D2BE-44D7-A523-65789DED30D5}"/>
                </a:ext>
              </a:extLst>
            </p:cNvPr>
            <p:cNvSpPr/>
            <p:nvPr/>
          </p:nvSpPr>
          <p:spPr>
            <a:xfrm>
              <a:off x="5095874" y="3714750"/>
              <a:ext cx="1609725"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800"/>
                <a:t>OC không xử lý dữ liệu từ cửa hàng kiểm chứng 9176</a:t>
              </a:r>
            </a:p>
          </p:txBody>
        </p:sp>
        <p:sp>
          <p:nvSpPr>
            <p:cNvPr id="15" name="Rectangle 14">
              <a:extLst>
                <a:ext uri="{FF2B5EF4-FFF2-40B4-BE49-F238E27FC236}">
                  <a16:creationId xmlns:a16="http://schemas.microsoft.com/office/drawing/2014/main" id="{0AB78277-E43A-4849-8347-C0E362E69781}"/>
                </a:ext>
              </a:extLst>
            </p:cNvPr>
            <p:cNvSpPr/>
            <p:nvPr/>
          </p:nvSpPr>
          <p:spPr>
            <a:xfrm>
              <a:off x="6257924" y="2409824"/>
              <a:ext cx="1266825" cy="695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800"/>
                <a:t>Máy chủ nhãn điện tử ISHIDA tại cửa hàng kiểm chứng 9176</a:t>
              </a:r>
            </a:p>
          </p:txBody>
        </p:sp>
      </p:grpSp>
    </p:spTree>
    <p:extLst>
      <p:ext uri="{BB962C8B-B14F-4D97-AF65-F5344CB8AC3E}">
        <p14:creationId xmlns:p14="http://schemas.microsoft.com/office/powerpoint/2010/main" val="2306744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9"/>
          <p:cNvSpPr txBox="1">
            <a:spLocks noGrp="1"/>
          </p:cNvSpPr>
          <p:nvPr>
            <p:ph type="title"/>
          </p:nvPr>
        </p:nvSpPr>
        <p:spPr>
          <a:xfrm>
            <a:off x="295744" y="304800"/>
            <a:ext cx="8520600" cy="572700"/>
          </a:xfrm>
          <a:prstGeom prst="rect">
            <a:avLst/>
          </a:prstGeom>
        </p:spPr>
        <p:txBody>
          <a:bodyPr spcFirstLastPara="1" wrap="square" lIns="91425" tIns="91425" rIns="91425" bIns="91425" anchor="t" anchorCtr="0">
            <a:noAutofit/>
          </a:bodyPr>
          <a:lstStyle/>
          <a:p>
            <a:pPr lvl="0"/>
            <a:r>
              <a:rPr lang="ja" sz="1800" dirty="0">
                <a:highlight>
                  <a:srgbClr val="D9D9D9"/>
                </a:highlight>
              </a:rPr>
              <a:t>8-3.外部連携マスタの受信経路①</a:t>
            </a:r>
            <a:endParaRPr sz="1800" dirty="0">
              <a:highlight>
                <a:srgbClr val="D9D9D9"/>
              </a:highlight>
            </a:endParaRPr>
          </a:p>
        </p:txBody>
      </p:sp>
      <p:pic>
        <p:nvPicPr>
          <p:cNvPr id="259" name="Google Shape;259;p39"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60" name="Google Shape;260;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42</a:t>
            </a:fld>
            <a:endParaRPr/>
          </a:p>
        </p:txBody>
      </p:sp>
      <p:pic>
        <p:nvPicPr>
          <p:cNvPr id="261" name="Google Shape;261;p39" title="【POS】infra_ishida-8-3(受信).drawio.png"/>
          <p:cNvPicPr preferRelativeResize="0"/>
          <p:nvPr/>
        </p:nvPicPr>
        <p:blipFill>
          <a:blip r:embed="rId4">
            <a:alphaModFix/>
          </a:blip>
          <a:stretch>
            <a:fillRect/>
          </a:stretch>
        </p:blipFill>
        <p:spPr>
          <a:xfrm>
            <a:off x="374425" y="992175"/>
            <a:ext cx="8033786" cy="384652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EECE9EC7-8A2E-5310-769C-4CC8739AB24C}"/>
            </a:ext>
          </a:extLst>
        </p:cNvPr>
        <p:cNvGrpSpPr/>
        <p:nvPr/>
      </p:nvGrpSpPr>
      <p:grpSpPr>
        <a:xfrm>
          <a:off x="0" y="0"/>
          <a:ext cx="0" cy="0"/>
          <a:chOff x="0" y="0"/>
          <a:chExt cx="0" cy="0"/>
        </a:xfrm>
      </p:grpSpPr>
      <p:sp>
        <p:nvSpPr>
          <p:cNvPr id="258" name="Google Shape;258;p39">
            <a:extLst>
              <a:ext uri="{FF2B5EF4-FFF2-40B4-BE49-F238E27FC236}">
                <a16:creationId xmlns:a16="http://schemas.microsoft.com/office/drawing/2014/main" id="{6B76ACBA-E451-F98B-33C9-B4063835A073}"/>
              </a:ext>
            </a:extLst>
          </p:cNvPr>
          <p:cNvSpPr txBox="1">
            <a:spLocks noGrp="1"/>
          </p:cNvSpPr>
          <p:nvPr>
            <p:ph type="title"/>
          </p:nvPr>
        </p:nvSpPr>
        <p:spPr>
          <a:xfrm>
            <a:off x="295744" y="304800"/>
            <a:ext cx="8520600" cy="572700"/>
          </a:xfrm>
          <a:prstGeom prst="rect">
            <a:avLst/>
          </a:prstGeom>
        </p:spPr>
        <p:txBody>
          <a:bodyPr spcFirstLastPara="1" wrap="square" lIns="91425" tIns="91425" rIns="91425" bIns="91425" anchor="t" anchorCtr="0">
            <a:noAutofit/>
          </a:bodyPr>
          <a:lstStyle/>
          <a:p>
            <a:pPr lvl="0"/>
            <a:r>
              <a:rPr lang="ja" sz="1800" dirty="0">
                <a:highlight>
                  <a:srgbClr val="D9D9D9"/>
                </a:highlight>
              </a:rPr>
              <a:t>8-3. </a:t>
            </a:r>
            <a:r>
              <a:rPr lang="vi-VN" sz="1800" dirty="0">
                <a:highlight>
                  <a:srgbClr val="D9D9D9"/>
                </a:highlight>
              </a:rPr>
              <a:t>Đường truyền nhận file master từ hệ thống bên ngoài</a:t>
            </a:r>
            <a:r>
              <a:rPr lang="ja-JP" altLang="en-US" sz="1800" dirty="0">
                <a:highlight>
                  <a:srgbClr val="D9D9D9"/>
                </a:highlight>
              </a:rPr>
              <a:t>①</a:t>
            </a:r>
            <a:endParaRPr sz="1800" dirty="0">
              <a:highlight>
                <a:srgbClr val="D9D9D9"/>
              </a:highlight>
            </a:endParaRPr>
          </a:p>
        </p:txBody>
      </p:sp>
      <p:pic>
        <p:nvPicPr>
          <p:cNvPr id="259" name="Google Shape;259;p39" title="logo-luvina-2022-2.png">
            <a:extLst>
              <a:ext uri="{FF2B5EF4-FFF2-40B4-BE49-F238E27FC236}">
                <a16:creationId xmlns:a16="http://schemas.microsoft.com/office/drawing/2014/main" id="{93B6D06E-0E17-787D-6552-03272DC08C6C}"/>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60" name="Google Shape;260;p39">
            <a:extLst>
              <a:ext uri="{FF2B5EF4-FFF2-40B4-BE49-F238E27FC236}">
                <a16:creationId xmlns:a16="http://schemas.microsoft.com/office/drawing/2014/main" id="{4908DB2A-9B0E-CFAA-149F-D073244565F1}"/>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43</a:t>
            </a:fld>
            <a:endParaRPr/>
          </a:p>
        </p:txBody>
      </p:sp>
      <p:grpSp>
        <p:nvGrpSpPr>
          <p:cNvPr id="2" name="Group 1">
            <a:extLst>
              <a:ext uri="{FF2B5EF4-FFF2-40B4-BE49-F238E27FC236}">
                <a16:creationId xmlns:a16="http://schemas.microsoft.com/office/drawing/2014/main" id="{D1820C52-3EC3-FA16-9F3F-83E8DF2522FB}"/>
              </a:ext>
            </a:extLst>
          </p:cNvPr>
          <p:cNvGrpSpPr/>
          <p:nvPr/>
        </p:nvGrpSpPr>
        <p:grpSpPr>
          <a:xfrm>
            <a:off x="481012" y="993838"/>
            <a:ext cx="8181975" cy="3553040"/>
            <a:chOff x="0" y="0"/>
            <a:chExt cx="8839200" cy="3725740"/>
          </a:xfrm>
        </p:grpSpPr>
        <p:pic>
          <p:nvPicPr>
            <p:cNvPr id="3" name="Picture 2">
              <a:extLst>
                <a:ext uri="{FF2B5EF4-FFF2-40B4-BE49-F238E27FC236}">
                  <a16:creationId xmlns:a16="http://schemas.microsoft.com/office/drawing/2014/main" id="{C43406C5-3ABC-41C8-B7C8-9797581F8934}"/>
                </a:ext>
              </a:extLst>
            </p:cNvPr>
            <p:cNvPicPr>
              <a:picLocks noChangeAspect="1"/>
            </p:cNvPicPr>
            <p:nvPr/>
          </p:nvPicPr>
          <p:blipFill>
            <a:blip r:embed="rId4"/>
            <a:stretch>
              <a:fillRect/>
            </a:stretch>
          </p:blipFill>
          <p:spPr>
            <a:xfrm>
              <a:off x="0" y="0"/>
              <a:ext cx="7753350" cy="3673210"/>
            </a:xfrm>
            <a:prstGeom prst="rect">
              <a:avLst/>
            </a:prstGeom>
          </p:spPr>
        </p:pic>
        <p:sp>
          <p:nvSpPr>
            <p:cNvPr id="4" name="Rectangle 3">
              <a:extLst>
                <a:ext uri="{FF2B5EF4-FFF2-40B4-BE49-F238E27FC236}">
                  <a16:creationId xmlns:a16="http://schemas.microsoft.com/office/drawing/2014/main" id="{AF6D3C6A-C568-4E14-A311-07A154D7A982}"/>
                </a:ext>
              </a:extLst>
            </p:cNvPr>
            <p:cNvSpPr/>
            <p:nvPr/>
          </p:nvSpPr>
          <p:spPr>
            <a:xfrm>
              <a:off x="142874" y="647700"/>
              <a:ext cx="1457325" cy="571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800"/>
                <a:t>IP định tuyến: 10.156.96.192/26</a:t>
              </a:r>
              <a:br>
                <a:rPr lang="vi-VN" sz="800"/>
              </a:br>
              <a:r>
                <a:rPr lang="vi-VN" sz="800" i="1"/>
                <a:t>(Nhóm bảo mật cũng dùng /26 như vậy)</a:t>
              </a:r>
              <a:endParaRPr lang="en-US" sz="800"/>
            </a:p>
          </p:txBody>
        </p:sp>
        <p:sp>
          <p:nvSpPr>
            <p:cNvPr id="5" name="Rectangle 4">
              <a:extLst>
                <a:ext uri="{FF2B5EF4-FFF2-40B4-BE49-F238E27FC236}">
                  <a16:creationId xmlns:a16="http://schemas.microsoft.com/office/drawing/2014/main" id="{4CAA1AFB-F6DE-4758-897D-0875667503A2}"/>
                </a:ext>
              </a:extLst>
            </p:cNvPr>
            <p:cNvSpPr/>
            <p:nvPr/>
          </p:nvSpPr>
          <p:spPr>
            <a:xfrm>
              <a:off x="2105026" y="133350"/>
              <a:ext cx="685800"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700"/>
                <a:t>Dữ liệu liên kết hệ thống bên ngoài</a:t>
              </a:r>
            </a:p>
          </p:txBody>
        </p:sp>
        <p:sp>
          <p:nvSpPr>
            <p:cNvPr id="6" name="Rectangle 5">
              <a:extLst>
                <a:ext uri="{FF2B5EF4-FFF2-40B4-BE49-F238E27FC236}">
                  <a16:creationId xmlns:a16="http://schemas.microsoft.com/office/drawing/2014/main" id="{B90F562A-8356-4C60-8A36-E692AB0B549F}"/>
                </a:ext>
              </a:extLst>
            </p:cNvPr>
            <p:cNvSpPr/>
            <p:nvPr/>
          </p:nvSpPr>
          <p:spPr>
            <a:xfrm>
              <a:off x="2905125" y="57149"/>
              <a:ext cx="1200150" cy="4857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vi-VN" sz="600" b="1"/>
                <a:t>＜Kiểm tra trước＞</a:t>
              </a:r>
            </a:p>
            <a:p>
              <a:r>
                <a:rPr lang="vi-VN" sz="600"/>
                <a:t>Lịch trình batch định kỳ</a:t>
              </a:r>
            </a:p>
            <a:p>
              <a:r>
                <a:rPr lang="vi-VN" sz="600"/>
                <a:t>Số lượng file truyền trong mỗi lần</a:t>
              </a:r>
            </a:p>
            <a:p>
              <a:r>
                <a:rPr lang="vi-VN" sz="600"/>
                <a:t>Kích thước từng file</a:t>
              </a:r>
            </a:p>
            <a:p>
              <a:pPr algn="l"/>
              <a:endParaRPr lang="en-US" sz="600"/>
            </a:p>
          </p:txBody>
        </p:sp>
        <p:sp>
          <p:nvSpPr>
            <p:cNvPr id="7" name="Rectangle 6">
              <a:extLst>
                <a:ext uri="{FF2B5EF4-FFF2-40B4-BE49-F238E27FC236}">
                  <a16:creationId xmlns:a16="http://schemas.microsoft.com/office/drawing/2014/main" id="{F4BB4121-5504-4AA3-B1C8-504D3D572DAB}"/>
                </a:ext>
              </a:extLst>
            </p:cNvPr>
            <p:cNvSpPr/>
            <p:nvPr/>
          </p:nvSpPr>
          <p:spPr>
            <a:xfrm>
              <a:off x="5943600" y="180975"/>
              <a:ext cx="2895600" cy="5810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sz="600"/>
            </a:p>
            <a:p>
              <a:pPr lvl="1" algn="l"/>
              <a:r>
                <a:rPr lang="en-US" sz="600"/>
                <a:t>Hệ điều hành: Windows Server 2019 chuẩn với SFTP</a:t>
              </a:r>
            </a:p>
            <a:p>
              <a:pPr lvl="2" algn="l"/>
              <a:r>
                <a:rPr lang="en-US" sz="600"/>
                <a:t>OS Version: 1080 (Build: 17763.2452)</a:t>
              </a:r>
            </a:p>
            <a:p>
              <a:pPr lvl="2" algn="l"/>
              <a:r>
                <a:rPr lang="en-US" sz="600"/>
                <a:t>Hệ thống dạng cluster, chuyển đổi giữa máy chính và máy dự phòng mỗi tháng một lần</a:t>
              </a:r>
            </a:p>
            <a:p>
              <a:pPr algn="l"/>
              <a:endParaRPr lang="en-US" sz="600"/>
            </a:p>
          </p:txBody>
        </p:sp>
        <p:sp>
          <p:nvSpPr>
            <p:cNvPr id="8" name="Rectangle 7">
              <a:extLst>
                <a:ext uri="{FF2B5EF4-FFF2-40B4-BE49-F238E27FC236}">
                  <a16:creationId xmlns:a16="http://schemas.microsoft.com/office/drawing/2014/main" id="{5CC1A877-724F-4C59-91D2-8C32DCC41B1A}"/>
                </a:ext>
              </a:extLst>
            </p:cNvPr>
            <p:cNvSpPr/>
            <p:nvPr/>
          </p:nvSpPr>
          <p:spPr>
            <a:xfrm>
              <a:off x="1238250" y="2076450"/>
              <a:ext cx="3009900" cy="16492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vi-VN" sz="600" b="1"/>
                <a:t>Chú ý:</a:t>
              </a:r>
              <a:endParaRPr lang="vi-VN" sz="600"/>
            </a:p>
            <a:p>
              <a:r>
                <a:rPr lang="vi-VN" sz="600" b="1"/>
                <a:t>Khi kiểm tra kết nối, dùng lệnh sftp, không dùng lệnh ssh</a:t>
              </a:r>
              <a:endParaRPr lang="vi-VN" sz="600"/>
            </a:p>
            <a:p>
              <a:r>
                <a:rPr lang="vi-VN" sz="600"/>
                <a:t>bash</a:t>
              </a:r>
            </a:p>
            <a:p>
              <a:r>
                <a:rPr lang="vi-VN" sz="600"/>
                <a:t>CopyEdit</a:t>
              </a:r>
            </a:p>
            <a:p>
              <a:pPr rtl="0"/>
              <a:r>
                <a:rPr lang="vi-VN" sz="600"/>
                <a:t>sftp -i (khóa riêng) (tên người dùng)@(IP máy chủ SFTP) </a:t>
              </a:r>
            </a:p>
            <a:p>
              <a:r>
                <a:rPr lang="vi-VN" sz="600" b="1"/>
                <a:t>Thiết lập quyền của khóa riêng là 600</a:t>
              </a:r>
              <a:endParaRPr lang="vi-VN" sz="600"/>
            </a:p>
            <a:p>
              <a:r>
                <a:rPr lang="vi-VN" sz="600" b="1"/>
                <a:t>Nếu client dùng OpenSSH7 trở xuống</a:t>
              </a:r>
              <a:r>
                <a:rPr lang="vi-VN" sz="600"/>
                <a:t>, khi tạo khóa cần thêm tùy chọn -m PEM để xuất theo định dạng cũ</a:t>
              </a:r>
            </a:p>
            <a:p>
              <a:r>
                <a:rPr lang="vi-VN" sz="600"/>
                <a:t>bash</a:t>
              </a:r>
            </a:p>
            <a:p>
              <a:r>
                <a:rPr lang="vi-VN" sz="600"/>
                <a:t>CopyEdit</a:t>
              </a:r>
            </a:p>
            <a:p>
              <a:pPr rtl="0"/>
              <a:r>
                <a:rPr lang="vi-VN" sz="600"/>
                <a:t>ssh-keygen -m PEM </a:t>
              </a:r>
            </a:p>
            <a:p>
              <a:r>
                <a:rPr lang="vi-VN" sz="600" b="1"/>
                <a:t>Liên quan đến (3), cần thay đổi chính sách bảo mật SFTP sang phiên bản cũ hơn</a:t>
              </a:r>
              <a:endParaRPr lang="vi-VN" sz="600"/>
            </a:p>
            <a:p>
              <a:pPr lvl="1"/>
              <a:r>
                <a:rPr lang="vi-VN" sz="600"/>
                <a:t>TransferSecurityPolicy-2022-03</a:t>
              </a:r>
              <a:br>
                <a:rPr lang="vi-VN" sz="600"/>
              </a:br>
              <a:r>
                <a:rPr lang="vi-VN" sz="600"/>
                <a:t>↓</a:t>
              </a:r>
            </a:p>
            <a:p>
              <a:pPr lvl="1"/>
              <a:r>
                <a:rPr lang="vi-VN" sz="600"/>
                <a:t>TransferSecurityPolicy-2020-06</a:t>
              </a:r>
            </a:p>
            <a:p>
              <a:pPr algn="l"/>
              <a:endParaRPr lang="en-US" sz="200"/>
            </a:p>
          </p:txBody>
        </p:sp>
        <p:sp>
          <p:nvSpPr>
            <p:cNvPr id="9" name="Rectangle 8">
              <a:extLst>
                <a:ext uri="{FF2B5EF4-FFF2-40B4-BE49-F238E27FC236}">
                  <a16:creationId xmlns:a16="http://schemas.microsoft.com/office/drawing/2014/main" id="{BBD9D0E0-26D2-4A44-AE63-B526D340C4CF}"/>
                </a:ext>
              </a:extLst>
            </p:cNvPr>
            <p:cNvSpPr/>
            <p:nvPr/>
          </p:nvSpPr>
          <p:spPr>
            <a:xfrm>
              <a:off x="4591050" y="514350"/>
              <a:ext cx="1171575" cy="5238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sz="700"/>
                <a:t>Kết nối đến hệ thống </a:t>
              </a:r>
              <a:r>
                <a:rPr lang="en-US" sz="700" b="1"/>
                <a:t>Kasumi mạng nội bộ khách hàng</a:t>
              </a:r>
              <a:endParaRPr lang="en-US" sz="700"/>
            </a:p>
            <a:p>
              <a:r>
                <a:rPr lang="en-US" sz="700"/>
                <a:t>Địa chỉ: 10.30.120.X/X</a:t>
              </a:r>
            </a:p>
            <a:p>
              <a:pPr algn="l"/>
              <a:endParaRPr lang="en-US" sz="700"/>
            </a:p>
          </p:txBody>
        </p:sp>
        <p:sp>
          <p:nvSpPr>
            <p:cNvPr id="10" name="Rectangle 9">
              <a:extLst>
                <a:ext uri="{FF2B5EF4-FFF2-40B4-BE49-F238E27FC236}">
                  <a16:creationId xmlns:a16="http://schemas.microsoft.com/office/drawing/2014/main" id="{DFAEBCBB-296B-4079-B8C2-A991F23FDAAA}"/>
                </a:ext>
              </a:extLst>
            </p:cNvPr>
            <p:cNvSpPr/>
            <p:nvPr/>
          </p:nvSpPr>
          <p:spPr>
            <a:xfrm>
              <a:off x="2552700" y="657224"/>
              <a:ext cx="1571625" cy="4528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sz="700" b="1"/>
                <a:t>USMH mạng đóng nội bộ khách hàng</a:t>
              </a:r>
              <a:endParaRPr lang="en-US" sz="700"/>
            </a:p>
            <a:p>
              <a:r>
                <a:rPr lang="en-US" sz="700"/>
                <a:t>Địa chỉ: 10.156.96.192/26</a:t>
              </a:r>
            </a:p>
            <a:p>
              <a:pPr algn="l"/>
              <a:endParaRPr lang="en-US" sz="700"/>
            </a:p>
          </p:txBody>
        </p:sp>
        <p:sp>
          <p:nvSpPr>
            <p:cNvPr id="11" name="Rectangle 10">
              <a:extLst>
                <a:ext uri="{FF2B5EF4-FFF2-40B4-BE49-F238E27FC236}">
                  <a16:creationId xmlns:a16="http://schemas.microsoft.com/office/drawing/2014/main" id="{03420C4B-F465-4757-858A-FBBE492A3879}"/>
                </a:ext>
              </a:extLst>
            </p:cNvPr>
            <p:cNvSpPr/>
            <p:nvPr/>
          </p:nvSpPr>
          <p:spPr>
            <a:xfrm>
              <a:off x="3571875" y="1743074"/>
              <a:ext cx="752475" cy="1714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800"/>
                <a:t>Phía Ainesu</a:t>
              </a:r>
              <a:endParaRPr lang="en-US" sz="800"/>
            </a:p>
          </p:txBody>
        </p:sp>
        <p:sp>
          <p:nvSpPr>
            <p:cNvPr id="12" name="Rectangle 11">
              <a:extLst>
                <a:ext uri="{FF2B5EF4-FFF2-40B4-BE49-F238E27FC236}">
                  <a16:creationId xmlns:a16="http://schemas.microsoft.com/office/drawing/2014/main" id="{C71FF034-95CA-426C-8033-8E04962AAB33}"/>
                </a:ext>
              </a:extLst>
            </p:cNvPr>
            <p:cNvSpPr/>
            <p:nvPr/>
          </p:nvSpPr>
          <p:spPr>
            <a:xfrm>
              <a:off x="4467225" y="1752600"/>
              <a:ext cx="752475" cy="1619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800"/>
                <a:t>Kasumi</a:t>
              </a:r>
              <a:endParaRPr lang="en-US" sz="800"/>
            </a:p>
          </p:txBody>
        </p:sp>
        <p:sp>
          <p:nvSpPr>
            <p:cNvPr id="13" name="Rectangle 12">
              <a:extLst>
                <a:ext uri="{FF2B5EF4-FFF2-40B4-BE49-F238E27FC236}">
                  <a16:creationId xmlns:a16="http://schemas.microsoft.com/office/drawing/2014/main" id="{519E166D-73BA-4DCC-B51F-82230EDB6BE5}"/>
                </a:ext>
              </a:extLst>
            </p:cNvPr>
            <p:cNvSpPr/>
            <p:nvPr/>
          </p:nvSpPr>
          <p:spPr>
            <a:xfrm>
              <a:off x="5686425" y="1857375"/>
              <a:ext cx="885825" cy="2571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800"/>
                <a:t>Phía Biprogy</a:t>
              </a:r>
              <a:endParaRPr lang="en-US" sz="800"/>
            </a:p>
          </p:txBody>
        </p:sp>
        <p:sp>
          <p:nvSpPr>
            <p:cNvPr id="14" name="Rectangle 13">
              <a:extLst>
                <a:ext uri="{FF2B5EF4-FFF2-40B4-BE49-F238E27FC236}">
                  <a16:creationId xmlns:a16="http://schemas.microsoft.com/office/drawing/2014/main" id="{00CB4544-A696-40EE-92D4-A7CED8D7DE5D}"/>
                </a:ext>
              </a:extLst>
            </p:cNvPr>
            <p:cNvSpPr/>
            <p:nvPr/>
          </p:nvSpPr>
          <p:spPr>
            <a:xfrm>
              <a:off x="1638300" y="1428750"/>
              <a:ext cx="523875" cy="2000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800"/>
                <a:t>Upload</a:t>
              </a:r>
              <a:endParaRPr lang="en-US" sz="800"/>
            </a:p>
          </p:txBody>
        </p:sp>
        <p:sp>
          <p:nvSpPr>
            <p:cNvPr id="15" name="Rectangle 14">
              <a:extLst>
                <a:ext uri="{FF2B5EF4-FFF2-40B4-BE49-F238E27FC236}">
                  <a16:creationId xmlns:a16="http://schemas.microsoft.com/office/drawing/2014/main" id="{08D5A116-317F-4452-9EDF-11A0B2B811E6}"/>
                </a:ext>
              </a:extLst>
            </p:cNvPr>
            <p:cNvSpPr/>
            <p:nvPr/>
          </p:nvSpPr>
          <p:spPr>
            <a:xfrm>
              <a:off x="5619750" y="2724150"/>
              <a:ext cx="1028700" cy="733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800"/>
                <a:t>Dành cho ứng dụng trung gian máy chủ Scan&amp;GO (Khách hàng: Kasumi)</a:t>
              </a:r>
            </a:p>
          </p:txBody>
        </p:sp>
        <p:sp>
          <p:nvSpPr>
            <p:cNvPr id="16" name="Rectangle 15">
              <a:extLst>
                <a:ext uri="{FF2B5EF4-FFF2-40B4-BE49-F238E27FC236}">
                  <a16:creationId xmlns:a16="http://schemas.microsoft.com/office/drawing/2014/main" id="{3E233108-84F7-C731-47E8-B0848529BE31}"/>
                </a:ext>
              </a:extLst>
            </p:cNvPr>
            <p:cNvSpPr/>
            <p:nvPr/>
          </p:nvSpPr>
          <p:spPr>
            <a:xfrm>
              <a:off x="2466975" y="1438275"/>
              <a:ext cx="523875" cy="3091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600"/>
                <a:t>Mạng nội bộ USMH</a:t>
              </a:r>
              <a:endParaRPr lang="en-US" sz="600"/>
            </a:p>
          </p:txBody>
        </p:sp>
        <p:sp>
          <p:nvSpPr>
            <p:cNvPr id="17" name="Rectangle 16">
              <a:extLst>
                <a:ext uri="{FF2B5EF4-FFF2-40B4-BE49-F238E27FC236}">
                  <a16:creationId xmlns:a16="http://schemas.microsoft.com/office/drawing/2014/main" id="{18EDAD44-5C18-4DF9-A538-2649913601B6}"/>
                </a:ext>
              </a:extLst>
            </p:cNvPr>
            <p:cNvSpPr/>
            <p:nvPr/>
          </p:nvSpPr>
          <p:spPr>
            <a:xfrm>
              <a:off x="504825" y="1866900"/>
              <a:ext cx="657225" cy="5766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800"/>
                <a:t>phiên bản POS offline v2.0</a:t>
              </a:r>
            </a:p>
          </p:txBody>
        </p:sp>
        <p:sp>
          <p:nvSpPr>
            <p:cNvPr id="18" name="Rectangle 17">
              <a:extLst>
                <a:ext uri="{FF2B5EF4-FFF2-40B4-BE49-F238E27FC236}">
                  <a16:creationId xmlns:a16="http://schemas.microsoft.com/office/drawing/2014/main" id="{21271630-0DC6-45B9-94F2-5176EF49260B}"/>
                </a:ext>
              </a:extLst>
            </p:cNvPr>
            <p:cNvSpPr/>
            <p:nvPr/>
          </p:nvSpPr>
          <p:spPr>
            <a:xfrm>
              <a:off x="4410074" y="3076575"/>
              <a:ext cx="1133475" cy="352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800"/>
                <a:t>Lib Renci.SshNet </a:t>
              </a:r>
              <a:br>
                <a:rPr lang="vi-VN" sz="800"/>
              </a:br>
              <a:r>
                <a:rPr lang="vi-VN" sz="800"/>
                <a:t>C#</a:t>
              </a:r>
              <a:endParaRPr lang="en-US" sz="800"/>
            </a:p>
          </p:txBody>
        </p:sp>
      </p:grpSp>
    </p:spTree>
    <p:extLst>
      <p:ext uri="{BB962C8B-B14F-4D97-AF65-F5344CB8AC3E}">
        <p14:creationId xmlns:p14="http://schemas.microsoft.com/office/powerpoint/2010/main" val="26799558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65">
          <a:extLst>
            <a:ext uri="{FF2B5EF4-FFF2-40B4-BE49-F238E27FC236}">
              <a16:creationId xmlns:a16="http://schemas.microsoft.com/office/drawing/2014/main" id="{EC0D9552-D8A7-7843-9461-3D4035E886A1}"/>
            </a:ext>
          </a:extLst>
        </p:cNvPr>
        <p:cNvGrpSpPr/>
        <p:nvPr/>
      </p:nvGrpSpPr>
      <p:grpSpPr>
        <a:xfrm>
          <a:off x="0" y="0"/>
          <a:ext cx="0" cy="0"/>
          <a:chOff x="0" y="0"/>
          <a:chExt cx="0" cy="0"/>
        </a:xfrm>
      </p:grpSpPr>
      <p:sp>
        <p:nvSpPr>
          <p:cNvPr id="266" name="Google Shape;266;p40">
            <a:extLst>
              <a:ext uri="{FF2B5EF4-FFF2-40B4-BE49-F238E27FC236}">
                <a16:creationId xmlns:a16="http://schemas.microsoft.com/office/drawing/2014/main" id="{ED8DB884-8BF7-B167-8984-DD0E183E8E7C}"/>
              </a:ext>
            </a:extLst>
          </p:cNvPr>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a:bodyPr>
          <a:lstStyle/>
          <a:p>
            <a:pPr lvl="0"/>
            <a:r>
              <a:rPr lang="ja" sz="1800" dirty="0">
                <a:highlight>
                  <a:srgbClr val="D9D9D9"/>
                </a:highlight>
              </a:rPr>
              <a:t>8-4.外部連携マスタの受信経路②</a:t>
            </a:r>
            <a:endParaRPr sz="1800" dirty="0">
              <a:highlight>
                <a:srgbClr val="D9D9D9"/>
              </a:highlight>
            </a:endParaRPr>
          </a:p>
        </p:txBody>
      </p:sp>
      <p:pic>
        <p:nvPicPr>
          <p:cNvPr id="267" name="Google Shape;267;p40" title="logo-luvina-2022-2.png">
            <a:extLst>
              <a:ext uri="{FF2B5EF4-FFF2-40B4-BE49-F238E27FC236}">
                <a16:creationId xmlns:a16="http://schemas.microsoft.com/office/drawing/2014/main" id="{08213997-B53F-ED3F-9856-8BDCF79759CE}"/>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68" name="Google Shape;268;p40">
            <a:extLst>
              <a:ext uri="{FF2B5EF4-FFF2-40B4-BE49-F238E27FC236}">
                <a16:creationId xmlns:a16="http://schemas.microsoft.com/office/drawing/2014/main" id="{24CB126E-9AB9-0635-7818-CD6B93BC1998}"/>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44</a:t>
            </a:fld>
            <a:endParaRPr/>
          </a:p>
        </p:txBody>
      </p:sp>
      <p:pic>
        <p:nvPicPr>
          <p:cNvPr id="269" name="Google Shape;269;p40" title="【POS】infra_ishida-8-5(受信).drawio.png">
            <a:extLst>
              <a:ext uri="{FF2B5EF4-FFF2-40B4-BE49-F238E27FC236}">
                <a16:creationId xmlns:a16="http://schemas.microsoft.com/office/drawing/2014/main" id="{48E804FD-82A1-7FB7-8971-C331C4D1C452}"/>
              </a:ext>
            </a:extLst>
          </p:cNvPr>
          <p:cNvPicPr preferRelativeResize="0"/>
          <p:nvPr/>
        </p:nvPicPr>
        <p:blipFill>
          <a:blip r:embed="rId4">
            <a:alphaModFix/>
          </a:blip>
          <a:stretch>
            <a:fillRect/>
          </a:stretch>
        </p:blipFill>
        <p:spPr>
          <a:xfrm>
            <a:off x="1285638" y="992175"/>
            <a:ext cx="6082878" cy="3846526"/>
          </a:xfrm>
          <a:prstGeom prst="rect">
            <a:avLst/>
          </a:prstGeom>
          <a:noFill/>
          <a:ln>
            <a:noFill/>
          </a:ln>
        </p:spPr>
      </p:pic>
    </p:spTree>
    <p:extLst>
      <p:ext uri="{BB962C8B-B14F-4D97-AF65-F5344CB8AC3E}">
        <p14:creationId xmlns:p14="http://schemas.microsoft.com/office/powerpoint/2010/main" val="31486905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65">
          <a:extLst>
            <a:ext uri="{FF2B5EF4-FFF2-40B4-BE49-F238E27FC236}">
              <a16:creationId xmlns:a16="http://schemas.microsoft.com/office/drawing/2014/main" id="{D77FE4B5-BC9F-1404-5FB9-202DC94E4BF5}"/>
            </a:ext>
          </a:extLst>
        </p:cNvPr>
        <p:cNvGrpSpPr/>
        <p:nvPr/>
      </p:nvGrpSpPr>
      <p:grpSpPr>
        <a:xfrm>
          <a:off x="0" y="0"/>
          <a:ext cx="0" cy="0"/>
          <a:chOff x="0" y="0"/>
          <a:chExt cx="0" cy="0"/>
        </a:xfrm>
      </p:grpSpPr>
      <p:sp>
        <p:nvSpPr>
          <p:cNvPr id="266" name="Google Shape;266;p40">
            <a:extLst>
              <a:ext uri="{FF2B5EF4-FFF2-40B4-BE49-F238E27FC236}">
                <a16:creationId xmlns:a16="http://schemas.microsoft.com/office/drawing/2014/main" id="{D2CDA91B-AA4C-069D-E501-8DB6A12FF15F}"/>
              </a:ext>
            </a:extLst>
          </p:cNvPr>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a:bodyPr>
          <a:lstStyle/>
          <a:p>
            <a:pPr lvl="0"/>
            <a:r>
              <a:rPr lang="ja" sz="1800" dirty="0">
                <a:highlight>
                  <a:srgbClr val="D9D9D9"/>
                </a:highlight>
              </a:rPr>
              <a:t>8-4.</a:t>
            </a:r>
            <a:r>
              <a:rPr lang="vi-VN" sz="1800" dirty="0">
                <a:highlight>
                  <a:srgbClr val="D9D9D9"/>
                </a:highlight>
              </a:rPr>
              <a:t> Đường truyền nhận file master từ hệ thống bên</a:t>
            </a:r>
            <a:r>
              <a:rPr lang="ja" altLang="en-US" sz="1800" dirty="0">
                <a:highlight>
                  <a:srgbClr val="D9D9D9"/>
                </a:highlight>
              </a:rPr>
              <a:t> ②</a:t>
            </a:r>
            <a:endParaRPr sz="1800" dirty="0">
              <a:highlight>
                <a:srgbClr val="D9D9D9"/>
              </a:highlight>
            </a:endParaRPr>
          </a:p>
        </p:txBody>
      </p:sp>
      <p:pic>
        <p:nvPicPr>
          <p:cNvPr id="267" name="Google Shape;267;p40" title="logo-luvina-2022-2.png">
            <a:extLst>
              <a:ext uri="{FF2B5EF4-FFF2-40B4-BE49-F238E27FC236}">
                <a16:creationId xmlns:a16="http://schemas.microsoft.com/office/drawing/2014/main" id="{8DA1E3AA-DAB6-9366-F85C-F37868750447}"/>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68" name="Google Shape;268;p40">
            <a:extLst>
              <a:ext uri="{FF2B5EF4-FFF2-40B4-BE49-F238E27FC236}">
                <a16:creationId xmlns:a16="http://schemas.microsoft.com/office/drawing/2014/main" id="{30C04A27-E0A2-1F88-C290-6706CDBA2B8B}"/>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45</a:t>
            </a:fld>
            <a:endParaRPr/>
          </a:p>
        </p:txBody>
      </p:sp>
      <p:grpSp>
        <p:nvGrpSpPr>
          <p:cNvPr id="2" name="Group 1">
            <a:extLst>
              <a:ext uri="{FF2B5EF4-FFF2-40B4-BE49-F238E27FC236}">
                <a16:creationId xmlns:a16="http://schemas.microsoft.com/office/drawing/2014/main" id="{26CB2FBB-A6C6-5A80-3755-C5A2A84D63BA}"/>
              </a:ext>
            </a:extLst>
          </p:cNvPr>
          <p:cNvGrpSpPr/>
          <p:nvPr/>
        </p:nvGrpSpPr>
        <p:grpSpPr>
          <a:xfrm>
            <a:off x="898505" y="990027"/>
            <a:ext cx="5708551" cy="3415086"/>
            <a:chOff x="0" y="0"/>
            <a:chExt cx="7724494" cy="4650148"/>
          </a:xfrm>
        </p:grpSpPr>
        <p:pic>
          <p:nvPicPr>
            <p:cNvPr id="3" name="Picture 2">
              <a:extLst>
                <a:ext uri="{FF2B5EF4-FFF2-40B4-BE49-F238E27FC236}">
                  <a16:creationId xmlns:a16="http://schemas.microsoft.com/office/drawing/2014/main" id="{F0144113-A016-4344-B5C0-AA0DD0FF185D}"/>
                </a:ext>
              </a:extLst>
            </p:cNvPr>
            <p:cNvPicPr>
              <a:picLocks noChangeAspect="1"/>
            </p:cNvPicPr>
            <p:nvPr/>
          </p:nvPicPr>
          <p:blipFill>
            <a:blip r:embed="rId4"/>
            <a:stretch>
              <a:fillRect/>
            </a:stretch>
          </p:blipFill>
          <p:spPr>
            <a:xfrm>
              <a:off x="0" y="0"/>
              <a:ext cx="7724494" cy="4650148"/>
            </a:xfrm>
            <a:prstGeom prst="rect">
              <a:avLst/>
            </a:prstGeom>
          </p:spPr>
        </p:pic>
        <p:sp>
          <p:nvSpPr>
            <p:cNvPr id="4" name="Rectangle 3">
              <a:extLst>
                <a:ext uri="{FF2B5EF4-FFF2-40B4-BE49-F238E27FC236}">
                  <a16:creationId xmlns:a16="http://schemas.microsoft.com/office/drawing/2014/main" id="{574B58AF-4D28-43BE-8F1F-32955CFED4B9}"/>
                </a:ext>
              </a:extLst>
            </p:cNvPr>
            <p:cNvSpPr/>
            <p:nvPr/>
          </p:nvSpPr>
          <p:spPr>
            <a:xfrm>
              <a:off x="341779" y="887506"/>
              <a:ext cx="747433" cy="328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800"/>
                <a:t>Nguồn kết nối</a:t>
              </a:r>
              <a:endParaRPr lang="en-US" sz="700"/>
            </a:p>
          </p:txBody>
        </p:sp>
        <p:sp>
          <p:nvSpPr>
            <p:cNvPr id="5" name="Rectangle 4">
              <a:extLst>
                <a:ext uri="{FF2B5EF4-FFF2-40B4-BE49-F238E27FC236}">
                  <a16:creationId xmlns:a16="http://schemas.microsoft.com/office/drawing/2014/main" id="{AD010E9E-7BA2-3ECA-08FE-6EA94018B3CE}"/>
                </a:ext>
              </a:extLst>
            </p:cNvPr>
            <p:cNvSpPr/>
            <p:nvPr/>
          </p:nvSpPr>
          <p:spPr>
            <a:xfrm>
              <a:off x="1199029" y="885825"/>
              <a:ext cx="747433" cy="328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800"/>
                <a:t>Môi trường</a:t>
              </a:r>
              <a:endParaRPr lang="en-US" sz="700"/>
            </a:p>
          </p:txBody>
        </p:sp>
        <p:sp>
          <p:nvSpPr>
            <p:cNvPr id="6" name="Rectangle 5">
              <a:extLst>
                <a:ext uri="{FF2B5EF4-FFF2-40B4-BE49-F238E27FC236}">
                  <a16:creationId xmlns:a16="http://schemas.microsoft.com/office/drawing/2014/main" id="{E46DE8EB-A88F-4ECE-BCD6-3EE9C010ABCA}"/>
                </a:ext>
              </a:extLst>
            </p:cNvPr>
            <p:cNvSpPr/>
            <p:nvPr/>
          </p:nvSpPr>
          <p:spPr>
            <a:xfrm>
              <a:off x="2208679" y="866775"/>
              <a:ext cx="747433" cy="328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800"/>
                <a:t>Tên người dùng SFTP</a:t>
              </a:r>
              <a:endParaRPr lang="en-US" sz="700"/>
            </a:p>
          </p:txBody>
        </p:sp>
        <p:sp>
          <p:nvSpPr>
            <p:cNvPr id="7" name="Rectangle 6">
              <a:extLst>
                <a:ext uri="{FF2B5EF4-FFF2-40B4-BE49-F238E27FC236}">
                  <a16:creationId xmlns:a16="http://schemas.microsoft.com/office/drawing/2014/main" id="{5B691DDE-064C-47EC-9919-283F5BD233A7}"/>
                </a:ext>
              </a:extLst>
            </p:cNvPr>
            <p:cNvSpPr/>
            <p:nvPr/>
          </p:nvSpPr>
          <p:spPr>
            <a:xfrm>
              <a:off x="3285004" y="876300"/>
              <a:ext cx="747433" cy="328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800"/>
                <a:t>IP thực tế máy chủ SFTP</a:t>
              </a:r>
              <a:endParaRPr lang="en-US" sz="700"/>
            </a:p>
          </p:txBody>
        </p:sp>
        <p:sp>
          <p:nvSpPr>
            <p:cNvPr id="8" name="Rectangle 7">
              <a:extLst>
                <a:ext uri="{FF2B5EF4-FFF2-40B4-BE49-F238E27FC236}">
                  <a16:creationId xmlns:a16="http://schemas.microsoft.com/office/drawing/2014/main" id="{904493CE-E245-455B-8603-EC7BC61C7BA3}"/>
                </a:ext>
              </a:extLst>
            </p:cNvPr>
            <p:cNvSpPr/>
            <p:nvPr/>
          </p:nvSpPr>
          <p:spPr>
            <a:xfrm>
              <a:off x="6523504" y="895350"/>
              <a:ext cx="747433" cy="328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800"/>
                <a:t>IP thực tế nguồn kết nối</a:t>
              </a:r>
              <a:endParaRPr lang="en-US" sz="700"/>
            </a:p>
          </p:txBody>
        </p:sp>
        <p:sp>
          <p:nvSpPr>
            <p:cNvPr id="9" name="Rectangle 8">
              <a:extLst>
                <a:ext uri="{FF2B5EF4-FFF2-40B4-BE49-F238E27FC236}">
                  <a16:creationId xmlns:a16="http://schemas.microsoft.com/office/drawing/2014/main" id="{6C1F920F-F2AC-990A-397A-4EA85585832F}"/>
                </a:ext>
              </a:extLst>
            </p:cNvPr>
            <p:cNvSpPr/>
            <p:nvPr/>
          </p:nvSpPr>
          <p:spPr>
            <a:xfrm>
              <a:off x="4247029" y="866775"/>
              <a:ext cx="747433" cy="328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800"/>
                <a:t>NAT IP phía USMH</a:t>
              </a:r>
              <a:endParaRPr lang="en-US" sz="700"/>
            </a:p>
          </p:txBody>
        </p:sp>
        <p:sp>
          <p:nvSpPr>
            <p:cNvPr id="10" name="Rectangle 9">
              <a:extLst>
                <a:ext uri="{FF2B5EF4-FFF2-40B4-BE49-F238E27FC236}">
                  <a16:creationId xmlns:a16="http://schemas.microsoft.com/office/drawing/2014/main" id="{3EE02DB3-FF9B-4E38-8053-792B8B9635FA}"/>
                </a:ext>
              </a:extLst>
            </p:cNvPr>
            <p:cNvSpPr/>
            <p:nvPr/>
          </p:nvSpPr>
          <p:spPr>
            <a:xfrm>
              <a:off x="5513854" y="895350"/>
              <a:ext cx="747433" cy="328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800" dirty="0"/>
                <a:t>NAT IP </a:t>
              </a:r>
              <a:r>
                <a:rPr lang="en-US" sz="800" dirty="0" err="1"/>
                <a:t>phía</a:t>
              </a:r>
              <a:r>
                <a:rPr lang="en-US" sz="800" dirty="0"/>
                <a:t> Kasumi</a:t>
              </a:r>
              <a:endParaRPr lang="en-US" sz="700" dirty="0"/>
            </a:p>
          </p:txBody>
        </p:sp>
        <p:sp>
          <p:nvSpPr>
            <p:cNvPr id="11" name="Rectangle 10">
              <a:extLst>
                <a:ext uri="{FF2B5EF4-FFF2-40B4-BE49-F238E27FC236}">
                  <a16:creationId xmlns:a16="http://schemas.microsoft.com/office/drawing/2014/main" id="{7BE94A0E-CFB8-44C4-9768-3D2ADEBD6C0A}"/>
                </a:ext>
              </a:extLst>
            </p:cNvPr>
            <p:cNvSpPr/>
            <p:nvPr/>
          </p:nvSpPr>
          <p:spPr>
            <a:xfrm>
              <a:off x="3418354" y="4192681"/>
              <a:ext cx="1395133" cy="3838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800"/>
                <a:t>IP nguồn mà máy chủ SFTP của Rubina nhận được</a:t>
              </a:r>
              <a:endParaRPr lang="en-US" sz="700"/>
            </a:p>
          </p:txBody>
        </p:sp>
        <p:sp>
          <p:nvSpPr>
            <p:cNvPr id="12" name="Rectangle 11">
              <a:extLst>
                <a:ext uri="{FF2B5EF4-FFF2-40B4-BE49-F238E27FC236}">
                  <a16:creationId xmlns:a16="http://schemas.microsoft.com/office/drawing/2014/main" id="{1AC3494E-A06C-4501-A2AA-F18B9D6B6A69}"/>
                </a:ext>
              </a:extLst>
            </p:cNvPr>
            <p:cNvSpPr/>
            <p:nvPr/>
          </p:nvSpPr>
          <p:spPr>
            <a:xfrm>
              <a:off x="5518337" y="4202206"/>
              <a:ext cx="1395133" cy="3838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800"/>
                <a:t>Địa chỉ đích khi máy chủ OC gửi đi</a:t>
              </a:r>
              <a:endParaRPr lang="en-US" sz="700"/>
            </a:p>
          </p:txBody>
        </p:sp>
        <p:sp>
          <p:nvSpPr>
            <p:cNvPr id="13" name="Rectangle 12">
              <a:extLst>
                <a:ext uri="{FF2B5EF4-FFF2-40B4-BE49-F238E27FC236}">
                  <a16:creationId xmlns:a16="http://schemas.microsoft.com/office/drawing/2014/main" id="{5493507D-4BF1-46A6-9476-455434DB3F29}"/>
                </a:ext>
              </a:extLst>
            </p:cNvPr>
            <p:cNvSpPr/>
            <p:nvPr/>
          </p:nvSpPr>
          <p:spPr>
            <a:xfrm>
              <a:off x="4041962" y="192181"/>
              <a:ext cx="1066800" cy="3838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700"/>
                <a:t>VINX (</a:t>
              </a:r>
              <a:r>
                <a:rPr lang="ja-JP" altLang="en-US" sz="700"/>
                <a:t>八木沢様</a:t>
              </a:r>
              <a:r>
                <a:rPr lang="en-US" altLang="ja-JP" sz="700"/>
                <a:t>, </a:t>
              </a:r>
              <a:r>
                <a:rPr lang="ja-JP" altLang="en-US" sz="700"/>
                <a:t>殿村様</a:t>
              </a:r>
              <a:r>
                <a:rPr lang="en-US" altLang="ja-JP" sz="700"/>
                <a:t>) </a:t>
              </a:r>
              <a:r>
                <a:rPr lang="en-US" sz="700"/>
                <a:t>xác nhận</a:t>
              </a:r>
              <a:endParaRPr lang="en-US" sz="600"/>
            </a:p>
          </p:txBody>
        </p:sp>
        <p:sp>
          <p:nvSpPr>
            <p:cNvPr id="14" name="Rectangle 13">
              <a:extLst>
                <a:ext uri="{FF2B5EF4-FFF2-40B4-BE49-F238E27FC236}">
                  <a16:creationId xmlns:a16="http://schemas.microsoft.com/office/drawing/2014/main" id="{D20088F0-C041-6D43-369B-136B3BB49C21}"/>
                </a:ext>
              </a:extLst>
            </p:cNvPr>
            <p:cNvSpPr/>
            <p:nvPr/>
          </p:nvSpPr>
          <p:spPr>
            <a:xfrm>
              <a:off x="5175438" y="468406"/>
              <a:ext cx="371474" cy="3143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600"/>
                <a:t>yêu cầu</a:t>
              </a:r>
            </a:p>
          </p:txBody>
        </p:sp>
        <p:sp>
          <p:nvSpPr>
            <p:cNvPr id="15" name="Rectangle 14">
              <a:extLst>
                <a:ext uri="{FF2B5EF4-FFF2-40B4-BE49-F238E27FC236}">
                  <a16:creationId xmlns:a16="http://schemas.microsoft.com/office/drawing/2014/main" id="{524CA16A-F099-FCEC-B986-2E89EACF5DF2}"/>
                </a:ext>
              </a:extLst>
            </p:cNvPr>
            <p:cNvSpPr/>
            <p:nvPr/>
          </p:nvSpPr>
          <p:spPr>
            <a:xfrm>
              <a:off x="5546912" y="211231"/>
              <a:ext cx="600075" cy="5048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700" b="1"/>
                <a:t>AINES (</a:t>
              </a:r>
              <a:r>
                <a:rPr lang="ja-JP" altLang="en-US" sz="700" b="1"/>
                <a:t>南雲様</a:t>
              </a:r>
              <a:r>
                <a:rPr lang="en-US" altLang="ja-JP" sz="700" b="1"/>
                <a:t>)</a:t>
              </a:r>
              <a:r>
                <a:rPr lang="ja-JP" altLang="en-US" sz="700"/>
                <a:t> </a:t>
              </a:r>
              <a:r>
                <a:rPr lang="en-US" sz="700"/>
                <a:t>cấu hình NAT</a:t>
              </a:r>
              <a:endParaRPr lang="en-US" sz="600"/>
            </a:p>
          </p:txBody>
        </p:sp>
        <p:sp>
          <p:nvSpPr>
            <p:cNvPr id="16" name="Rectangle 15">
              <a:extLst>
                <a:ext uri="{FF2B5EF4-FFF2-40B4-BE49-F238E27FC236}">
                  <a16:creationId xmlns:a16="http://schemas.microsoft.com/office/drawing/2014/main" id="{CC817E5F-2A99-4866-B1FF-00F1AC033A74}"/>
                </a:ext>
              </a:extLst>
            </p:cNvPr>
            <p:cNvSpPr/>
            <p:nvPr/>
          </p:nvSpPr>
          <p:spPr>
            <a:xfrm>
              <a:off x="257176" y="2857500"/>
              <a:ext cx="689162" cy="3838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800"/>
                <a:t>Trung gian</a:t>
              </a:r>
              <a:endParaRPr lang="en-US" sz="700"/>
            </a:p>
          </p:txBody>
        </p:sp>
        <p:sp>
          <p:nvSpPr>
            <p:cNvPr id="17" name="Rectangle 16">
              <a:extLst>
                <a:ext uri="{FF2B5EF4-FFF2-40B4-BE49-F238E27FC236}">
                  <a16:creationId xmlns:a16="http://schemas.microsoft.com/office/drawing/2014/main" id="{7FBBDD23-8379-4511-818C-6192B92F3356}"/>
                </a:ext>
              </a:extLst>
            </p:cNvPr>
            <p:cNvSpPr/>
            <p:nvPr/>
          </p:nvSpPr>
          <p:spPr>
            <a:xfrm>
              <a:off x="1123949" y="1285875"/>
              <a:ext cx="832037" cy="3838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800"/>
                <a:t>Môi trường Staging</a:t>
              </a:r>
              <a:endParaRPr lang="en-US" sz="700"/>
            </a:p>
          </p:txBody>
        </p:sp>
        <p:sp>
          <p:nvSpPr>
            <p:cNvPr id="18" name="Rectangle 17">
              <a:extLst>
                <a:ext uri="{FF2B5EF4-FFF2-40B4-BE49-F238E27FC236}">
                  <a16:creationId xmlns:a16="http://schemas.microsoft.com/office/drawing/2014/main" id="{8BDB2BE1-FDFA-4B08-9579-F741019F03A6}"/>
                </a:ext>
              </a:extLst>
            </p:cNvPr>
            <p:cNvSpPr/>
            <p:nvPr/>
          </p:nvSpPr>
          <p:spPr>
            <a:xfrm>
              <a:off x="1104900" y="2600325"/>
              <a:ext cx="832037" cy="3838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800"/>
                <a:t>Môi trường Staging</a:t>
              </a:r>
              <a:endParaRPr lang="en-US" sz="700"/>
            </a:p>
          </p:txBody>
        </p:sp>
        <p:sp>
          <p:nvSpPr>
            <p:cNvPr id="19" name="Rectangle 18">
              <a:extLst>
                <a:ext uri="{FF2B5EF4-FFF2-40B4-BE49-F238E27FC236}">
                  <a16:creationId xmlns:a16="http://schemas.microsoft.com/office/drawing/2014/main" id="{5B29EC09-ADE7-041A-6EF8-FAE7B7A6DBBA}"/>
                </a:ext>
              </a:extLst>
            </p:cNvPr>
            <p:cNvSpPr/>
            <p:nvPr/>
          </p:nvSpPr>
          <p:spPr>
            <a:xfrm>
              <a:off x="1085850" y="1933575"/>
              <a:ext cx="832037" cy="3838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800"/>
                <a:t>Môi trường chính</a:t>
              </a:r>
              <a:endParaRPr lang="en-US" sz="700"/>
            </a:p>
          </p:txBody>
        </p:sp>
        <p:sp>
          <p:nvSpPr>
            <p:cNvPr id="20" name="Rectangle 19">
              <a:extLst>
                <a:ext uri="{FF2B5EF4-FFF2-40B4-BE49-F238E27FC236}">
                  <a16:creationId xmlns:a16="http://schemas.microsoft.com/office/drawing/2014/main" id="{80A99394-284E-F48A-7F94-010CBFC49A55}"/>
                </a:ext>
              </a:extLst>
            </p:cNvPr>
            <p:cNvSpPr/>
            <p:nvPr/>
          </p:nvSpPr>
          <p:spPr>
            <a:xfrm>
              <a:off x="1085850" y="3257550"/>
              <a:ext cx="832037" cy="3838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vi-VN" sz="800"/>
                <a:t>Môi trường chính</a:t>
              </a:r>
              <a:endParaRPr lang="en-US" sz="700"/>
            </a:p>
          </p:txBody>
        </p:sp>
      </p:grpSp>
    </p:spTree>
    <p:extLst>
      <p:ext uri="{BB962C8B-B14F-4D97-AF65-F5344CB8AC3E}">
        <p14:creationId xmlns:p14="http://schemas.microsoft.com/office/powerpoint/2010/main" val="25516691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1"/>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8-5.POSマスタ連携方法について（PUSH・PULL型）</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275" name="Google Shape;275;p41"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76" name="Google Shape;276;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46</a:t>
            </a:fld>
            <a:endParaRPr/>
          </a:p>
        </p:txBody>
      </p:sp>
      <p:sp>
        <p:nvSpPr>
          <p:cNvPr id="277" name="Google Shape;277;p41"/>
          <p:cNvSpPr txBox="1">
            <a:spLocks noGrp="1"/>
          </p:cNvSpPr>
          <p:nvPr>
            <p:ph type="body" idx="1"/>
          </p:nvPr>
        </p:nvSpPr>
        <p:spPr>
          <a:xfrm>
            <a:off x="452575" y="992175"/>
            <a:ext cx="8136000" cy="3554100"/>
          </a:xfrm>
          <a:prstGeom prst="rect">
            <a:avLst/>
          </a:prstGeom>
        </p:spPr>
        <p:txBody>
          <a:bodyPr spcFirstLastPara="1" wrap="square" lIns="91425" tIns="91425" rIns="91425" bIns="91425" anchor="t" anchorCtr="0">
            <a:noAutofit/>
          </a:bodyPr>
          <a:lstStyle/>
          <a:p>
            <a:pPr marL="457200" lvl="0" indent="-330200" algn="l" rtl="0">
              <a:lnSpc>
                <a:spcPct val="95000"/>
              </a:lnSpc>
              <a:spcBef>
                <a:spcPts val="0"/>
              </a:spcBef>
              <a:spcAft>
                <a:spcPts val="0"/>
              </a:spcAft>
              <a:buSzPts val="1600"/>
              <a:buChar char="●"/>
            </a:pPr>
            <a:r>
              <a:rPr lang="ja" sz="1600"/>
              <a:t>サーバとクライアント構成において、クライアントがFW配下にある場合、ファイルを共有する最も適切で一般的な方法は、</a:t>
            </a:r>
            <a:r>
              <a:rPr lang="ja" sz="1600">
                <a:solidFill>
                  <a:srgbClr val="FF0000"/>
                </a:solidFill>
              </a:rPr>
              <a:t>クライアントからサーバに対してファイルを取得する（PULL型）</a:t>
            </a:r>
            <a:r>
              <a:rPr lang="ja" sz="1600"/>
              <a:t>こと</a:t>
            </a:r>
            <a:endParaRPr sz="1600"/>
          </a:p>
          <a:p>
            <a:pPr marL="457200" lvl="0" indent="-330200" algn="l" rtl="0">
              <a:lnSpc>
                <a:spcPct val="95000"/>
              </a:lnSpc>
              <a:spcBef>
                <a:spcPts val="0"/>
              </a:spcBef>
              <a:spcAft>
                <a:spcPts val="0"/>
              </a:spcAft>
              <a:buSzPts val="1600"/>
              <a:buChar char="●"/>
            </a:pPr>
            <a:r>
              <a:rPr lang="ja" sz="1600"/>
              <a:t>PUSH型</a:t>
            </a:r>
            <a:endParaRPr sz="1600"/>
          </a:p>
          <a:p>
            <a:pPr marL="914400" lvl="1" indent="-330200" algn="l" rtl="0">
              <a:lnSpc>
                <a:spcPct val="95000"/>
              </a:lnSpc>
              <a:spcBef>
                <a:spcPts val="0"/>
              </a:spcBef>
              <a:spcAft>
                <a:spcPts val="0"/>
              </a:spcAft>
              <a:buSzPts val="1600"/>
              <a:buChar char="○"/>
            </a:pPr>
            <a:r>
              <a:rPr lang="ja" sz="1600"/>
              <a:t>FWで特定のIPアドレスやポートを許可しなければならず、セキュリティリスクを高める</a:t>
            </a:r>
            <a:endParaRPr sz="1600"/>
          </a:p>
          <a:p>
            <a:pPr marL="914400" lvl="1" indent="-330200" algn="l" rtl="0">
              <a:lnSpc>
                <a:spcPct val="95000"/>
              </a:lnSpc>
              <a:spcBef>
                <a:spcPts val="0"/>
              </a:spcBef>
              <a:spcAft>
                <a:spcPts val="0"/>
              </a:spcAft>
              <a:buSzPts val="1600"/>
              <a:buChar char="○"/>
            </a:pPr>
            <a:r>
              <a:rPr lang="ja" sz="1600"/>
              <a:t>クライアント側でサーバからの接続を受け入れるための設定が必要となり、クライアント側の構成や設定が複雑になったり、意図しない接続を受け入れてしまうリスクが生じる</a:t>
            </a:r>
            <a:endParaRPr sz="1600"/>
          </a:p>
          <a:p>
            <a:pPr marL="914400" lvl="1" indent="-330200" algn="l" rtl="0">
              <a:lnSpc>
                <a:spcPct val="95000"/>
              </a:lnSpc>
              <a:spcBef>
                <a:spcPts val="0"/>
              </a:spcBef>
              <a:spcAft>
                <a:spcPts val="0"/>
              </a:spcAft>
              <a:buSzPts val="1600"/>
              <a:buChar char="○"/>
            </a:pPr>
            <a:r>
              <a:rPr lang="ja" sz="1600"/>
              <a:t>サーバが各クライアントの状態を管理し、ファイルの送信をトリガーする必要があり、大規模な環境では複雑さが増す</a:t>
            </a:r>
            <a:endParaRPr sz="1600"/>
          </a:p>
          <a:p>
            <a:pPr marL="457200" lvl="0" indent="-330200" algn="l" rtl="0">
              <a:lnSpc>
                <a:spcPct val="95000"/>
              </a:lnSpc>
              <a:spcBef>
                <a:spcPts val="0"/>
              </a:spcBef>
              <a:spcAft>
                <a:spcPts val="0"/>
              </a:spcAft>
              <a:buSzPts val="1600"/>
              <a:buChar char="●"/>
            </a:pPr>
            <a:r>
              <a:rPr lang="ja" sz="1600"/>
              <a:t>PULL型</a:t>
            </a:r>
            <a:endParaRPr sz="1600"/>
          </a:p>
          <a:p>
            <a:pPr marL="914400" lvl="1" indent="-330200" algn="l" rtl="0">
              <a:lnSpc>
                <a:spcPct val="95000"/>
              </a:lnSpc>
              <a:spcBef>
                <a:spcPts val="0"/>
              </a:spcBef>
              <a:spcAft>
                <a:spcPts val="0"/>
              </a:spcAft>
              <a:buSzPts val="1600"/>
              <a:buChar char="○"/>
            </a:pPr>
            <a:r>
              <a:rPr lang="ja" sz="1600"/>
              <a:t>多くのクライアントが存在する場合でも管理・スケーラビリティが容易となる。各クライアントは必要に応じてファイルを取得すればよく、サーバ側はリクエストに応じて提供する形になる</a:t>
            </a:r>
            <a:endParaRPr sz="1600"/>
          </a:p>
          <a:p>
            <a:pPr marL="914400" lvl="0" indent="0" algn="l" rtl="0">
              <a:lnSpc>
                <a:spcPct val="95000"/>
              </a:lnSpc>
              <a:spcBef>
                <a:spcPts val="1200"/>
              </a:spcBef>
              <a:spcAft>
                <a:spcPts val="1200"/>
              </a:spcAft>
              <a:buNone/>
            </a:pPr>
            <a:endParaRPr sz="17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73">
          <a:extLst>
            <a:ext uri="{FF2B5EF4-FFF2-40B4-BE49-F238E27FC236}">
              <a16:creationId xmlns:a16="http://schemas.microsoft.com/office/drawing/2014/main" id="{5052A010-79F7-102F-0863-C9C5C9E554A6}"/>
            </a:ext>
          </a:extLst>
        </p:cNvPr>
        <p:cNvGrpSpPr/>
        <p:nvPr/>
      </p:nvGrpSpPr>
      <p:grpSpPr>
        <a:xfrm>
          <a:off x="0" y="0"/>
          <a:ext cx="0" cy="0"/>
          <a:chOff x="0" y="0"/>
          <a:chExt cx="0" cy="0"/>
        </a:xfrm>
      </p:grpSpPr>
      <p:sp>
        <p:nvSpPr>
          <p:cNvPr id="274" name="Google Shape;274;p41">
            <a:extLst>
              <a:ext uri="{FF2B5EF4-FFF2-40B4-BE49-F238E27FC236}">
                <a16:creationId xmlns:a16="http://schemas.microsoft.com/office/drawing/2014/main" id="{5ADC106E-3F39-C70E-3EB2-686B1DD030C3}"/>
              </a:ext>
            </a:extLst>
          </p:cNvPr>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dirty="0">
                <a:highlight>
                  <a:srgbClr val="D9D9D9"/>
                </a:highlight>
              </a:rPr>
              <a:t>8-5.POSマスタ連携方法について（PUSH・PULL型）</a:t>
            </a:r>
            <a:endParaRPr dirty="0">
              <a:highlight>
                <a:srgbClr val="D9D9D9"/>
              </a:highlight>
            </a:endParaRPr>
          </a:p>
          <a:p>
            <a:pPr marL="0" lvl="0" indent="0" algn="l" rtl="0">
              <a:spcBef>
                <a:spcPts val="0"/>
              </a:spcBef>
              <a:spcAft>
                <a:spcPts val="0"/>
              </a:spcAft>
              <a:buNone/>
            </a:pPr>
            <a:endParaRPr dirty="0">
              <a:highlight>
                <a:srgbClr val="D9D9D9"/>
              </a:highlight>
            </a:endParaRPr>
          </a:p>
        </p:txBody>
      </p:sp>
      <p:pic>
        <p:nvPicPr>
          <p:cNvPr id="275" name="Google Shape;275;p41" title="logo-luvina-2022-2.png">
            <a:extLst>
              <a:ext uri="{FF2B5EF4-FFF2-40B4-BE49-F238E27FC236}">
                <a16:creationId xmlns:a16="http://schemas.microsoft.com/office/drawing/2014/main" id="{6D957D48-2E0A-C125-EF24-C51867F803B9}"/>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76" name="Google Shape;276;p41">
            <a:extLst>
              <a:ext uri="{FF2B5EF4-FFF2-40B4-BE49-F238E27FC236}">
                <a16:creationId xmlns:a16="http://schemas.microsoft.com/office/drawing/2014/main" id="{AA37E899-10CF-6B70-2D4D-34AB944F5109}"/>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47</a:t>
            </a:fld>
            <a:endParaRPr/>
          </a:p>
        </p:txBody>
      </p:sp>
      <p:sp>
        <p:nvSpPr>
          <p:cNvPr id="277" name="Google Shape;277;p41">
            <a:extLst>
              <a:ext uri="{FF2B5EF4-FFF2-40B4-BE49-F238E27FC236}">
                <a16:creationId xmlns:a16="http://schemas.microsoft.com/office/drawing/2014/main" id="{4E057C5A-DED8-9DB5-7A77-CB7589C3C9E2}"/>
              </a:ext>
            </a:extLst>
          </p:cNvPr>
          <p:cNvSpPr txBox="1">
            <a:spLocks noGrp="1"/>
          </p:cNvSpPr>
          <p:nvPr>
            <p:ph type="body" idx="1"/>
          </p:nvPr>
        </p:nvSpPr>
        <p:spPr>
          <a:xfrm>
            <a:off x="452575" y="992175"/>
            <a:ext cx="8136000" cy="3554100"/>
          </a:xfrm>
          <a:prstGeom prst="rect">
            <a:avLst/>
          </a:prstGeom>
        </p:spPr>
        <p:txBody>
          <a:bodyPr spcFirstLastPara="1" wrap="square" lIns="91425" tIns="91425" rIns="91425" bIns="91425" anchor="t" anchorCtr="0">
            <a:noAutofit/>
          </a:bodyPr>
          <a:lstStyle/>
          <a:p>
            <a:pPr lvl="0" indent="-330200">
              <a:lnSpc>
                <a:spcPct val="95000"/>
              </a:lnSpc>
              <a:buSzPts val="1600"/>
            </a:pPr>
            <a:r>
              <a:rPr lang="vi-VN" altLang="ja" sz="1600" dirty="0"/>
              <a:t>● Trong cấu trúc hệ thống bao gồm máy chủ và máy khách, khi máy khách nằm phía sau tường lửa (FW), phương pháp chia sẻ tệp tin phù hợp và </a:t>
            </a:r>
            <a:r>
              <a:rPr lang="vi-VN" altLang="ja" sz="1600" dirty="0">
                <a:solidFill>
                  <a:srgbClr val="FF0000"/>
                </a:solidFill>
              </a:rPr>
              <a:t>phổ biến nhất là để máy khách tự lấy tệp từ máy chủ (mô hình PULL).</a:t>
            </a:r>
          </a:p>
          <a:p>
            <a:pPr lvl="0" indent="-330200">
              <a:lnSpc>
                <a:spcPct val="95000"/>
              </a:lnSpc>
              <a:buSzPts val="1600"/>
            </a:pPr>
            <a:r>
              <a:rPr lang="vi-VN" altLang="ja" sz="1600" dirty="0"/>
              <a:t>● Mô hình PUSH</a:t>
            </a:r>
          </a:p>
          <a:p>
            <a:pPr lvl="0" indent="-330200">
              <a:lnSpc>
                <a:spcPct val="95000"/>
              </a:lnSpc>
              <a:buSzPts val="1600"/>
            </a:pPr>
            <a:r>
              <a:rPr lang="ja" altLang="vi-VN" sz="1600" dirty="0"/>
              <a:t>・</a:t>
            </a:r>
            <a:r>
              <a:rPr lang="vi-VN" altLang="ja" sz="1600" dirty="0"/>
              <a:t>Cần phải cho phép địa chỉ IP hoặc cổng cụ thể trong tường lửa, làm tăng rủi ro về bảo mật.</a:t>
            </a:r>
          </a:p>
          <a:p>
            <a:pPr lvl="0" indent="-330200">
              <a:lnSpc>
                <a:spcPct val="95000"/>
              </a:lnSpc>
              <a:buSzPts val="1600"/>
            </a:pPr>
            <a:r>
              <a:rPr lang="ja" altLang="vi-VN" sz="1600" dirty="0"/>
              <a:t>・</a:t>
            </a:r>
            <a:r>
              <a:rPr lang="vi-VN" altLang="ja" sz="1600" dirty="0"/>
              <a:t>Cần thiết lập để máy khách chấp nhận kết nối từ máy chủ, khiến cấu hình phía máy khách trở nên phức tạp, đồng thời phát sinh rủi ro chấp nhận kết nối không mong muốn.</a:t>
            </a:r>
          </a:p>
          <a:p>
            <a:pPr lvl="0" indent="-330200">
              <a:lnSpc>
                <a:spcPct val="95000"/>
              </a:lnSpc>
              <a:buSzPts val="1600"/>
            </a:pPr>
            <a:r>
              <a:rPr lang="ja" altLang="vi-VN" sz="1600" dirty="0"/>
              <a:t>・</a:t>
            </a:r>
            <a:r>
              <a:rPr lang="vi-VN" altLang="ja" sz="1600" dirty="0"/>
              <a:t>Máy chủ phải quản lý trạng thái của từng máy khách và kích hoạt việc gửi tệp, dẫn đến phức tạp hơn trong các môi trường quy mô lớn.</a:t>
            </a:r>
          </a:p>
          <a:p>
            <a:pPr lvl="0" indent="-330200">
              <a:lnSpc>
                <a:spcPct val="95000"/>
              </a:lnSpc>
              <a:buSzPts val="1600"/>
            </a:pPr>
            <a:r>
              <a:rPr lang="vi-VN" altLang="ja" sz="1600" dirty="0"/>
              <a:t>● Mô hình PULL</a:t>
            </a:r>
          </a:p>
          <a:p>
            <a:pPr lvl="0" indent="-330200">
              <a:lnSpc>
                <a:spcPct val="95000"/>
              </a:lnSpc>
              <a:buSzPts val="1600"/>
            </a:pPr>
            <a:r>
              <a:rPr lang="ja" altLang="vi-VN" sz="1600" dirty="0"/>
              <a:t>・</a:t>
            </a:r>
            <a:r>
              <a:rPr lang="vi-VN" altLang="ja" sz="1600" dirty="0"/>
              <a:t>Dễ dàng quản lý và mở rộng ngay cả khi có nhiều máy khách. Mỗi máy khách chỉ cần lấy tệp khi cần thiết, và máy chủ chỉ cần cung cấp tệp theo yêu cầu.</a:t>
            </a:r>
            <a:endParaRPr sz="1700" dirty="0"/>
          </a:p>
        </p:txBody>
      </p:sp>
    </p:spTree>
    <p:extLst>
      <p:ext uri="{BB962C8B-B14F-4D97-AF65-F5344CB8AC3E}">
        <p14:creationId xmlns:p14="http://schemas.microsoft.com/office/powerpoint/2010/main" val="32375704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42"/>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Autofit/>
          </a:bodyPr>
          <a:lstStyle/>
          <a:p>
            <a:pPr lvl="0"/>
            <a:r>
              <a:rPr lang="ja" sz="1800" dirty="0">
                <a:highlight>
                  <a:srgbClr val="D9D9D9"/>
                </a:highlight>
              </a:rPr>
              <a:t>8-6.POSマスタ連携 ISHIDA（フェーズ1）</a:t>
            </a:r>
            <a:r>
              <a:rPr lang="en-US" altLang="ja" sz="1800" dirty="0">
                <a:highlight>
                  <a:srgbClr val="D9D9D9"/>
                </a:highlight>
              </a:rPr>
              <a:t>/</a:t>
            </a:r>
            <a:r>
              <a:rPr lang="en-US" altLang="ja" sz="1800" dirty="0"/>
              <a:t> Liên </a:t>
            </a:r>
            <a:r>
              <a:rPr lang="en-US" altLang="ja" sz="1800" dirty="0" err="1"/>
              <a:t>kết</a:t>
            </a:r>
            <a:r>
              <a:rPr lang="en-US" altLang="ja" sz="1800" dirty="0"/>
              <a:t> master POS </a:t>
            </a:r>
            <a:r>
              <a:rPr lang="en-US" altLang="ja" sz="1800" dirty="0" err="1"/>
              <a:t>với</a:t>
            </a:r>
            <a:r>
              <a:rPr lang="en-US" altLang="ja" sz="1800" dirty="0"/>
              <a:t> ISHIDA (Giai </a:t>
            </a:r>
            <a:r>
              <a:rPr lang="en-US" altLang="ja" sz="1800" dirty="0" err="1"/>
              <a:t>đoạn</a:t>
            </a:r>
            <a:r>
              <a:rPr lang="en-US" altLang="ja" sz="1800" dirty="0"/>
              <a:t> 1)</a:t>
            </a:r>
            <a:endParaRPr sz="1800" dirty="0">
              <a:highlight>
                <a:srgbClr val="D9D9D9"/>
              </a:highlight>
            </a:endParaRPr>
          </a:p>
          <a:p>
            <a:pPr marL="0" lvl="0" indent="0" algn="l" rtl="0">
              <a:spcBef>
                <a:spcPts val="0"/>
              </a:spcBef>
              <a:spcAft>
                <a:spcPts val="0"/>
              </a:spcAft>
              <a:buNone/>
            </a:pPr>
            <a:endParaRPr sz="1800" dirty="0">
              <a:highlight>
                <a:srgbClr val="D9D9D9"/>
              </a:highlight>
            </a:endParaRPr>
          </a:p>
          <a:p>
            <a:pPr marL="0" lvl="0" indent="0" algn="l" rtl="0">
              <a:spcBef>
                <a:spcPts val="0"/>
              </a:spcBef>
              <a:spcAft>
                <a:spcPts val="0"/>
              </a:spcAft>
              <a:buNone/>
            </a:pPr>
            <a:endParaRPr sz="1800" dirty="0">
              <a:highlight>
                <a:srgbClr val="D9D9D9"/>
              </a:highlight>
            </a:endParaRPr>
          </a:p>
        </p:txBody>
      </p:sp>
      <p:pic>
        <p:nvPicPr>
          <p:cNvPr id="283" name="Google Shape;283;p42"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84" name="Google Shape;284;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48</a:t>
            </a:fld>
            <a:endParaRPr/>
          </a:p>
        </p:txBody>
      </p:sp>
      <p:sp>
        <p:nvSpPr>
          <p:cNvPr id="285" name="Google Shape;285;p42"/>
          <p:cNvSpPr txBox="1"/>
          <p:nvPr/>
        </p:nvSpPr>
        <p:spPr>
          <a:xfrm>
            <a:off x="409450" y="87875"/>
            <a:ext cx="3677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ja">
                <a:solidFill>
                  <a:srgbClr val="FF0000"/>
                </a:solidFill>
              </a:rPr>
              <a:t>※ISHIDA側の仕様上、PUSH型を採用※</a:t>
            </a:r>
            <a:endParaRPr>
              <a:solidFill>
                <a:srgbClr val="FF0000"/>
              </a:solidFill>
            </a:endParaRPr>
          </a:p>
        </p:txBody>
      </p:sp>
      <p:pic>
        <p:nvPicPr>
          <p:cNvPr id="286" name="Google Shape;286;p42" title="【POS】infra_ishida-8-6（送信）.drawio.png"/>
          <p:cNvPicPr preferRelativeResize="0"/>
          <p:nvPr/>
        </p:nvPicPr>
        <p:blipFill>
          <a:blip r:embed="rId4">
            <a:alphaModFix/>
          </a:blip>
          <a:stretch>
            <a:fillRect/>
          </a:stretch>
        </p:blipFill>
        <p:spPr>
          <a:xfrm>
            <a:off x="929825" y="1047400"/>
            <a:ext cx="6810337" cy="38465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42"/>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Autofit/>
          </a:bodyPr>
          <a:lstStyle/>
          <a:p>
            <a:pPr lvl="0"/>
            <a:r>
              <a:rPr lang="ja" sz="1800" dirty="0">
                <a:highlight>
                  <a:srgbClr val="D9D9D9"/>
                </a:highlight>
              </a:rPr>
              <a:t>8-6.POSマスタ連携 ISHIDA（フェーズ1）</a:t>
            </a:r>
            <a:r>
              <a:rPr lang="en-US" altLang="ja" sz="1800" dirty="0">
                <a:highlight>
                  <a:srgbClr val="D9D9D9"/>
                </a:highlight>
              </a:rPr>
              <a:t>/</a:t>
            </a:r>
            <a:r>
              <a:rPr lang="en-US" altLang="ja" sz="1800" dirty="0"/>
              <a:t> Liên </a:t>
            </a:r>
            <a:r>
              <a:rPr lang="en-US" altLang="ja" sz="1800" dirty="0" err="1"/>
              <a:t>kết</a:t>
            </a:r>
            <a:r>
              <a:rPr lang="en-US" altLang="ja" sz="1800" dirty="0"/>
              <a:t> master POS </a:t>
            </a:r>
            <a:r>
              <a:rPr lang="en-US" altLang="ja" sz="1800" dirty="0" err="1"/>
              <a:t>với</a:t>
            </a:r>
            <a:r>
              <a:rPr lang="en-US" altLang="ja" sz="1800" dirty="0"/>
              <a:t> ISHIDA (Giai </a:t>
            </a:r>
            <a:r>
              <a:rPr lang="en-US" altLang="ja" sz="1800" dirty="0" err="1"/>
              <a:t>đoạn</a:t>
            </a:r>
            <a:r>
              <a:rPr lang="en-US" altLang="ja" sz="1800" dirty="0"/>
              <a:t> 1)</a:t>
            </a:r>
            <a:endParaRPr sz="1800" dirty="0">
              <a:highlight>
                <a:srgbClr val="D9D9D9"/>
              </a:highlight>
            </a:endParaRPr>
          </a:p>
          <a:p>
            <a:pPr marL="0" lvl="0" indent="0" algn="l" rtl="0">
              <a:spcBef>
                <a:spcPts val="0"/>
              </a:spcBef>
              <a:spcAft>
                <a:spcPts val="0"/>
              </a:spcAft>
              <a:buNone/>
            </a:pPr>
            <a:endParaRPr sz="1800" dirty="0">
              <a:highlight>
                <a:srgbClr val="D9D9D9"/>
              </a:highlight>
            </a:endParaRPr>
          </a:p>
          <a:p>
            <a:pPr marL="0" lvl="0" indent="0" algn="l" rtl="0">
              <a:spcBef>
                <a:spcPts val="0"/>
              </a:spcBef>
              <a:spcAft>
                <a:spcPts val="0"/>
              </a:spcAft>
              <a:buNone/>
            </a:pPr>
            <a:endParaRPr sz="1800" dirty="0">
              <a:highlight>
                <a:srgbClr val="D9D9D9"/>
              </a:highlight>
            </a:endParaRPr>
          </a:p>
        </p:txBody>
      </p:sp>
      <p:pic>
        <p:nvPicPr>
          <p:cNvPr id="283" name="Google Shape;283;p42"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84" name="Google Shape;284;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49</a:t>
            </a:fld>
            <a:endParaRPr/>
          </a:p>
        </p:txBody>
      </p:sp>
      <p:sp>
        <p:nvSpPr>
          <p:cNvPr id="285" name="Google Shape;285;p42"/>
          <p:cNvSpPr txBox="1"/>
          <p:nvPr/>
        </p:nvSpPr>
        <p:spPr>
          <a:xfrm>
            <a:off x="409450" y="87875"/>
            <a:ext cx="3677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ja">
                <a:solidFill>
                  <a:srgbClr val="FF0000"/>
                </a:solidFill>
              </a:rPr>
              <a:t>※ISHIDA側の仕様上、PUSH型を採用※</a:t>
            </a:r>
            <a:endParaRPr>
              <a:solidFill>
                <a:srgbClr val="FF0000"/>
              </a:solidFill>
            </a:endParaRPr>
          </a:p>
        </p:txBody>
      </p:sp>
      <p:pic>
        <p:nvPicPr>
          <p:cNvPr id="286" name="Google Shape;286;p42" title="【POS】infra_ishida-8-6（送信）.drawio.png"/>
          <p:cNvPicPr preferRelativeResize="0"/>
          <p:nvPr/>
        </p:nvPicPr>
        <p:blipFill>
          <a:blip r:embed="rId4">
            <a:alphaModFix/>
          </a:blip>
          <a:stretch>
            <a:fillRect/>
          </a:stretch>
        </p:blipFill>
        <p:spPr>
          <a:xfrm>
            <a:off x="929825" y="1047400"/>
            <a:ext cx="6810337" cy="3846525"/>
          </a:xfrm>
          <a:prstGeom prst="rect">
            <a:avLst/>
          </a:prstGeom>
          <a:noFill/>
          <a:ln>
            <a:noFill/>
          </a:ln>
        </p:spPr>
      </p:pic>
      <p:sp>
        <p:nvSpPr>
          <p:cNvPr id="3" name="TextBox 2">
            <a:extLst>
              <a:ext uri="{FF2B5EF4-FFF2-40B4-BE49-F238E27FC236}">
                <a16:creationId xmlns:a16="http://schemas.microsoft.com/office/drawing/2014/main" id="{050C1BB1-6E21-5C50-4E7E-CA61CF992F46}"/>
              </a:ext>
            </a:extLst>
          </p:cNvPr>
          <p:cNvSpPr txBox="1"/>
          <p:nvPr/>
        </p:nvSpPr>
        <p:spPr>
          <a:xfrm>
            <a:off x="915626" y="1522432"/>
            <a:ext cx="624794" cy="3231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Máy chủ POS phiên bản ngoại tuyến 2.0</a:t>
            </a:r>
          </a:p>
        </p:txBody>
      </p:sp>
      <p:sp>
        <p:nvSpPr>
          <p:cNvPr id="4" name="TextBox 3">
            <a:extLst>
              <a:ext uri="{FF2B5EF4-FFF2-40B4-BE49-F238E27FC236}">
                <a16:creationId xmlns:a16="http://schemas.microsoft.com/office/drawing/2014/main" id="{68DE01B3-2CBB-7828-2439-DA26D14A53A3}"/>
              </a:ext>
            </a:extLst>
          </p:cNvPr>
          <p:cNvSpPr txBox="1"/>
          <p:nvPr/>
        </p:nvSpPr>
        <p:spPr>
          <a:xfrm>
            <a:off x="3140578" y="3576604"/>
            <a:ext cx="624794"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Môi trường staging</a:t>
            </a:r>
          </a:p>
        </p:txBody>
      </p:sp>
      <p:sp>
        <p:nvSpPr>
          <p:cNvPr id="5" name="TextBox 4">
            <a:extLst>
              <a:ext uri="{FF2B5EF4-FFF2-40B4-BE49-F238E27FC236}">
                <a16:creationId xmlns:a16="http://schemas.microsoft.com/office/drawing/2014/main" id="{3D30EC2A-7864-AAD1-2DED-EA2B3FEE94E6}"/>
              </a:ext>
            </a:extLst>
          </p:cNvPr>
          <p:cNvSpPr txBox="1"/>
          <p:nvPr/>
        </p:nvSpPr>
        <p:spPr>
          <a:xfrm>
            <a:off x="1736694" y="2259679"/>
            <a:ext cx="624794"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Môi trường production</a:t>
            </a:r>
          </a:p>
        </p:txBody>
      </p:sp>
      <p:sp>
        <p:nvSpPr>
          <p:cNvPr id="6" name="TextBox 5">
            <a:extLst>
              <a:ext uri="{FF2B5EF4-FFF2-40B4-BE49-F238E27FC236}">
                <a16:creationId xmlns:a16="http://schemas.microsoft.com/office/drawing/2014/main" id="{AEA25907-2768-C7C9-3C99-9A186258C27E}"/>
              </a:ext>
            </a:extLst>
          </p:cNvPr>
          <p:cNvSpPr txBox="1"/>
          <p:nvPr/>
        </p:nvSpPr>
        <p:spPr>
          <a:xfrm>
            <a:off x="4022596" y="2077374"/>
            <a:ext cx="624794"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Mạng cấu hình USMH</a:t>
            </a:r>
          </a:p>
        </p:txBody>
      </p:sp>
      <p:sp>
        <p:nvSpPr>
          <p:cNvPr id="7" name="TextBox 6">
            <a:extLst>
              <a:ext uri="{FF2B5EF4-FFF2-40B4-BE49-F238E27FC236}">
                <a16:creationId xmlns:a16="http://schemas.microsoft.com/office/drawing/2014/main" id="{C1470694-14B2-100B-DA77-ECF706538071}"/>
              </a:ext>
            </a:extLst>
          </p:cNvPr>
          <p:cNvSpPr txBox="1"/>
          <p:nvPr/>
        </p:nvSpPr>
        <p:spPr>
          <a:xfrm>
            <a:off x="5813823" y="1712426"/>
            <a:ext cx="624794"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Trung tâm dữ liệu KASUMI</a:t>
            </a:r>
          </a:p>
        </p:txBody>
      </p:sp>
      <p:sp>
        <p:nvSpPr>
          <p:cNvPr id="8" name="TextBox 7">
            <a:extLst>
              <a:ext uri="{FF2B5EF4-FFF2-40B4-BE49-F238E27FC236}">
                <a16:creationId xmlns:a16="http://schemas.microsoft.com/office/drawing/2014/main" id="{FDB5F7D4-FFA1-B5BA-3643-B613DBC8ED1B}"/>
              </a:ext>
            </a:extLst>
          </p:cNvPr>
          <p:cNvSpPr txBox="1"/>
          <p:nvPr/>
        </p:nvSpPr>
        <p:spPr>
          <a:xfrm>
            <a:off x="7803166" y="1092663"/>
            <a:ext cx="1029134" cy="3231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Xác thực bằng mật khẩu FTP</a:t>
            </a:r>
          </a:p>
          <a:p>
            <a:r>
              <a:rPr lang="en-VN" sz="500" dirty="0"/>
              <a:t>Đường dẫn tương đối :5 ký tự số mã của hàng/Recv</a:t>
            </a:r>
          </a:p>
        </p:txBody>
      </p:sp>
      <p:sp>
        <p:nvSpPr>
          <p:cNvPr id="9" name="TextBox 8">
            <a:extLst>
              <a:ext uri="{FF2B5EF4-FFF2-40B4-BE49-F238E27FC236}">
                <a16:creationId xmlns:a16="http://schemas.microsoft.com/office/drawing/2014/main" id="{C5D53BD1-50BB-DF2F-4DB2-678BA331AF3B}"/>
              </a:ext>
            </a:extLst>
          </p:cNvPr>
          <p:cNvSpPr txBox="1"/>
          <p:nvPr/>
        </p:nvSpPr>
        <p:spPr>
          <a:xfrm>
            <a:off x="7812716" y="1522432"/>
            <a:ext cx="1029134" cy="40011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Trong của hàng </a:t>
            </a:r>
          </a:p>
          <a:p>
            <a:r>
              <a:rPr lang="en-US" sz="500" dirty="0"/>
              <a:t>M</a:t>
            </a:r>
            <a:r>
              <a:rPr lang="en-VN" sz="500" dirty="0"/>
              <a:t>áy chủ thẻ giá điện tử ISHIDA cửa hàng kiểm chứng 9716</a:t>
            </a:r>
          </a:p>
        </p:txBody>
      </p:sp>
      <p:sp>
        <p:nvSpPr>
          <p:cNvPr id="10" name="TextBox 9">
            <a:extLst>
              <a:ext uri="{FF2B5EF4-FFF2-40B4-BE49-F238E27FC236}">
                <a16:creationId xmlns:a16="http://schemas.microsoft.com/office/drawing/2014/main" id="{7A1FB747-84B8-147B-F9EA-81E3C20375BB}"/>
              </a:ext>
            </a:extLst>
          </p:cNvPr>
          <p:cNvSpPr txBox="1"/>
          <p:nvPr/>
        </p:nvSpPr>
        <p:spPr>
          <a:xfrm>
            <a:off x="7827754" y="2596329"/>
            <a:ext cx="1029134" cy="40011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Trong cửa hàng </a:t>
            </a:r>
          </a:p>
          <a:p>
            <a:r>
              <a:rPr lang="en-US" sz="500" dirty="0"/>
              <a:t>M</a:t>
            </a:r>
            <a:r>
              <a:rPr lang="en-VN" sz="500" dirty="0"/>
              <a:t>áy chủ thẻ giá điện tử ISHIDA của hàng công viên KINEN EXPO</a:t>
            </a:r>
          </a:p>
        </p:txBody>
      </p:sp>
      <p:sp>
        <p:nvSpPr>
          <p:cNvPr id="11" name="TextBox 10">
            <a:extLst>
              <a:ext uri="{FF2B5EF4-FFF2-40B4-BE49-F238E27FC236}">
                <a16:creationId xmlns:a16="http://schemas.microsoft.com/office/drawing/2014/main" id="{8FA1431A-3C00-9DE5-0F7B-2FF8AA80FDC5}"/>
              </a:ext>
            </a:extLst>
          </p:cNvPr>
          <p:cNvSpPr txBox="1"/>
          <p:nvPr/>
        </p:nvSpPr>
        <p:spPr>
          <a:xfrm>
            <a:off x="7812716" y="2098096"/>
            <a:ext cx="1029134" cy="16927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Khách hàng ISHIDA</a:t>
            </a:r>
          </a:p>
        </p:txBody>
      </p:sp>
      <p:sp>
        <p:nvSpPr>
          <p:cNvPr id="12" name="TextBox 11">
            <a:extLst>
              <a:ext uri="{FF2B5EF4-FFF2-40B4-BE49-F238E27FC236}">
                <a16:creationId xmlns:a16="http://schemas.microsoft.com/office/drawing/2014/main" id="{72D53F31-ACF2-50A9-EB93-3CAF7CDE12E5}"/>
              </a:ext>
            </a:extLst>
          </p:cNvPr>
          <p:cNvSpPr txBox="1"/>
          <p:nvPr/>
        </p:nvSpPr>
        <p:spPr>
          <a:xfrm>
            <a:off x="3140578" y="3198951"/>
            <a:ext cx="624794" cy="16927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Môi trường</a:t>
            </a:r>
          </a:p>
        </p:txBody>
      </p:sp>
      <p:sp>
        <p:nvSpPr>
          <p:cNvPr id="13" name="TextBox 12">
            <a:extLst>
              <a:ext uri="{FF2B5EF4-FFF2-40B4-BE49-F238E27FC236}">
                <a16:creationId xmlns:a16="http://schemas.microsoft.com/office/drawing/2014/main" id="{5CB4FBBD-6341-33ED-4C93-7531069D7112}"/>
              </a:ext>
            </a:extLst>
          </p:cNvPr>
          <p:cNvSpPr txBox="1"/>
          <p:nvPr/>
        </p:nvSpPr>
        <p:spPr>
          <a:xfrm>
            <a:off x="1736694" y="1254245"/>
            <a:ext cx="624794"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Môi trường staging</a:t>
            </a:r>
          </a:p>
        </p:txBody>
      </p:sp>
      <p:sp>
        <p:nvSpPr>
          <p:cNvPr id="14" name="TextBox 13">
            <a:extLst>
              <a:ext uri="{FF2B5EF4-FFF2-40B4-BE49-F238E27FC236}">
                <a16:creationId xmlns:a16="http://schemas.microsoft.com/office/drawing/2014/main" id="{9DD0D2F1-474D-4F79-C054-F6D918DEAC68}"/>
              </a:ext>
            </a:extLst>
          </p:cNvPr>
          <p:cNvSpPr txBox="1"/>
          <p:nvPr/>
        </p:nvSpPr>
        <p:spPr>
          <a:xfrm>
            <a:off x="3140578" y="3908090"/>
            <a:ext cx="624794"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Môi trường production</a:t>
            </a:r>
          </a:p>
        </p:txBody>
      </p:sp>
      <p:sp>
        <p:nvSpPr>
          <p:cNvPr id="15" name="TextBox 14">
            <a:extLst>
              <a:ext uri="{FF2B5EF4-FFF2-40B4-BE49-F238E27FC236}">
                <a16:creationId xmlns:a16="http://schemas.microsoft.com/office/drawing/2014/main" id="{2A757642-308A-3D98-4BCF-09AA0E96B68E}"/>
              </a:ext>
            </a:extLst>
          </p:cNvPr>
          <p:cNvSpPr txBox="1"/>
          <p:nvPr/>
        </p:nvSpPr>
        <p:spPr>
          <a:xfrm>
            <a:off x="3947206" y="3216877"/>
            <a:ext cx="624794" cy="16927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IP thực gửi đi </a:t>
            </a:r>
          </a:p>
        </p:txBody>
      </p:sp>
      <p:sp>
        <p:nvSpPr>
          <p:cNvPr id="16" name="TextBox 15">
            <a:extLst>
              <a:ext uri="{FF2B5EF4-FFF2-40B4-BE49-F238E27FC236}">
                <a16:creationId xmlns:a16="http://schemas.microsoft.com/office/drawing/2014/main" id="{312686C9-4AB4-7628-BB31-CDCE99A3C23D}"/>
              </a:ext>
            </a:extLst>
          </p:cNvPr>
          <p:cNvSpPr txBox="1"/>
          <p:nvPr/>
        </p:nvSpPr>
        <p:spPr>
          <a:xfrm>
            <a:off x="5618831" y="3190007"/>
            <a:ext cx="714587"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IP NAT phía KASUMI</a:t>
            </a:r>
          </a:p>
        </p:txBody>
      </p:sp>
      <p:sp>
        <p:nvSpPr>
          <p:cNvPr id="17" name="TextBox 16">
            <a:extLst>
              <a:ext uri="{FF2B5EF4-FFF2-40B4-BE49-F238E27FC236}">
                <a16:creationId xmlns:a16="http://schemas.microsoft.com/office/drawing/2014/main" id="{A74742AC-69CC-CBFD-9EBC-04AF08BD6AC9}"/>
              </a:ext>
            </a:extLst>
          </p:cNvPr>
          <p:cNvSpPr txBox="1"/>
          <p:nvPr/>
        </p:nvSpPr>
        <p:spPr>
          <a:xfrm>
            <a:off x="6665662" y="3202178"/>
            <a:ext cx="714587"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IP thực máy chỉ KISHIDA nhận </a:t>
            </a:r>
          </a:p>
        </p:txBody>
      </p:sp>
      <p:sp>
        <p:nvSpPr>
          <p:cNvPr id="18" name="TextBox 17">
            <a:extLst>
              <a:ext uri="{FF2B5EF4-FFF2-40B4-BE49-F238E27FC236}">
                <a16:creationId xmlns:a16="http://schemas.microsoft.com/office/drawing/2014/main" id="{50D6477D-AF0E-89B7-F360-FDD78925CB11}"/>
              </a:ext>
            </a:extLst>
          </p:cNvPr>
          <p:cNvSpPr txBox="1"/>
          <p:nvPr/>
        </p:nvSpPr>
        <p:spPr>
          <a:xfrm>
            <a:off x="4812203" y="3190007"/>
            <a:ext cx="714587"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Địa chỉ USMH NAT IP</a:t>
            </a:r>
          </a:p>
        </p:txBody>
      </p:sp>
    </p:spTree>
    <p:extLst>
      <p:ext uri="{BB962C8B-B14F-4D97-AF65-F5344CB8AC3E}">
        <p14:creationId xmlns:p14="http://schemas.microsoft.com/office/powerpoint/2010/main" val="39869537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43"/>
          <p:cNvSpPr txBox="1">
            <a:spLocks noGrp="1"/>
          </p:cNvSpPr>
          <p:nvPr>
            <p:ph type="title"/>
          </p:nvPr>
        </p:nvSpPr>
        <p:spPr>
          <a:xfrm>
            <a:off x="311700" y="419475"/>
            <a:ext cx="8709300" cy="572700"/>
          </a:xfrm>
          <a:prstGeom prst="rect">
            <a:avLst/>
          </a:prstGeom>
        </p:spPr>
        <p:txBody>
          <a:bodyPr spcFirstLastPara="1" wrap="square" lIns="91425" tIns="91425" rIns="91425" bIns="91425" anchor="t" anchorCtr="0">
            <a:noAutofit/>
          </a:bodyPr>
          <a:lstStyle/>
          <a:p>
            <a:pPr lvl="0">
              <a:buSzPct val="44594"/>
            </a:pPr>
            <a:r>
              <a:rPr lang="ja" sz="1800" dirty="0">
                <a:highlight>
                  <a:srgbClr val="D9D9D9"/>
                </a:highlight>
              </a:rPr>
              <a:t>8-7.POSマスタ連携：ISHIDA（フェーズ2 a案）</a:t>
            </a:r>
            <a:r>
              <a:rPr lang="en-US" altLang="ja" sz="1800" dirty="0">
                <a:highlight>
                  <a:srgbClr val="D9D9D9"/>
                </a:highlight>
              </a:rPr>
              <a:t>/ Liên </a:t>
            </a:r>
            <a:r>
              <a:rPr lang="en-US" altLang="ja" sz="1800" dirty="0" err="1">
                <a:highlight>
                  <a:srgbClr val="D9D9D9"/>
                </a:highlight>
              </a:rPr>
              <a:t>kết</a:t>
            </a:r>
            <a:r>
              <a:rPr lang="en-US" altLang="ja" sz="1800" dirty="0">
                <a:highlight>
                  <a:srgbClr val="D9D9D9"/>
                </a:highlight>
              </a:rPr>
              <a:t> master POS </a:t>
            </a:r>
            <a:r>
              <a:rPr lang="en-US" altLang="ja" sz="1800" dirty="0" err="1">
                <a:highlight>
                  <a:srgbClr val="D9D9D9"/>
                </a:highlight>
              </a:rPr>
              <a:t>với</a:t>
            </a:r>
            <a:r>
              <a:rPr lang="en-US" altLang="ja" sz="1800" dirty="0">
                <a:highlight>
                  <a:srgbClr val="D9D9D9"/>
                </a:highlight>
              </a:rPr>
              <a:t> ISHIDA (Giai </a:t>
            </a:r>
            <a:r>
              <a:rPr lang="en-US" altLang="ja" sz="1800" dirty="0" err="1">
                <a:highlight>
                  <a:srgbClr val="D9D9D9"/>
                </a:highlight>
              </a:rPr>
              <a:t>đoạn</a:t>
            </a:r>
            <a:r>
              <a:rPr lang="en-US" altLang="ja" sz="1800" dirty="0">
                <a:highlight>
                  <a:srgbClr val="D9D9D9"/>
                </a:highlight>
              </a:rPr>
              <a:t> 1)</a:t>
            </a:r>
            <a:endParaRPr sz="1800" dirty="0">
              <a:highlight>
                <a:srgbClr val="D9D9D9"/>
              </a:highlight>
            </a:endParaRPr>
          </a:p>
          <a:p>
            <a:pPr marL="0" lvl="0" indent="0" algn="l" rtl="0">
              <a:spcBef>
                <a:spcPts val="0"/>
              </a:spcBef>
              <a:spcAft>
                <a:spcPts val="0"/>
              </a:spcAft>
              <a:buNone/>
            </a:pPr>
            <a:endParaRPr sz="1800" dirty="0">
              <a:highlight>
                <a:srgbClr val="D9D9D9"/>
              </a:highlight>
            </a:endParaRPr>
          </a:p>
        </p:txBody>
      </p:sp>
      <p:pic>
        <p:nvPicPr>
          <p:cNvPr id="292" name="Google Shape;292;p43"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93" name="Google Shape;293;p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50</a:t>
            </a:fld>
            <a:endParaRPr/>
          </a:p>
        </p:txBody>
      </p:sp>
      <p:pic>
        <p:nvPicPr>
          <p:cNvPr id="294" name="Google Shape;294;p43" title="【POS】Infra(ishida,kasumi)-8-7.drawio (2).png"/>
          <p:cNvPicPr preferRelativeResize="0"/>
          <p:nvPr/>
        </p:nvPicPr>
        <p:blipFill>
          <a:blip r:embed="rId4">
            <a:alphaModFix/>
          </a:blip>
          <a:stretch>
            <a:fillRect/>
          </a:stretch>
        </p:blipFill>
        <p:spPr>
          <a:xfrm>
            <a:off x="366750" y="1333725"/>
            <a:ext cx="8528676" cy="274222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43"/>
          <p:cNvSpPr txBox="1">
            <a:spLocks noGrp="1"/>
          </p:cNvSpPr>
          <p:nvPr>
            <p:ph type="title"/>
          </p:nvPr>
        </p:nvSpPr>
        <p:spPr>
          <a:xfrm>
            <a:off x="311700" y="419475"/>
            <a:ext cx="8709300" cy="572700"/>
          </a:xfrm>
          <a:prstGeom prst="rect">
            <a:avLst/>
          </a:prstGeom>
        </p:spPr>
        <p:txBody>
          <a:bodyPr spcFirstLastPara="1" wrap="square" lIns="91425" tIns="91425" rIns="91425" bIns="91425" anchor="t" anchorCtr="0">
            <a:noAutofit/>
          </a:bodyPr>
          <a:lstStyle/>
          <a:p>
            <a:pPr lvl="0">
              <a:buSzPct val="44594"/>
            </a:pPr>
            <a:r>
              <a:rPr lang="ja" sz="1800" dirty="0">
                <a:highlight>
                  <a:srgbClr val="D9D9D9"/>
                </a:highlight>
              </a:rPr>
              <a:t>8-7.POSマスタ連携：ISHIDA（フェーズ2 a案）</a:t>
            </a:r>
            <a:r>
              <a:rPr lang="en-US" altLang="ja" sz="1800" dirty="0">
                <a:highlight>
                  <a:srgbClr val="D9D9D9"/>
                </a:highlight>
              </a:rPr>
              <a:t>/ Liên </a:t>
            </a:r>
            <a:r>
              <a:rPr lang="en-US" altLang="ja" sz="1800" dirty="0" err="1">
                <a:highlight>
                  <a:srgbClr val="D9D9D9"/>
                </a:highlight>
              </a:rPr>
              <a:t>kết</a:t>
            </a:r>
            <a:r>
              <a:rPr lang="en-US" altLang="ja" sz="1800" dirty="0">
                <a:highlight>
                  <a:srgbClr val="D9D9D9"/>
                </a:highlight>
              </a:rPr>
              <a:t> master POS </a:t>
            </a:r>
            <a:r>
              <a:rPr lang="en-US" altLang="ja" sz="1800" dirty="0" err="1">
                <a:highlight>
                  <a:srgbClr val="D9D9D9"/>
                </a:highlight>
              </a:rPr>
              <a:t>với</a:t>
            </a:r>
            <a:r>
              <a:rPr lang="en-US" altLang="ja" sz="1800" dirty="0">
                <a:highlight>
                  <a:srgbClr val="D9D9D9"/>
                </a:highlight>
              </a:rPr>
              <a:t> ISHIDA (Giai </a:t>
            </a:r>
            <a:r>
              <a:rPr lang="en-US" altLang="ja" sz="1800" dirty="0" err="1">
                <a:highlight>
                  <a:srgbClr val="D9D9D9"/>
                </a:highlight>
              </a:rPr>
              <a:t>đoạn</a:t>
            </a:r>
            <a:r>
              <a:rPr lang="en-US" altLang="ja" sz="1800" dirty="0">
                <a:highlight>
                  <a:srgbClr val="D9D9D9"/>
                </a:highlight>
              </a:rPr>
              <a:t> 1)</a:t>
            </a:r>
            <a:endParaRPr sz="1800" dirty="0">
              <a:highlight>
                <a:srgbClr val="D9D9D9"/>
              </a:highlight>
            </a:endParaRPr>
          </a:p>
          <a:p>
            <a:pPr marL="0" lvl="0" indent="0" algn="l" rtl="0">
              <a:spcBef>
                <a:spcPts val="0"/>
              </a:spcBef>
              <a:spcAft>
                <a:spcPts val="0"/>
              </a:spcAft>
              <a:buNone/>
            </a:pPr>
            <a:endParaRPr sz="1800" dirty="0">
              <a:highlight>
                <a:srgbClr val="D9D9D9"/>
              </a:highlight>
            </a:endParaRPr>
          </a:p>
        </p:txBody>
      </p:sp>
      <p:pic>
        <p:nvPicPr>
          <p:cNvPr id="292" name="Google Shape;292;p43"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93" name="Google Shape;293;p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51</a:t>
            </a:fld>
            <a:endParaRPr/>
          </a:p>
        </p:txBody>
      </p:sp>
      <p:pic>
        <p:nvPicPr>
          <p:cNvPr id="294" name="Google Shape;294;p43" title="【POS】Infra(ishida,kasumi)-8-7.drawio (2).png"/>
          <p:cNvPicPr preferRelativeResize="0"/>
          <p:nvPr/>
        </p:nvPicPr>
        <p:blipFill>
          <a:blip r:embed="rId4">
            <a:alphaModFix/>
          </a:blip>
          <a:stretch>
            <a:fillRect/>
          </a:stretch>
        </p:blipFill>
        <p:spPr>
          <a:xfrm>
            <a:off x="366750" y="1333725"/>
            <a:ext cx="8528676" cy="2742225"/>
          </a:xfrm>
          <a:prstGeom prst="rect">
            <a:avLst/>
          </a:prstGeom>
          <a:noFill/>
          <a:ln>
            <a:noFill/>
          </a:ln>
        </p:spPr>
      </p:pic>
      <p:sp>
        <p:nvSpPr>
          <p:cNvPr id="2" name="TextBox 1">
            <a:extLst>
              <a:ext uri="{FF2B5EF4-FFF2-40B4-BE49-F238E27FC236}">
                <a16:creationId xmlns:a16="http://schemas.microsoft.com/office/drawing/2014/main" id="{840A6080-41C2-D236-27F8-EDE4205893F7}"/>
              </a:ext>
            </a:extLst>
          </p:cNvPr>
          <p:cNvSpPr txBox="1"/>
          <p:nvPr/>
        </p:nvSpPr>
        <p:spPr>
          <a:xfrm>
            <a:off x="443435" y="1964641"/>
            <a:ext cx="624794" cy="3231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Máy chủ POS phiên bản ngoại tuyến 2.0</a:t>
            </a:r>
          </a:p>
        </p:txBody>
      </p:sp>
      <p:sp>
        <p:nvSpPr>
          <p:cNvPr id="3" name="TextBox 2">
            <a:extLst>
              <a:ext uri="{FF2B5EF4-FFF2-40B4-BE49-F238E27FC236}">
                <a16:creationId xmlns:a16="http://schemas.microsoft.com/office/drawing/2014/main" id="{62FA59C2-A234-7856-A6D5-8DC4766F2C4F}"/>
              </a:ext>
            </a:extLst>
          </p:cNvPr>
          <p:cNvSpPr txBox="1"/>
          <p:nvPr/>
        </p:nvSpPr>
        <p:spPr>
          <a:xfrm>
            <a:off x="1504347" y="2986702"/>
            <a:ext cx="804138"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Môi trường production</a:t>
            </a:r>
          </a:p>
        </p:txBody>
      </p:sp>
      <p:sp>
        <p:nvSpPr>
          <p:cNvPr id="4" name="TextBox 3">
            <a:extLst>
              <a:ext uri="{FF2B5EF4-FFF2-40B4-BE49-F238E27FC236}">
                <a16:creationId xmlns:a16="http://schemas.microsoft.com/office/drawing/2014/main" id="{7891E134-D970-FB44-2A1C-3916D62F726E}"/>
              </a:ext>
            </a:extLst>
          </p:cNvPr>
          <p:cNvSpPr txBox="1"/>
          <p:nvPr/>
        </p:nvSpPr>
        <p:spPr>
          <a:xfrm>
            <a:off x="1504347" y="1628999"/>
            <a:ext cx="804138" cy="16927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Môi trường staging</a:t>
            </a:r>
          </a:p>
        </p:txBody>
      </p:sp>
      <p:sp>
        <p:nvSpPr>
          <p:cNvPr id="5" name="TextBox 4">
            <a:extLst>
              <a:ext uri="{FF2B5EF4-FFF2-40B4-BE49-F238E27FC236}">
                <a16:creationId xmlns:a16="http://schemas.microsoft.com/office/drawing/2014/main" id="{D7FFE848-74B1-08B1-2409-B6529F785664}"/>
              </a:ext>
            </a:extLst>
          </p:cNvPr>
          <p:cNvSpPr txBox="1"/>
          <p:nvPr/>
        </p:nvSpPr>
        <p:spPr>
          <a:xfrm>
            <a:off x="6138806" y="1481664"/>
            <a:ext cx="804138"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Trung tâm dữ liệu KASUMI</a:t>
            </a:r>
          </a:p>
        </p:txBody>
      </p:sp>
      <p:sp>
        <p:nvSpPr>
          <p:cNvPr id="6" name="TextBox 5">
            <a:extLst>
              <a:ext uri="{FF2B5EF4-FFF2-40B4-BE49-F238E27FC236}">
                <a16:creationId xmlns:a16="http://schemas.microsoft.com/office/drawing/2014/main" id="{43EE2BF9-7080-C2EA-8D26-2EB0E6EC15D8}"/>
              </a:ext>
            </a:extLst>
          </p:cNvPr>
          <p:cNvSpPr txBox="1"/>
          <p:nvPr/>
        </p:nvSpPr>
        <p:spPr>
          <a:xfrm>
            <a:off x="4407442" y="2571750"/>
            <a:ext cx="804138"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Máy chủ tập hợp phân phối</a:t>
            </a:r>
          </a:p>
        </p:txBody>
      </p:sp>
      <p:sp>
        <p:nvSpPr>
          <p:cNvPr id="7" name="TextBox 6">
            <a:extLst>
              <a:ext uri="{FF2B5EF4-FFF2-40B4-BE49-F238E27FC236}">
                <a16:creationId xmlns:a16="http://schemas.microsoft.com/office/drawing/2014/main" id="{C24C9770-0170-1486-5F64-9517D3B30FA5}"/>
              </a:ext>
            </a:extLst>
          </p:cNvPr>
          <p:cNvSpPr txBox="1"/>
          <p:nvPr/>
        </p:nvSpPr>
        <p:spPr>
          <a:xfrm>
            <a:off x="4065167" y="1459722"/>
            <a:ext cx="804138" cy="16927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ISHIDA Cloud</a:t>
            </a:r>
          </a:p>
        </p:txBody>
      </p:sp>
      <p:sp>
        <p:nvSpPr>
          <p:cNvPr id="9" name="TextBox 8">
            <a:extLst>
              <a:ext uri="{FF2B5EF4-FFF2-40B4-BE49-F238E27FC236}">
                <a16:creationId xmlns:a16="http://schemas.microsoft.com/office/drawing/2014/main" id="{226AB534-B685-26A5-3C69-73EADD572690}"/>
              </a:ext>
            </a:extLst>
          </p:cNvPr>
          <p:cNvSpPr txBox="1"/>
          <p:nvPr/>
        </p:nvSpPr>
        <p:spPr>
          <a:xfrm>
            <a:off x="4264281" y="3063646"/>
            <a:ext cx="804138" cy="16927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Mới thiết lập</a:t>
            </a:r>
          </a:p>
        </p:txBody>
      </p:sp>
      <p:sp>
        <p:nvSpPr>
          <p:cNvPr id="10" name="TextBox 9">
            <a:extLst>
              <a:ext uri="{FF2B5EF4-FFF2-40B4-BE49-F238E27FC236}">
                <a16:creationId xmlns:a16="http://schemas.microsoft.com/office/drawing/2014/main" id="{D4708309-85F7-4B98-0653-FA46210EE93B}"/>
              </a:ext>
            </a:extLst>
          </p:cNvPr>
          <p:cNvSpPr txBox="1"/>
          <p:nvPr/>
        </p:nvSpPr>
        <p:spPr>
          <a:xfrm>
            <a:off x="5458497" y="2768085"/>
            <a:ext cx="804138" cy="16927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Mới thiết lập</a:t>
            </a:r>
          </a:p>
        </p:txBody>
      </p:sp>
      <p:sp>
        <p:nvSpPr>
          <p:cNvPr id="11" name="TextBox 10">
            <a:extLst>
              <a:ext uri="{FF2B5EF4-FFF2-40B4-BE49-F238E27FC236}">
                <a16:creationId xmlns:a16="http://schemas.microsoft.com/office/drawing/2014/main" id="{6F488681-EF8F-35C4-B43B-E26F590FBBB3}"/>
              </a:ext>
            </a:extLst>
          </p:cNvPr>
          <p:cNvSpPr txBox="1"/>
          <p:nvPr/>
        </p:nvSpPr>
        <p:spPr>
          <a:xfrm>
            <a:off x="7756948" y="1671233"/>
            <a:ext cx="1020302"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700" dirty="0" err="1"/>
              <a:t>Trong</a:t>
            </a:r>
            <a:r>
              <a:rPr lang="en-US" sz="700" dirty="0"/>
              <a:t> </a:t>
            </a:r>
            <a:r>
              <a:rPr lang="en-US" sz="700" dirty="0" err="1"/>
              <a:t>cửa</a:t>
            </a:r>
            <a:r>
              <a:rPr lang="en-US" sz="700" dirty="0"/>
              <a:t> </a:t>
            </a:r>
            <a:r>
              <a:rPr lang="en-US" sz="700" dirty="0" err="1"/>
              <a:t>hàng</a:t>
            </a:r>
            <a:endParaRPr lang="en-US" sz="700" dirty="0"/>
          </a:p>
          <a:p>
            <a:r>
              <a:rPr lang="en-US" sz="700" dirty="0" err="1"/>
              <a:t>Máy</a:t>
            </a:r>
            <a:r>
              <a:rPr lang="en-US" sz="700" dirty="0"/>
              <a:t> </a:t>
            </a:r>
            <a:r>
              <a:rPr lang="en-US" sz="700" dirty="0" err="1"/>
              <a:t>chủ</a:t>
            </a:r>
            <a:r>
              <a:rPr lang="en-US" sz="700" dirty="0"/>
              <a:t> </a:t>
            </a:r>
            <a:r>
              <a:rPr lang="en-US" sz="700" dirty="0" err="1"/>
              <a:t>thẻ</a:t>
            </a:r>
            <a:r>
              <a:rPr lang="en-US" sz="700" dirty="0"/>
              <a:t> </a:t>
            </a:r>
            <a:r>
              <a:rPr lang="en-US" sz="700" dirty="0" err="1"/>
              <a:t>giá</a:t>
            </a:r>
            <a:r>
              <a:rPr lang="en-US" sz="700" dirty="0"/>
              <a:t> </a:t>
            </a:r>
            <a:r>
              <a:rPr lang="en-US" sz="700" dirty="0" err="1"/>
              <a:t>điện</a:t>
            </a:r>
            <a:r>
              <a:rPr lang="en-US" sz="700" dirty="0"/>
              <a:t> </a:t>
            </a:r>
            <a:r>
              <a:rPr lang="en-US" sz="700" dirty="0" err="1"/>
              <a:t>tử</a:t>
            </a:r>
            <a:r>
              <a:rPr lang="en-US" sz="700" dirty="0"/>
              <a:t> ISHIDA </a:t>
            </a:r>
            <a:r>
              <a:rPr lang="en-US" sz="700" dirty="0" err="1"/>
              <a:t>Cửa</a:t>
            </a:r>
            <a:r>
              <a:rPr lang="en-US" sz="700" dirty="0"/>
              <a:t> </a:t>
            </a:r>
            <a:r>
              <a:rPr lang="en-US" sz="700" dirty="0" err="1"/>
              <a:t>hàng</a:t>
            </a:r>
            <a:r>
              <a:rPr lang="en-US" sz="700" dirty="0"/>
              <a:t> </a:t>
            </a:r>
            <a:r>
              <a:rPr lang="en-US" sz="700" dirty="0" err="1"/>
              <a:t>kiểm</a:t>
            </a:r>
            <a:r>
              <a:rPr lang="en-US" sz="700" dirty="0"/>
              <a:t> </a:t>
            </a:r>
            <a:r>
              <a:rPr lang="en-US" sz="700" dirty="0" err="1"/>
              <a:t>chứng</a:t>
            </a:r>
            <a:r>
              <a:rPr lang="en-US" sz="700" dirty="0"/>
              <a:t> 9176</a:t>
            </a:r>
            <a:endParaRPr lang="en-VN" sz="700" dirty="0"/>
          </a:p>
        </p:txBody>
      </p:sp>
      <p:sp>
        <p:nvSpPr>
          <p:cNvPr id="12" name="TextBox 11">
            <a:extLst>
              <a:ext uri="{FF2B5EF4-FFF2-40B4-BE49-F238E27FC236}">
                <a16:creationId xmlns:a16="http://schemas.microsoft.com/office/drawing/2014/main" id="{95C954C4-0B51-1B4F-4297-961366E15284}"/>
              </a:ext>
            </a:extLst>
          </p:cNvPr>
          <p:cNvSpPr txBox="1"/>
          <p:nvPr/>
        </p:nvSpPr>
        <p:spPr>
          <a:xfrm>
            <a:off x="7756948" y="2458315"/>
            <a:ext cx="1020302"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700" dirty="0" err="1"/>
              <a:t>Trong</a:t>
            </a:r>
            <a:r>
              <a:rPr lang="en-US" sz="700" dirty="0"/>
              <a:t> </a:t>
            </a:r>
            <a:r>
              <a:rPr lang="en-US" sz="700" dirty="0" err="1"/>
              <a:t>cửa</a:t>
            </a:r>
            <a:r>
              <a:rPr lang="en-US" sz="700" dirty="0"/>
              <a:t> </a:t>
            </a:r>
            <a:r>
              <a:rPr lang="en-US" sz="700" dirty="0" err="1"/>
              <a:t>hàng</a:t>
            </a:r>
            <a:endParaRPr lang="en-US" sz="700" dirty="0"/>
          </a:p>
          <a:p>
            <a:r>
              <a:rPr lang="en-US" sz="700" dirty="0" err="1"/>
              <a:t>Máy</a:t>
            </a:r>
            <a:r>
              <a:rPr lang="en-US" sz="700" dirty="0"/>
              <a:t> </a:t>
            </a:r>
            <a:r>
              <a:rPr lang="en-US" sz="700" dirty="0" err="1"/>
              <a:t>chủ</a:t>
            </a:r>
            <a:r>
              <a:rPr lang="en-US" sz="700" dirty="0"/>
              <a:t> </a:t>
            </a:r>
            <a:r>
              <a:rPr lang="en-US" sz="700" dirty="0" err="1"/>
              <a:t>thẻ</a:t>
            </a:r>
            <a:r>
              <a:rPr lang="en-US" sz="700" dirty="0"/>
              <a:t> </a:t>
            </a:r>
            <a:r>
              <a:rPr lang="en-US" sz="700" dirty="0" err="1"/>
              <a:t>giá</a:t>
            </a:r>
            <a:r>
              <a:rPr lang="en-US" sz="700" dirty="0"/>
              <a:t> </a:t>
            </a:r>
            <a:r>
              <a:rPr lang="en-US" sz="700" dirty="0" err="1"/>
              <a:t>điện</a:t>
            </a:r>
            <a:r>
              <a:rPr lang="en-US" sz="700" dirty="0"/>
              <a:t> </a:t>
            </a:r>
            <a:r>
              <a:rPr lang="en-US" sz="700" dirty="0" err="1"/>
              <a:t>tử</a:t>
            </a:r>
            <a:r>
              <a:rPr lang="en-US" sz="700" dirty="0"/>
              <a:t> ISHIDA </a:t>
            </a:r>
            <a:r>
              <a:rPr lang="en-US" sz="700" dirty="0" err="1"/>
              <a:t>Cửa</a:t>
            </a:r>
            <a:r>
              <a:rPr lang="en-US" sz="700" dirty="0"/>
              <a:t> hang </a:t>
            </a:r>
            <a:r>
              <a:rPr lang="en-US" sz="700" dirty="0" err="1"/>
              <a:t>thực</a:t>
            </a:r>
            <a:r>
              <a:rPr lang="en-US" sz="700" dirty="0"/>
              <a:t> </a:t>
            </a:r>
            <a:r>
              <a:rPr lang="en-US" sz="700" dirty="0" err="1"/>
              <a:t>tế</a:t>
            </a:r>
            <a:r>
              <a:rPr lang="en-US" sz="700" dirty="0"/>
              <a:t> A</a:t>
            </a:r>
            <a:endParaRPr lang="en-VN" sz="700" dirty="0"/>
          </a:p>
        </p:txBody>
      </p:sp>
      <p:sp>
        <p:nvSpPr>
          <p:cNvPr id="13" name="TextBox 12">
            <a:extLst>
              <a:ext uri="{FF2B5EF4-FFF2-40B4-BE49-F238E27FC236}">
                <a16:creationId xmlns:a16="http://schemas.microsoft.com/office/drawing/2014/main" id="{CCB95CFE-6528-C06C-B11D-AAA18C179096}"/>
              </a:ext>
            </a:extLst>
          </p:cNvPr>
          <p:cNvSpPr txBox="1"/>
          <p:nvPr/>
        </p:nvSpPr>
        <p:spPr>
          <a:xfrm>
            <a:off x="7725281" y="3178311"/>
            <a:ext cx="1020302"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700" dirty="0" err="1"/>
              <a:t>Trong</a:t>
            </a:r>
            <a:r>
              <a:rPr lang="en-US" sz="700" dirty="0"/>
              <a:t> </a:t>
            </a:r>
            <a:r>
              <a:rPr lang="en-US" sz="700" dirty="0" err="1"/>
              <a:t>cửa</a:t>
            </a:r>
            <a:r>
              <a:rPr lang="en-US" sz="700" dirty="0"/>
              <a:t> </a:t>
            </a:r>
            <a:r>
              <a:rPr lang="en-US" sz="700" dirty="0" err="1"/>
              <a:t>hàng</a:t>
            </a:r>
            <a:endParaRPr lang="en-US" sz="700" dirty="0"/>
          </a:p>
          <a:p>
            <a:r>
              <a:rPr lang="en-US" sz="700" dirty="0" err="1"/>
              <a:t>Máy</a:t>
            </a:r>
            <a:r>
              <a:rPr lang="en-US" sz="700" dirty="0"/>
              <a:t> </a:t>
            </a:r>
            <a:r>
              <a:rPr lang="en-US" sz="700" dirty="0" err="1"/>
              <a:t>chủ</a:t>
            </a:r>
            <a:r>
              <a:rPr lang="en-US" sz="700" dirty="0"/>
              <a:t> </a:t>
            </a:r>
            <a:r>
              <a:rPr lang="en-US" sz="700" dirty="0" err="1"/>
              <a:t>thẻ</a:t>
            </a:r>
            <a:r>
              <a:rPr lang="en-US" sz="700" dirty="0"/>
              <a:t> </a:t>
            </a:r>
            <a:r>
              <a:rPr lang="en-US" sz="700" dirty="0" err="1"/>
              <a:t>giá</a:t>
            </a:r>
            <a:r>
              <a:rPr lang="en-US" sz="700" dirty="0"/>
              <a:t> </a:t>
            </a:r>
            <a:r>
              <a:rPr lang="en-US" sz="700" dirty="0" err="1"/>
              <a:t>điện</a:t>
            </a:r>
            <a:r>
              <a:rPr lang="en-US" sz="700" dirty="0"/>
              <a:t> </a:t>
            </a:r>
            <a:r>
              <a:rPr lang="en-US" sz="700" dirty="0" err="1"/>
              <a:t>tử</a:t>
            </a:r>
            <a:r>
              <a:rPr lang="en-US" sz="700" dirty="0"/>
              <a:t> ISHIDA </a:t>
            </a:r>
            <a:r>
              <a:rPr lang="en-US" sz="700" dirty="0" err="1"/>
              <a:t>Cửa</a:t>
            </a:r>
            <a:r>
              <a:rPr lang="en-US" sz="700" dirty="0"/>
              <a:t> hang </a:t>
            </a:r>
            <a:r>
              <a:rPr lang="en-US" sz="700" dirty="0" err="1"/>
              <a:t>thực</a:t>
            </a:r>
            <a:r>
              <a:rPr lang="en-US" sz="700" dirty="0"/>
              <a:t> </a:t>
            </a:r>
            <a:r>
              <a:rPr lang="en-US" sz="700" dirty="0" err="1"/>
              <a:t>tế</a:t>
            </a:r>
            <a:r>
              <a:rPr lang="en-US" sz="700" dirty="0"/>
              <a:t> B</a:t>
            </a:r>
            <a:endParaRPr lang="en-VN" sz="700" dirty="0"/>
          </a:p>
        </p:txBody>
      </p:sp>
    </p:spTree>
    <p:extLst>
      <p:ext uri="{BB962C8B-B14F-4D97-AF65-F5344CB8AC3E}">
        <p14:creationId xmlns:p14="http://schemas.microsoft.com/office/powerpoint/2010/main" val="15703655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44"/>
          <p:cNvSpPr txBox="1">
            <a:spLocks noGrp="1"/>
          </p:cNvSpPr>
          <p:nvPr>
            <p:ph type="title"/>
          </p:nvPr>
        </p:nvSpPr>
        <p:spPr>
          <a:xfrm>
            <a:off x="311700" y="200891"/>
            <a:ext cx="8679900" cy="791284"/>
          </a:xfrm>
          <a:prstGeom prst="rect">
            <a:avLst/>
          </a:prstGeom>
        </p:spPr>
        <p:txBody>
          <a:bodyPr spcFirstLastPara="1" wrap="square" lIns="91425" tIns="91425" rIns="91425" bIns="91425" anchor="t" anchorCtr="0">
            <a:normAutofit/>
          </a:bodyPr>
          <a:lstStyle/>
          <a:p>
            <a:pPr lvl="0">
              <a:buSzPct val="39285"/>
            </a:pPr>
            <a:r>
              <a:rPr lang="ja" sz="1500" dirty="0">
                <a:highlight>
                  <a:srgbClr val="D9D9D9"/>
                </a:highlight>
              </a:rPr>
              <a:t>8-8.POSマスタ連携：ISHIDA（フェーズ2 b案）</a:t>
            </a:r>
            <a:r>
              <a:rPr lang="en-US" altLang="ja" sz="1500" dirty="0">
                <a:highlight>
                  <a:srgbClr val="D9D9D9"/>
                </a:highlight>
              </a:rPr>
              <a:t>/ </a:t>
            </a:r>
            <a:r>
              <a:rPr lang="vi-VN" altLang="ja" sz="1500" dirty="0"/>
              <a:t>Liên kết master POS: ISHIDA (Giai đoạn 2 - phương án B)</a:t>
            </a:r>
            <a:endParaRPr sz="1500" dirty="0">
              <a:highlight>
                <a:srgbClr val="D9D9D9"/>
              </a:highlight>
            </a:endParaRPr>
          </a:p>
        </p:txBody>
      </p:sp>
      <p:pic>
        <p:nvPicPr>
          <p:cNvPr id="300" name="Google Shape;300;p44"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01" name="Google Shape;301;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52</a:t>
            </a:fld>
            <a:endParaRPr/>
          </a:p>
        </p:txBody>
      </p:sp>
      <p:pic>
        <p:nvPicPr>
          <p:cNvPr id="302" name="Google Shape;302;p44" title="【POS】Infra(ishida,kasumi)-8-8.drawio.png"/>
          <p:cNvPicPr preferRelativeResize="0"/>
          <p:nvPr/>
        </p:nvPicPr>
        <p:blipFill>
          <a:blip r:embed="rId4">
            <a:alphaModFix/>
          </a:blip>
          <a:stretch>
            <a:fillRect/>
          </a:stretch>
        </p:blipFill>
        <p:spPr>
          <a:xfrm>
            <a:off x="418225" y="1274725"/>
            <a:ext cx="8466850" cy="280315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44"/>
          <p:cNvSpPr txBox="1">
            <a:spLocks noGrp="1"/>
          </p:cNvSpPr>
          <p:nvPr>
            <p:ph type="title"/>
          </p:nvPr>
        </p:nvSpPr>
        <p:spPr>
          <a:xfrm>
            <a:off x="311700" y="200891"/>
            <a:ext cx="8679900" cy="791284"/>
          </a:xfrm>
          <a:prstGeom prst="rect">
            <a:avLst/>
          </a:prstGeom>
        </p:spPr>
        <p:txBody>
          <a:bodyPr spcFirstLastPara="1" wrap="square" lIns="91425" tIns="91425" rIns="91425" bIns="91425" anchor="t" anchorCtr="0">
            <a:normAutofit/>
          </a:bodyPr>
          <a:lstStyle/>
          <a:p>
            <a:pPr lvl="0">
              <a:buSzPct val="39285"/>
            </a:pPr>
            <a:r>
              <a:rPr lang="ja" sz="1500" dirty="0">
                <a:highlight>
                  <a:srgbClr val="D9D9D9"/>
                </a:highlight>
              </a:rPr>
              <a:t>8-8.POSマスタ連携：ISHIDA（フェーズ2 b案）</a:t>
            </a:r>
            <a:r>
              <a:rPr lang="en-US" altLang="ja" sz="1500" dirty="0">
                <a:highlight>
                  <a:srgbClr val="D9D9D9"/>
                </a:highlight>
              </a:rPr>
              <a:t>/ </a:t>
            </a:r>
            <a:r>
              <a:rPr lang="vi-VN" altLang="ja" sz="1500" dirty="0"/>
              <a:t>Liên kết master POS: ISHIDA (Giai đoạn 2 - phương án B)</a:t>
            </a:r>
            <a:endParaRPr sz="1500" dirty="0">
              <a:highlight>
                <a:srgbClr val="D9D9D9"/>
              </a:highlight>
            </a:endParaRPr>
          </a:p>
        </p:txBody>
      </p:sp>
      <p:pic>
        <p:nvPicPr>
          <p:cNvPr id="300" name="Google Shape;300;p44"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01" name="Google Shape;301;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53</a:t>
            </a:fld>
            <a:endParaRPr/>
          </a:p>
        </p:txBody>
      </p:sp>
      <p:pic>
        <p:nvPicPr>
          <p:cNvPr id="302" name="Google Shape;302;p44" title="【POS】Infra(ishida,kasumi)-8-8.drawio.png"/>
          <p:cNvPicPr preferRelativeResize="0"/>
          <p:nvPr/>
        </p:nvPicPr>
        <p:blipFill>
          <a:blip r:embed="rId4">
            <a:alphaModFix/>
          </a:blip>
          <a:stretch>
            <a:fillRect/>
          </a:stretch>
        </p:blipFill>
        <p:spPr>
          <a:xfrm>
            <a:off x="418225" y="1274725"/>
            <a:ext cx="8466850" cy="2803150"/>
          </a:xfrm>
          <a:prstGeom prst="rect">
            <a:avLst/>
          </a:prstGeom>
          <a:noFill/>
          <a:ln>
            <a:noFill/>
          </a:ln>
        </p:spPr>
      </p:pic>
      <p:sp>
        <p:nvSpPr>
          <p:cNvPr id="2" name="TextBox 1">
            <a:extLst>
              <a:ext uri="{FF2B5EF4-FFF2-40B4-BE49-F238E27FC236}">
                <a16:creationId xmlns:a16="http://schemas.microsoft.com/office/drawing/2014/main" id="{1DF77702-86D8-DEA5-939E-D59018B99D26}"/>
              </a:ext>
            </a:extLst>
          </p:cNvPr>
          <p:cNvSpPr txBox="1"/>
          <p:nvPr/>
        </p:nvSpPr>
        <p:spPr>
          <a:xfrm>
            <a:off x="495900" y="1949650"/>
            <a:ext cx="624794" cy="3231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Máy chủ POS phiên bản ngoại tuyến 2.0</a:t>
            </a:r>
          </a:p>
        </p:txBody>
      </p:sp>
      <p:sp>
        <p:nvSpPr>
          <p:cNvPr id="3" name="TextBox 2">
            <a:extLst>
              <a:ext uri="{FF2B5EF4-FFF2-40B4-BE49-F238E27FC236}">
                <a16:creationId xmlns:a16="http://schemas.microsoft.com/office/drawing/2014/main" id="{D7ABDE54-1F0F-7506-B06B-D47D85058188}"/>
              </a:ext>
            </a:extLst>
          </p:cNvPr>
          <p:cNvSpPr txBox="1"/>
          <p:nvPr/>
        </p:nvSpPr>
        <p:spPr>
          <a:xfrm>
            <a:off x="1541823" y="2934236"/>
            <a:ext cx="804138"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Môi trường production</a:t>
            </a:r>
          </a:p>
        </p:txBody>
      </p:sp>
      <p:sp>
        <p:nvSpPr>
          <p:cNvPr id="4" name="TextBox 3">
            <a:extLst>
              <a:ext uri="{FF2B5EF4-FFF2-40B4-BE49-F238E27FC236}">
                <a16:creationId xmlns:a16="http://schemas.microsoft.com/office/drawing/2014/main" id="{A7B09B5A-9E81-E65C-EFCA-BDB0B6034CEB}"/>
              </a:ext>
            </a:extLst>
          </p:cNvPr>
          <p:cNvSpPr txBox="1"/>
          <p:nvPr/>
        </p:nvSpPr>
        <p:spPr>
          <a:xfrm>
            <a:off x="1541823" y="1576533"/>
            <a:ext cx="804138" cy="16927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Môi trường staging</a:t>
            </a:r>
          </a:p>
        </p:txBody>
      </p:sp>
      <p:sp>
        <p:nvSpPr>
          <p:cNvPr id="5" name="TextBox 4">
            <a:extLst>
              <a:ext uri="{FF2B5EF4-FFF2-40B4-BE49-F238E27FC236}">
                <a16:creationId xmlns:a16="http://schemas.microsoft.com/office/drawing/2014/main" id="{640260FE-0AFD-4A8E-FE4D-06731E5B63D8}"/>
              </a:ext>
            </a:extLst>
          </p:cNvPr>
          <p:cNvSpPr txBox="1"/>
          <p:nvPr/>
        </p:nvSpPr>
        <p:spPr>
          <a:xfrm>
            <a:off x="6138806" y="1481664"/>
            <a:ext cx="804138"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Trung tâm dữ liệu KASUMI</a:t>
            </a:r>
          </a:p>
        </p:txBody>
      </p:sp>
      <p:sp>
        <p:nvSpPr>
          <p:cNvPr id="6" name="TextBox 5">
            <a:extLst>
              <a:ext uri="{FF2B5EF4-FFF2-40B4-BE49-F238E27FC236}">
                <a16:creationId xmlns:a16="http://schemas.microsoft.com/office/drawing/2014/main" id="{CDE47051-3386-080C-AF7F-4EA8EA4B06EB}"/>
              </a:ext>
            </a:extLst>
          </p:cNvPr>
          <p:cNvSpPr txBox="1"/>
          <p:nvPr/>
        </p:nvSpPr>
        <p:spPr>
          <a:xfrm>
            <a:off x="4236044" y="2581474"/>
            <a:ext cx="804138"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Máy chủ tập hợp phân phối</a:t>
            </a:r>
          </a:p>
        </p:txBody>
      </p:sp>
      <p:sp>
        <p:nvSpPr>
          <p:cNvPr id="7" name="TextBox 6">
            <a:extLst>
              <a:ext uri="{FF2B5EF4-FFF2-40B4-BE49-F238E27FC236}">
                <a16:creationId xmlns:a16="http://schemas.microsoft.com/office/drawing/2014/main" id="{808F8917-E198-15CC-3FDE-4E5056573E0B}"/>
              </a:ext>
            </a:extLst>
          </p:cNvPr>
          <p:cNvSpPr txBox="1"/>
          <p:nvPr/>
        </p:nvSpPr>
        <p:spPr>
          <a:xfrm>
            <a:off x="4065167" y="1459722"/>
            <a:ext cx="804138" cy="16927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ISHIDA Cloud</a:t>
            </a:r>
          </a:p>
        </p:txBody>
      </p:sp>
      <p:sp>
        <p:nvSpPr>
          <p:cNvPr id="8" name="TextBox 7">
            <a:extLst>
              <a:ext uri="{FF2B5EF4-FFF2-40B4-BE49-F238E27FC236}">
                <a16:creationId xmlns:a16="http://schemas.microsoft.com/office/drawing/2014/main" id="{0C5FC10E-E8CB-8DEB-B838-1F0B1CA3A30B}"/>
              </a:ext>
            </a:extLst>
          </p:cNvPr>
          <p:cNvSpPr txBox="1"/>
          <p:nvPr/>
        </p:nvSpPr>
        <p:spPr>
          <a:xfrm>
            <a:off x="4264281" y="3063646"/>
            <a:ext cx="804138" cy="16927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Mới thiết lập</a:t>
            </a:r>
          </a:p>
        </p:txBody>
      </p:sp>
      <p:sp>
        <p:nvSpPr>
          <p:cNvPr id="9" name="TextBox 8">
            <a:extLst>
              <a:ext uri="{FF2B5EF4-FFF2-40B4-BE49-F238E27FC236}">
                <a16:creationId xmlns:a16="http://schemas.microsoft.com/office/drawing/2014/main" id="{36D49BE1-99DB-C9D1-52ED-D54DD92B3190}"/>
              </a:ext>
            </a:extLst>
          </p:cNvPr>
          <p:cNvSpPr txBox="1"/>
          <p:nvPr/>
        </p:nvSpPr>
        <p:spPr>
          <a:xfrm>
            <a:off x="5458497" y="2768085"/>
            <a:ext cx="804138" cy="16927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Mới thiết lập</a:t>
            </a:r>
          </a:p>
        </p:txBody>
      </p:sp>
      <p:sp>
        <p:nvSpPr>
          <p:cNvPr id="10" name="TextBox 9">
            <a:extLst>
              <a:ext uri="{FF2B5EF4-FFF2-40B4-BE49-F238E27FC236}">
                <a16:creationId xmlns:a16="http://schemas.microsoft.com/office/drawing/2014/main" id="{CFD4E7F2-8E70-3B44-FAD2-E8BE07FFA3D4}"/>
              </a:ext>
            </a:extLst>
          </p:cNvPr>
          <p:cNvSpPr txBox="1"/>
          <p:nvPr/>
        </p:nvSpPr>
        <p:spPr>
          <a:xfrm>
            <a:off x="7702294" y="1688040"/>
            <a:ext cx="1020302"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700" dirty="0" err="1"/>
              <a:t>Trong</a:t>
            </a:r>
            <a:r>
              <a:rPr lang="en-US" sz="700" dirty="0"/>
              <a:t> </a:t>
            </a:r>
            <a:r>
              <a:rPr lang="en-US" sz="700" dirty="0" err="1"/>
              <a:t>cửa</a:t>
            </a:r>
            <a:r>
              <a:rPr lang="en-US" sz="700" dirty="0"/>
              <a:t> </a:t>
            </a:r>
            <a:r>
              <a:rPr lang="en-US" sz="700" dirty="0" err="1"/>
              <a:t>hàng</a:t>
            </a:r>
            <a:endParaRPr lang="en-US" sz="700" dirty="0"/>
          </a:p>
          <a:p>
            <a:r>
              <a:rPr lang="en-US" sz="700" dirty="0" err="1"/>
              <a:t>Máy</a:t>
            </a:r>
            <a:r>
              <a:rPr lang="en-US" sz="700" dirty="0"/>
              <a:t> </a:t>
            </a:r>
            <a:r>
              <a:rPr lang="en-US" sz="700" dirty="0" err="1"/>
              <a:t>chủ</a:t>
            </a:r>
            <a:r>
              <a:rPr lang="en-US" sz="700" dirty="0"/>
              <a:t> </a:t>
            </a:r>
            <a:r>
              <a:rPr lang="en-US" sz="700" dirty="0" err="1"/>
              <a:t>thẻ</a:t>
            </a:r>
            <a:r>
              <a:rPr lang="en-US" sz="700" dirty="0"/>
              <a:t> </a:t>
            </a:r>
            <a:r>
              <a:rPr lang="en-US" sz="700" dirty="0" err="1"/>
              <a:t>giá</a:t>
            </a:r>
            <a:r>
              <a:rPr lang="en-US" sz="700" dirty="0"/>
              <a:t> </a:t>
            </a:r>
            <a:r>
              <a:rPr lang="en-US" sz="700" dirty="0" err="1"/>
              <a:t>điện</a:t>
            </a:r>
            <a:r>
              <a:rPr lang="en-US" sz="700" dirty="0"/>
              <a:t> </a:t>
            </a:r>
            <a:r>
              <a:rPr lang="en-US" sz="700" dirty="0" err="1"/>
              <a:t>tử</a:t>
            </a:r>
            <a:r>
              <a:rPr lang="en-US" sz="700" dirty="0"/>
              <a:t> ISHIDA </a:t>
            </a:r>
            <a:r>
              <a:rPr lang="en-US" sz="700" dirty="0" err="1"/>
              <a:t>Cửa</a:t>
            </a:r>
            <a:r>
              <a:rPr lang="en-US" sz="700" dirty="0"/>
              <a:t> </a:t>
            </a:r>
            <a:r>
              <a:rPr lang="en-US" sz="700" dirty="0" err="1"/>
              <a:t>hàng</a:t>
            </a:r>
            <a:r>
              <a:rPr lang="en-US" sz="700" dirty="0"/>
              <a:t> </a:t>
            </a:r>
            <a:r>
              <a:rPr lang="en-US" sz="700" dirty="0" err="1"/>
              <a:t>kiểm</a:t>
            </a:r>
            <a:r>
              <a:rPr lang="en-US" sz="700" dirty="0"/>
              <a:t> </a:t>
            </a:r>
            <a:r>
              <a:rPr lang="en-US" sz="700" dirty="0" err="1"/>
              <a:t>chứng</a:t>
            </a:r>
            <a:r>
              <a:rPr lang="en-US" sz="700" dirty="0"/>
              <a:t> 9176</a:t>
            </a:r>
            <a:endParaRPr lang="en-VN" sz="700" dirty="0"/>
          </a:p>
        </p:txBody>
      </p:sp>
      <p:sp>
        <p:nvSpPr>
          <p:cNvPr id="11" name="TextBox 10">
            <a:extLst>
              <a:ext uri="{FF2B5EF4-FFF2-40B4-BE49-F238E27FC236}">
                <a16:creationId xmlns:a16="http://schemas.microsoft.com/office/drawing/2014/main" id="{89516701-CDAC-4748-3EDD-301D7806F1C4}"/>
              </a:ext>
            </a:extLst>
          </p:cNvPr>
          <p:cNvSpPr txBox="1"/>
          <p:nvPr/>
        </p:nvSpPr>
        <p:spPr>
          <a:xfrm>
            <a:off x="7702294" y="2475122"/>
            <a:ext cx="1020302"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700" dirty="0" err="1"/>
              <a:t>Trong</a:t>
            </a:r>
            <a:r>
              <a:rPr lang="en-US" sz="700" dirty="0"/>
              <a:t> </a:t>
            </a:r>
            <a:r>
              <a:rPr lang="en-US" sz="700" dirty="0" err="1"/>
              <a:t>cửa</a:t>
            </a:r>
            <a:r>
              <a:rPr lang="en-US" sz="700" dirty="0"/>
              <a:t> </a:t>
            </a:r>
            <a:r>
              <a:rPr lang="en-US" sz="700" dirty="0" err="1"/>
              <a:t>hàng</a:t>
            </a:r>
            <a:endParaRPr lang="en-US" sz="700" dirty="0"/>
          </a:p>
          <a:p>
            <a:r>
              <a:rPr lang="en-US" sz="700" dirty="0" err="1"/>
              <a:t>Máy</a:t>
            </a:r>
            <a:r>
              <a:rPr lang="en-US" sz="700" dirty="0"/>
              <a:t> </a:t>
            </a:r>
            <a:r>
              <a:rPr lang="en-US" sz="700" dirty="0" err="1"/>
              <a:t>chủ</a:t>
            </a:r>
            <a:r>
              <a:rPr lang="en-US" sz="700" dirty="0"/>
              <a:t> </a:t>
            </a:r>
            <a:r>
              <a:rPr lang="en-US" sz="700" dirty="0" err="1"/>
              <a:t>thẻ</a:t>
            </a:r>
            <a:r>
              <a:rPr lang="en-US" sz="700" dirty="0"/>
              <a:t> </a:t>
            </a:r>
            <a:r>
              <a:rPr lang="en-US" sz="700" dirty="0" err="1"/>
              <a:t>giá</a:t>
            </a:r>
            <a:r>
              <a:rPr lang="en-US" sz="700" dirty="0"/>
              <a:t> </a:t>
            </a:r>
            <a:r>
              <a:rPr lang="en-US" sz="700" dirty="0" err="1"/>
              <a:t>điện</a:t>
            </a:r>
            <a:r>
              <a:rPr lang="en-US" sz="700" dirty="0"/>
              <a:t> </a:t>
            </a:r>
            <a:r>
              <a:rPr lang="en-US" sz="700" dirty="0" err="1"/>
              <a:t>tử</a:t>
            </a:r>
            <a:r>
              <a:rPr lang="en-US" sz="700" dirty="0"/>
              <a:t> ISHIDA </a:t>
            </a:r>
            <a:r>
              <a:rPr lang="en-US" sz="700" dirty="0" err="1"/>
              <a:t>Cửa</a:t>
            </a:r>
            <a:r>
              <a:rPr lang="en-US" sz="700" dirty="0"/>
              <a:t> hang </a:t>
            </a:r>
            <a:r>
              <a:rPr lang="en-US" sz="700" dirty="0" err="1"/>
              <a:t>thực</a:t>
            </a:r>
            <a:r>
              <a:rPr lang="en-US" sz="700" dirty="0"/>
              <a:t> </a:t>
            </a:r>
            <a:r>
              <a:rPr lang="en-US" sz="700" dirty="0" err="1"/>
              <a:t>tế</a:t>
            </a:r>
            <a:r>
              <a:rPr lang="en-US" sz="700" dirty="0"/>
              <a:t> A</a:t>
            </a:r>
            <a:endParaRPr lang="en-VN" sz="700" dirty="0"/>
          </a:p>
        </p:txBody>
      </p:sp>
      <p:sp>
        <p:nvSpPr>
          <p:cNvPr id="12" name="TextBox 11">
            <a:extLst>
              <a:ext uri="{FF2B5EF4-FFF2-40B4-BE49-F238E27FC236}">
                <a16:creationId xmlns:a16="http://schemas.microsoft.com/office/drawing/2014/main" id="{611E25B6-4AF4-ADB5-5842-B398B7EFBF43}"/>
              </a:ext>
            </a:extLst>
          </p:cNvPr>
          <p:cNvSpPr txBox="1"/>
          <p:nvPr/>
        </p:nvSpPr>
        <p:spPr>
          <a:xfrm>
            <a:off x="7670627" y="3195118"/>
            <a:ext cx="1020302" cy="5232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700" dirty="0" err="1"/>
              <a:t>Trong</a:t>
            </a:r>
            <a:r>
              <a:rPr lang="en-US" sz="700" dirty="0"/>
              <a:t> </a:t>
            </a:r>
            <a:r>
              <a:rPr lang="en-US" sz="700" dirty="0" err="1"/>
              <a:t>cửa</a:t>
            </a:r>
            <a:r>
              <a:rPr lang="en-US" sz="700" dirty="0"/>
              <a:t> </a:t>
            </a:r>
            <a:r>
              <a:rPr lang="en-US" sz="700" dirty="0" err="1"/>
              <a:t>hàng</a:t>
            </a:r>
            <a:endParaRPr lang="en-US" sz="700" dirty="0"/>
          </a:p>
          <a:p>
            <a:r>
              <a:rPr lang="en-US" sz="700" dirty="0" err="1"/>
              <a:t>Máy</a:t>
            </a:r>
            <a:r>
              <a:rPr lang="en-US" sz="700" dirty="0"/>
              <a:t> </a:t>
            </a:r>
            <a:r>
              <a:rPr lang="en-US" sz="700" dirty="0" err="1"/>
              <a:t>chủ</a:t>
            </a:r>
            <a:r>
              <a:rPr lang="en-US" sz="700" dirty="0"/>
              <a:t> </a:t>
            </a:r>
            <a:r>
              <a:rPr lang="en-US" sz="700" dirty="0" err="1"/>
              <a:t>thẻ</a:t>
            </a:r>
            <a:r>
              <a:rPr lang="en-US" sz="700" dirty="0"/>
              <a:t> </a:t>
            </a:r>
            <a:r>
              <a:rPr lang="en-US" sz="700" dirty="0" err="1"/>
              <a:t>giá</a:t>
            </a:r>
            <a:r>
              <a:rPr lang="en-US" sz="700" dirty="0"/>
              <a:t> </a:t>
            </a:r>
            <a:r>
              <a:rPr lang="en-US" sz="700" dirty="0" err="1"/>
              <a:t>điện</a:t>
            </a:r>
            <a:r>
              <a:rPr lang="en-US" sz="700" dirty="0"/>
              <a:t> </a:t>
            </a:r>
            <a:r>
              <a:rPr lang="en-US" sz="700" dirty="0" err="1"/>
              <a:t>tử</a:t>
            </a:r>
            <a:r>
              <a:rPr lang="en-US" sz="700" dirty="0"/>
              <a:t> ISHIDA </a:t>
            </a:r>
            <a:r>
              <a:rPr lang="en-US" sz="700" dirty="0" err="1"/>
              <a:t>Cửa</a:t>
            </a:r>
            <a:r>
              <a:rPr lang="en-US" sz="700" dirty="0"/>
              <a:t> hang </a:t>
            </a:r>
            <a:r>
              <a:rPr lang="en-US" sz="700" dirty="0" err="1"/>
              <a:t>thực</a:t>
            </a:r>
            <a:r>
              <a:rPr lang="en-US" sz="700" dirty="0"/>
              <a:t> </a:t>
            </a:r>
            <a:r>
              <a:rPr lang="en-US" sz="700" dirty="0" err="1"/>
              <a:t>tế</a:t>
            </a:r>
            <a:r>
              <a:rPr lang="en-US" sz="700" dirty="0"/>
              <a:t> B</a:t>
            </a:r>
            <a:endParaRPr lang="en-VN" sz="700" dirty="0"/>
          </a:p>
        </p:txBody>
      </p:sp>
    </p:spTree>
    <p:extLst>
      <p:ext uri="{BB962C8B-B14F-4D97-AF65-F5344CB8AC3E}">
        <p14:creationId xmlns:p14="http://schemas.microsoft.com/office/powerpoint/2010/main" val="26704458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45"/>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lvl="0"/>
            <a:r>
              <a:rPr lang="ja" dirty="0">
                <a:highlight>
                  <a:srgbClr val="D9D9D9"/>
                </a:highlight>
              </a:rPr>
              <a:t>8-9.Step①</a:t>
            </a:r>
            <a:r>
              <a:rPr lang="ja" sz="2688" dirty="0">
                <a:highlight>
                  <a:srgbClr val="D9D9D9"/>
                </a:highlight>
              </a:rPr>
              <a:t>マスタ受信（OC）</a:t>
            </a:r>
            <a:r>
              <a:rPr lang="en-US" altLang="ja" sz="2688" dirty="0">
                <a:highlight>
                  <a:srgbClr val="D9D9D9"/>
                </a:highlight>
              </a:rPr>
              <a:t>/</a:t>
            </a:r>
            <a:r>
              <a:rPr lang="vi-VN" dirty="0">
                <a:highlight>
                  <a:srgbClr val="D9D9D9"/>
                </a:highlight>
              </a:rPr>
              <a:t> Bước ① Nhận master (OC)</a:t>
            </a:r>
            <a:endParaRPr dirty="0">
              <a:highlight>
                <a:srgbClr val="D9D9D9"/>
              </a:highlight>
            </a:endParaRPr>
          </a:p>
          <a:p>
            <a:pPr marL="0" lvl="0" indent="0" algn="l" rtl="0">
              <a:spcBef>
                <a:spcPts val="0"/>
              </a:spcBef>
              <a:spcAft>
                <a:spcPts val="0"/>
              </a:spcAft>
              <a:buNone/>
            </a:pPr>
            <a:endParaRPr dirty="0">
              <a:highlight>
                <a:srgbClr val="D9D9D9"/>
              </a:highlight>
            </a:endParaRPr>
          </a:p>
        </p:txBody>
      </p:sp>
      <p:pic>
        <p:nvPicPr>
          <p:cNvPr id="308" name="Google Shape;308;p45"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09" name="Google Shape;309;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54</a:t>
            </a:fld>
            <a:endParaRPr/>
          </a:p>
        </p:txBody>
      </p:sp>
      <p:pic>
        <p:nvPicPr>
          <p:cNvPr id="310" name="Google Shape;310;p45" title="【POS】infra_ishida-8-10.drawio.png"/>
          <p:cNvPicPr preferRelativeResize="0"/>
          <p:nvPr/>
        </p:nvPicPr>
        <p:blipFill>
          <a:blip r:embed="rId4">
            <a:alphaModFix/>
          </a:blip>
          <a:stretch>
            <a:fillRect/>
          </a:stretch>
        </p:blipFill>
        <p:spPr>
          <a:xfrm>
            <a:off x="2224575" y="992175"/>
            <a:ext cx="4178375" cy="394402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45"/>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lvl="0"/>
            <a:r>
              <a:rPr lang="ja" dirty="0">
                <a:highlight>
                  <a:srgbClr val="D9D9D9"/>
                </a:highlight>
              </a:rPr>
              <a:t>8-9.Step①</a:t>
            </a:r>
            <a:r>
              <a:rPr lang="ja" sz="2688" dirty="0">
                <a:highlight>
                  <a:srgbClr val="D9D9D9"/>
                </a:highlight>
              </a:rPr>
              <a:t>マスタ受信（OC）</a:t>
            </a:r>
            <a:r>
              <a:rPr lang="en-US" altLang="ja" sz="2688" dirty="0">
                <a:highlight>
                  <a:srgbClr val="D9D9D9"/>
                </a:highlight>
              </a:rPr>
              <a:t>/</a:t>
            </a:r>
            <a:r>
              <a:rPr lang="vi-VN" dirty="0">
                <a:highlight>
                  <a:srgbClr val="D9D9D9"/>
                </a:highlight>
              </a:rPr>
              <a:t> Bước ① Nhận master (OC)</a:t>
            </a:r>
            <a:endParaRPr dirty="0">
              <a:highlight>
                <a:srgbClr val="D9D9D9"/>
              </a:highlight>
            </a:endParaRPr>
          </a:p>
          <a:p>
            <a:pPr marL="0" lvl="0" indent="0" algn="l" rtl="0">
              <a:spcBef>
                <a:spcPts val="0"/>
              </a:spcBef>
              <a:spcAft>
                <a:spcPts val="0"/>
              </a:spcAft>
              <a:buNone/>
            </a:pPr>
            <a:endParaRPr dirty="0">
              <a:highlight>
                <a:srgbClr val="D9D9D9"/>
              </a:highlight>
            </a:endParaRPr>
          </a:p>
        </p:txBody>
      </p:sp>
      <p:pic>
        <p:nvPicPr>
          <p:cNvPr id="308" name="Google Shape;308;p45"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09" name="Google Shape;309;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55</a:t>
            </a:fld>
            <a:endParaRPr/>
          </a:p>
        </p:txBody>
      </p:sp>
      <p:pic>
        <p:nvPicPr>
          <p:cNvPr id="310" name="Google Shape;310;p45" title="【POS】infra_ishida-8-10.drawio.png"/>
          <p:cNvPicPr preferRelativeResize="0"/>
          <p:nvPr/>
        </p:nvPicPr>
        <p:blipFill>
          <a:blip r:embed="rId4">
            <a:alphaModFix/>
          </a:blip>
          <a:stretch>
            <a:fillRect/>
          </a:stretch>
        </p:blipFill>
        <p:spPr>
          <a:xfrm>
            <a:off x="2224575" y="992175"/>
            <a:ext cx="4178375" cy="3944025"/>
          </a:xfrm>
          <a:prstGeom prst="rect">
            <a:avLst/>
          </a:prstGeom>
          <a:noFill/>
          <a:ln>
            <a:noFill/>
          </a:ln>
        </p:spPr>
      </p:pic>
      <p:sp>
        <p:nvSpPr>
          <p:cNvPr id="2" name="TextBox 1">
            <a:extLst>
              <a:ext uri="{FF2B5EF4-FFF2-40B4-BE49-F238E27FC236}">
                <a16:creationId xmlns:a16="http://schemas.microsoft.com/office/drawing/2014/main" id="{1E1C615D-B1ED-5C8D-2093-8A15FD267448}"/>
              </a:ext>
            </a:extLst>
          </p:cNvPr>
          <p:cNvSpPr txBox="1"/>
          <p:nvPr/>
        </p:nvSpPr>
        <p:spPr>
          <a:xfrm>
            <a:off x="2010468" y="1189426"/>
            <a:ext cx="624794" cy="3231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O</a:t>
            </a:r>
            <a:r>
              <a:rPr lang="en-US" sz="500" dirty="0"/>
              <a:t>C </a:t>
            </a:r>
            <a:r>
              <a:rPr lang="en-VN" sz="500" dirty="0"/>
              <a:t>dùng chung cho các cửa hàng </a:t>
            </a:r>
          </a:p>
        </p:txBody>
      </p:sp>
      <p:sp>
        <p:nvSpPr>
          <p:cNvPr id="3" name="TextBox 2">
            <a:extLst>
              <a:ext uri="{FF2B5EF4-FFF2-40B4-BE49-F238E27FC236}">
                <a16:creationId xmlns:a16="http://schemas.microsoft.com/office/drawing/2014/main" id="{72D36AAC-1CE0-024C-B8DA-6FF54CF6F6B6}"/>
              </a:ext>
            </a:extLst>
          </p:cNvPr>
          <p:cNvSpPr txBox="1"/>
          <p:nvPr/>
        </p:nvSpPr>
        <p:spPr>
          <a:xfrm>
            <a:off x="2804765" y="1081434"/>
            <a:ext cx="624794" cy="3231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Dữ liệu liên kết bên ngooài (CSV)</a:t>
            </a:r>
          </a:p>
        </p:txBody>
      </p:sp>
      <p:sp>
        <p:nvSpPr>
          <p:cNvPr id="4" name="TextBox 3">
            <a:extLst>
              <a:ext uri="{FF2B5EF4-FFF2-40B4-BE49-F238E27FC236}">
                <a16:creationId xmlns:a16="http://schemas.microsoft.com/office/drawing/2014/main" id="{FA4A0F3D-1567-F3B3-19B4-905208402F78}"/>
              </a:ext>
            </a:extLst>
          </p:cNvPr>
          <p:cNvSpPr txBox="1"/>
          <p:nvPr/>
        </p:nvSpPr>
        <p:spPr>
          <a:xfrm>
            <a:off x="2804765" y="1441764"/>
            <a:ext cx="624794"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500" dirty="0"/>
              <a:t>F</a:t>
            </a:r>
            <a:r>
              <a:rPr lang="en-VN" sz="500" dirty="0"/>
              <a:t>ile END nội dung rỗng</a:t>
            </a:r>
          </a:p>
        </p:txBody>
      </p:sp>
      <p:sp>
        <p:nvSpPr>
          <p:cNvPr id="6" name="TextBox 5">
            <a:extLst>
              <a:ext uri="{FF2B5EF4-FFF2-40B4-BE49-F238E27FC236}">
                <a16:creationId xmlns:a16="http://schemas.microsoft.com/office/drawing/2014/main" id="{4A4F9571-974E-1333-FB9E-BE1E6C700C87}"/>
              </a:ext>
            </a:extLst>
          </p:cNvPr>
          <p:cNvSpPr txBox="1"/>
          <p:nvPr/>
        </p:nvSpPr>
        <p:spPr>
          <a:xfrm>
            <a:off x="3457466" y="1512591"/>
            <a:ext cx="856296" cy="3231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Event Bridge được kích hoạt khi phát hiện file END</a:t>
            </a:r>
          </a:p>
        </p:txBody>
      </p:sp>
      <p:sp>
        <p:nvSpPr>
          <p:cNvPr id="7" name="TextBox 6">
            <a:extLst>
              <a:ext uri="{FF2B5EF4-FFF2-40B4-BE49-F238E27FC236}">
                <a16:creationId xmlns:a16="http://schemas.microsoft.com/office/drawing/2014/main" id="{7DECF319-4338-8BAA-5B5F-CCA6C2B94114}"/>
              </a:ext>
            </a:extLst>
          </p:cNvPr>
          <p:cNvSpPr txBox="1"/>
          <p:nvPr/>
        </p:nvSpPr>
        <p:spPr>
          <a:xfrm>
            <a:off x="3885614" y="2695706"/>
            <a:ext cx="1483628" cy="40011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Phân tán theo loại</a:t>
            </a:r>
          </a:p>
          <a:p>
            <a:r>
              <a:rPr lang="en-VN" sz="500" dirty="0"/>
              <a:t>Danh sách object trong S3</a:t>
            </a:r>
          </a:p>
          <a:p>
            <a:r>
              <a:rPr lang="en-VN" sz="500" dirty="0"/>
              <a:t>Vì file CSV trong S3 ko cần header nên ko áp dụng Header</a:t>
            </a:r>
          </a:p>
        </p:txBody>
      </p:sp>
      <p:sp>
        <p:nvSpPr>
          <p:cNvPr id="8" name="TextBox 7">
            <a:extLst>
              <a:ext uri="{FF2B5EF4-FFF2-40B4-BE49-F238E27FC236}">
                <a16:creationId xmlns:a16="http://schemas.microsoft.com/office/drawing/2014/main" id="{A6E4BA7F-D8D5-FFF4-0AE8-1532F05564FB}"/>
              </a:ext>
            </a:extLst>
          </p:cNvPr>
          <p:cNvSpPr txBox="1"/>
          <p:nvPr/>
        </p:nvSpPr>
        <p:spPr>
          <a:xfrm>
            <a:off x="3885614" y="3293066"/>
            <a:ext cx="1483628"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Di chuyển file CSV đến Prefix tương ứng với của hàng riêng biệt trong S3 Bucket</a:t>
            </a:r>
          </a:p>
        </p:txBody>
      </p:sp>
      <p:sp>
        <p:nvSpPr>
          <p:cNvPr id="9" name="TextBox 8">
            <a:extLst>
              <a:ext uri="{FF2B5EF4-FFF2-40B4-BE49-F238E27FC236}">
                <a16:creationId xmlns:a16="http://schemas.microsoft.com/office/drawing/2014/main" id="{C1624E8F-9887-644B-A1AD-FC550C35BE37}"/>
              </a:ext>
            </a:extLst>
          </p:cNvPr>
          <p:cNvSpPr txBox="1"/>
          <p:nvPr/>
        </p:nvSpPr>
        <p:spPr>
          <a:xfrm>
            <a:off x="3830186" y="4860017"/>
            <a:ext cx="1483628"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Sau khi hoàn tất tạo file END tương ứng và lưu vào cùng Prefix</a:t>
            </a:r>
          </a:p>
        </p:txBody>
      </p:sp>
    </p:spTree>
    <p:extLst>
      <p:ext uri="{BB962C8B-B14F-4D97-AF65-F5344CB8AC3E}">
        <p14:creationId xmlns:p14="http://schemas.microsoft.com/office/powerpoint/2010/main" val="4248433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46"/>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a:bodyPr>
          <a:lstStyle/>
          <a:p>
            <a:pPr lvl="0"/>
            <a:r>
              <a:rPr lang="ja" sz="1400" dirty="0">
                <a:highlight>
                  <a:srgbClr val="D9D9D9"/>
                </a:highlight>
              </a:rPr>
              <a:t>8-10.Step②マスタ受信（中継サーバ） </a:t>
            </a:r>
            <a:r>
              <a:rPr lang="en-US" altLang="ja" sz="1400" dirty="0">
                <a:highlight>
                  <a:srgbClr val="D9D9D9"/>
                </a:highlight>
              </a:rPr>
              <a:t>/</a:t>
            </a:r>
            <a:r>
              <a:rPr lang="vi-VN" sz="1400" dirty="0">
                <a:highlight>
                  <a:srgbClr val="D9D9D9"/>
                </a:highlight>
              </a:rPr>
              <a:t> Bước ② Nhận master (máy chủ trung gian)</a:t>
            </a:r>
            <a:endParaRPr sz="1400" dirty="0">
              <a:highlight>
                <a:srgbClr val="D9D9D9"/>
              </a:highlight>
            </a:endParaRPr>
          </a:p>
          <a:p>
            <a:pPr marL="0" lvl="0" indent="0" algn="l" rtl="0">
              <a:spcBef>
                <a:spcPts val="0"/>
              </a:spcBef>
              <a:spcAft>
                <a:spcPts val="0"/>
              </a:spcAft>
              <a:buNone/>
            </a:pPr>
            <a:endParaRPr sz="1400" dirty="0">
              <a:highlight>
                <a:srgbClr val="D9D9D9"/>
              </a:highlight>
            </a:endParaRPr>
          </a:p>
        </p:txBody>
      </p:sp>
      <p:pic>
        <p:nvPicPr>
          <p:cNvPr id="316" name="Google Shape;316;p46"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17" name="Google Shape;317;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56</a:t>
            </a:fld>
            <a:endParaRPr/>
          </a:p>
        </p:txBody>
      </p:sp>
      <p:pic>
        <p:nvPicPr>
          <p:cNvPr id="318" name="Google Shape;318;p46" title="【POS】infra_ishida-8-11(中継).drawio.png"/>
          <p:cNvPicPr preferRelativeResize="0"/>
          <p:nvPr/>
        </p:nvPicPr>
        <p:blipFill>
          <a:blip r:embed="rId4">
            <a:alphaModFix/>
          </a:blip>
          <a:stretch>
            <a:fillRect/>
          </a:stretch>
        </p:blipFill>
        <p:spPr>
          <a:xfrm>
            <a:off x="2732600" y="992175"/>
            <a:ext cx="3933073" cy="3846526"/>
          </a:xfrm>
          <a:prstGeom prst="rect">
            <a:avLst/>
          </a:prstGeom>
          <a:noFill/>
          <a:ln>
            <a:noFill/>
          </a:ln>
        </p:spPr>
      </p:pic>
    </p:spTree>
    <p:extLst>
      <p:ext uri="{BB962C8B-B14F-4D97-AF65-F5344CB8AC3E}">
        <p14:creationId xmlns:p14="http://schemas.microsoft.com/office/powerpoint/2010/main" val="42784269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46"/>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a:bodyPr>
          <a:lstStyle/>
          <a:p>
            <a:pPr lvl="0"/>
            <a:r>
              <a:rPr lang="ja" sz="1400" dirty="0">
                <a:highlight>
                  <a:srgbClr val="D9D9D9"/>
                </a:highlight>
              </a:rPr>
              <a:t>8-10.Step②マスタ受信（中継サーバ） </a:t>
            </a:r>
            <a:r>
              <a:rPr lang="en-US" altLang="ja" sz="1400" dirty="0">
                <a:highlight>
                  <a:srgbClr val="D9D9D9"/>
                </a:highlight>
              </a:rPr>
              <a:t>/</a:t>
            </a:r>
            <a:r>
              <a:rPr lang="vi-VN" sz="1400" dirty="0">
                <a:highlight>
                  <a:srgbClr val="D9D9D9"/>
                </a:highlight>
              </a:rPr>
              <a:t> Bước ② Nhận master (máy chủ trung gian)</a:t>
            </a:r>
            <a:endParaRPr sz="1400" dirty="0">
              <a:highlight>
                <a:srgbClr val="D9D9D9"/>
              </a:highlight>
            </a:endParaRPr>
          </a:p>
          <a:p>
            <a:pPr marL="0" lvl="0" indent="0" algn="l" rtl="0">
              <a:spcBef>
                <a:spcPts val="0"/>
              </a:spcBef>
              <a:spcAft>
                <a:spcPts val="0"/>
              </a:spcAft>
              <a:buNone/>
            </a:pPr>
            <a:endParaRPr sz="1400" dirty="0">
              <a:highlight>
                <a:srgbClr val="D9D9D9"/>
              </a:highlight>
            </a:endParaRPr>
          </a:p>
        </p:txBody>
      </p:sp>
      <p:pic>
        <p:nvPicPr>
          <p:cNvPr id="316" name="Google Shape;316;p46"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17" name="Google Shape;317;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57</a:t>
            </a:fld>
            <a:endParaRPr/>
          </a:p>
        </p:txBody>
      </p:sp>
      <p:pic>
        <p:nvPicPr>
          <p:cNvPr id="318" name="Google Shape;318;p46" title="【POS】infra_ishida-8-11(中継).drawio.png"/>
          <p:cNvPicPr preferRelativeResize="0"/>
          <p:nvPr/>
        </p:nvPicPr>
        <p:blipFill>
          <a:blip r:embed="rId4">
            <a:alphaModFix/>
          </a:blip>
          <a:stretch>
            <a:fillRect/>
          </a:stretch>
        </p:blipFill>
        <p:spPr>
          <a:xfrm>
            <a:off x="2732600" y="992175"/>
            <a:ext cx="3933073" cy="3846526"/>
          </a:xfrm>
          <a:prstGeom prst="rect">
            <a:avLst/>
          </a:prstGeom>
          <a:noFill/>
          <a:ln>
            <a:noFill/>
          </a:ln>
        </p:spPr>
      </p:pic>
      <p:sp>
        <p:nvSpPr>
          <p:cNvPr id="2" name="TextBox 1">
            <a:extLst>
              <a:ext uri="{FF2B5EF4-FFF2-40B4-BE49-F238E27FC236}">
                <a16:creationId xmlns:a16="http://schemas.microsoft.com/office/drawing/2014/main" id="{5422C3F5-10A8-556C-EB7C-F12688590D76}"/>
              </a:ext>
            </a:extLst>
          </p:cNvPr>
          <p:cNvSpPr txBox="1"/>
          <p:nvPr/>
        </p:nvSpPr>
        <p:spPr>
          <a:xfrm>
            <a:off x="2537308" y="935090"/>
            <a:ext cx="624794" cy="553998"/>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Máy chủ trung gian gửi dữ liệu riêng biệt theo từng cửa hàng, và ko có file END</a:t>
            </a:r>
          </a:p>
        </p:txBody>
      </p:sp>
      <p:sp>
        <p:nvSpPr>
          <p:cNvPr id="3" name="TextBox 2">
            <a:extLst>
              <a:ext uri="{FF2B5EF4-FFF2-40B4-BE49-F238E27FC236}">
                <a16:creationId xmlns:a16="http://schemas.microsoft.com/office/drawing/2014/main" id="{DAD58E45-B65C-4753-84FC-F0296AE9E94F}"/>
              </a:ext>
            </a:extLst>
          </p:cNvPr>
          <p:cNvSpPr txBox="1"/>
          <p:nvPr/>
        </p:nvSpPr>
        <p:spPr>
          <a:xfrm>
            <a:off x="3308224" y="1088978"/>
            <a:ext cx="624794"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File liên kết bên ngoài (ZIP)</a:t>
            </a:r>
          </a:p>
        </p:txBody>
      </p:sp>
      <p:sp>
        <p:nvSpPr>
          <p:cNvPr id="4" name="TextBox 3">
            <a:extLst>
              <a:ext uri="{FF2B5EF4-FFF2-40B4-BE49-F238E27FC236}">
                <a16:creationId xmlns:a16="http://schemas.microsoft.com/office/drawing/2014/main" id="{E18390A7-437A-F529-A5E8-5B780590171D}"/>
              </a:ext>
            </a:extLst>
          </p:cNvPr>
          <p:cNvSpPr txBox="1"/>
          <p:nvPr/>
        </p:nvSpPr>
        <p:spPr>
          <a:xfrm>
            <a:off x="3933018" y="1489088"/>
            <a:ext cx="856296" cy="3231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Event Bridge được kích hoạt khi phát hiện có file ZIP</a:t>
            </a:r>
          </a:p>
        </p:txBody>
      </p:sp>
      <p:sp>
        <p:nvSpPr>
          <p:cNvPr id="5" name="TextBox 4">
            <a:extLst>
              <a:ext uri="{FF2B5EF4-FFF2-40B4-BE49-F238E27FC236}">
                <a16:creationId xmlns:a16="http://schemas.microsoft.com/office/drawing/2014/main" id="{98ECDCFF-66F5-70C3-917D-72A9EBF4D9DC}"/>
              </a:ext>
            </a:extLst>
          </p:cNvPr>
          <p:cNvSpPr txBox="1"/>
          <p:nvPr/>
        </p:nvSpPr>
        <p:spPr>
          <a:xfrm>
            <a:off x="4361166" y="2704585"/>
            <a:ext cx="1483628"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Phân tán theo loại</a:t>
            </a:r>
          </a:p>
          <a:p>
            <a:r>
              <a:rPr lang="en-VN" sz="500" dirty="0"/>
              <a:t>Danh sách object trong S3</a:t>
            </a:r>
          </a:p>
        </p:txBody>
      </p:sp>
      <p:sp>
        <p:nvSpPr>
          <p:cNvPr id="6" name="TextBox 5">
            <a:extLst>
              <a:ext uri="{FF2B5EF4-FFF2-40B4-BE49-F238E27FC236}">
                <a16:creationId xmlns:a16="http://schemas.microsoft.com/office/drawing/2014/main" id="{AEABFE98-47D2-E357-956D-E3B3AA0BBE55}"/>
              </a:ext>
            </a:extLst>
          </p:cNvPr>
          <p:cNvSpPr txBox="1"/>
          <p:nvPr/>
        </p:nvSpPr>
        <p:spPr>
          <a:xfrm>
            <a:off x="4361166" y="3331248"/>
            <a:ext cx="507984"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Giải nén ZIP</a:t>
            </a:r>
          </a:p>
        </p:txBody>
      </p:sp>
      <p:sp>
        <p:nvSpPr>
          <p:cNvPr id="7" name="TextBox 6">
            <a:extLst>
              <a:ext uri="{FF2B5EF4-FFF2-40B4-BE49-F238E27FC236}">
                <a16:creationId xmlns:a16="http://schemas.microsoft.com/office/drawing/2014/main" id="{9CBD3754-AEFA-31DB-C219-D9ED20EAFC74}"/>
              </a:ext>
            </a:extLst>
          </p:cNvPr>
          <p:cNvSpPr txBox="1"/>
          <p:nvPr/>
        </p:nvSpPr>
        <p:spPr>
          <a:xfrm>
            <a:off x="4896169" y="3323451"/>
            <a:ext cx="507984" cy="40011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500" dirty="0" err="1"/>
              <a:t>Đ</a:t>
            </a:r>
            <a:r>
              <a:rPr lang="en-VN" sz="500" dirty="0"/>
              <a:t>ể lấy giữ liệu liên kết bên ngoài (CSV)</a:t>
            </a:r>
          </a:p>
        </p:txBody>
      </p:sp>
      <p:sp>
        <p:nvSpPr>
          <p:cNvPr id="8" name="TextBox 7">
            <a:extLst>
              <a:ext uri="{FF2B5EF4-FFF2-40B4-BE49-F238E27FC236}">
                <a16:creationId xmlns:a16="http://schemas.microsoft.com/office/drawing/2014/main" id="{E00DD8D7-4106-3F3D-7C4D-7832985EDA4C}"/>
              </a:ext>
            </a:extLst>
          </p:cNvPr>
          <p:cNvSpPr txBox="1"/>
          <p:nvPr/>
        </p:nvSpPr>
        <p:spPr>
          <a:xfrm>
            <a:off x="4388185" y="4438591"/>
            <a:ext cx="507984" cy="40011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500" dirty="0"/>
              <a:t>Lamba </a:t>
            </a:r>
            <a:r>
              <a:rPr lang="en-US" sz="500" dirty="0" err="1"/>
              <a:t>tạo</a:t>
            </a:r>
            <a:r>
              <a:rPr lang="en-US" sz="500" dirty="0"/>
              <a:t> file END </a:t>
            </a:r>
            <a:r>
              <a:rPr lang="en-US" sz="500" dirty="0" err="1"/>
              <a:t>để</a:t>
            </a:r>
            <a:r>
              <a:rPr lang="en-US" sz="500" dirty="0"/>
              <a:t> </a:t>
            </a:r>
            <a:r>
              <a:rPr lang="en-US" sz="500" dirty="0" err="1"/>
              <a:t>đánh</a:t>
            </a:r>
            <a:r>
              <a:rPr lang="en-US" sz="500" dirty="0"/>
              <a:t> </a:t>
            </a:r>
            <a:r>
              <a:rPr lang="en-US" sz="500" dirty="0" err="1"/>
              <a:t>dấu</a:t>
            </a:r>
            <a:r>
              <a:rPr lang="en-US" sz="500" dirty="0"/>
              <a:t> </a:t>
            </a:r>
            <a:r>
              <a:rPr lang="en-US" sz="500" dirty="0" err="1"/>
              <a:t>hoàn</a:t>
            </a:r>
            <a:r>
              <a:rPr lang="en-US" sz="500" dirty="0"/>
              <a:t> </a:t>
            </a:r>
            <a:r>
              <a:rPr lang="en-US" sz="500" dirty="0" err="1"/>
              <a:t>tất</a:t>
            </a:r>
            <a:endParaRPr lang="en-VN" sz="5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47"/>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a:bodyPr>
          <a:lstStyle/>
          <a:p>
            <a:pPr lvl="0"/>
            <a:r>
              <a:rPr lang="ja" sz="1500" dirty="0">
                <a:highlight>
                  <a:srgbClr val="D9D9D9"/>
                </a:highlight>
              </a:rPr>
              <a:t>8-11.Step②POSマスタ作成（共通）</a:t>
            </a:r>
            <a:r>
              <a:rPr lang="en-US" altLang="ja" sz="1500" dirty="0">
                <a:highlight>
                  <a:srgbClr val="D9D9D9"/>
                </a:highlight>
              </a:rPr>
              <a:t>/</a:t>
            </a:r>
            <a:r>
              <a:rPr lang="vi-VN" sz="1500" dirty="0">
                <a:highlight>
                  <a:srgbClr val="D9D9D9"/>
                </a:highlight>
              </a:rPr>
              <a:t> Bước ② Tạo master POS (dùng chung)</a:t>
            </a:r>
            <a:endParaRPr sz="1500" dirty="0">
              <a:highlight>
                <a:srgbClr val="D9D9D9"/>
              </a:highlight>
            </a:endParaRPr>
          </a:p>
        </p:txBody>
      </p:sp>
      <p:pic>
        <p:nvPicPr>
          <p:cNvPr id="324" name="Google Shape;324;p47"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25" name="Google Shape;325;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58</a:t>
            </a:fld>
            <a:endParaRPr/>
          </a:p>
        </p:txBody>
      </p:sp>
      <p:pic>
        <p:nvPicPr>
          <p:cNvPr id="326" name="Google Shape;326;p47" title="【POS】infra_ishida-8-11.drawio.png"/>
          <p:cNvPicPr preferRelativeResize="0"/>
          <p:nvPr/>
        </p:nvPicPr>
        <p:blipFill>
          <a:blip r:embed="rId4">
            <a:alphaModFix/>
          </a:blip>
          <a:stretch>
            <a:fillRect/>
          </a:stretch>
        </p:blipFill>
        <p:spPr>
          <a:xfrm>
            <a:off x="2383925" y="1101000"/>
            <a:ext cx="3513418" cy="3846526"/>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47"/>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a:bodyPr>
          <a:lstStyle/>
          <a:p>
            <a:pPr lvl="0"/>
            <a:r>
              <a:rPr lang="ja" sz="1500" dirty="0">
                <a:highlight>
                  <a:srgbClr val="D9D9D9"/>
                </a:highlight>
              </a:rPr>
              <a:t>8-11.Step②POSマスタ作成（共通）</a:t>
            </a:r>
            <a:r>
              <a:rPr lang="en-US" altLang="ja" sz="1500" dirty="0">
                <a:highlight>
                  <a:srgbClr val="D9D9D9"/>
                </a:highlight>
              </a:rPr>
              <a:t>/</a:t>
            </a:r>
            <a:r>
              <a:rPr lang="vi-VN" sz="1500" dirty="0">
                <a:highlight>
                  <a:srgbClr val="D9D9D9"/>
                </a:highlight>
              </a:rPr>
              <a:t> Bước ② Tạo master POS (dùng chung)</a:t>
            </a:r>
            <a:endParaRPr sz="1500" dirty="0">
              <a:highlight>
                <a:srgbClr val="D9D9D9"/>
              </a:highlight>
            </a:endParaRPr>
          </a:p>
        </p:txBody>
      </p:sp>
      <p:pic>
        <p:nvPicPr>
          <p:cNvPr id="324" name="Google Shape;324;p47"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25" name="Google Shape;325;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59</a:t>
            </a:fld>
            <a:endParaRPr/>
          </a:p>
        </p:txBody>
      </p:sp>
      <p:pic>
        <p:nvPicPr>
          <p:cNvPr id="326" name="Google Shape;326;p47" title="【POS】infra_ishida-8-11.drawio.png"/>
          <p:cNvPicPr preferRelativeResize="0"/>
          <p:nvPr/>
        </p:nvPicPr>
        <p:blipFill>
          <a:blip r:embed="rId4">
            <a:alphaModFix/>
          </a:blip>
          <a:stretch>
            <a:fillRect/>
          </a:stretch>
        </p:blipFill>
        <p:spPr>
          <a:xfrm>
            <a:off x="2383925" y="1101000"/>
            <a:ext cx="3513418" cy="3846526"/>
          </a:xfrm>
          <a:prstGeom prst="rect">
            <a:avLst/>
          </a:prstGeom>
          <a:noFill/>
          <a:ln>
            <a:noFill/>
          </a:ln>
        </p:spPr>
      </p:pic>
      <p:sp>
        <p:nvSpPr>
          <p:cNvPr id="2" name="TextBox 1">
            <a:extLst>
              <a:ext uri="{FF2B5EF4-FFF2-40B4-BE49-F238E27FC236}">
                <a16:creationId xmlns:a16="http://schemas.microsoft.com/office/drawing/2014/main" id="{5DCF65A5-273A-F513-F0FD-8372EA2DE6E1}"/>
              </a:ext>
            </a:extLst>
          </p:cNvPr>
          <p:cNvSpPr txBox="1"/>
          <p:nvPr/>
        </p:nvSpPr>
        <p:spPr>
          <a:xfrm>
            <a:off x="2643028" y="1101000"/>
            <a:ext cx="624794"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500" dirty="0"/>
              <a:t>F</a:t>
            </a:r>
            <a:r>
              <a:rPr lang="en-VN" sz="500" dirty="0"/>
              <a:t>ile liên kết bên ngoài (CSV)</a:t>
            </a:r>
          </a:p>
        </p:txBody>
      </p:sp>
      <p:sp>
        <p:nvSpPr>
          <p:cNvPr id="3" name="TextBox 2">
            <a:extLst>
              <a:ext uri="{FF2B5EF4-FFF2-40B4-BE49-F238E27FC236}">
                <a16:creationId xmlns:a16="http://schemas.microsoft.com/office/drawing/2014/main" id="{E925256F-1D1E-EB8C-7F51-815B26475D54}"/>
              </a:ext>
            </a:extLst>
          </p:cNvPr>
          <p:cNvSpPr txBox="1"/>
          <p:nvPr/>
        </p:nvSpPr>
        <p:spPr>
          <a:xfrm>
            <a:off x="2643028" y="1371407"/>
            <a:ext cx="624794" cy="16927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500" dirty="0"/>
              <a:t>F</a:t>
            </a:r>
            <a:r>
              <a:rPr lang="en-VN" sz="500" dirty="0"/>
              <a:t>ile END</a:t>
            </a:r>
          </a:p>
        </p:txBody>
      </p:sp>
      <p:sp>
        <p:nvSpPr>
          <p:cNvPr id="5" name="TextBox 4">
            <a:extLst>
              <a:ext uri="{FF2B5EF4-FFF2-40B4-BE49-F238E27FC236}">
                <a16:creationId xmlns:a16="http://schemas.microsoft.com/office/drawing/2014/main" id="{046D8452-8D98-08C4-4563-232C71319472}"/>
              </a:ext>
            </a:extLst>
          </p:cNvPr>
          <p:cNvSpPr txBox="1"/>
          <p:nvPr/>
        </p:nvSpPr>
        <p:spPr>
          <a:xfrm>
            <a:off x="3298138" y="1456045"/>
            <a:ext cx="856296" cy="32316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Event Bridge được kích hoạt khi phát hiện có file END</a:t>
            </a:r>
          </a:p>
        </p:txBody>
      </p:sp>
      <p:sp>
        <p:nvSpPr>
          <p:cNvPr id="6" name="TextBox 5">
            <a:extLst>
              <a:ext uri="{FF2B5EF4-FFF2-40B4-BE49-F238E27FC236}">
                <a16:creationId xmlns:a16="http://schemas.microsoft.com/office/drawing/2014/main" id="{B16A5102-A3A5-BF22-5EA8-EFE435CC2A10}"/>
              </a:ext>
            </a:extLst>
          </p:cNvPr>
          <p:cNvSpPr txBox="1"/>
          <p:nvPr/>
        </p:nvSpPr>
        <p:spPr>
          <a:xfrm>
            <a:off x="3605516" y="2325529"/>
            <a:ext cx="1483628"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Phân tán theo loại</a:t>
            </a:r>
          </a:p>
          <a:p>
            <a:r>
              <a:rPr lang="en-VN" sz="500" dirty="0"/>
              <a:t>Danh sách object trong S3</a:t>
            </a:r>
          </a:p>
        </p:txBody>
      </p:sp>
      <p:sp>
        <p:nvSpPr>
          <p:cNvPr id="7" name="TextBox 6">
            <a:extLst>
              <a:ext uri="{FF2B5EF4-FFF2-40B4-BE49-F238E27FC236}">
                <a16:creationId xmlns:a16="http://schemas.microsoft.com/office/drawing/2014/main" id="{B3818709-8D12-0F4F-990B-A3D6486F454A}"/>
              </a:ext>
            </a:extLst>
          </p:cNvPr>
          <p:cNvSpPr txBox="1"/>
          <p:nvPr/>
        </p:nvSpPr>
        <p:spPr>
          <a:xfrm>
            <a:off x="3605516" y="2680575"/>
            <a:ext cx="445784" cy="27699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400" dirty="0"/>
              <a:t>Đăng ký cơ sở dữ liệu bản sao</a:t>
            </a:r>
          </a:p>
        </p:txBody>
      </p:sp>
      <p:sp>
        <p:nvSpPr>
          <p:cNvPr id="8" name="TextBox 7">
            <a:extLst>
              <a:ext uri="{FF2B5EF4-FFF2-40B4-BE49-F238E27FC236}">
                <a16:creationId xmlns:a16="http://schemas.microsoft.com/office/drawing/2014/main" id="{DE7CC89E-271F-D547-9171-5C7DD92EC118}"/>
              </a:ext>
            </a:extLst>
          </p:cNvPr>
          <p:cNvSpPr txBox="1"/>
          <p:nvPr/>
        </p:nvSpPr>
        <p:spPr>
          <a:xfrm>
            <a:off x="3605516" y="3206693"/>
            <a:ext cx="445784" cy="27699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400" dirty="0"/>
              <a:t>Đăng ký cơ sở dữ liệu bản chính</a:t>
            </a:r>
          </a:p>
        </p:txBody>
      </p:sp>
      <p:sp>
        <p:nvSpPr>
          <p:cNvPr id="9" name="TextBox 8">
            <a:extLst>
              <a:ext uri="{FF2B5EF4-FFF2-40B4-BE49-F238E27FC236}">
                <a16:creationId xmlns:a16="http://schemas.microsoft.com/office/drawing/2014/main" id="{3652CACD-C8CE-E44E-8C74-56F8015A9277}"/>
              </a:ext>
            </a:extLst>
          </p:cNvPr>
          <p:cNvSpPr txBox="1"/>
          <p:nvPr/>
        </p:nvSpPr>
        <p:spPr>
          <a:xfrm>
            <a:off x="2383925" y="3765501"/>
            <a:ext cx="685014" cy="27699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400" dirty="0"/>
              <a:t>C</a:t>
            </a:r>
            <a:r>
              <a:rPr lang="en-VN" sz="400" dirty="0"/>
              <a:t>ó thể có nhiều hơn pụ thuộc vào từng loại master</a:t>
            </a:r>
          </a:p>
        </p:txBody>
      </p:sp>
      <p:sp>
        <p:nvSpPr>
          <p:cNvPr id="10" name="TextBox 9">
            <a:extLst>
              <a:ext uri="{FF2B5EF4-FFF2-40B4-BE49-F238E27FC236}">
                <a16:creationId xmlns:a16="http://schemas.microsoft.com/office/drawing/2014/main" id="{BE6F1566-0F8F-F18F-0814-14CD355EF9FB}"/>
              </a:ext>
            </a:extLst>
          </p:cNvPr>
          <p:cNvSpPr txBox="1"/>
          <p:nvPr/>
        </p:nvSpPr>
        <p:spPr>
          <a:xfrm>
            <a:off x="3605516" y="3657779"/>
            <a:ext cx="445784" cy="215444"/>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400" dirty="0"/>
              <a:t>T</a:t>
            </a:r>
            <a:r>
              <a:rPr lang="en-VN" sz="400" dirty="0"/>
              <a:t>ạo master POS</a:t>
            </a:r>
          </a:p>
        </p:txBody>
      </p:sp>
      <p:sp>
        <p:nvSpPr>
          <p:cNvPr id="11" name="TextBox 10">
            <a:extLst>
              <a:ext uri="{FF2B5EF4-FFF2-40B4-BE49-F238E27FC236}">
                <a16:creationId xmlns:a16="http://schemas.microsoft.com/office/drawing/2014/main" id="{DD9F9A94-C7A6-829A-BC0C-5BA987D3BEFC}"/>
              </a:ext>
            </a:extLst>
          </p:cNvPr>
          <p:cNvSpPr txBox="1"/>
          <p:nvPr/>
        </p:nvSpPr>
        <p:spPr>
          <a:xfrm>
            <a:off x="3605516" y="4102279"/>
            <a:ext cx="445784" cy="40011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400" dirty="0"/>
              <a:t>Di chuyển master liên kết bên ngoài trong Bucket S3</a:t>
            </a:r>
          </a:p>
        </p:txBody>
      </p:sp>
      <p:sp>
        <p:nvSpPr>
          <p:cNvPr id="12" name="TextBox 11">
            <a:extLst>
              <a:ext uri="{FF2B5EF4-FFF2-40B4-BE49-F238E27FC236}">
                <a16:creationId xmlns:a16="http://schemas.microsoft.com/office/drawing/2014/main" id="{92CDC153-645E-8627-BB7A-737BFBF1E0A5}"/>
              </a:ext>
            </a:extLst>
          </p:cNvPr>
          <p:cNvSpPr txBox="1"/>
          <p:nvPr/>
        </p:nvSpPr>
        <p:spPr>
          <a:xfrm>
            <a:off x="3603096" y="4681090"/>
            <a:ext cx="744234" cy="215444"/>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400" dirty="0"/>
              <a:t>Tạo quy tắc lịch trình của EvenBridge</a:t>
            </a:r>
          </a:p>
        </p:txBody>
      </p:sp>
      <p:sp>
        <p:nvSpPr>
          <p:cNvPr id="13" name="TextBox 12">
            <a:extLst>
              <a:ext uri="{FF2B5EF4-FFF2-40B4-BE49-F238E27FC236}">
                <a16:creationId xmlns:a16="http://schemas.microsoft.com/office/drawing/2014/main" id="{4A7B7D36-1F4E-3E37-F2B0-06D26D778682}"/>
              </a:ext>
            </a:extLst>
          </p:cNvPr>
          <p:cNvSpPr txBox="1"/>
          <p:nvPr/>
        </p:nvSpPr>
        <p:spPr>
          <a:xfrm>
            <a:off x="4405282" y="4209186"/>
            <a:ext cx="445784" cy="338554"/>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400" dirty="0"/>
              <a:t>F</a:t>
            </a:r>
            <a:r>
              <a:rPr lang="en-VN" sz="400" dirty="0"/>
              <a:t>ile CSV master liên kết bên ngoài</a:t>
            </a:r>
          </a:p>
        </p:txBody>
      </p:sp>
      <p:sp>
        <p:nvSpPr>
          <p:cNvPr id="14" name="TextBox 13">
            <a:extLst>
              <a:ext uri="{FF2B5EF4-FFF2-40B4-BE49-F238E27FC236}">
                <a16:creationId xmlns:a16="http://schemas.microsoft.com/office/drawing/2014/main" id="{BE7CFBA0-4761-C5FE-F1EB-04457352326D}"/>
              </a:ext>
            </a:extLst>
          </p:cNvPr>
          <p:cNvSpPr txBox="1"/>
          <p:nvPr/>
        </p:nvSpPr>
        <p:spPr>
          <a:xfrm>
            <a:off x="4405282" y="3703946"/>
            <a:ext cx="445784" cy="338554"/>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400" dirty="0"/>
              <a:t>F</a:t>
            </a:r>
            <a:r>
              <a:rPr lang="en-VN" sz="400" dirty="0"/>
              <a:t>ile CSV master dùng trong POS</a:t>
            </a:r>
          </a:p>
        </p:txBody>
      </p:sp>
      <p:sp>
        <p:nvSpPr>
          <p:cNvPr id="15" name="TextBox 14">
            <a:extLst>
              <a:ext uri="{FF2B5EF4-FFF2-40B4-BE49-F238E27FC236}">
                <a16:creationId xmlns:a16="http://schemas.microsoft.com/office/drawing/2014/main" id="{FD52513C-A588-AC67-F4C5-62E01A43CB12}"/>
              </a:ext>
            </a:extLst>
          </p:cNvPr>
          <p:cNvSpPr txBox="1"/>
          <p:nvPr/>
        </p:nvSpPr>
        <p:spPr>
          <a:xfrm>
            <a:off x="6031832" y="2665088"/>
            <a:ext cx="1483628"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Trường hợp nếu tồn tại nội dung có cùng ngày giờ cùng cửa hàng thì hãy thêm vào:</a:t>
            </a:r>
          </a:p>
        </p:txBody>
      </p:sp>
      <p:sp>
        <p:nvSpPr>
          <p:cNvPr id="16" name="TextBox 15">
            <a:extLst>
              <a:ext uri="{FF2B5EF4-FFF2-40B4-BE49-F238E27FC236}">
                <a16:creationId xmlns:a16="http://schemas.microsoft.com/office/drawing/2014/main" id="{7198E361-BE3B-70C2-17F5-1E2917FE51EE}"/>
              </a:ext>
            </a:extLst>
          </p:cNvPr>
          <p:cNvSpPr txBox="1"/>
          <p:nvPr/>
        </p:nvSpPr>
        <p:spPr>
          <a:xfrm>
            <a:off x="6031832" y="2980671"/>
            <a:ext cx="1483628" cy="78483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Trong tên tệp bao gồm cả thời gian gửi đến ISHIDA</a:t>
            </a:r>
          </a:p>
          <a:p>
            <a:r>
              <a:rPr lang="en-VN" sz="500" dirty="0"/>
              <a:t>Mẫu 1 : Liên kết ban đêm </a:t>
            </a:r>
          </a:p>
          <a:p>
            <a:r>
              <a:rPr lang="en-VN" sz="500" dirty="0"/>
              <a:t>Gửi hàng loạt vào 6 h sáng ngày 6/13</a:t>
            </a:r>
          </a:p>
          <a:p>
            <a:r>
              <a:rPr lang="en-VN" sz="500" dirty="0"/>
              <a:t>Mẫu 2. Liên kế trong ngày </a:t>
            </a:r>
          </a:p>
          <a:p>
            <a:r>
              <a:rPr lang="en-VN" sz="500" dirty="0"/>
              <a:t>Gửi riêng lẻ vào 15:30 ngàu 6/13</a:t>
            </a:r>
          </a:p>
          <a:p>
            <a:r>
              <a:rPr lang="en-VN" sz="500" dirty="0"/>
              <a:t>Mẫu 3 : Liên kết ban ngày </a:t>
            </a:r>
          </a:p>
          <a:p>
            <a:r>
              <a:rPr lang="en-VN" sz="500" dirty="0"/>
              <a:t>Gửi riêng lẻ vào 15:30 ngàu 6/14</a:t>
            </a:r>
          </a:p>
          <a:p>
            <a:endParaRPr lang="en-VN" sz="500" dirty="0"/>
          </a:p>
        </p:txBody>
      </p:sp>
    </p:spTree>
    <p:extLst>
      <p:ext uri="{BB962C8B-B14F-4D97-AF65-F5344CB8AC3E}">
        <p14:creationId xmlns:p14="http://schemas.microsoft.com/office/powerpoint/2010/main" val="6672961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48"/>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Autofit/>
          </a:bodyPr>
          <a:lstStyle/>
          <a:p>
            <a:pPr lvl="0"/>
            <a:r>
              <a:rPr lang="ja" sz="1600" dirty="0">
                <a:highlight>
                  <a:srgbClr val="D9D9D9"/>
                </a:highlight>
              </a:rPr>
              <a:t>8-12.③ISHIDAへの送信（共通）</a:t>
            </a:r>
            <a:r>
              <a:rPr lang="en-US" altLang="ja" sz="1600" dirty="0">
                <a:highlight>
                  <a:srgbClr val="D9D9D9"/>
                </a:highlight>
              </a:rPr>
              <a:t>/</a:t>
            </a:r>
            <a:r>
              <a:rPr lang="vi-VN" sz="1600" dirty="0">
                <a:highlight>
                  <a:srgbClr val="D9D9D9"/>
                </a:highlight>
              </a:rPr>
              <a:t> Bước ③ Gửi đến ISHIDA (dùng chung)</a:t>
            </a:r>
            <a:endParaRPr sz="1600" dirty="0">
              <a:highlight>
                <a:srgbClr val="D9D9D9"/>
              </a:highlight>
            </a:endParaRPr>
          </a:p>
          <a:p>
            <a:pPr marL="0" lvl="0" indent="0" algn="l" rtl="0">
              <a:spcBef>
                <a:spcPts val="0"/>
              </a:spcBef>
              <a:spcAft>
                <a:spcPts val="0"/>
              </a:spcAft>
              <a:buNone/>
            </a:pPr>
            <a:endParaRPr sz="1600" dirty="0">
              <a:highlight>
                <a:srgbClr val="D9D9D9"/>
              </a:highlight>
            </a:endParaRPr>
          </a:p>
          <a:p>
            <a:pPr marL="0" lvl="0" indent="0" algn="l" rtl="0">
              <a:spcBef>
                <a:spcPts val="0"/>
              </a:spcBef>
              <a:spcAft>
                <a:spcPts val="0"/>
              </a:spcAft>
              <a:buNone/>
            </a:pPr>
            <a:r>
              <a:rPr lang="ja" sz="1600" dirty="0">
                <a:highlight>
                  <a:srgbClr val="D9D9D9"/>
                </a:highlight>
              </a:rPr>
              <a:t> </a:t>
            </a:r>
            <a:endParaRPr sz="1600" dirty="0">
              <a:highlight>
                <a:srgbClr val="D9D9D9"/>
              </a:highlight>
            </a:endParaRPr>
          </a:p>
          <a:p>
            <a:pPr marL="0" lvl="0" indent="0" algn="l" rtl="0">
              <a:spcBef>
                <a:spcPts val="0"/>
              </a:spcBef>
              <a:spcAft>
                <a:spcPts val="0"/>
              </a:spcAft>
              <a:buNone/>
            </a:pPr>
            <a:endParaRPr sz="1600" dirty="0">
              <a:highlight>
                <a:srgbClr val="D9D9D9"/>
              </a:highlight>
            </a:endParaRPr>
          </a:p>
        </p:txBody>
      </p:sp>
      <p:pic>
        <p:nvPicPr>
          <p:cNvPr id="332" name="Google Shape;332;p48"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33" name="Google Shape;333;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60</a:t>
            </a:fld>
            <a:endParaRPr/>
          </a:p>
        </p:txBody>
      </p:sp>
      <p:pic>
        <p:nvPicPr>
          <p:cNvPr id="334" name="Google Shape;334;p48" title="【POS】infra_ishida-8-12.drawio.png"/>
          <p:cNvPicPr preferRelativeResize="0"/>
          <p:nvPr/>
        </p:nvPicPr>
        <p:blipFill>
          <a:blip r:embed="rId4">
            <a:alphaModFix/>
          </a:blip>
          <a:stretch>
            <a:fillRect/>
          </a:stretch>
        </p:blipFill>
        <p:spPr>
          <a:xfrm>
            <a:off x="1337900" y="1048700"/>
            <a:ext cx="5667061" cy="384652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48"/>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Autofit/>
          </a:bodyPr>
          <a:lstStyle/>
          <a:p>
            <a:pPr lvl="0"/>
            <a:r>
              <a:rPr lang="ja" sz="1600" dirty="0">
                <a:highlight>
                  <a:srgbClr val="D9D9D9"/>
                </a:highlight>
              </a:rPr>
              <a:t>8-12.③ISHIDAへの送信（共通）</a:t>
            </a:r>
            <a:r>
              <a:rPr lang="en-US" altLang="ja" sz="1600" dirty="0">
                <a:highlight>
                  <a:srgbClr val="D9D9D9"/>
                </a:highlight>
              </a:rPr>
              <a:t>/</a:t>
            </a:r>
            <a:r>
              <a:rPr lang="vi-VN" sz="1600" dirty="0">
                <a:highlight>
                  <a:srgbClr val="D9D9D9"/>
                </a:highlight>
              </a:rPr>
              <a:t> Bước ③ Gửi đến ISHIDA (dùng chung)</a:t>
            </a:r>
            <a:endParaRPr sz="1600" dirty="0">
              <a:highlight>
                <a:srgbClr val="D9D9D9"/>
              </a:highlight>
            </a:endParaRPr>
          </a:p>
          <a:p>
            <a:pPr marL="0" lvl="0" indent="0" algn="l" rtl="0">
              <a:spcBef>
                <a:spcPts val="0"/>
              </a:spcBef>
              <a:spcAft>
                <a:spcPts val="0"/>
              </a:spcAft>
              <a:buNone/>
            </a:pPr>
            <a:endParaRPr sz="1600" dirty="0">
              <a:highlight>
                <a:srgbClr val="D9D9D9"/>
              </a:highlight>
            </a:endParaRPr>
          </a:p>
          <a:p>
            <a:pPr marL="0" lvl="0" indent="0" algn="l" rtl="0">
              <a:spcBef>
                <a:spcPts val="0"/>
              </a:spcBef>
              <a:spcAft>
                <a:spcPts val="0"/>
              </a:spcAft>
              <a:buNone/>
            </a:pPr>
            <a:r>
              <a:rPr lang="ja" sz="1600" dirty="0">
                <a:highlight>
                  <a:srgbClr val="D9D9D9"/>
                </a:highlight>
              </a:rPr>
              <a:t> </a:t>
            </a:r>
            <a:endParaRPr sz="1600" dirty="0">
              <a:highlight>
                <a:srgbClr val="D9D9D9"/>
              </a:highlight>
            </a:endParaRPr>
          </a:p>
          <a:p>
            <a:pPr marL="0" lvl="0" indent="0" algn="l" rtl="0">
              <a:spcBef>
                <a:spcPts val="0"/>
              </a:spcBef>
              <a:spcAft>
                <a:spcPts val="0"/>
              </a:spcAft>
              <a:buNone/>
            </a:pPr>
            <a:endParaRPr sz="1600" dirty="0">
              <a:highlight>
                <a:srgbClr val="D9D9D9"/>
              </a:highlight>
            </a:endParaRPr>
          </a:p>
        </p:txBody>
      </p:sp>
      <p:pic>
        <p:nvPicPr>
          <p:cNvPr id="332" name="Google Shape;332;p48"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33" name="Google Shape;333;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61</a:t>
            </a:fld>
            <a:endParaRPr/>
          </a:p>
        </p:txBody>
      </p:sp>
      <p:pic>
        <p:nvPicPr>
          <p:cNvPr id="334" name="Google Shape;334;p48" title="【POS】infra_ishida-8-12.drawio.png"/>
          <p:cNvPicPr preferRelativeResize="0"/>
          <p:nvPr/>
        </p:nvPicPr>
        <p:blipFill>
          <a:blip r:embed="rId4">
            <a:alphaModFix/>
          </a:blip>
          <a:stretch>
            <a:fillRect/>
          </a:stretch>
        </p:blipFill>
        <p:spPr>
          <a:xfrm>
            <a:off x="1337900" y="1048700"/>
            <a:ext cx="5667061" cy="3846525"/>
          </a:xfrm>
          <a:prstGeom prst="rect">
            <a:avLst/>
          </a:prstGeom>
          <a:noFill/>
          <a:ln>
            <a:noFill/>
          </a:ln>
        </p:spPr>
      </p:pic>
      <p:sp>
        <p:nvSpPr>
          <p:cNvPr id="2" name="TextBox 1">
            <a:extLst>
              <a:ext uri="{FF2B5EF4-FFF2-40B4-BE49-F238E27FC236}">
                <a16:creationId xmlns:a16="http://schemas.microsoft.com/office/drawing/2014/main" id="{45D48461-F749-A1F4-A7E9-03E030D247FD}"/>
              </a:ext>
            </a:extLst>
          </p:cNvPr>
          <p:cNvSpPr txBox="1"/>
          <p:nvPr/>
        </p:nvSpPr>
        <p:spPr>
          <a:xfrm>
            <a:off x="4261740" y="1227550"/>
            <a:ext cx="2317980"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vi-VN" sz="500" dirty="0"/>
              <a:t>Sử dụng Lambda và SDK trong quá trình xử lý của Step Functions trước đó để tạo lịch trình theo đơn vị POS Master.</a:t>
            </a:r>
            <a:endParaRPr lang="en-VN" sz="500" dirty="0"/>
          </a:p>
        </p:txBody>
      </p:sp>
      <p:sp>
        <p:nvSpPr>
          <p:cNvPr id="3" name="TextBox 2">
            <a:extLst>
              <a:ext uri="{FF2B5EF4-FFF2-40B4-BE49-F238E27FC236}">
                <a16:creationId xmlns:a16="http://schemas.microsoft.com/office/drawing/2014/main" id="{6ED37E06-5454-C8E0-2689-C3D34D3EA2D3}"/>
              </a:ext>
            </a:extLst>
          </p:cNvPr>
          <p:cNvSpPr txBox="1"/>
          <p:nvPr/>
        </p:nvSpPr>
        <p:spPr>
          <a:xfrm>
            <a:off x="4261740" y="2344356"/>
            <a:ext cx="1103216" cy="16927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Bản đồ phân tán không thay đổi</a:t>
            </a:r>
          </a:p>
        </p:txBody>
      </p:sp>
      <p:sp>
        <p:nvSpPr>
          <p:cNvPr id="4" name="TextBox 3">
            <a:extLst>
              <a:ext uri="{FF2B5EF4-FFF2-40B4-BE49-F238E27FC236}">
                <a16:creationId xmlns:a16="http://schemas.microsoft.com/office/drawing/2014/main" id="{0D251EBC-E4E0-B893-9F5E-AB965C86BBF0}"/>
              </a:ext>
            </a:extLst>
          </p:cNvPr>
          <p:cNvSpPr txBox="1"/>
          <p:nvPr/>
        </p:nvSpPr>
        <p:spPr>
          <a:xfrm>
            <a:off x="1337899" y="3971690"/>
            <a:ext cx="1852876" cy="16927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Cho phép gửi Pos master có ngày tháng trong quá khứ</a:t>
            </a:r>
          </a:p>
        </p:txBody>
      </p:sp>
      <p:sp>
        <p:nvSpPr>
          <p:cNvPr id="5" name="TextBox 4">
            <a:extLst>
              <a:ext uri="{FF2B5EF4-FFF2-40B4-BE49-F238E27FC236}">
                <a16:creationId xmlns:a16="http://schemas.microsoft.com/office/drawing/2014/main" id="{DF2F950F-72EA-2F47-8DF2-03589C7E3D4F}"/>
              </a:ext>
            </a:extLst>
          </p:cNvPr>
          <p:cNvSpPr txBox="1"/>
          <p:nvPr/>
        </p:nvSpPr>
        <p:spPr>
          <a:xfrm>
            <a:off x="3966324" y="2758358"/>
            <a:ext cx="3038637" cy="477054"/>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vi-VN" sz="500" b="1" dirty="0"/>
              <a:t>Gửi POS Master đến máy chủ/DB </a:t>
            </a:r>
            <a:r>
              <a:rPr lang="en-US" sz="500" dirty="0"/>
              <a:t>SHIDA</a:t>
            </a:r>
            <a:r>
              <a:rPr lang="ja-JP" altLang="en-US" sz="500"/>
              <a:t>電子棚札</a:t>
            </a:r>
            <a:r>
              <a:rPr lang="vi-VN" sz="500" b="1" dirty="0"/>
              <a:t>cho từng cửa hàng</a:t>
            </a:r>
            <a:r>
              <a:rPr lang="vi-VN" sz="500" dirty="0"/>
              <a:t> </a:t>
            </a:r>
          </a:p>
          <a:p>
            <a:r>
              <a:rPr lang="vi-VN" sz="500" b="1" dirty="0"/>
              <a:t>(Số lượng thực thi đồng thời mặc định của Lambda là 1.000. Tuy nhiên, có thể yêu cầu tăng giới hạn.)</a:t>
            </a:r>
          </a:p>
          <a:p>
            <a:r>
              <a:rPr lang="vi-VN" sz="500" dirty="0"/>
              <a:t> </a:t>
            </a:r>
            <a:r>
              <a:rPr lang="vi-VN" sz="500" b="1" dirty="0"/>
              <a:t>(Có giới hạn về số lượng Private Subnet (25). Tuy nhiên, Private Subnet có thể được mở rộng.)</a:t>
            </a:r>
            <a:endParaRPr lang="en-VN" sz="500" dirty="0"/>
          </a:p>
        </p:txBody>
      </p:sp>
      <p:sp>
        <p:nvSpPr>
          <p:cNvPr id="6" name="TextBox 5">
            <a:extLst>
              <a:ext uri="{FF2B5EF4-FFF2-40B4-BE49-F238E27FC236}">
                <a16:creationId xmlns:a16="http://schemas.microsoft.com/office/drawing/2014/main" id="{B797BD48-8A36-2C4D-C7CF-2D1B55B776FC}"/>
              </a:ext>
            </a:extLst>
          </p:cNvPr>
          <p:cNvSpPr txBox="1"/>
          <p:nvPr/>
        </p:nvSpPr>
        <p:spPr>
          <a:xfrm>
            <a:off x="5077325" y="3971691"/>
            <a:ext cx="502595" cy="16927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Tương lai</a:t>
            </a:r>
          </a:p>
        </p:txBody>
      </p:sp>
      <p:sp>
        <p:nvSpPr>
          <p:cNvPr id="8" name="TextBox 7">
            <a:extLst>
              <a:ext uri="{FF2B5EF4-FFF2-40B4-BE49-F238E27FC236}">
                <a16:creationId xmlns:a16="http://schemas.microsoft.com/office/drawing/2014/main" id="{A70C1BA4-CE46-A1A9-4B9B-EC71339877C0}"/>
              </a:ext>
            </a:extLst>
          </p:cNvPr>
          <p:cNvSpPr txBox="1"/>
          <p:nvPr/>
        </p:nvSpPr>
        <p:spPr>
          <a:xfrm>
            <a:off x="4010442" y="4355200"/>
            <a:ext cx="840691"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500" dirty="0"/>
              <a:t>Di </a:t>
            </a:r>
            <a:r>
              <a:rPr lang="en-US" sz="500" dirty="0" err="1"/>
              <a:t>chuyển</a:t>
            </a:r>
            <a:r>
              <a:rPr lang="en-US" sz="500" dirty="0"/>
              <a:t> POS Master </a:t>
            </a:r>
            <a:r>
              <a:rPr lang="en-US" sz="500" dirty="0" err="1"/>
              <a:t>trong</a:t>
            </a:r>
            <a:r>
              <a:rPr lang="en-US" sz="500" dirty="0"/>
              <a:t> bucket S3</a:t>
            </a:r>
            <a:endParaRPr lang="en-VN" sz="500" dirty="0"/>
          </a:p>
        </p:txBody>
      </p:sp>
      <p:sp>
        <p:nvSpPr>
          <p:cNvPr id="9" name="TextBox 8">
            <a:extLst>
              <a:ext uri="{FF2B5EF4-FFF2-40B4-BE49-F238E27FC236}">
                <a16:creationId xmlns:a16="http://schemas.microsoft.com/office/drawing/2014/main" id="{17311919-B7E6-8A1C-A305-E5659AEA7572}"/>
              </a:ext>
            </a:extLst>
          </p:cNvPr>
          <p:cNvSpPr txBox="1"/>
          <p:nvPr/>
        </p:nvSpPr>
        <p:spPr>
          <a:xfrm>
            <a:off x="5621154" y="3942208"/>
            <a:ext cx="808522" cy="24622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Máy chủ phân phối tập hợp ISHIDA</a:t>
            </a:r>
          </a:p>
        </p:txBody>
      </p:sp>
      <p:sp>
        <p:nvSpPr>
          <p:cNvPr id="10" name="TextBox 9">
            <a:extLst>
              <a:ext uri="{FF2B5EF4-FFF2-40B4-BE49-F238E27FC236}">
                <a16:creationId xmlns:a16="http://schemas.microsoft.com/office/drawing/2014/main" id="{B2D63794-7916-7DB0-7049-F2EFDEAE3409}"/>
              </a:ext>
            </a:extLst>
          </p:cNvPr>
          <p:cNvSpPr txBox="1"/>
          <p:nvPr/>
        </p:nvSpPr>
        <p:spPr>
          <a:xfrm>
            <a:off x="5369856" y="3554712"/>
            <a:ext cx="544868" cy="16927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VN" sz="500" dirty="0"/>
              <a:t>Cửa hàng A</a:t>
            </a:r>
          </a:p>
        </p:txBody>
      </p:sp>
      <p:sp>
        <p:nvSpPr>
          <p:cNvPr id="11" name="TextBox 10">
            <a:extLst>
              <a:ext uri="{FF2B5EF4-FFF2-40B4-BE49-F238E27FC236}">
                <a16:creationId xmlns:a16="http://schemas.microsoft.com/office/drawing/2014/main" id="{0B5435D4-88E9-D14A-ECEE-7D0AAD71ACD7}"/>
              </a:ext>
            </a:extLst>
          </p:cNvPr>
          <p:cNvSpPr txBox="1"/>
          <p:nvPr/>
        </p:nvSpPr>
        <p:spPr>
          <a:xfrm>
            <a:off x="6065330" y="3556704"/>
            <a:ext cx="609790" cy="16927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500" dirty="0" err="1"/>
              <a:t>Cửa</a:t>
            </a:r>
            <a:r>
              <a:rPr lang="en-US" sz="500" dirty="0"/>
              <a:t> </a:t>
            </a:r>
            <a:r>
              <a:rPr lang="en-US" sz="500" dirty="0" err="1"/>
              <a:t>hàng</a:t>
            </a:r>
            <a:r>
              <a:rPr lang="en-US" sz="500" dirty="0"/>
              <a:t> B</a:t>
            </a:r>
            <a:endParaRPr lang="en-VN" sz="500" dirty="0"/>
          </a:p>
        </p:txBody>
      </p:sp>
    </p:spTree>
    <p:extLst>
      <p:ext uri="{BB962C8B-B14F-4D97-AF65-F5344CB8AC3E}">
        <p14:creationId xmlns:p14="http://schemas.microsoft.com/office/powerpoint/2010/main" val="3518108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49"/>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ja" sz="3000" dirty="0">
                <a:highlight>
                  <a:srgbClr val="FFFFFF"/>
                </a:highlight>
              </a:rPr>
              <a:t>9.AWSサービス共通</a:t>
            </a:r>
            <a:br>
              <a:rPr lang="en-US" altLang="ja" sz="3000" dirty="0">
                <a:highlight>
                  <a:srgbClr val="FFFFFF"/>
                </a:highlight>
              </a:rPr>
            </a:br>
            <a:br>
              <a:rPr lang="en-US" altLang="ja" sz="3000" dirty="0">
                <a:highlight>
                  <a:srgbClr val="FFFFFF"/>
                </a:highlight>
              </a:rPr>
            </a:br>
            <a:r>
              <a:rPr lang="en-US" altLang="ja" sz="3000" dirty="0">
                <a:highlight>
                  <a:srgbClr val="FFFFFF"/>
                </a:highlight>
              </a:rPr>
              <a:t>AWS public service</a:t>
            </a:r>
            <a:endParaRPr sz="3000" dirty="0">
              <a:highlight>
                <a:srgbClr val="FFFFFF"/>
              </a:highlight>
            </a:endParaRPr>
          </a:p>
        </p:txBody>
      </p:sp>
      <p:pic>
        <p:nvPicPr>
          <p:cNvPr id="340" name="Google Shape;340;p49"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41" name="Google Shape;341;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62</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50"/>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9-1.S3バケット構成 </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347" name="Google Shape;347;p50"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48" name="Google Shape;348;p50"/>
          <p:cNvSpPr txBox="1">
            <a:spLocks noGrp="1"/>
          </p:cNvSpPr>
          <p:nvPr>
            <p:ph type="sldNum" idx="12"/>
          </p:nvPr>
        </p:nvSpPr>
        <p:spPr>
          <a:xfrm>
            <a:off x="8472458" y="448104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63</a:t>
            </a:fld>
            <a:endParaRPr/>
          </a:p>
        </p:txBody>
      </p:sp>
      <p:graphicFrame>
        <p:nvGraphicFramePr>
          <p:cNvPr id="349" name="Google Shape;349;p50"/>
          <p:cNvGraphicFramePr/>
          <p:nvPr/>
        </p:nvGraphicFramePr>
        <p:xfrm>
          <a:off x="547113" y="1091850"/>
          <a:ext cx="8049775" cy="3169800"/>
        </p:xfrm>
        <a:graphic>
          <a:graphicData uri="http://schemas.openxmlformats.org/drawingml/2006/table">
            <a:tbl>
              <a:tblPr>
                <a:noFill/>
                <a:tableStyleId>{87A281C8-0844-4F7E-8F5C-31C3930F0FE5}</a:tableStyleId>
              </a:tblPr>
              <a:tblGrid>
                <a:gridCol w="682025">
                  <a:extLst>
                    <a:ext uri="{9D8B030D-6E8A-4147-A177-3AD203B41FA5}">
                      <a16:colId xmlns:a16="http://schemas.microsoft.com/office/drawing/2014/main" val="20000"/>
                    </a:ext>
                  </a:extLst>
                </a:gridCol>
                <a:gridCol w="1378750">
                  <a:extLst>
                    <a:ext uri="{9D8B030D-6E8A-4147-A177-3AD203B41FA5}">
                      <a16:colId xmlns:a16="http://schemas.microsoft.com/office/drawing/2014/main" val="20001"/>
                    </a:ext>
                  </a:extLst>
                </a:gridCol>
                <a:gridCol w="1248175">
                  <a:extLst>
                    <a:ext uri="{9D8B030D-6E8A-4147-A177-3AD203B41FA5}">
                      <a16:colId xmlns:a16="http://schemas.microsoft.com/office/drawing/2014/main" val="20002"/>
                    </a:ext>
                  </a:extLst>
                </a:gridCol>
                <a:gridCol w="1836250">
                  <a:extLst>
                    <a:ext uri="{9D8B030D-6E8A-4147-A177-3AD203B41FA5}">
                      <a16:colId xmlns:a16="http://schemas.microsoft.com/office/drawing/2014/main" val="20003"/>
                    </a:ext>
                  </a:extLst>
                </a:gridCol>
                <a:gridCol w="2904575">
                  <a:extLst>
                    <a:ext uri="{9D8B030D-6E8A-4147-A177-3AD203B41FA5}">
                      <a16:colId xmlns:a16="http://schemas.microsoft.com/office/drawing/2014/main" val="20004"/>
                    </a:ext>
                  </a:extLst>
                </a:gridCol>
              </a:tblGrid>
              <a:tr h="237025">
                <a:tc>
                  <a:txBody>
                    <a:bodyPr/>
                    <a:lstStyle/>
                    <a:p>
                      <a:pPr marL="0" lvl="0" indent="0" algn="l" rtl="0">
                        <a:spcBef>
                          <a:spcPts val="0"/>
                        </a:spcBef>
                        <a:spcAft>
                          <a:spcPts val="0"/>
                        </a:spcAft>
                        <a:buNone/>
                      </a:pPr>
                      <a:r>
                        <a:rPr lang="ja" sz="1000" b="1">
                          <a:solidFill>
                            <a:schemeClr val="dk2"/>
                          </a:solidFill>
                        </a:rPr>
                        <a:t>屋号</a:t>
                      </a:r>
                      <a:endParaRPr sz="10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sz="1000" b="1">
                          <a:solidFill>
                            <a:schemeClr val="dk2"/>
                          </a:solidFill>
                        </a:rPr>
                        <a:t>連携先</a:t>
                      </a:r>
                      <a:endParaRPr sz="10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sz="1000" b="1">
                          <a:solidFill>
                            <a:schemeClr val="dk2"/>
                          </a:solidFill>
                        </a:rPr>
                        <a:t>ファイルの種類</a:t>
                      </a:r>
                      <a:endParaRPr sz="10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sz="1000" b="1">
                          <a:solidFill>
                            <a:schemeClr val="dk2"/>
                          </a:solidFill>
                        </a:rPr>
                        <a:t>バケット</a:t>
                      </a:r>
                      <a:endParaRPr sz="10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sz="1000" b="1">
                          <a:solidFill>
                            <a:schemeClr val="dk2"/>
                          </a:solidFill>
                        </a:rPr>
                        <a:t>プレフィックス</a:t>
                      </a:r>
                      <a:endParaRPr sz="1000" b="1">
                        <a:solidFill>
                          <a:schemeClr val="dk2"/>
                        </a:solidFill>
                      </a:endParaRPr>
                    </a:p>
                  </a:txBody>
                  <a:tcPr marL="91425" marR="91425" marT="91425" marB="91425">
                    <a:solidFill>
                      <a:schemeClr val="lt2"/>
                    </a:solidFill>
                  </a:tcPr>
                </a:tc>
                <a:extLst>
                  <a:ext uri="{0D108BD9-81ED-4DB2-BD59-A6C34878D82A}">
                    <a16:rowId xmlns:a16="http://schemas.microsoft.com/office/drawing/2014/main" val="10000"/>
                  </a:ext>
                </a:extLst>
              </a:tr>
              <a:tr h="381000">
                <a:tc rowSpan="3">
                  <a:txBody>
                    <a:bodyPr/>
                    <a:lstStyle/>
                    <a:p>
                      <a:pPr marL="0" lvl="0" indent="0" algn="l" rtl="0">
                        <a:spcBef>
                          <a:spcPts val="0"/>
                        </a:spcBef>
                        <a:spcAft>
                          <a:spcPts val="0"/>
                        </a:spcAft>
                        <a:buNone/>
                      </a:pPr>
                      <a:r>
                        <a:rPr lang="ja" sz="1000"/>
                        <a:t>カスミ</a:t>
                      </a:r>
                      <a:endParaRPr sz="1000"/>
                    </a:p>
                  </a:txBody>
                  <a:tcPr marL="91425" marR="91425" marT="91425" marB="91425">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r>
                        <a:rPr lang="ja" sz="1000" dirty="0"/>
                        <a:t>OC</a:t>
                      </a:r>
                      <a:endParaRPr sz="1000" dirty="0"/>
                    </a:p>
                  </a:txBody>
                  <a:tcPr marL="91425" marR="91425" marT="91425" marB="91425"/>
                </a:tc>
                <a:tc rowSpan="2">
                  <a:txBody>
                    <a:bodyPr/>
                    <a:lstStyle/>
                    <a:p>
                      <a:pPr marL="0" lvl="0" indent="0" algn="l" rtl="0">
                        <a:spcBef>
                          <a:spcPts val="0"/>
                        </a:spcBef>
                        <a:spcAft>
                          <a:spcPts val="0"/>
                        </a:spcAft>
                        <a:buNone/>
                      </a:pPr>
                      <a:r>
                        <a:rPr lang="ja" sz="1000"/>
                        <a:t>外部連携マスタ</a:t>
                      </a:r>
                      <a:endParaRPr sz="1000"/>
                    </a:p>
                  </a:txBody>
                  <a:tcPr marL="91425" marR="91425" marT="91425" marB="91425"/>
                </a:tc>
                <a:tc rowSpan="3">
                  <a:txBody>
                    <a:bodyPr/>
                    <a:lstStyle/>
                    <a:p>
                      <a:pPr marL="0" lvl="0" indent="0" algn="l" rtl="0">
                        <a:spcBef>
                          <a:spcPts val="0"/>
                        </a:spcBef>
                        <a:spcAft>
                          <a:spcPts val="0"/>
                        </a:spcAft>
                        <a:buNone/>
                      </a:pPr>
                      <a:r>
                        <a:rPr lang="ja" sz="1000">
                          <a:solidFill>
                            <a:schemeClr val="dk1"/>
                          </a:solidFill>
                        </a:rPr>
                        <a:t>/prd-ignica-ksm（本番）</a:t>
                      </a:r>
                      <a:endParaRPr sz="1000">
                        <a:solidFill>
                          <a:schemeClr val="dk1"/>
                        </a:solidFill>
                      </a:endParaRPr>
                    </a:p>
                    <a:p>
                      <a:pPr marL="0" lvl="0" indent="0" algn="l" rtl="0">
                        <a:spcBef>
                          <a:spcPts val="0"/>
                        </a:spcBef>
                        <a:spcAft>
                          <a:spcPts val="0"/>
                        </a:spcAft>
                        <a:buNone/>
                      </a:pPr>
                      <a:r>
                        <a:rPr lang="ja" sz="1000">
                          <a:solidFill>
                            <a:schemeClr val="dk1"/>
                          </a:solidFill>
                        </a:rPr>
                        <a:t>/stg-ignica-ksm（STG）</a:t>
                      </a:r>
                      <a:endParaRPr sz="1000">
                        <a:solidFill>
                          <a:schemeClr val="dk1"/>
                        </a:solidFill>
                      </a:endParaRPr>
                    </a:p>
                    <a:p>
                      <a:pPr marL="0" lvl="0" indent="0" algn="l" rtl="0">
                        <a:spcBef>
                          <a:spcPts val="0"/>
                        </a:spcBef>
                        <a:spcAft>
                          <a:spcPts val="0"/>
                        </a:spcAft>
                        <a:buNone/>
                      </a:pPr>
                      <a:r>
                        <a:rPr lang="ja" sz="1000">
                          <a:solidFill>
                            <a:schemeClr val="dk1"/>
                          </a:solidFill>
                        </a:rPr>
                        <a:t>/spk-ignica-ksm（スパイク）</a:t>
                      </a:r>
                      <a:endParaRPr sz="1000">
                        <a:solidFill>
                          <a:schemeClr val="dk1"/>
                        </a:solidFill>
                      </a:endParaRPr>
                    </a:p>
                  </a:txBody>
                  <a:tcPr marL="91425" marR="91425" marT="91425" marB="91425">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r>
                        <a:rPr lang="ja" sz="1000">
                          <a:solidFill>
                            <a:schemeClr val="dk1"/>
                          </a:solidFill>
                        </a:rPr>
                        <a:t>/pos-original/oc</a:t>
                      </a:r>
                      <a:endParaRPr sz="1000">
                        <a:solidFill>
                          <a:schemeClr val="dk1"/>
                        </a:solidFill>
                      </a:endParaRPr>
                    </a:p>
                    <a:p>
                      <a:pPr marL="457200" lvl="0" indent="0" algn="l" rtl="0">
                        <a:spcBef>
                          <a:spcPts val="0"/>
                        </a:spcBef>
                        <a:spcAft>
                          <a:spcPts val="0"/>
                        </a:spcAft>
                        <a:buNone/>
                      </a:pPr>
                      <a:r>
                        <a:rPr lang="ja" sz="1000">
                          <a:solidFill>
                            <a:schemeClr val="accent5"/>
                          </a:solidFill>
                        </a:rPr>
                        <a:t>/receive</a:t>
                      </a:r>
                      <a:r>
                        <a:rPr lang="ja" sz="1000">
                          <a:solidFill>
                            <a:schemeClr val="dk1"/>
                          </a:solidFill>
                        </a:rPr>
                        <a:t> ←ENDも含む</a:t>
                      </a:r>
                      <a:endParaRPr sz="1000">
                        <a:solidFill>
                          <a:schemeClr val="dk1"/>
                        </a:solidFill>
                      </a:endParaRPr>
                    </a:p>
                    <a:p>
                      <a:pPr marL="457200" lvl="0" indent="0" algn="l" rtl="0">
                        <a:spcBef>
                          <a:spcPts val="0"/>
                        </a:spcBef>
                        <a:spcAft>
                          <a:spcPts val="0"/>
                        </a:spcAft>
                        <a:buNone/>
                      </a:pPr>
                      <a:r>
                        <a:rPr lang="ja" sz="1000">
                          <a:solidFill>
                            <a:srgbClr val="9900FF"/>
                          </a:solidFill>
                        </a:rPr>
                        <a:t>/csv/{店舗コード}</a:t>
                      </a:r>
                      <a:endParaRPr sz="1000">
                        <a:solidFill>
                          <a:srgbClr val="9900FF"/>
                        </a:solidFill>
                      </a:endParaRPr>
                    </a:p>
                    <a:p>
                      <a:pPr marL="457200" lvl="0" indent="0" algn="l" rtl="0">
                        <a:spcBef>
                          <a:spcPts val="0"/>
                        </a:spcBef>
                        <a:spcAft>
                          <a:spcPts val="0"/>
                        </a:spcAft>
                        <a:buNone/>
                      </a:pPr>
                      <a:r>
                        <a:rPr lang="ja" sz="1000">
                          <a:solidFill>
                            <a:schemeClr val="accent1"/>
                          </a:solidFill>
                        </a:rPr>
                        <a:t>/backup/{店舗コード}</a:t>
                      </a:r>
                      <a:r>
                        <a:rPr lang="ja" sz="1000">
                          <a:solidFill>
                            <a:schemeClr val="dk1"/>
                          </a:solidFill>
                        </a:rPr>
                        <a:t>　←処理後に/csvからの移動 </a:t>
                      </a:r>
                      <a:endParaRPr sz="1000">
                        <a:solidFill>
                          <a:schemeClr val="dk1"/>
                        </a:solidFill>
                      </a:endParaRPr>
                    </a:p>
                    <a:p>
                      <a:pPr marL="457200" lvl="0" indent="0" algn="l" rtl="0">
                        <a:spcBef>
                          <a:spcPts val="0"/>
                        </a:spcBef>
                        <a:spcAft>
                          <a:spcPts val="0"/>
                        </a:spcAft>
                        <a:buClr>
                          <a:schemeClr val="dk1"/>
                        </a:buClr>
                        <a:buSzPts val="1100"/>
                        <a:buFont typeface="Arial"/>
                        <a:buNone/>
                      </a:pPr>
                      <a:r>
                        <a:rPr lang="ja" sz="1000">
                          <a:solidFill>
                            <a:schemeClr val="accent4"/>
                          </a:solidFill>
                        </a:rPr>
                        <a:t>/log</a:t>
                      </a:r>
                      <a:r>
                        <a:rPr lang="ja" sz="1000">
                          <a:solidFill>
                            <a:schemeClr val="dk1"/>
                          </a:solidFill>
                        </a:rPr>
                        <a:t>　←アプリが出力</a:t>
                      </a:r>
                      <a:endParaRPr sz="1000">
                        <a:solidFill>
                          <a:schemeClr val="dk1"/>
                        </a:solidFill>
                      </a:endParaRPr>
                    </a:p>
                  </a:txBody>
                  <a:tcPr marL="91425" marR="91425" marT="91425" marB="91425"/>
                </a:tc>
                <a:extLst>
                  <a:ext uri="{0D108BD9-81ED-4DB2-BD59-A6C34878D82A}">
                    <a16:rowId xmlns:a16="http://schemas.microsoft.com/office/drawing/2014/main" val="10001"/>
                  </a:ext>
                </a:extLst>
              </a:tr>
              <a:tr h="0">
                <a:tc vMerge="1">
                  <a:txBody>
                    <a:bodyPr/>
                    <a:lstStyle/>
                    <a:p>
                      <a:endParaRPr lang="en-US"/>
                    </a:p>
                  </a:txBody>
                  <a:tcPr/>
                </a:tc>
                <a:tc>
                  <a:txBody>
                    <a:bodyPr/>
                    <a:lstStyle/>
                    <a:p>
                      <a:pPr marL="0" lvl="0" indent="0" algn="l" rtl="0">
                        <a:spcBef>
                          <a:spcPts val="0"/>
                        </a:spcBef>
                        <a:spcAft>
                          <a:spcPts val="0"/>
                        </a:spcAft>
                        <a:buNone/>
                      </a:pPr>
                      <a:r>
                        <a:rPr lang="ja" sz="1000"/>
                        <a:t>Scan&amp;Go I/F</a:t>
                      </a:r>
                      <a:endParaRPr sz="1000"/>
                    </a:p>
                    <a:p>
                      <a:pPr marL="0" lvl="0" indent="0" algn="l" rtl="0">
                        <a:spcBef>
                          <a:spcPts val="0"/>
                        </a:spcBef>
                        <a:spcAft>
                          <a:spcPts val="0"/>
                        </a:spcAft>
                        <a:buNone/>
                      </a:pPr>
                      <a:r>
                        <a:rPr lang="ja" sz="1000"/>
                        <a:t>中継サーバ</a:t>
                      </a:r>
                      <a:endParaRPr sz="1000"/>
                    </a:p>
                  </a:txBody>
                  <a:tcPr marL="91425" marR="91425" marT="91425" marB="91425"/>
                </a:tc>
                <a:tc vMerge="1">
                  <a:txBody>
                    <a:bodyPr/>
                    <a:lstStyle/>
                    <a:p>
                      <a:endParaRPr lang="en-US"/>
                    </a:p>
                  </a:txBody>
                  <a:tcPr/>
                </a:tc>
                <a:tc vMerge="1">
                  <a:txBody>
                    <a:bodyPr/>
                    <a:lstStyle/>
                    <a:p>
                      <a:endParaRPr lang="en-US"/>
                    </a:p>
                  </a:txBody>
                  <a:tcPr/>
                </a:tc>
                <a:tc>
                  <a:txBody>
                    <a:bodyPr/>
                    <a:lstStyle/>
                    <a:p>
                      <a:pPr marL="0" lvl="0" indent="0" algn="l" rtl="0">
                        <a:spcBef>
                          <a:spcPts val="0"/>
                        </a:spcBef>
                        <a:spcAft>
                          <a:spcPts val="0"/>
                        </a:spcAft>
                        <a:buClr>
                          <a:schemeClr val="dk1"/>
                        </a:buClr>
                        <a:buSzPts val="1100"/>
                        <a:buFont typeface="Arial"/>
                        <a:buNone/>
                      </a:pPr>
                      <a:r>
                        <a:rPr lang="ja" sz="1000">
                          <a:solidFill>
                            <a:schemeClr val="dk1"/>
                          </a:solidFill>
                        </a:rPr>
                        <a:t>/pos-original/sg</a:t>
                      </a:r>
                      <a:endParaRPr sz="1000">
                        <a:solidFill>
                          <a:schemeClr val="dk1"/>
                        </a:solidFill>
                      </a:endParaRPr>
                    </a:p>
                    <a:p>
                      <a:pPr marL="457200" lvl="0" indent="0" algn="l" rtl="0">
                        <a:spcBef>
                          <a:spcPts val="0"/>
                        </a:spcBef>
                        <a:spcAft>
                          <a:spcPts val="0"/>
                        </a:spcAft>
                        <a:buClr>
                          <a:schemeClr val="dk1"/>
                        </a:buClr>
                        <a:buSzPts val="1100"/>
                        <a:buFont typeface="Arial"/>
                        <a:buNone/>
                      </a:pPr>
                      <a:r>
                        <a:rPr lang="ja" sz="1000">
                          <a:solidFill>
                            <a:schemeClr val="accent5"/>
                          </a:solidFill>
                        </a:rPr>
                        <a:t>/receive</a:t>
                      </a:r>
                      <a:r>
                        <a:rPr lang="ja" sz="1000">
                          <a:solidFill>
                            <a:schemeClr val="dk1"/>
                          </a:solidFill>
                        </a:rPr>
                        <a:t>　←ENDも含む</a:t>
                      </a:r>
                      <a:endParaRPr sz="1000">
                        <a:solidFill>
                          <a:schemeClr val="dk1"/>
                        </a:solidFill>
                      </a:endParaRPr>
                    </a:p>
                    <a:p>
                      <a:pPr marL="457200" lvl="0" indent="0" algn="l" rtl="0">
                        <a:spcBef>
                          <a:spcPts val="0"/>
                        </a:spcBef>
                        <a:spcAft>
                          <a:spcPts val="0"/>
                        </a:spcAft>
                        <a:buClr>
                          <a:schemeClr val="dk1"/>
                        </a:buClr>
                        <a:buSzPts val="1100"/>
                        <a:buFont typeface="Arial"/>
                        <a:buNone/>
                      </a:pPr>
                      <a:r>
                        <a:rPr lang="ja" sz="1000">
                          <a:solidFill>
                            <a:srgbClr val="FF00FF"/>
                          </a:solidFill>
                        </a:rPr>
                        <a:t>/csv/{店舗コード}</a:t>
                      </a:r>
                      <a:endParaRPr sz="1000">
                        <a:solidFill>
                          <a:srgbClr val="FF00FF"/>
                        </a:solidFill>
                      </a:endParaRPr>
                    </a:p>
                    <a:p>
                      <a:pPr marL="457200" lvl="0" indent="0" algn="l" rtl="0">
                        <a:spcBef>
                          <a:spcPts val="0"/>
                        </a:spcBef>
                        <a:spcAft>
                          <a:spcPts val="0"/>
                        </a:spcAft>
                        <a:buClr>
                          <a:schemeClr val="dk1"/>
                        </a:buClr>
                        <a:buSzPts val="1100"/>
                        <a:buFont typeface="Arial"/>
                        <a:buNone/>
                      </a:pPr>
                      <a:r>
                        <a:rPr lang="ja" sz="1000">
                          <a:solidFill>
                            <a:schemeClr val="accent1"/>
                          </a:solidFill>
                        </a:rPr>
                        <a:t>/backup/{店舗コード}</a:t>
                      </a:r>
                      <a:endParaRPr sz="1000">
                        <a:solidFill>
                          <a:schemeClr val="accent1"/>
                        </a:solidFill>
                      </a:endParaRPr>
                    </a:p>
                    <a:p>
                      <a:pPr marL="457200" lvl="0" indent="0" algn="l" rtl="0">
                        <a:spcBef>
                          <a:spcPts val="0"/>
                        </a:spcBef>
                        <a:spcAft>
                          <a:spcPts val="0"/>
                        </a:spcAft>
                        <a:buClr>
                          <a:schemeClr val="dk1"/>
                        </a:buClr>
                        <a:buSzPts val="1100"/>
                        <a:buFont typeface="Arial"/>
                        <a:buNone/>
                      </a:pPr>
                      <a:r>
                        <a:rPr lang="ja" sz="1000">
                          <a:solidFill>
                            <a:schemeClr val="accent4"/>
                          </a:solidFill>
                        </a:rPr>
                        <a:t>/log</a:t>
                      </a:r>
                      <a:endParaRPr sz="1000">
                        <a:solidFill>
                          <a:schemeClr val="accent4"/>
                        </a:solidFill>
                      </a:endParaRPr>
                    </a:p>
                  </a:txBody>
                  <a:tcPr marL="91425" marR="91425" marT="91425" marB="91425"/>
                </a:tc>
                <a:extLst>
                  <a:ext uri="{0D108BD9-81ED-4DB2-BD59-A6C34878D82A}">
                    <a16:rowId xmlns:a16="http://schemas.microsoft.com/office/drawing/2014/main" val="10002"/>
                  </a:ext>
                </a:extLst>
              </a:tr>
              <a:tr h="0">
                <a:tc vMerge="1">
                  <a:txBody>
                    <a:bodyPr/>
                    <a:lstStyle/>
                    <a:p>
                      <a:endParaRPr lang="en-US"/>
                    </a:p>
                  </a:txBody>
                  <a:tcPr/>
                </a:tc>
                <a:tc>
                  <a:txBody>
                    <a:bodyPr/>
                    <a:lstStyle/>
                    <a:p>
                      <a:pPr marL="0" lvl="0" indent="0" algn="l" rtl="0">
                        <a:spcBef>
                          <a:spcPts val="0"/>
                        </a:spcBef>
                        <a:spcAft>
                          <a:spcPts val="0"/>
                        </a:spcAft>
                        <a:buNone/>
                      </a:pPr>
                      <a:r>
                        <a:rPr lang="ja" sz="1000"/>
                        <a:t>ISHIDA電子棚札</a:t>
                      </a:r>
                      <a:endParaRPr sz="1000"/>
                    </a:p>
                  </a:txBody>
                  <a:tcPr marL="91425" marR="91425" marT="91425" marB="91425">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r>
                        <a:rPr lang="ja" sz="1000"/>
                        <a:t>POSマスタ</a:t>
                      </a:r>
                      <a:endParaRPr sz="1000"/>
                    </a:p>
                  </a:txBody>
                  <a:tcPr marL="91425" marR="91425" marT="91425" marB="91425">
                    <a:lnB w="9525" cap="flat" cmpd="sng">
                      <a:solidFill>
                        <a:srgbClr val="666666"/>
                      </a:solidFill>
                      <a:prstDash val="solid"/>
                      <a:round/>
                      <a:headEnd type="none" w="sm" len="sm"/>
                      <a:tailEnd type="none" w="sm" len="sm"/>
                    </a:lnB>
                  </a:tcPr>
                </a:tc>
                <a:tc vMerge="1">
                  <a:txBody>
                    <a:bodyPr/>
                    <a:lstStyle/>
                    <a:p>
                      <a:endParaRPr lang="en-US"/>
                    </a:p>
                  </a:txBody>
                  <a:tcPr/>
                </a:tc>
                <a:tc>
                  <a:txBody>
                    <a:bodyPr/>
                    <a:lstStyle/>
                    <a:p>
                      <a:pPr marL="0" lvl="0" indent="0" algn="l" rtl="0">
                        <a:spcBef>
                          <a:spcPts val="0"/>
                        </a:spcBef>
                        <a:spcAft>
                          <a:spcPts val="0"/>
                        </a:spcAft>
                        <a:buNone/>
                      </a:pPr>
                      <a:r>
                        <a:rPr lang="ja" sz="1000" dirty="0">
                          <a:solidFill>
                            <a:schemeClr val="dk1"/>
                          </a:solidFill>
                        </a:rPr>
                        <a:t>/pos-master/ishida</a:t>
                      </a:r>
                      <a:endParaRPr sz="1000" dirty="0">
                        <a:solidFill>
                          <a:schemeClr val="dk1"/>
                        </a:solidFill>
                      </a:endParaRPr>
                    </a:p>
                    <a:p>
                      <a:pPr marL="457200" lvl="0" indent="0" algn="l" rtl="0">
                        <a:spcBef>
                          <a:spcPts val="0"/>
                        </a:spcBef>
                        <a:spcAft>
                          <a:spcPts val="0"/>
                        </a:spcAft>
                        <a:buNone/>
                      </a:pPr>
                      <a:r>
                        <a:rPr lang="ja" sz="1000" dirty="0">
                          <a:solidFill>
                            <a:srgbClr val="FF00FF"/>
                          </a:solidFill>
                        </a:rPr>
                        <a:t>/csv/{店舗コード}</a:t>
                      </a:r>
                      <a:endParaRPr sz="1000" dirty="0">
                        <a:solidFill>
                          <a:srgbClr val="FF00FF"/>
                        </a:solidFill>
                      </a:endParaRPr>
                    </a:p>
                    <a:p>
                      <a:pPr marL="457200" lvl="0" indent="0" algn="l" rtl="0">
                        <a:spcBef>
                          <a:spcPts val="0"/>
                        </a:spcBef>
                        <a:spcAft>
                          <a:spcPts val="0"/>
                        </a:spcAft>
                        <a:buClr>
                          <a:schemeClr val="dk1"/>
                        </a:buClr>
                        <a:buSzPts val="1100"/>
                        <a:buFont typeface="Arial"/>
                        <a:buNone/>
                      </a:pPr>
                      <a:r>
                        <a:rPr lang="ja" sz="1000" dirty="0">
                          <a:solidFill>
                            <a:schemeClr val="accent1"/>
                          </a:solidFill>
                        </a:rPr>
                        <a:t>/backup/{店舗コード}</a:t>
                      </a:r>
                      <a:endParaRPr sz="1000" dirty="0">
                        <a:solidFill>
                          <a:schemeClr val="accent1"/>
                        </a:solidFill>
                      </a:endParaRPr>
                    </a:p>
                    <a:p>
                      <a:pPr marL="457200" lvl="0" indent="0" algn="l" rtl="0">
                        <a:spcBef>
                          <a:spcPts val="0"/>
                        </a:spcBef>
                        <a:spcAft>
                          <a:spcPts val="0"/>
                        </a:spcAft>
                        <a:buNone/>
                      </a:pPr>
                      <a:r>
                        <a:rPr lang="ja" sz="1000" dirty="0">
                          <a:solidFill>
                            <a:schemeClr val="accent4"/>
                          </a:solidFill>
                        </a:rPr>
                        <a:t>/log</a:t>
                      </a:r>
                      <a:endParaRPr sz="1000" dirty="0">
                        <a:solidFill>
                          <a:schemeClr val="accent4"/>
                        </a:solidFill>
                      </a:endParaRPr>
                    </a:p>
                  </a:txBody>
                  <a:tcPr marL="91425" marR="91425" marT="91425" marB="91425">
                    <a:lnB w="9525" cap="flat" cmpd="sng">
                      <a:solidFill>
                        <a:srgbClr val="666666"/>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345">
          <a:extLst>
            <a:ext uri="{FF2B5EF4-FFF2-40B4-BE49-F238E27FC236}">
              <a16:creationId xmlns:a16="http://schemas.microsoft.com/office/drawing/2014/main" id="{1499D3F5-0D9C-75B3-E5EC-407F9CEE4739}"/>
            </a:ext>
          </a:extLst>
        </p:cNvPr>
        <p:cNvGrpSpPr/>
        <p:nvPr/>
      </p:nvGrpSpPr>
      <p:grpSpPr>
        <a:xfrm>
          <a:off x="0" y="0"/>
          <a:ext cx="0" cy="0"/>
          <a:chOff x="0" y="0"/>
          <a:chExt cx="0" cy="0"/>
        </a:xfrm>
      </p:grpSpPr>
      <p:sp>
        <p:nvSpPr>
          <p:cNvPr id="346" name="Google Shape;346;p50">
            <a:extLst>
              <a:ext uri="{FF2B5EF4-FFF2-40B4-BE49-F238E27FC236}">
                <a16:creationId xmlns:a16="http://schemas.microsoft.com/office/drawing/2014/main" id="{4B0578FE-BF78-8836-7AB2-53A191E058C2}"/>
              </a:ext>
            </a:extLst>
          </p:cNvPr>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lvl="0"/>
            <a:r>
              <a:rPr lang="ja" dirty="0">
                <a:highlight>
                  <a:srgbClr val="D9D9D9"/>
                </a:highlight>
              </a:rPr>
              <a:t>9-1.S3バケット構成 </a:t>
            </a:r>
            <a:r>
              <a:rPr lang="en-US" altLang="ja" dirty="0">
                <a:highlight>
                  <a:srgbClr val="D9D9D9"/>
                </a:highlight>
              </a:rPr>
              <a:t>/</a:t>
            </a:r>
            <a:r>
              <a:rPr lang="en-US" dirty="0">
                <a:highlight>
                  <a:srgbClr val="D9D9D9"/>
                </a:highlight>
              </a:rPr>
              <a:t> </a:t>
            </a:r>
            <a:r>
              <a:rPr lang="en-US" dirty="0" err="1">
                <a:highlight>
                  <a:srgbClr val="D9D9D9"/>
                </a:highlight>
              </a:rPr>
              <a:t>Cấu</a:t>
            </a:r>
            <a:r>
              <a:rPr lang="en-US" dirty="0">
                <a:highlight>
                  <a:srgbClr val="D9D9D9"/>
                </a:highlight>
              </a:rPr>
              <a:t> </a:t>
            </a:r>
            <a:r>
              <a:rPr lang="en-US" dirty="0" err="1">
                <a:highlight>
                  <a:srgbClr val="D9D9D9"/>
                </a:highlight>
              </a:rPr>
              <a:t>trúc</a:t>
            </a:r>
            <a:r>
              <a:rPr lang="en-US" dirty="0">
                <a:highlight>
                  <a:srgbClr val="D9D9D9"/>
                </a:highlight>
              </a:rPr>
              <a:t> bucket S3</a:t>
            </a:r>
            <a:endParaRPr dirty="0">
              <a:highlight>
                <a:srgbClr val="D9D9D9"/>
              </a:highlight>
            </a:endParaRPr>
          </a:p>
          <a:p>
            <a:pPr marL="0" lvl="0" indent="0" algn="l" rtl="0">
              <a:spcBef>
                <a:spcPts val="0"/>
              </a:spcBef>
              <a:spcAft>
                <a:spcPts val="0"/>
              </a:spcAft>
              <a:buNone/>
            </a:pPr>
            <a:endParaRPr dirty="0">
              <a:highlight>
                <a:srgbClr val="D9D9D9"/>
              </a:highlight>
            </a:endParaRPr>
          </a:p>
        </p:txBody>
      </p:sp>
      <p:pic>
        <p:nvPicPr>
          <p:cNvPr id="347" name="Google Shape;347;p50" title="logo-luvina-2022-2.png">
            <a:extLst>
              <a:ext uri="{FF2B5EF4-FFF2-40B4-BE49-F238E27FC236}">
                <a16:creationId xmlns:a16="http://schemas.microsoft.com/office/drawing/2014/main" id="{D4DBE065-5CFF-558A-AB3F-F1AACF90CBEE}"/>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48" name="Google Shape;348;p50">
            <a:extLst>
              <a:ext uri="{FF2B5EF4-FFF2-40B4-BE49-F238E27FC236}">
                <a16:creationId xmlns:a16="http://schemas.microsoft.com/office/drawing/2014/main" id="{D9DF86A6-5FAA-C453-C0DD-60BAD9B74785}"/>
              </a:ext>
            </a:extLst>
          </p:cNvPr>
          <p:cNvSpPr txBox="1">
            <a:spLocks noGrp="1"/>
          </p:cNvSpPr>
          <p:nvPr>
            <p:ph type="sldNum" idx="12"/>
          </p:nvPr>
        </p:nvSpPr>
        <p:spPr>
          <a:xfrm>
            <a:off x="8472458" y="448104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64</a:t>
            </a:fld>
            <a:endParaRPr/>
          </a:p>
        </p:txBody>
      </p:sp>
      <p:graphicFrame>
        <p:nvGraphicFramePr>
          <p:cNvPr id="349" name="Google Shape;349;p50">
            <a:extLst>
              <a:ext uri="{FF2B5EF4-FFF2-40B4-BE49-F238E27FC236}">
                <a16:creationId xmlns:a16="http://schemas.microsoft.com/office/drawing/2014/main" id="{A9DFFE8F-FAB4-7464-5C85-B820FB000498}"/>
              </a:ext>
            </a:extLst>
          </p:cNvPr>
          <p:cNvGraphicFramePr/>
          <p:nvPr>
            <p:extLst>
              <p:ext uri="{D42A27DB-BD31-4B8C-83A1-F6EECF244321}">
                <p14:modId xmlns:p14="http://schemas.microsoft.com/office/powerpoint/2010/main" val="1453104194"/>
              </p:ext>
            </p:extLst>
          </p:nvPr>
        </p:nvGraphicFramePr>
        <p:xfrm>
          <a:off x="547113" y="1091850"/>
          <a:ext cx="8049775" cy="3322200"/>
        </p:xfrm>
        <a:graphic>
          <a:graphicData uri="http://schemas.openxmlformats.org/drawingml/2006/table">
            <a:tbl>
              <a:tblPr>
                <a:noFill/>
                <a:tableStyleId>{87A281C8-0844-4F7E-8F5C-31C3930F0FE5}</a:tableStyleId>
              </a:tblPr>
              <a:tblGrid>
                <a:gridCol w="682025">
                  <a:extLst>
                    <a:ext uri="{9D8B030D-6E8A-4147-A177-3AD203B41FA5}">
                      <a16:colId xmlns:a16="http://schemas.microsoft.com/office/drawing/2014/main" val="20000"/>
                    </a:ext>
                  </a:extLst>
                </a:gridCol>
                <a:gridCol w="1378750">
                  <a:extLst>
                    <a:ext uri="{9D8B030D-6E8A-4147-A177-3AD203B41FA5}">
                      <a16:colId xmlns:a16="http://schemas.microsoft.com/office/drawing/2014/main" val="20001"/>
                    </a:ext>
                  </a:extLst>
                </a:gridCol>
                <a:gridCol w="1248175">
                  <a:extLst>
                    <a:ext uri="{9D8B030D-6E8A-4147-A177-3AD203B41FA5}">
                      <a16:colId xmlns:a16="http://schemas.microsoft.com/office/drawing/2014/main" val="20002"/>
                    </a:ext>
                  </a:extLst>
                </a:gridCol>
                <a:gridCol w="1836250">
                  <a:extLst>
                    <a:ext uri="{9D8B030D-6E8A-4147-A177-3AD203B41FA5}">
                      <a16:colId xmlns:a16="http://schemas.microsoft.com/office/drawing/2014/main" val="20003"/>
                    </a:ext>
                  </a:extLst>
                </a:gridCol>
                <a:gridCol w="2904575">
                  <a:extLst>
                    <a:ext uri="{9D8B030D-6E8A-4147-A177-3AD203B41FA5}">
                      <a16:colId xmlns:a16="http://schemas.microsoft.com/office/drawing/2014/main" val="20004"/>
                    </a:ext>
                  </a:extLst>
                </a:gridCol>
              </a:tblGrid>
              <a:tr h="237025">
                <a:tc>
                  <a:txBody>
                    <a:bodyPr/>
                    <a:lstStyle/>
                    <a:p>
                      <a:pPr marL="0" lvl="0" indent="0" algn="l" rtl="0">
                        <a:spcBef>
                          <a:spcPts val="0"/>
                        </a:spcBef>
                        <a:spcAft>
                          <a:spcPts val="0"/>
                        </a:spcAft>
                        <a:buNone/>
                      </a:pPr>
                      <a:r>
                        <a:rPr lang="en-US" sz="1000" b="1" dirty="0">
                          <a:solidFill>
                            <a:schemeClr val="dk2"/>
                          </a:solidFill>
                        </a:rPr>
                        <a:t>Công ty</a:t>
                      </a:r>
                      <a:endParaRPr sz="1000" b="1" dirty="0">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vi-VN" sz="1000" dirty="0"/>
                        <a:t>Đối tượng liên kết </a:t>
                      </a:r>
                      <a:endParaRPr sz="1000" b="1" dirty="0">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en-US" sz="1000" dirty="0" err="1"/>
                        <a:t>Loại</a:t>
                      </a:r>
                      <a:r>
                        <a:rPr lang="en-US" sz="1000" dirty="0"/>
                        <a:t> </a:t>
                      </a:r>
                      <a:r>
                        <a:rPr lang="en-US" sz="1000" dirty="0" err="1"/>
                        <a:t>tệp</a:t>
                      </a:r>
                      <a:r>
                        <a:rPr lang="en-US" sz="1000" dirty="0"/>
                        <a:t> (file)</a:t>
                      </a:r>
                      <a:endParaRPr sz="1000" b="1" dirty="0">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en-US" sz="1000" dirty="0"/>
                        <a:t>Bucket </a:t>
                      </a:r>
                      <a:endParaRPr sz="1000" b="1" dirty="0">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en-US" sz="1000" dirty="0" err="1"/>
                        <a:t>Tiền</a:t>
                      </a:r>
                      <a:r>
                        <a:rPr lang="en-US" sz="1000" dirty="0"/>
                        <a:t> </a:t>
                      </a:r>
                      <a:r>
                        <a:rPr lang="en-US" sz="1000" dirty="0" err="1"/>
                        <a:t>tố</a:t>
                      </a:r>
                      <a:r>
                        <a:rPr lang="en-US" sz="1000" dirty="0"/>
                        <a:t> (Prefix)</a:t>
                      </a:r>
                      <a:endParaRPr sz="1000" b="1" dirty="0">
                        <a:solidFill>
                          <a:schemeClr val="dk2"/>
                        </a:solidFill>
                      </a:endParaRPr>
                    </a:p>
                  </a:txBody>
                  <a:tcPr marL="91425" marR="91425" marT="91425" marB="91425">
                    <a:solidFill>
                      <a:schemeClr val="lt2"/>
                    </a:solidFill>
                  </a:tcPr>
                </a:tc>
                <a:extLst>
                  <a:ext uri="{0D108BD9-81ED-4DB2-BD59-A6C34878D82A}">
                    <a16:rowId xmlns:a16="http://schemas.microsoft.com/office/drawing/2014/main" val="10000"/>
                  </a:ext>
                </a:extLst>
              </a:tr>
              <a:tr h="381000">
                <a:tc rowSpan="3">
                  <a:txBody>
                    <a:bodyPr/>
                    <a:lstStyle/>
                    <a:p>
                      <a:pPr marL="0" lvl="0" indent="0" algn="l" rtl="0">
                        <a:spcBef>
                          <a:spcPts val="0"/>
                        </a:spcBef>
                        <a:spcAft>
                          <a:spcPts val="0"/>
                        </a:spcAft>
                        <a:buNone/>
                      </a:pPr>
                      <a:r>
                        <a:rPr lang="en-US" sz="1000" dirty="0"/>
                        <a:t>Kasumi</a:t>
                      </a:r>
                      <a:endParaRPr sz="1000" dirty="0"/>
                    </a:p>
                  </a:txBody>
                  <a:tcPr marL="91425" marR="91425" marT="91425" marB="91425">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r>
                        <a:rPr lang="ja" sz="1000" dirty="0"/>
                        <a:t>OC</a:t>
                      </a:r>
                      <a:endParaRPr sz="1000" dirty="0"/>
                    </a:p>
                  </a:txBody>
                  <a:tcPr marL="91425" marR="91425" marT="91425" marB="91425"/>
                </a:tc>
                <a:tc rowSpan="2">
                  <a:txBody>
                    <a:bodyPr/>
                    <a:lstStyle/>
                    <a:p>
                      <a:pPr marL="0" lvl="0" indent="0" algn="l" rtl="0">
                        <a:spcBef>
                          <a:spcPts val="0"/>
                        </a:spcBef>
                        <a:spcAft>
                          <a:spcPts val="0"/>
                        </a:spcAft>
                        <a:buNone/>
                      </a:pPr>
                      <a:r>
                        <a:rPr lang="en-US" altLang="ja" sz="1000" dirty="0"/>
                        <a:t>Liên </a:t>
                      </a:r>
                      <a:r>
                        <a:rPr lang="en-US" altLang="ja" sz="1000" dirty="0" err="1"/>
                        <a:t>kết</a:t>
                      </a:r>
                      <a:r>
                        <a:rPr lang="en-US" altLang="ja" sz="1000" dirty="0"/>
                        <a:t> master </a:t>
                      </a:r>
                      <a:r>
                        <a:rPr lang="en-US" altLang="ja" sz="1000" dirty="0" err="1"/>
                        <a:t>bên</a:t>
                      </a:r>
                      <a:r>
                        <a:rPr lang="en-US" altLang="ja" sz="1000" dirty="0"/>
                        <a:t> </a:t>
                      </a:r>
                      <a:r>
                        <a:rPr lang="en-US" altLang="ja" sz="1000" dirty="0" err="1"/>
                        <a:t>ngoài</a:t>
                      </a:r>
                      <a:endParaRPr sz="1000" dirty="0"/>
                    </a:p>
                  </a:txBody>
                  <a:tcPr marL="91425" marR="91425" marT="91425" marB="91425"/>
                </a:tc>
                <a:tc rowSpan="3">
                  <a:txBody>
                    <a:bodyPr/>
                    <a:lstStyle/>
                    <a:p>
                      <a:pPr marL="0" lvl="0" indent="0" algn="l" rtl="0">
                        <a:spcBef>
                          <a:spcPts val="0"/>
                        </a:spcBef>
                        <a:spcAft>
                          <a:spcPts val="0"/>
                        </a:spcAft>
                        <a:buNone/>
                      </a:pPr>
                      <a:r>
                        <a:rPr lang="ja" sz="1000" dirty="0">
                          <a:solidFill>
                            <a:schemeClr val="dk1"/>
                          </a:solidFill>
                        </a:rPr>
                        <a:t>/prd-ignica-ksm（</a:t>
                      </a:r>
                      <a:r>
                        <a:rPr lang="en-US" altLang="ja" sz="1000" dirty="0">
                          <a:solidFill>
                            <a:schemeClr val="dk1"/>
                          </a:solidFill>
                        </a:rPr>
                        <a:t>product</a:t>
                      </a:r>
                      <a:r>
                        <a:rPr lang="ja" sz="1000" dirty="0">
                          <a:solidFill>
                            <a:schemeClr val="dk1"/>
                          </a:solidFill>
                        </a:rPr>
                        <a:t>）</a:t>
                      </a:r>
                      <a:endParaRPr sz="1000" dirty="0">
                        <a:solidFill>
                          <a:schemeClr val="dk1"/>
                        </a:solidFill>
                      </a:endParaRPr>
                    </a:p>
                    <a:p>
                      <a:pPr marL="0" lvl="0" indent="0" algn="l" rtl="0">
                        <a:spcBef>
                          <a:spcPts val="0"/>
                        </a:spcBef>
                        <a:spcAft>
                          <a:spcPts val="0"/>
                        </a:spcAft>
                        <a:buNone/>
                      </a:pPr>
                      <a:r>
                        <a:rPr lang="ja" sz="1000" dirty="0">
                          <a:solidFill>
                            <a:schemeClr val="dk1"/>
                          </a:solidFill>
                        </a:rPr>
                        <a:t>/stg-ignica-ksm（STG）</a:t>
                      </a:r>
                      <a:endParaRPr sz="1000" dirty="0">
                        <a:solidFill>
                          <a:schemeClr val="dk1"/>
                        </a:solidFill>
                      </a:endParaRPr>
                    </a:p>
                    <a:p>
                      <a:pPr marL="0" lvl="0" indent="0" algn="l" rtl="0">
                        <a:spcBef>
                          <a:spcPts val="0"/>
                        </a:spcBef>
                        <a:spcAft>
                          <a:spcPts val="0"/>
                        </a:spcAft>
                        <a:buNone/>
                      </a:pPr>
                      <a:r>
                        <a:rPr lang="ja" sz="1000" dirty="0">
                          <a:solidFill>
                            <a:schemeClr val="dk1"/>
                          </a:solidFill>
                        </a:rPr>
                        <a:t>/spk-ignica-ksm（</a:t>
                      </a:r>
                      <a:r>
                        <a:rPr lang="en-US" altLang="ja" sz="1000" dirty="0">
                          <a:solidFill>
                            <a:schemeClr val="dk1"/>
                          </a:solidFill>
                        </a:rPr>
                        <a:t>spiker</a:t>
                      </a:r>
                      <a:r>
                        <a:rPr lang="ja" sz="1000" dirty="0">
                          <a:solidFill>
                            <a:schemeClr val="dk1"/>
                          </a:solidFill>
                        </a:rPr>
                        <a:t>）</a:t>
                      </a:r>
                      <a:endParaRPr sz="1000" dirty="0">
                        <a:solidFill>
                          <a:schemeClr val="dk1"/>
                        </a:solidFill>
                      </a:endParaRPr>
                    </a:p>
                  </a:txBody>
                  <a:tcPr marL="91425" marR="91425" marT="91425" marB="91425">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r>
                        <a:rPr lang="ja" sz="1000" dirty="0">
                          <a:solidFill>
                            <a:schemeClr val="dk1"/>
                          </a:solidFill>
                        </a:rPr>
                        <a:t>/pos-original/oc</a:t>
                      </a:r>
                      <a:endParaRPr sz="1000" dirty="0">
                        <a:solidFill>
                          <a:schemeClr val="dk1"/>
                        </a:solidFill>
                      </a:endParaRPr>
                    </a:p>
                    <a:p>
                      <a:pPr marL="457200" lvl="0" indent="0" algn="l" rtl="0">
                        <a:spcBef>
                          <a:spcPts val="0"/>
                        </a:spcBef>
                        <a:spcAft>
                          <a:spcPts val="0"/>
                        </a:spcAft>
                        <a:buNone/>
                      </a:pPr>
                      <a:r>
                        <a:rPr lang="ja" sz="1000" dirty="0">
                          <a:solidFill>
                            <a:schemeClr val="accent5"/>
                          </a:solidFill>
                        </a:rPr>
                        <a:t>/receive</a:t>
                      </a:r>
                      <a:r>
                        <a:rPr lang="ja" sz="1000" dirty="0">
                          <a:solidFill>
                            <a:schemeClr val="dk1"/>
                          </a:solidFill>
                        </a:rPr>
                        <a:t> ←</a:t>
                      </a:r>
                      <a:r>
                        <a:rPr lang="en-US" altLang="ja" sz="1000" dirty="0">
                          <a:solidFill>
                            <a:schemeClr val="dk1"/>
                          </a:solidFill>
                        </a:rPr>
                        <a:t>bao </a:t>
                      </a:r>
                      <a:r>
                        <a:rPr lang="en-US" altLang="ja" sz="1000" dirty="0" err="1">
                          <a:solidFill>
                            <a:schemeClr val="dk1"/>
                          </a:solidFill>
                        </a:rPr>
                        <a:t>gồm</a:t>
                      </a:r>
                      <a:r>
                        <a:rPr lang="en-US" altLang="ja" sz="1000" dirty="0">
                          <a:solidFill>
                            <a:schemeClr val="dk1"/>
                          </a:solidFill>
                        </a:rPr>
                        <a:t> </a:t>
                      </a:r>
                      <a:r>
                        <a:rPr lang="ja" sz="1000" dirty="0">
                          <a:solidFill>
                            <a:schemeClr val="dk1"/>
                          </a:solidFill>
                        </a:rPr>
                        <a:t>END</a:t>
                      </a:r>
                      <a:endParaRPr sz="1000" dirty="0">
                        <a:solidFill>
                          <a:schemeClr val="dk1"/>
                        </a:solidFill>
                      </a:endParaRPr>
                    </a:p>
                    <a:p>
                      <a:pPr marL="457200" lvl="0" indent="0" algn="l" rtl="0">
                        <a:spcBef>
                          <a:spcPts val="0"/>
                        </a:spcBef>
                        <a:spcAft>
                          <a:spcPts val="0"/>
                        </a:spcAft>
                        <a:buNone/>
                      </a:pPr>
                      <a:r>
                        <a:rPr lang="ja" sz="1000" dirty="0">
                          <a:solidFill>
                            <a:srgbClr val="9900FF"/>
                          </a:solidFill>
                        </a:rPr>
                        <a:t>/csv/{</a:t>
                      </a:r>
                      <a:r>
                        <a:rPr lang="en-US" sz="1000" dirty="0" err="1"/>
                        <a:t>Mã</a:t>
                      </a:r>
                      <a:r>
                        <a:rPr lang="en-US" sz="1000" dirty="0"/>
                        <a:t> </a:t>
                      </a:r>
                      <a:r>
                        <a:rPr lang="en-US" sz="1000" dirty="0" err="1"/>
                        <a:t>cửa</a:t>
                      </a:r>
                      <a:r>
                        <a:rPr lang="en-US" sz="1000" dirty="0"/>
                        <a:t> </a:t>
                      </a:r>
                      <a:r>
                        <a:rPr lang="en-US" sz="1000" dirty="0" err="1"/>
                        <a:t>hàng</a:t>
                      </a:r>
                      <a:r>
                        <a:rPr lang="en-US" sz="1000" dirty="0"/>
                        <a:t> (Store Code)</a:t>
                      </a:r>
                      <a:r>
                        <a:rPr lang="ja" sz="1000" dirty="0">
                          <a:solidFill>
                            <a:srgbClr val="9900FF"/>
                          </a:solidFill>
                        </a:rPr>
                        <a:t>}</a:t>
                      </a:r>
                      <a:endParaRPr sz="1000" dirty="0">
                        <a:solidFill>
                          <a:srgbClr val="9900FF"/>
                        </a:solidFill>
                      </a:endParaRPr>
                    </a:p>
                    <a:p>
                      <a:pPr marL="457200" lvl="0" indent="0" algn="l" rtl="0">
                        <a:spcBef>
                          <a:spcPts val="0"/>
                        </a:spcBef>
                        <a:spcAft>
                          <a:spcPts val="0"/>
                        </a:spcAft>
                        <a:buNone/>
                      </a:pPr>
                      <a:r>
                        <a:rPr lang="ja" sz="1000" dirty="0">
                          <a:solidFill>
                            <a:schemeClr val="accent1"/>
                          </a:solidFill>
                        </a:rPr>
                        <a:t>/backup/{</a:t>
                      </a:r>
                      <a:r>
                        <a:rPr lang="en-US" sz="1000" dirty="0" err="1"/>
                        <a:t>Mã</a:t>
                      </a:r>
                      <a:r>
                        <a:rPr lang="en-US" sz="1000" dirty="0"/>
                        <a:t> </a:t>
                      </a:r>
                      <a:r>
                        <a:rPr lang="en-US" sz="1000" dirty="0" err="1"/>
                        <a:t>cửa</a:t>
                      </a:r>
                      <a:r>
                        <a:rPr lang="en-US" sz="1000" dirty="0"/>
                        <a:t> </a:t>
                      </a:r>
                      <a:r>
                        <a:rPr lang="en-US" sz="1000" dirty="0" err="1"/>
                        <a:t>hàng</a:t>
                      </a:r>
                      <a:r>
                        <a:rPr lang="en-US" sz="1000" dirty="0"/>
                        <a:t> (Store Code)</a:t>
                      </a:r>
                      <a:r>
                        <a:rPr lang="ja" sz="1000" dirty="0">
                          <a:solidFill>
                            <a:schemeClr val="accent1"/>
                          </a:solidFill>
                        </a:rPr>
                        <a:t>}</a:t>
                      </a:r>
                      <a:r>
                        <a:rPr lang="ja" sz="1000" dirty="0">
                          <a:solidFill>
                            <a:schemeClr val="dk1"/>
                          </a:solidFill>
                        </a:rPr>
                        <a:t>　←</a:t>
                      </a:r>
                      <a:r>
                        <a:rPr lang="en-US" altLang="ja" sz="1000" dirty="0" err="1">
                          <a:solidFill>
                            <a:schemeClr val="dk1"/>
                          </a:solidFill>
                        </a:rPr>
                        <a:t>xử</a:t>
                      </a:r>
                      <a:r>
                        <a:rPr lang="en-US" altLang="ja" sz="1000" dirty="0">
                          <a:solidFill>
                            <a:schemeClr val="dk1"/>
                          </a:solidFill>
                        </a:rPr>
                        <a:t> </a:t>
                      </a:r>
                      <a:r>
                        <a:rPr lang="en-US" altLang="ja" sz="1000" dirty="0" err="1">
                          <a:solidFill>
                            <a:schemeClr val="dk1"/>
                          </a:solidFill>
                        </a:rPr>
                        <a:t>lý</a:t>
                      </a:r>
                      <a:r>
                        <a:rPr lang="en-US" altLang="ja" sz="1000" dirty="0">
                          <a:solidFill>
                            <a:schemeClr val="dk1"/>
                          </a:solidFill>
                        </a:rPr>
                        <a:t> </a:t>
                      </a:r>
                      <a:r>
                        <a:rPr lang="en-US" altLang="ja" sz="1000" dirty="0" err="1">
                          <a:solidFill>
                            <a:schemeClr val="dk1"/>
                          </a:solidFill>
                        </a:rPr>
                        <a:t>kết</a:t>
                      </a:r>
                      <a:r>
                        <a:rPr lang="en-US" altLang="ja" sz="1000" dirty="0">
                          <a:solidFill>
                            <a:schemeClr val="dk1"/>
                          </a:solidFill>
                        </a:rPr>
                        <a:t> </a:t>
                      </a:r>
                      <a:r>
                        <a:rPr lang="en-US" altLang="ja" sz="1000" dirty="0" err="1">
                          <a:solidFill>
                            <a:schemeClr val="dk1"/>
                          </a:solidFill>
                        </a:rPr>
                        <a:t>thúc</a:t>
                      </a:r>
                      <a:r>
                        <a:rPr lang="ja" sz="1000" dirty="0">
                          <a:solidFill>
                            <a:schemeClr val="dk1"/>
                          </a:solidFill>
                        </a:rPr>
                        <a:t>に/</a:t>
                      </a:r>
                      <a:r>
                        <a:rPr lang="en-US" sz="1000" dirty="0"/>
                        <a:t>Di </a:t>
                      </a:r>
                      <a:r>
                        <a:rPr lang="en-US" sz="1000" dirty="0" err="1"/>
                        <a:t>chuyển</a:t>
                      </a:r>
                      <a:r>
                        <a:rPr lang="en-US" sz="1000" dirty="0"/>
                        <a:t> </a:t>
                      </a:r>
                      <a:r>
                        <a:rPr lang="en-US" sz="1000" dirty="0" err="1"/>
                        <a:t>từ</a:t>
                      </a:r>
                      <a:r>
                        <a:rPr lang="en-US" sz="1000" dirty="0"/>
                        <a:t> CSV (</a:t>
                      </a:r>
                      <a:r>
                        <a:rPr lang="en-US" sz="1000" dirty="0" err="1"/>
                        <a:t>tập</a:t>
                      </a:r>
                      <a:r>
                        <a:rPr lang="en-US" sz="1000" dirty="0"/>
                        <a:t> tin CSV)</a:t>
                      </a:r>
                      <a:r>
                        <a:rPr lang="ja" sz="1000" dirty="0">
                          <a:solidFill>
                            <a:schemeClr val="dk1"/>
                          </a:solidFill>
                        </a:rPr>
                        <a:t> </a:t>
                      </a:r>
                      <a:endParaRPr sz="1000" dirty="0">
                        <a:solidFill>
                          <a:schemeClr val="dk1"/>
                        </a:solidFill>
                      </a:endParaRPr>
                    </a:p>
                    <a:p>
                      <a:pPr marL="457200" lvl="0" indent="0" algn="l" rtl="0">
                        <a:spcBef>
                          <a:spcPts val="0"/>
                        </a:spcBef>
                        <a:spcAft>
                          <a:spcPts val="0"/>
                        </a:spcAft>
                        <a:buClr>
                          <a:schemeClr val="dk1"/>
                        </a:buClr>
                        <a:buSzPts val="1100"/>
                        <a:buFont typeface="Arial"/>
                        <a:buNone/>
                      </a:pPr>
                      <a:r>
                        <a:rPr lang="ja" sz="1000" dirty="0">
                          <a:solidFill>
                            <a:schemeClr val="accent4"/>
                          </a:solidFill>
                        </a:rPr>
                        <a:t>/log</a:t>
                      </a:r>
                      <a:r>
                        <a:rPr lang="ja" sz="1000" dirty="0">
                          <a:solidFill>
                            <a:schemeClr val="dk1"/>
                          </a:solidFill>
                        </a:rPr>
                        <a:t>　←</a:t>
                      </a:r>
                      <a:r>
                        <a:rPr lang="en-US" altLang="ja" sz="1000" dirty="0" err="1">
                          <a:solidFill>
                            <a:schemeClr val="dk1"/>
                          </a:solidFill>
                        </a:rPr>
                        <a:t>xuất</a:t>
                      </a:r>
                      <a:r>
                        <a:rPr lang="en-US" altLang="ja" sz="1000" dirty="0">
                          <a:solidFill>
                            <a:schemeClr val="dk1"/>
                          </a:solidFill>
                        </a:rPr>
                        <a:t> </a:t>
                      </a:r>
                      <a:r>
                        <a:rPr lang="en-US" altLang="ja" sz="1000" dirty="0" err="1">
                          <a:solidFill>
                            <a:schemeClr val="dk1"/>
                          </a:solidFill>
                        </a:rPr>
                        <a:t>phai</a:t>
                      </a:r>
                      <a:endParaRPr sz="1000" dirty="0">
                        <a:solidFill>
                          <a:schemeClr val="dk1"/>
                        </a:solidFill>
                      </a:endParaRPr>
                    </a:p>
                  </a:txBody>
                  <a:tcPr marL="91425" marR="91425" marT="91425" marB="91425"/>
                </a:tc>
                <a:extLst>
                  <a:ext uri="{0D108BD9-81ED-4DB2-BD59-A6C34878D82A}">
                    <a16:rowId xmlns:a16="http://schemas.microsoft.com/office/drawing/2014/main" val="10001"/>
                  </a:ext>
                </a:extLst>
              </a:tr>
              <a:tr h="0">
                <a:tc vMerge="1">
                  <a:txBody>
                    <a:bodyPr/>
                    <a:lstStyle/>
                    <a:p>
                      <a:endParaRPr lang="en-US"/>
                    </a:p>
                  </a:txBody>
                  <a:tcPr/>
                </a:tc>
                <a:tc>
                  <a:txBody>
                    <a:bodyPr/>
                    <a:lstStyle/>
                    <a:p>
                      <a:pPr marL="0" lvl="0" indent="0" algn="l" rtl="0">
                        <a:spcBef>
                          <a:spcPts val="0"/>
                        </a:spcBef>
                        <a:spcAft>
                          <a:spcPts val="0"/>
                        </a:spcAft>
                        <a:buNone/>
                      </a:pPr>
                      <a:r>
                        <a:rPr lang="ja" sz="1000" dirty="0"/>
                        <a:t>Scan&amp;Go I/F</a:t>
                      </a:r>
                      <a:endParaRPr sz="1000" dirty="0"/>
                    </a:p>
                    <a:p>
                      <a:pPr marL="0" lvl="0" indent="0" algn="l" rtl="0">
                        <a:spcBef>
                          <a:spcPts val="0"/>
                        </a:spcBef>
                        <a:spcAft>
                          <a:spcPts val="0"/>
                        </a:spcAft>
                        <a:buNone/>
                      </a:pPr>
                      <a:r>
                        <a:rPr lang="en-US" sz="1000" dirty="0" err="1"/>
                        <a:t>Máy</a:t>
                      </a:r>
                      <a:r>
                        <a:rPr lang="en-US" sz="1000" dirty="0"/>
                        <a:t> </a:t>
                      </a:r>
                      <a:r>
                        <a:rPr lang="en-US" sz="1000" dirty="0" err="1"/>
                        <a:t>chủ</a:t>
                      </a:r>
                      <a:r>
                        <a:rPr lang="en-US" sz="1000" dirty="0"/>
                        <a:t> </a:t>
                      </a:r>
                      <a:r>
                        <a:rPr lang="en-US" sz="1000" dirty="0" err="1"/>
                        <a:t>trung</a:t>
                      </a:r>
                      <a:r>
                        <a:rPr lang="en-US" sz="1000" dirty="0"/>
                        <a:t> </a:t>
                      </a:r>
                      <a:r>
                        <a:rPr lang="en-US" sz="1000" dirty="0" err="1"/>
                        <a:t>gian</a:t>
                      </a:r>
                      <a:endParaRPr sz="1000" dirty="0"/>
                    </a:p>
                  </a:txBody>
                  <a:tcPr marL="91425" marR="91425" marT="91425" marB="91425"/>
                </a:tc>
                <a:tc vMerge="1">
                  <a:txBody>
                    <a:bodyPr/>
                    <a:lstStyle/>
                    <a:p>
                      <a:endParaRPr lang="en-US"/>
                    </a:p>
                  </a:txBody>
                  <a:tcPr/>
                </a:tc>
                <a:tc vMerge="1">
                  <a:txBody>
                    <a:bodyPr/>
                    <a:lstStyle/>
                    <a:p>
                      <a:endParaRPr lang="en-US"/>
                    </a:p>
                  </a:txBody>
                  <a:tcPr/>
                </a:tc>
                <a:tc>
                  <a:txBody>
                    <a:bodyPr/>
                    <a:lstStyle/>
                    <a:p>
                      <a:pPr marL="0" lvl="0" indent="0" algn="l" rtl="0">
                        <a:spcBef>
                          <a:spcPts val="0"/>
                        </a:spcBef>
                        <a:spcAft>
                          <a:spcPts val="0"/>
                        </a:spcAft>
                        <a:buClr>
                          <a:schemeClr val="dk1"/>
                        </a:buClr>
                        <a:buSzPts val="1100"/>
                        <a:buFont typeface="Arial"/>
                        <a:buNone/>
                      </a:pPr>
                      <a:r>
                        <a:rPr lang="ja" sz="1000" dirty="0">
                          <a:solidFill>
                            <a:schemeClr val="dk1"/>
                          </a:solidFill>
                        </a:rPr>
                        <a:t>/pos-original/sg</a:t>
                      </a:r>
                      <a:endParaRPr sz="1000" dirty="0">
                        <a:solidFill>
                          <a:schemeClr val="dk1"/>
                        </a:solidFill>
                      </a:endParaRPr>
                    </a:p>
                    <a:p>
                      <a:pPr marL="457200" lvl="0" indent="0" algn="l" rtl="0">
                        <a:spcBef>
                          <a:spcPts val="0"/>
                        </a:spcBef>
                        <a:spcAft>
                          <a:spcPts val="0"/>
                        </a:spcAft>
                        <a:buClr>
                          <a:schemeClr val="dk1"/>
                        </a:buClr>
                        <a:buSzPts val="1100"/>
                        <a:buFont typeface="Arial"/>
                        <a:buNone/>
                      </a:pPr>
                      <a:r>
                        <a:rPr lang="ja" sz="1000" dirty="0">
                          <a:solidFill>
                            <a:schemeClr val="accent5"/>
                          </a:solidFill>
                        </a:rPr>
                        <a:t>/receive</a:t>
                      </a:r>
                      <a:r>
                        <a:rPr lang="ja" sz="1000" dirty="0">
                          <a:solidFill>
                            <a:schemeClr val="dk1"/>
                          </a:solidFill>
                        </a:rPr>
                        <a:t>　←</a:t>
                      </a:r>
                      <a:r>
                        <a:rPr lang="en-US" altLang="ja" sz="1000" dirty="0">
                          <a:solidFill>
                            <a:schemeClr val="dk1"/>
                          </a:solidFill>
                        </a:rPr>
                        <a:t>bao </a:t>
                      </a:r>
                      <a:r>
                        <a:rPr lang="en-US" altLang="ja" sz="1000" dirty="0" err="1">
                          <a:solidFill>
                            <a:schemeClr val="dk1"/>
                          </a:solidFill>
                        </a:rPr>
                        <a:t>gồm</a:t>
                      </a:r>
                      <a:r>
                        <a:rPr lang="en-US" altLang="ja" sz="1000" dirty="0">
                          <a:solidFill>
                            <a:schemeClr val="dk1"/>
                          </a:solidFill>
                        </a:rPr>
                        <a:t> </a:t>
                      </a:r>
                      <a:r>
                        <a:rPr lang="ja" sz="1000" dirty="0">
                          <a:solidFill>
                            <a:schemeClr val="dk1"/>
                          </a:solidFill>
                        </a:rPr>
                        <a:t>END</a:t>
                      </a:r>
                      <a:endParaRPr sz="1000" dirty="0">
                        <a:solidFill>
                          <a:schemeClr val="dk1"/>
                        </a:solidFill>
                      </a:endParaRPr>
                    </a:p>
                    <a:p>
                      <a:pPr marL="457200" lvl="0" indent="0" algn="l" rtl="0">
                        <a:spcBef>
                          <a:spcPts val="0"/>
                        </a:spcBef>
                        <a:spcAft>
                          <a:spcPts val="0"/>
                        </a:spcAft>
                        <a:buClr>
                          <a:schemeClr val="dk1"/>
                        </a:buClr>
                        <a:buSzPts val="1100"/>
                        <a:buFont typeface="Arial"/>
                        <a:buNone/>
                      </a:pPr>
                      <a:r>
                        <a:rPr lang="ja" sz="1000" dirty="0">
                          <a:solidFill>
                            <a:srgbClr val="FF00FF"/>
                          </a:solidFill>
                        </a:rPr>
                        <a:t>/csv/{</a:t>
                      </a:r>
                      <a:r>
                        <a:rPr lang="en-US" sz="1000" dirty="0" err="1"/>
                        <a:t>Mã</a:t>
                      </a:r>
                      <a:r>
                        <a:rPr lang="en-US" sz="1000" dirty="0"/>
                        <a:t> </a:t>
                      </a:r>
                      <a:r>
                        <a:rPr lang="en-US" sz="1000" dirty="0" err="1"/>
                        <a:t>cửa</a:t>
                      </a:r>
                      <a:r>
                        <a:rPr lang="en-US" sz="1000" dirty="0"/>
                        <a:t> </a:t>
                      </a:r>
                      <a:r>
                        <a:rPr lang="en-US" sz="1000" dirty="0" err="1"/>
                        <a:t>hàng</a:t>
                      </a:r>
                      <a:r>
                        <a:rPr lang="en-US" sz="1000" dirty="0"/>
                        <a:t> (Store Code)</a:t>
                      </a:r>
                      <a:r>
                        <a:rPr lang="ja" sz="1000" dirty="0">
                          <a:solidFill>
                            <a:srgbClr val="FF00FF"/>
                          </a:solidFill>
                        </a:rPr>
                        <a:t>}</a:t>
                      </a:r>
                      <a:endParaRPr sz="1000" dirty="0">
                        <a:solidFill>
                          <a:srgbClr val="FF00FF"/>
                        </a:solidFill>
                      </a:endParaRPr>
                    </a:p>
                    <a:p>
                      <a:pPr marL="457200" lvl="0" indent="0" algn="l" rtl="0">
                        <a:spcBef>
                          <a:spcPts val="0"/>
                        </a:spcBef>
                        <a:spcAft>
                          <a:spcPts val="0"/>
                        </a:spcAft>
                        <a:buClr>
                          <a:schemeClr val="dk1"/>
                        </a:buClr>
                        <a:buSzPts val="1100"/>
                        <a:buFont typeface="Arial"/>
                        <a:buNone/>
                      </a:pPr>
                      <a:r>
                        <a:rPr lang="ja" sz="1000" dirty="0">
                          <a:solidFill>
                            <a:schemeClr val="accent1"/>
                          </a:solidFill>
                        </a:rPr>
                        <a:t>/backup/{</a:t>
                      </a:r>
                      <a:r>
                        <a:rPr lang="en-US" sz="1000" dirty="0" err="1"/>
                        <a:t>Mã</a:t>
                      </a:r>
                      <a:r>
                        <a:rPr lang="en-US" sz="1000" dirty="0"/>
                        <a:t> </a:t>
                      </a:r>
                      <a:r>
                        <a:rPr lang="en-US" sz="1000" dirty="0" err="1"/>
                        <a:t>cửa</a:t>
                      </a:r>
                      <a:r>
                        <a:rPr lang="en-US" sz="1000" dirty="0"/>
                        <a:t> </a:t>
                      </a:r>
                      <a:r>
                        <a:rPr lang="en-US" sz="1000" dirty="0" err="1"/>
                        <a:t>hàng</a:t>
                      </a:r>
                      <a:r>
                        <a:rPr lang="en-US" sz="1000" dirty="0"/>
                        <a:t> (Store Code)</a:t>
                      </a:r>
                      <a:r>
                        <a:rPr lang="ja" sz="1000" dirty="0">
                          <a:solidFill>
                            <a:schemeClr val="accent1"/>
                          </a:solidFill>
                        </a:rPr>
                        <a:t>}</a:t>
                      </a:r>
                      <a:endParaRPr sz="1000" dirty="0">
                        <a:solidFill>
                          <a:schemeClr val="accent1"/>
                        </a:solidFill>
                      </a:endParaRPr>
                    </a:p>
                    <a:p>
                      <a:pPr marL="457200" lvl="0" indent="0" algn="l" rtl="0">
                        <a:spcBef>
                          <a:spcPts val="0"/>
                        </a:spcBef>
                        <a:spcAft>
                          <a:spcPts val="0"/>
                        </a:spcAft>
                        <a:buClr>
                          <a:schemeClr val="dk1"/>
                        </a:buClr>
                        <a:buSzPts val="1100"/>
                        <a:buFont typeface="Arial"/>
                        <a:buNone/>
                      </a:pPr>
                      <a:r>
                        <a:rPr lang="ja" sz="1000" dirty="0">
                          <a:solidFill>
                            <a:schemeClr val="accent4"/>
                          </a:solidFill>
                        </a:rPr>
                        <a:t>/log</a:t>
                      </a:r>
                      <a:endParaRPr sz="1000" dirty="0">
                        <a:solidFill>
                          <a:schemeClr val="accent4"/>
                        </a:solidFill>
                      </a:endParaRPr>
                    </a:p>
                  </a:txBody>
                  <a:tcPr marL="91425" marR="91425" marT="91425" marB="91425"/>
                </a:tc>
                <a:extLst>
                  <a:ext uri="{0D108BD9-81ED-4DB2-BD59-A6C34878D82A}">
                    <a16:rowId xmlns:a16="http://schemas.microsoft.com/office/drawing/2014/main" val="10002"/>
                  </a:ext>
                </a:extLst>
              </a:tr>
              <a:tr h="0">
                <a:tc vMerge="1">
                  <a:txBody>
                    <a:bodyPr/>
                    <a:lstStyle/>
                    <a:p>
                      <a:endParaRPr lang="en-US"/>
                    </a:p>
                  </a:txBody>
                  <a:tcPr/>
                </a:tc>
                <a:tc>
                  <a:txBody>
                    <a:bodyPr/>
                    <a:lstStyle/>
                    <a:p>
                      <a:pPr marL="0" lvl="0" indent="0" algn="l" rtl="0">
                        <a:spcBef>
                          <a:spcPts val="0"/>
                        </a:spcBef>
                        <a:spcAft>
                          <a:spcPts val="0"/>
                        </a:spcAft>
                        <a:buNone/>
                      </a:pPr>
                      <a:r>
                        <a:rPr lang="en-US" sz="1000" dirty="0" err="1"/>
                        <a:t>Nhãn</a:t>
                      </a:r>
                      <a:r>
                        <a:rPr lang="en-US" sz="1000" dirty="0"/>
                        <a:t> </a:t>
                      </a:r>
                      <a:r>
                        <a:rPr lang="en-US" sz="1000" dirty="0" err="1"/>
                        <a:t>kệ</a:t>
                      </a:r>
                      <a:r>
                        <a:rPr lang="en-US" sz="1000" dirty="0"/>
                        <a:t> </a:t>
                      </a:r>
                      <a:r>
                        <a:rPr lang="en-US" sz="1000" dirty="0" err="1"/>
                        <a:t>điện</a:t>
                      </a:r>
                      <a:r>
                        <a:rPr lang="en-US" sz="1000" dirty="0"/>
                        <a:t> </a:t>
                      </a:r>
                      <a:r>
                        <a:rPr lang="en-US" sz="1000" dirty="0" err="1"/>
                        <a:t>tử</a:t>
                      </a:r>
                      <a:r>
                        <a:rPr lang="en-US" sz="1000" dirty="0"/>
                        <a:t> ISHIDA</a:t>
                      </a:r>
                      <a:endParaRPr sz="1000" dirty="0"/>
                    </a:p>
                  </a:txBody>
                  <a:tcPr marL="91425" marR="91425" marT="91425" marB="91425">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r>
                        <a:rPr lang="ja" sz="1000" dirty="0"/>
                        <a:t>POS</a:t>
                      </a:r>
                      <a:r>
                        <a:rPr lang="en-US" altLang="ja" sz="1000" dirty="0"/>
                        <a:t> Master</a:t>
                      </a:r>
                      <a:endParaRPr sz="1000" dirty="0"/>
                    </a:p>
                  </a:txBody>
                  <a:tcPr marL="91425" marR="91425" marT="91425" marB="91425">
                    <a:lnB w="9525" cap="flat" cmpd="sng">
                      <a:solidFill>
                        <a:srgbClr val="666666"/>
                      </a:solidFill>
                      <a:prstDash val="solid"/>
                      <a:round/>
                      <a:headEnd type="none" w="sm" len="sm"/>
                      <a:tailEnd type="none" w="sm" len="sm"/>
                    </a:lnB>
                  </a:tcPr>
                </a:tc>
                <a:tc vMerge="1">
                  <a:txBody>
                    <a:bodyPr/>
                    <a:lstStyle/>
                    <a:p>
                      <a:endParaRPr lang="en-US"/>
                    </a:p>
                  </a:txBody>
                  <a:tcPr/>
                </a:tc>
                <a:tc>
                  <a:txBody>
                    <a:bodyPr/>
                    <a:lstStyle/>
                    <a:p>
                      <a:pPr marL="0" lvl="0" indent="0" algn="l" rtl="0">
                        <a:spcBef>
                          <a:spcPts val="0"/>
                        </a:spcBef>
                        <a:spcAft>
                          <a:spcPts val="0"/>
                        </a:spcAft>
                        <a:buNone/>
                      </a:pPr>
                      <a:r>
                        <a:rPr lang="ja" sz="1000" dirty="0">
                          <a:solidFill>
                            <a:schemeClr val="dk1"/>
                          </a:solidFill>
                        </a:rPr>
                        <a:t>/pos-master/ishida</a:t>
                      </a:r>
                      <a:endParaRPr sz="1000" dirty="0">
                        <a:solidFill>
                          <a:schemeClr val="dk1"/>
                        </a:solidFill>
                      </a:endParaRPr>
                    </a:p>
                    <a:p>
                      <a:pPr marL="457200" lvl="0" indent="0" algn="l" rtl="0">
                        <a:spcBef>
                          <a:spcPts val="0"/>
                        </a:spcBef>
                        <a:spcAft>
                          <a:spcPts val="0"/>
                        </a:spcAft>
                        <a:buNone/>
                      </a:pPr>
                      <a:r>
                        <a:rPr lang="ja" sz="1000" dirty="0">
                          <a:solidFill>
                            <a:srgbClr val="FF00FF"/>
                          </a:solidFill>
                        </a:rPr>
                        <a:t>/csv/{</a:t>
                      </a:r>
                      <a:r>
                        <a:rPr lang="en-US" sz="1000" dirty="0" err="1"/>
                        <a:t>Mã</a:t>
                      </a:r>
                      <a:r>
                        <a:rPr lang="en-US" sz="1000" dirty="0"/>
                        <a:t> </a:t>
                      </a:r>
                      <a:r>
                        <a:rPr lang="en-US" sz="1000" dirty="0" err="1"/>
                        <a:t>cửa</a:t>
                      </a:r>
                      <a:r>
                        <a:rPr lang="en-US" sz="1000" dirty="0"/>
                        <a:t> </a:t>
                      </a:r>
                      <a:r>
                        <a:rPr lang="en-US" sz="1000" dirty="0" err="1"/>
                        <a:t>hàng</a:t>
                      </a:r>
                      <a:r>
                        <a:rPr lang="en-US" sz="1000" dirty="0"/>
                        <a:t> (Store Code)</a:t>
                      </a:r>
                      <a:r>
                        <a:rPr lang="ja" sz="1000" dirty="0">
                          <a:solidFill>
                            <a:srgbClr val="FF00FF"/>
                          </a:solidFill>
                        </a:rPr>
                        <a:t>}</a:t>
                      </a:r>
                      <a:endParaRPr sz="1000" dirty="0">
                        <a:solidFill>
                          <a:srgbClr val="FF00FF"/>
                        </a:solidFill>
                      </a:endParaRPr>
                    </a:p>
                    <a:p>
                      <a:pPr marL="457200" lvl="0" indent="0" algn="l" rtl="0">
                        <a:spcBef>
                          <a:spcPts val="0"/>
                        </a:spcBef>
                        <a:spcAft>
                          <a:spcPts val="0"/>
                        </a:spcAft>
                        <a:buClr>
                          <a:schemeClr val="dk1"/>
                        </a:buClr>
                        <a:buSzPts val="1100"/>
                        <a:buFont typeface="Arial"/>
                        <a:buNone/>
                      </a:pPr>
                      <a:r>
                        <a:rPr lang="ja" sz="1000" dirty="0">
                          <a:solidFill>
                            <a:schemeClr val="accent1"/>
                          </a:solidFill>
                        </a:rPr>
                        <a:t>/backup/{</a:t>
                      </a:r>
                      <a:r>
                        <a:rPr lang="en-US" sz="1000" dirty="0" err="1"/>
                        <a:t>Mã</a:t>
                      </a:r>
                      <a:r>
                        <a:rPr lang="en-US" sz="1000" dirty="0"/>
                        <a:t> </a:t>
                      </a:r>
                      <a:r>
                        <a:rPr lang="en-US" sz="1000" dirty="0" err="1"/>
                        <a:t>cửa</a:t>
                      </a:r>
                      <a:r>
                        <a:rPr lang="en-US" sz="1000" dirty="0"/>
                        <a:t> </a:t>
                      </a:r>
                      <a:r>
                        <a:rPr lang="en-US" sz="1000" dirty="0" err="1"/>
                        <a:t>hàng</a:t>
                      </a:r>
                      <a:r>
                        <a:rPr lang="en-US" sz="1000" dirty="0"/>
                        <a:t> (Store Code)</a:t>
                      </a:r>
                      <a:r>
                        <a:rPr lang="ja" sz="1000" dirty="0">
                          <a:solidFill>
                            <a:schemeClr val="accent1"/>
                          </a:solidFill>
                        </a:rPr>
                        <a:t>}</a:t>
                      </a:r>
                      <a:endParaRPr sz="1000" dirty="0">
                        <a:solidFill>
                          <a:schemeClr val="accent1"/>
                        </a:solidFill>
                      </a:endParaRPr>
                    </a:p>
                    <a:p>
                      <a:pPr marL="457200" lvl="0" indent="0" algn="l" rtl="0">
                        <a:spcBef>
                          <a:spcPts val="0"/>
                        </a:spcBef>
                        <a:spcAft>
                          <a:spcPts val="0"/>
                        </a:spcAft>
                        <a:buNone/>
                      </a:pPr>
                      <a:r>
                        <a:rPr lang="ja" sz="1000" dirty="0">
                          <a:solidFill>
                            <a:schemeClr val="accent4"/>
                          </a:solidFill>
                        </a:rPr>
                        <a:t>/log</a:t>
                      </a:r>
                      <a:endParaRPr sz="1000" dirty="0">
                        <a:solidFill>
                          <a:schemeClr val="accent4"/>
                        </a:solidFill>
                      </a:endParaRPr>
                    </a:p>
                  </a:txBody>
                  <a:tcPr marL="91425" marR="91425" marT="91425" marB="91425">
                    <a:lnB w="9525" cap="flat" cmpd="sng">
                      <a:solidFill>
                        <a:srgbClr val="666666"/>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15054820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51"/>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9-2.データベース</a:t>
            </a:r>
            <a:endParaRPr>
              <a:highlight>
                <a:srgbClr val="D9D9D9"/>
              </a:highlight>
            </a:endParaRPr>
          </a:p>
        </p:txBody>
      </p:sp>
      <p:pic>
        <p:nvPicPr>
          <p:cNvPr id="355" name="Google Shape;355;p51"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56" name="Google Shape;356;p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65</a:t>
            </a:fld>
            <a:endParaRPr/>
          </a:p>
        </p:txBody>
      </p:sp>
      <p:graphicFrame>
        <p:nvGraphicFramePr>
          <p:cNvPr id="357" name="Google Shape;357;p51"/>
          <p:cNvGraphicFramePr/>
          <p:nvPr/>
        </p:nvGraphicFramePr>
        <p:xfrm>
          <a:off x="510975" y="1104988"/>
          <a:ext cx="7763550" cy="3907479"/>
        </p:xfrm>
        <a:graphic>
          <a:graphicData uri="http://schemas.openxmlformats.org/drawingml/2006/table">
            <a:tbl>
              <a:tblPr>
                <a:noFill/>
                <a:tableStyleId>{87A281C8-0844-4F7E-8F5C-31C3930F0FE5}</a:tableStyleId>
              </a:tblPr>
              <a:tblGrid>
                <a:gridCol w="1616150">
                  <a:extLst>
                    <a:ext uri="{9D8B030D-6E8A-4147-A177-3AD203B41FA5}">
                      <a16:colId xmlns:a16="http://schemas.microsoft.com/office/drawing/2014/main" val="20000"/>
                    </a:ext>
                  </a:extLst>
                </a:gridCol>
                <a:gridCol w="3142725">
                  <a:extLst>
                    <a:ext uri="{9D8B030D-6E8A-4147-A177-3AD203B41FA5}">
                      <a16:colId xmlns:a16="http://schemas.microsoft.com/office/drawing/2014/main" val="20001"/>
                    </a:ext>
                  </a:extLst>
                </a:gridCol>
                <a:gridCol w="3004675">
                  <a:extLst>
                    <a:ext uri="{9D8B030D-6E8A-4147-A177-3AD203B41FA5}">
                      <a16:colId xmlns:a16="http://schemas.microsoft.com/office/drawing/2014/main" val="20002"/>
                    </a:ext>
                  </a:extLst>
                </a:gridCol>
              </a:tblGrid>
              <a:tr h="550375">
                <a:tc>
                  <a:txBody>
                    <a:bodyPr/>
                    <a:lstStyle/>
                    <a:p>
                      <a:pPr marL="0" lvl="0" indent="0" algn="l" rtl="0">
                        <a:spcBef>
                          <a:spcPts val="0"/>
                        </a:spcBef>
                        <a:spcAft>
                          <a:spcPts val="0"/>
                        </a:spcAft>
                        <a:buNone/>
                      </a:pPr>
                      <a:r>
                        <a:rPr lang="ja" sz="1200" b="1">
                          <a:solidFill>
                            <a:schemeClr val="dk2"/>
                          </a:solidFill>
                        </a:rPr>
                        <a:t>特徴</a:t>
                      </a:r>
                      <a:endParaRPr sz="12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ja" sz="1200" b="1">
                          <a:solidFill>
                            <a:schemeClr val="dk2"/>
                          </a:solidFill>
                        </a:rPr>
                        <a:t>Auroraサーバレス</a:t>
                      </a:r>
                      <a:endParaRPr sz="1200" b="1">
                        <a:solidFill>
                          <a:schemeClr val="dk2"/>
                        </a:solidFill>
                      </a:endParaRPr>
                    </a:p>
                    <a:p>
                      <a:pPr marL="0" lvl="0" indent="0" algn="l" rtl="0">
                        <a:spcBef>
                          <a:spcPts val="0"/>
                        </a:spcBef>
                        <a:spcAft>
                          <a:spcPts val="0"/>
                        </a:spcAft>
                        <a:buNone/>
                      </a:pPr>
                      <a:r>
                        <a:rPr lang="ja" sz="1200" b="1">
                          <a:solidFill>
                            <a:srgbClr val="FF0000"/>
                          </a:solidFill>
                        </a:rPr>
                        <a:t>※採用※</a:t>
                      </a:r>
                      <a:endParaRPr sz="1200" b="1">
                        <a:solidFill>
                          <a:srgbClr val="FF0000"/>
                        </a:solidFill>
                      </a:endParaRPr>
                    </a:p>
                  </a:txBody>
                  <a:tcPr marL="91425" marR="91425" marT="91425" marB="91425">
                    <a:lnB w="9525" cap="flat" cmpd="sng">
                      <a:solidFill>
                        <a:srgbClr val="9E9E9E"/>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r>
                        <a:rPr lang="ja" sz="1200" b="1">
                          <a:solidFill>
                            <a:schemeClr val="dk2"/>
                          </a:solidFill>
                        </a:rPr>
                        <a:t>RDS</a:t>
                      </a:r>
                      <a:endParaRPr sz="1200" b="1">
                        <a:solidFill>
                          <a:schemeClr val="dk2"/>
                        </a:solidFill>
                      </a:endParaRPr>
                    </a:p>
                  </a:txBody>
                  <a:tcPr marL="91425" marR="91425" marT="91425" marB="91425">
                    <a:lnB w="9525" cap="flat" cmpd="sng">
                      <a:solidFill>
                        <a:schemeClr val="dk1"/>
                      </a:solidFill>
                      <a:prstDash val="solid"/>
                      <a:round/>
                      <a:headEnd type="none" w="sm" len="sm"/>
                      <a:tailEnd type="none" w="sm" len="sm"/>
                    </a:lnB>
                    <a:solidFill>
                      <a:schemeClr val="lt2"/>
                    </a:solidFill>
                  </a:tcPr>
                </a:tc>
                <a:extLst>
                  <a:ext uri="{0D108BD9-81ED-4DB2-BD59-A6C34878D82A}">
                    <a16:rowId xmlns:a16="http://schemas.microsoft.com/office/drawing/2014/main" val="10000"/>
                  </a:ext>
                </a:extLst>
              </a:tr>
              <a:tr h="1539650">
                <a:tc>
                  <a:txBody>
                    <a:bodyPr/>
                    <a:lstStyle/>
                    <a:p>
                      <a:pPr marL="0" lvl="0" indent="0" algn="l" rtl="0">
                        <a:spcBef>
                          <a:spcPts val="0"/>
                        </a:spcBef>
                        <a:spcAft>
                          <a:spcPts val="0"/>
                        </a:spcAft>
                        <a:buNone/>
                      </a:pPr>
                      <a:r>
                        <a:rPr lang="ja" sz="1200"/>
                        <a:t>ユースケース</a:t>
                      </a:r>
                      <a:endParaRPr sz="12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ja" sz="1200">
                          <a:solidFill>
                            <a:srgbClr val="0F141A"/>
                          </a:solidFill>
                          <a:highlight>
                            <a:srgbClr val="FFFFFF"/>
                          </a:highlight>
                        </a:rPr>
                        <a:t>・負荷が一定ではない</a:t>
                      </a:r>
                      <a:endParaRPr sz="1200">
                        <a:solidFill>
                          <a:srgbClr val="0F141A"/>
                        </a:solidFill>
                        <a:highlight>
                          <a:srgbClr val="FFFFFF"/>
                        </a:highlight>
                      </a:endParaRPr>
                    </a:p>
                    <a:p>
                      <a:pPr marL="0" lvl="0" indent="0" algn="l" rtl="0">
                        <a:spcBef>
                          <a:spcPts val="0"/>
                        </a:spcBef>
                        <a:spcAft>
                          <a:spcPts val="0"/>
                        </a:spcAft>
                        <a:buNone/>
                      </a:pPr>
                      <a:r>
                        <a:rPr lang="ja" sz="1200">
                          <a:solidFill>
                            <a:srgbClr val="0F141A"/>
                          </a:solidFill>
                          <a:highlight>
                            <a:srgbClr val="FFFFFF"/>
                          </a:highlight>
                        </a:rPr>
                        <a:t>・突然で予測不可能なアクティビティの増加が発生する可能性がある</a:t>
                      </a:r>
                      <a:endParaRPr sz="1200">
                        <a:solidFill>
                          <a:srgbClr val="0F141A"/>
                        </a:solidFill>
                        <a:highlight>
                          <a:srgbClr val="FFFFFF"/>
                        </a:highlight>
                      </a:endParaRPr>
                    </a:p>
                    <a:p>
                      <a:pPr marL="0" lvl="0" indent="0" algn="l" rtl="0">
                        <a:lnSpc>
                          <a:spcPct val="137500"/>
                        </a:lnSpc>
                        <a:spcBef>
                          <a:spcPts val="600"/>
                        </a:spcBef>
                        <a:spcAft>
                          <a:spcPts val="2100"/>
                        </a:spcAft>
                        <a:buNone/>
                      </a:pPr>
                      <a:r>
                        <a:rPr lang="ja" sz="1200">
                          <a:solidFill>
                            <a:srgbClr val="0F141A"/>
                          </a:solidFill>
                          <a:highlight>
                            <a:srgbClr val="FFFFFF"/>
                          </a:highlight>
                        </a:rPr>
                        <a:t>・ステージング環境などで、データベースが使用されていない場合は、すべての DB インスタンスがスケールダウンすることで、不要な料金が発生させたくない</a:t>
                      </a:r>
                      <a:endParaRPr sz="1200">
                        <a:solidFill>
                          <a:srgbClr val="0F141A"/>
                        </a:solidFill>
                        <a:highlight>
                          <a:srgbClr val="FFFFFF"/>
                        </a:highlight>
                      </a:endParaRPr>
                    </a:p>
                  </a:txBody>
                  <a:tcPr marL="91425" marR="91425" marT="91425" marB="91425">
                    <a:lnL w="9525" cap="flat" cmpd="sng">
                      <a:solidFill>
                        <a:srgbClr val="9E9E9E"/>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ja" sz="1200">
                          <a:solidFill>
                            <a:schemeClr val="dk1"/>
                          </a:solidFill>
                          <a:highlight>
                            <a:srgbClr val="FFFFFF"/>
                          </a:highlight>
                        </a:rPr>
                        <a:t>存のデータベースをAWSに移行したい</a:t>
                      </a:r>
                      <a:endParaRPr sz="1200">
                        <a:solidFill>
                          <a:schemeClr val="dk1"/>
                        </a:solidFill>
                        <a:highlight>
                          <a:srgbClr val="FFFFFF"/>
                        </a:highlight>
                      </a:endParaRPr>
                    </a:p>
                    <a:p>
                      <a:pPr marL="0" lvl="0" indent="0" algn="l" rtl="0">
                        <a:spcBef>
                          <a:spcPts val="0"/>
                        </a:spcBef>
                        <a:spcAft>
                          <a:spcPts val="0"/>
                        </a:spcAft>
                        <a:buNone/>
                      </a:pPr>
                      <a:r>
                        <a:rPr lang="ja" sz="1200">
                          <a:solidFill>
                            <a:schemeClr val="dk1"/>
                          </a:solidFill>
                          <a:highlight>
                            <a:srgbClr val="FFFFFF"/>
                          </a:highlight>
                        </a:rPr>
                        <a:t>・データベースの運用管理を自分でコントロールしたい</a:t>
                      </a:r>
                      <a:endParaRPr sz="1200">
                        <a:solidFill>
                          <a:schemeClr val="dk1"/>
                        </a:solidFill>
                        <a:highlight>
                          <a:srgbClr val="FFFFFF"/>
                        </a:highlight>
                      </a:endParaRPr>
                    </a:p>
                    <a:p>
                      <a:pPr marL="0" lvl="0" indent="0" algn="l" rtl="0">
                        <a:spcBef>
                          <a:spcPts val="0"/>
                        </a:spcBef>
                        <a:spcAft>
                          <a:spcPts val="0"/>
                        </a:spcAft>
                        <a:buNone/>
                      </a:pPr>
                      <a:r>
                        <a:rPr lang="ja" sz="1200">
                          <a:solidFill>
                            <a:schemeClr val="dk1"/>
                          </a:solidFill>
                          <a:highlight>
                            <a:srgbClr val="FFFFFF"/>
                          </a:highlight>
                        </a:rPr>
                        <a:t>・既</a:t>
                      </a:r>
                      <a:endParaRPr sz="1200">
                        <a:solidFill>
                          <a:srgbClr val="545D7E"/>
                        </a:solidFill>
                        <a:highlight>
                          <a:srgbClr val="FFFFFF"/>
                        </a:highlight>
                      </a:endParaRPr>
                    </a:p>
                    <a:p>
                      <a:pPr marL="0" lvl="0" indent="0" algn="l" rtl="0">
                        <a:spcBef>
                          <a:spcPts val="0"/>
                        </a:spcBef>
                        <a:spcAft>
                          <a:spcPts val="0"/>
                        </a:spcAft>
                        <a:buNone/>
                      </a:pPr>
                      <a:endParaRPr sz="12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32750">
                <a:tc>
                  <a:txBody>
                    <a:bodyPr/>
                    <a:lstStyle/>
                    <a:p>
                      <a:pPr marL="0" lvl="0" indent="0" algn="l" rtl="0">
                        <a:spcBef>
                          <a:spcPts val="0"/>
                        </a:spcBef>
                        <a:spcAft>
                          <a:spcPts val="0"/>
                        </a:spcAft>
                        <a:buNone/>
                      </a:pPr>
                      <a:r>
                        <a:rPr lang="ja" sz="1200"/>
                        <a:t>インスタンス管理</a:t>
                      </a:r>
                      <a:endParaRPr sz="12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ja" sz="1200"/>
                        <a:t>AWSが管理</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ja" sz="1200"/>
                        <a:t>手動管理</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405750">
                <a:tc>
                  <a:txBody>
                    <a:bodyPr/>
                    <a:lstStyle/>
                    <a:p>
                      <a:pPr marL="0" lvl="0" indent="0" algn="l" rtl="0">
                        <a:spcBef>
                          <a:spcPts val="0"/>
                        </a:spcBef>
                        <a:spcAft>
                          <a:spcPts val="0"/>
                        </a:spcAft>
                        <a:buNone/>
                      </a:pPr>
                      <a:r>
                        <a:rPr lang="ja" sz="1200"/>
                        <a:t>スケーリング</a:t>
                      </a:r>
                      <a:endParaRPr sz="12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ja" sz="1200"/>
                        <a:t>自動。ACU（処理性能）を調整</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ja" sz="1200"/>
                        <a:t>手動</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677425">
                <a:tc>
                  <a:txBody>
                    <a:bodyPr/>
                    <a:lstStyle/>
                    <a:p>
                      <a:pPr marL="0" lvl="0" indent="0" algn="l" rtl="0">
                        <a:spcBef>
                          <a:spcPts val="0"/>
                        </a:spcBef>
                        <a:spcAft>
                          <a:spcPts val="0"/>
                        </a:spcAft>
                        <a:buNone/>
                      </a:pPr>
                      <a:r>
                        <a:rPr lang="ja" sz="1200"/>
                        <a:t>コスト</a:t>
                      </a:r>
                      <a:endParaRPr sz="12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ja" sz="1200">
                          <a:solidFill>
                            <a:srgbClr val="001D35"/>
                          </a:solidFill>
                          <a:highlight>
                            <a:srgbClr val="FFFFFF"/>
                          </a:highlight>
                        </a:rPr>
                        <a:t>データベースの利用量（CPU、メモリ、ストレージ）に応じて課金される</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ja" sz="1200">
                          <a:solidFill>
                            <a:srgbClr val="001D35"/>
                          </a:solidFill>
                          <a:highlight>
                            <a:srgbClr val="FFFFFF"/>
                          </a:highlight>
                        </a:rPr>
                        <a:t>DBインスタンスのサイズや種類によって課金される。使用量に応じて課金される場合もある</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353">
          <a:extLst>
            <a:ext uri="{FF2B5EF4-FFF2-40B4-BE49-F238E27FC236}">
              <a16:creationId xmlns:a16="http://schemas.microsoft.com/office/drawing/2014/main" id="{2E6FA803-72B0-B1DF-DA12-A501E01412FF}"/>
            </a:ext>
          </a:extLst>
        </p:cNvPr>
        <p:cNvGrpSpPr/>
        <p:nvPr/>
      </p:nvGrpSpPr>
      <p:grpSpPr>
        <a:xfrm>
          <a:off x="0" y="0"/>
          <a:ext cx="0" cy="0"/>
          <a:chOff x="0" y="0"/>
          <a:chExt cx="0" cy="0"/>
        </a:xfrm>
      </p:grpSpPr>
      <p:sp>
        <p:nvSpPr>
          <p:cNvPr id="354" name="Google Shape;354;p51">
            <a:extLst>
              <a:ext uri="{FF2B5EF4-FFF2-40B4-BE49-F238E27FC236}">
                <a16:creationId xmlns:a16="http://schemas.microsoft.com/office/drawing/2014/main" id="{4283B69F-0420-FD2D-6A38-8BB142D2FA71}"/>
              </a:ext>
            </a:extLst>
          </p:cNvPr>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dirty="0">
                <a:highlight>
                  <a:srgbClr val="D9D9D9"/>
                </a:highlight>
              </a:rPr>
              <a:t>9-2.</a:t>
            </a:r>
            <a:r>
              <a:rPr lang="en-US" altLang="ja" dirty="0">
                <a:highlight>
                  <a:srgbClr val="D9D9D9"/>
                </a:highlight>
              </a:rPr>
              <a:t>Database</a:t>
            </a:r>
            <a:endParaRPr dirty="0">
              <a:highlight>
                <a:srgbClr val="D9D9D9"/>
              </a:highlight>
            </a:endParaRPr>
          </a:p>
        </p:txBody>
      </p:sp>
      <p:pic>
        <p:nvPicPr>
          <p:cNvPr id="355" name="Google Shape;355;p51" title="logo-luvina-2022-2.png">
            <a:extLst>
              <a:ext uri="{FF2B5EF4-FFF2-40B4-BE49-F238E27FC236}">
                <a16:creationId xmlns:a16="http://schemas.microsoft.com/office/drawing/2014/main" id="{B9A75A02-6085-2911-7893-6E86CCFA5352}"/>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56" name="Google Shape;356;p51">
            <a:extLst>
              <a:ext uri="{FF2B5EF4-FFF2-40B4-BE49-F238E27FC236}">
                <a16:creationId xmlns:a16="http://schemas.microsoft.com/office/drawing/2014/main" id="{3C4CF188-43F3-6476-279A-B9671BBA9821}"/>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66</a:t>
            </a:fld>
            <a:endParaRPr/>
          </a:p>
        </p:txBody>
      </p:sp>
      <p:graphicFrame>
        <p:nvGraphicFramePr>
          <p:cNvPr id="357" name="Google Shape;357;p51">
            <a:extLst>
              <a:ext uri="{FF2B5EF4-FFF2-40B4-BE49-F238E27FC236}">
                <a16:creationId xmlns:a16="http://schemas.microsoft.com/office/drawing/2014/main" id="{4EBC4CBF-6DA4-D7CB-A1F8-21FC411188DE}"/>
              </a:ext>
            </a:extLst>
          </p:cNvPr>
          <p:cNvGraphicFramePr/>
          <p:nvPr>
            <p:extLst>
              <p:ext uri="{D42A27DB-BD31-4B8C-83A1-F6EECF244321}">
                <p14:modId xmlns:p14="http://schemas.microsoft.com/office/powerpoint/2010/main" val="72264950"/>
              </p:ext>
            </p:extLst>
          </p:nvPr>
        </p:nvGraphicFramePr>
        <p:xfrm>
          <a:off x="510975" y="1104988"/>
          <a:ext cx="7763550" cy="4274875"/>
        </p:xfrm>
        <a:graphic>
          <a:graphicData uri="http://schemas.openxmlformats.org/drawingml/2006/table">
            <a:tbl>
              <a:tblPr>
                <a:noFill/>
                <a:tableStyleId>{87A281C8-0844-4F7E-8F5C-31C3930F0FE5}</a:tableStyleId>
              </a:tblPr>
              <a:tblGrid>
                <a:gridCol w="1616150">
                  <a:extLst>
                    <a:ext uri="{9D8B030D-6E8A-4147-A177-3AD203B41FA5}">
                      <a16:colId xmlns:a16="http://schemas.microsoft.com/office/drawing/2014/main" val="20000"/>
                    </a:ext>
                  </a:extLst>
                </a:gridCol>
                <a:gridCol w="3142725">
                  <a:extLst>
                    <a:ext uri="{9D8B030D-6E8A-4147-A177-3AD203B41FA5}">
                      <a16:colId xmlns:a16="http://schemas.microsoft.com/office/drawing/2014/main" val="20001"/>
                    </a:ext>
                  </a:extLst>
                </a:gridCol>
                <a:gridCol w="3004675">
                  <a:extLst>
                    <a:ext uri="{9D8B030D-6E8A-4147-A177-3AD203B41FA5}">
                      <a16:colId xmlns:a16="http://schemas.microsoft.com/office/drawing/2014/main" val="20002"/>
                    </a:ext>
                  </a:extLst>
                </a:gridCol>
              </a:tblGrid>
              <a:tr h="550375">
                <a:tc>
                  <a:txBody>
                    <a:bodyPr/>
                    <a:lstStyle/>
                    <a:p>
                      <a:pPr marL="0" lvl="0" indent="0" algn="l" rtl="0">
                        <a:spcBef>
                          <a:spcPts val="0"/>
                        </a:spcBef>
                        <a:spcAft>
                          <a:spcPts val="0"/>
                        </a:spcAft>
                        <a:buNone/>
                      </a:pPr>
                      <a:r>
                        <a:rPr lang="en-US" sz="1200" dirty="0" err="1"/>
                        <a:t>Đặc</a:t>
                      </a:r>
                      <a:r>
                        <a:rPr lang="en-US" sz="1200" dirty="0"/>
                        <a:t> </a:t>
                      </a:r>
                      <a:r>
                        <a:rPr lang="en-US" sz="1200" dirty="0" err="1"/>
                        <a:t>điểm</a:t>
                      </a:r>
                      <a:r>
                        <a:rPr lang="en-US" sz="1200" dirty="0"/>
                        <a:t> / </a:t>
                      </a:r>
                      <a:r>
                        <a:rPr lang="en-US" sz="1200" dirty="0" err="1"/>
                        <a:t>Tính</a:t>
                      </a:r>
                      <a:r>
                        <a:rPr lang="en-US" sz="1200" dirty="0"/>
                        <a:t> </a:t>
                      </a:r>
                      <a:r>
                        <a:rPr lang="en-US" sz="1200" dirty="0" err="1"/>
                        <a:t>năng</a:t>
                      </a:r>
                      <a:endParaRPr sz="1200" b="1" dirty="0">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vi-VN" sz="1200" dirty="0"/>
                        <a:t>Aurora Serverless</a:t>
                      </a:r>
                      <a:br>
                        <a:rPr lang="vi-VN" sz="1200" dirty="0"/>
                      </a:br>
                      <a:r>
                        <a:rPr lang="vi-VN" sz="1200" b="1" dirty="0">
                          <a:solidFill>
                            <a:srgbClr val="FF0000"/>
                          </a:solidFill>
                        </a:rPr>
                        <a:t>※Được áp dụng※</a:t>
                      </a:r>
                      <a:endParaRPr sz="1200" b="1" dirty="0">
                        <a:solidFill>
                          <a:srgbClr val="FF0000"/>
                        </a:solidFill>
                      </a:endParaRPr>
                    </a:p>
                  </a:txBody>
                  <a:tcPr marL="91425" marR="91425" marT="91425" marB="91425">
                    <a:lnB w="9525" cap="flat" cmpd="sng">
                      <a:solidFill>
                        <a:srgbClr val="9E9E9E"/>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r>
                        <a:rPr lang="ja" sz="1200" b="1">
                          <a:solidFill>
                            <a:schemeClr val="dk2"/>
                          </a:solidFill>
                        </a:rPr>
                        <a:t>RDS</a:t>
                      </a:r>
                      <a:endParaRPr sz="1200" b="1">
                        <a:solidFill>
                          <a:schemeClr val="dk2"/>
                        </a:solidFill>
                      </a:endParaRPr>
                    </a:p>
                  </a:txBody>
                  <a:tcPr marL="91425" marR="91425" marT="91425" marB="91425">
                    <a:lnB w="9525" cap="flat" cmpd="sng">
                      <a:solidFill>
                        <a:schemeClr val="dk1"/>
                      </a:solidFill>
                      <a:prstDash val="solid"/>
                      <a:round/>
                      <a:headEnd type="none" w="sm" len="sm"/>
                      <a:tailEnd type="none" w="sm" len="sm"/>
                    </a:lnB>
                    <a:solidFill>
                      <a:schemeClr val="lt2"/>
                    </a:solidFill>
                  </a:tcPr>
                </a:tc>
                <a:extLst>
                  <a:ext uri="{0D108BD9-81ED-4DB2-BD59-A6C34878D82A}">
                    <a16:rowId xmlns:a16="http://schemas.microsoft.com/office/drawing/2014/main" val="10000"/>
                  </a:ext>
                </a:extLst>
              </a:tr>
              <a:tr h="1539650">
                <a:tc>
                  <a:txBody>
                    <a:bodyPr/>
                    <a:lstStyle/>
                    <a:p>
                      <a:pPr marL="0" lvl="0" indent="0" algn="l" rtl="0">
                        <a:spcBef>
                          <a:spcPts val="0"/>
                        </a:spcBef>
                        <a:spcAft>
                          <a:spcPts val="0"/>
                        </a:spcAft>
                        <a:buNone/>
                      </a:pPr>
                      <a:r>
                        <a:rPr lang="en-US" sz="1200" dirty="0"/>
                        <a:t>User case</a:t>
                      </a:r>
                      <a:endParaRPr sz="1200" dirty="0"/>
                    </a:p>
                  </a:txBody>
                  <a:tcPr marL="91425" marR="91425" marT="91425" marB="91425">
                    <a:lnR w="9525" cap="flat" cmpd="sng">
                      <a:solidFill>
                        <a:srgbClr val="9E9E9E"/>
                      </a:solidFill>
                      <a:prstDash val="solid"/>
                      <a:round/>
                      <a:headEnd type="none" w="sm" len="sm"/>
                      <a:tailEnd type="none" w="sm" len="sm"/>
                    </a:lnR>
                  </a:tcPr>
                </a:tc>
                <a:tc>
                  <a:txBody>
                    <a:bodyPr/>
                    <a:lstStyle/>
                    <a:p>
                      <a:r>
                        <a:rPr lang="ja-JP" altLang="en-US" sz="1200" dirty="0">
                          <a:highlight>
                            <a:srgbClr val="FFFFFF"/>
                          </a:highlight>
                        </a:rPr>
                        <a:t>・</a:t>
                      </a:r>
                      <a:r>
                        <a:rPr lang="vi-VN" sz="1200" dirty="0">
                          <a:highlight>
                            <a:srgbClr val="FFFFFF"/>
                          </a:highlight>
                        </a:rPr>
                        <a:t>Tải trọng không ổn định</a:t>
                      </a:r>
                    </a:p>
                    <a:p>
                      <a:r>
                        <a:rPr lang="ja-JP" altLang="en-US" sz="1200" dirty="0">
                          <a:highlight>
                            <a:srgbClr val="FFFFFF"/>
                          </a:highlight>
                        </a:rPr>
                        <a:t>・</a:t>
                      </a:r>
                      <a:r>
                        <a:rPr lang="vi-VN" sz="1200" dirty="0">
                          <a:highlight>
                            <a:srgbClr val="FFFFFF"/>
                          </a:highlight>
                        </a:rPr>
                        <a:t>Có khả năng xảy ra tình trạng gia tăng hoạt động đột ngột và không thể dự đoán trước</a:t>
                      </a:r>
                    </a:p>
                    <a:p>
                      <a:r>
                        <a:rPr lang="ja-JP" altLang="en-US" sz="1200" dirty="0">
                          <a:highlight>
                            <a:srgbClr val="FFFFFF"/>
                          </a:highlight>
                        </a:rPr>
                        <a:t>・</a:t>
                      </a:r>
                      <a:r>
                        <a:rPr lang="vi-VN" sz="1200" dirty="0">
                          <a:highlight>
                            <a:srgbClr val="FFFFFF"/>
                          </a:highlight>
                        </a:rPr>
                        <a:t>Trong các môi trường như staging, khi cơ sở dữ liệu không được sử dụng, tất cả các phiên bản DB có thể tự động scale-down nhằm tránh phát sinh chi phí không cần thiết</a:t>
                      </a:r>
                    </a:p>
                  </a:txBody>
                  <a:tcPr marL="91425" marR="91425" marT="91425" marB="91425">
                    <a:lnL w="9525" cap="flat" cmpd="sng">
                      <a:solidFill>
                        <a:srgbClr val="9E9E9E"/>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r>
                        <a:rPr lang="vi-VN" sz="1200" dirty="0">
                          <a:highlight>
                            <a:srgbClr val="FFFFFF"/>
                          </a:highlight>
                        </a:rPr>
                        <a:t>Tôi muốn chuyển cơ sở dữ liệu hiện có sang AWS</a:t>
                      </a:r>
                    </a:p>
                    <a:p>
                      <a:r>
                        <a:rPr lang="ja-JP" altLang="en-US" sz="1200" dirty="0">
                          <a:highlight>
                            <a:srgbClr val="FFFFFF"/>
                          </a:highlight>
                        </a:rPr>
                        <a:t>・</a:t>
                      </a:r>
                      <a:r>
                        <a:rPr lang="vi-VN" sz="1200" dirty="0">
                          <a:highlight>
                            <a:srgbClr val="FFFFFF"/>
                          </a:highlight>
                        </a:rPr>
                        <a:t>Muốn tự kiểm soát việc vận hành và quản lý cơ sở dữ liệu</a:t>
                      </a:r>
                    </a:p>
                    <a:p>
                      <a:r>
                        <a:rPr lang="ja-JP" altLang="en-US" sz="1200" dirty="0">
                          <a:highlight>
                            <a:srgbClr val="FFFFFF"/>
                          </a:highlight>
                        </a:rPr>
                        <a:t>・</a:t>
                      </a:r>
                      <a:r>
                        <a:rPr lang="vi-VN" sz="1200" dirty="0">
                          <a:highlight>
                            <a:srgbClr val="FFFFFF"/>
                          </a:highlight>
                        </a:rPr>
                        <a:t>Hiện tại </a:t>
                      </a:r>
                      <a:endParaRPr sz="1200" dirty="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32750">
                <a:tc>
                  <a:txBody>
                    <a:bodyPr/>
                    <a:lstStyle/>
                    <a:p>
                      <a:pPr marL="0" lvl="0" indent="0" algn="l" rtl="0">
                        <a:spcBef>
                          <a:spcPts val="0"/>
                        </a:spcBef>
                        <a:spcAft>
                          <a:spcPts val="0"/>
                        </a:spcAft>
                        <a:buNone/>
                      </a:pPr>
                      <a:r>
                        <a:rPr lang="en-US" sz="1200" dirty="0"/>
                        <a:t>Quản </a:t>
                      </a:r>
                      <a:r>
                        <a:rPr lang="en-US" sz="1200" dirty="0" err="1"/>
                        <a:t>lý</a:t>
                      </a:r>
                      <a:r>
                        <a:rPr lang="en-US" sz="1200" dirty="0"/>
                        <a:t> instance </a:t>
                      </a:r>
                      <a:endParaRPr sz="1200" dirty="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US" altLang="ja-JP" sz="1200" dirty="0"/>
                        <a:t>Quản </a:t>
                      </a:r>
                      <a:r>
                        <a:rPr lang="en-US" altLang="ja-JP" sz="1200" dirty="0" err="1"/>
                        <a:t>lý</a:t>
                      </a:r>
                      <a:r>
                        <a:rPr lang="en-US" altLang="ja-JP" sz="1200" dirty="0"/>
                        <a:t> </a:t>
                      </a:r>
                      <a:r>
                        <a:rPr lang="ja" sz="1200" dirty="0"/>
                        <a:t>AWS</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ltLang="ja" sz="1200" dirty="0" err="1"/>
                        <a:t>Thủ</a:t>
                      </a:r>
                      <a:r>
                        <a:rPr lang="en-US" altLang="ja" sz="1200" dirty="0"/>
                        <a:t> </a:t>
                      </a:r>
                      <a:r>
                        <a:rPr lang="en-US" altLang="ja" sz="1200" dirty="0" err="1"/>
                        <a:t>công</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405750">
                <a:tc>
                  <a:txBody>
                    <a:bodyPr/>
                    <a:lstStyle/>
                    <a:p>
                      <a:pPr marL="0" lvl="0" indent="0" algn="l" rtl="0">
                        <a:spcBef>
                          <a:spcPts val="0"/>
                        </a:spcBef>
                        <a:spcAft>
                          <a:spcPts val="0"/>
                        </a:spcAft>
                        <a:buNone/>
                      </a:pPr>
                      <a:r>
                        <a:rPr lang="en-US" sz="1200" dirty="0"/>
                        <a:t>(scaling) </a:t>
                      </a:r>
                      <a:r>
                        <a:rPr lang="en-US" sz="1200" dirty="0" err="1"/>
                        <a:t>Khả</a:t>
                      </a:r>
                      <a:r>
                        <a:rPr lang="en-US" sz="1200" dirty="0"/>
                        <a:t> </a:t>
                      </a:r>
                      <a:r>
                        <a:rPr lang="en-US" sz="1200" dirty="0" err="1"/>
                        <a:t>năng</a:t>
                      </a:r>
                      <a:r>
                        <a:rPr lang="en-US" sz="1200" dirty="0"/>
                        <a:t> </a:t>
                      </a:r>
                      <a:r>
                        <a:rPr lang="en-US" sz="1200" dirty="0" err="1"/>
                        <a:t>mở</a:t>
                      </a:r>
                      <a:r>
                        <a:rPr lang="en-US" sz="1200" dirty="0"/>
                        <a:t> </a:t>
                      </a:r>
                      <a:r>
                        <a:rPr lang="en-US" sz="1200" dirty="0" err="1"/>
                        <a:t>rộng</a:t>
                      </a:r>
                      <a:endParaRPr sz="1200" dirty="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US" sz="1200" dirty="0" err="1"/>
                        <a:t>Tự</a:t>
                      </a:r>
                      <a:r>
                        <a:rPr lang="en-US" sz="1200" dirty="0"/>
                        <a:t> </a:t>
                      </a:r>
                      <a:r>
                        <a:rPr lang="en-US" sz="1200" dirty="0" err="1"/>
                        <a:t>động</a:t>
                      </a:r>
                      <a:r>
                        <a:rPr lang="en-US" sz="1200" dirty="0"/>
                        <a:t> </a:t>
                      </a:r>
                      <a:r>
                        <a:rPr lang="en-US" sz="1200" dirty="0" err="1"/>
                        <a:t>điều</a:t>
                      </a:r>
                      <a:r>
                        <a:rPr lang="en-US" sz="1200" dirty="0"/>
                        <a:t> </a:t>
                      </a:r>
                      <a:r>
                        <a:rPr lang="en-US" sz="1200" dirty="0" err="1"/>
                        <a:t>chỉnh</a:t>
                      </a:r>
                      <a:r>
                        <a:rPr lang="en-US" sz="1200" dirty="0"/>
                        <a:t> ACU (</a:t>
                      </a:r>
                      <a:r>
                        <a:rPr lang="en-US" sz="1200" dirty="0" err="1"/>
                        <a:t>năng</a:t>
                      </a:r>
                      <a:r>
                        <a:rPr lang="en-US" sz="1200" dirty="0"/>
                        <a:t> </a:t>
                      </a:r>
                      <a:r>
                        <a:rPr lang="en-US" sz="1200" dirty="0" err="1"/>
                        <a:t>lực</a:t>
                      </a:r>
                      <a:r>
                        <a:rPr lang="en-US" sz="1200" dirty="0"/>
                        <a:t> </a:t>
                      </a:r>
                      <a:r>
                        <a:rPr lang="en-US" sz="1200" dirty="0" err="1"/>
                        <a:t>xử</a:t>
                      </a:r>
                      <a:r>
                        <a:rPr lang="en-US" sz="1200" dirty="0"/>
                        <a:t> </a:t>
                      </a:r>
                      <a:r>
                        <a:rPr lang="en-US" sz="1200" dirty="0" err="1"/>
                        <a:t>lý</a:t>
                      </a:r>
                      <a:r>
                        <a:rPr lang="en-US" sz="1200" dirty="0"/>
                        <a:t>)</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ltLang="ja" sz="1200" dirty="0" err="1"/>
                        <a:t>Thủ</a:t>
                      </a:r>
                      <a:r>
                        <a:rPr lang="en-US" altLang="ja" sz="1200" dirty="0"/>
                        <a:t> </a:t>
                      </a:r>
                      <a:r>
                        <a:rPr lang="en-US" altLang="ja" sz="1200" dirty="0" err="1"/>
                        <a:t>công</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677425">
                <a:tc>
                  <a:txBody>
                    <a:bodyPr/>
                    <a:lstStyle/>
                    <a:p>
                      <a:pPr marL="0" lvl="0" indent="0" algn="l" rtl="0">
                        <a:spcBef>
                          <a:spcPts val="0"/>
                        </a:spcBef>
                        <a:spcAft>
                          <a:spcPts val="0"/>
                        </a:spcAft>
                        <a:buNone/>
                      </a:pPr>
                      <a:r>
                        <a:rPr lang="en-US" sz="1200" dirty="0"/>
                        <a:t>Cost</a:t>
                      </a:r>
                      <a:endParaRPr sz="1200" dirty="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US" sz="1200" dirty="0">
                          <a:highlight>
                            <a:srgbClr val="FFFFFF"/>
                          </a:highlight>
                        </a:rPr>
                        <a:t>Chi p</a:t>
                      </a:r>
                      <a:r>
                        <a:rPr lang="vi-VN" sz="1200" dirty="0">
                          <a:highlight>
                            <a:srgbClr val="FFFFFF"/>
                          </a:highlight>
                        </a:rPr>
                        <a:t>hí được tính dựa trên mức sử dụng cơ sở dữ liệu (CPU, bộ nhớ, lưu trữ)</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vi-VN" sz="1200" dirty="0">
                          <a:highlight>
                            <a:srgbClr val="FFFFFF"/>
                          </a:highlight>
                        </a:rPr>
                        <a:t>Phí được tính dựa trên kích thước và loại của instance cơ sở dữ liệu (DB instance).</a:t>
                      </a:r>
                      <a:br>
                        <a:rPr lang="vi-VN" sz="1200" dirty="0">
                          <a:highlight>
                            <a:srgbClr val="FFFFFF"/>
                          </a:highlight>
                        </a:rPr>
                      </a:br>
                      <a:r>
                        <a:rPr lang="vi-VN" sz="1200" dirty="0">
                          <a:highlight>
                            <a:srgbClr val="FFFFFF"/>
                          </a:highlight>
                        </a:rPr>
                        <a:t>Cũng có trường hợp phí được tính theo mức độ sử dụng.</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54793419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52"/>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9-3.バックアップ</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363" name="Google Shape;363;p52"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64" name="Google Shape;364;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67</a:t>
            </a:fld>
            <a:endParaRPr/>
          </a:p>
        </p:txBody>
      </p:sp>
      <p:graphicFrame>
        <p:nvGraphicFramePr>
          <p:cNvPr id="365" name="Google Shape;365;p52"/>
          <p:cNvGraphicFramePr/>
          <p:nvPr/>
        </p:nvGraphicFramePr>
        <p:xfrm>
          <a:off x="682375" y="1383150"/>
          <a:ext cx="7481950" cy="1615350"/>
        </p:xfrm>
        <a:graphic>
          <a:graphicData uri="http://schemas.openxmlformats.org/drawingml/2006/table">
            <a:tbl>
              <a:tblPr>
                <a:noFill/>
                <a:tableStyleId>{87A281C8-0844-4F7E-8F5C-31C3930F0FE5}</a:tableStyleId>
              </a:tblPr>
              <a:tblGrid>
                <a:gridCol w="1019575">
                  <a:extLst>
                    <a:ext uri="{9D8B030D-6E8A-4147-A177-3AD203B41FA5}">
                      <a16:colId xmlns:a16="http://schemas.microsoft.com/office/drawing/2014/main" val="20000"/>
                    </a:ext>
                  </a:extLst>
                </a:gridCol>
                <a:gridCol w="2154125">
                  <a:extLst>
                    <a:ext uri="{9D8B030D-6E8A-4147-A177-3AD203B41FA5}">
                      <a16:colId xmlns:a16="http://schemas.microsoft.com/office/drawing/2014/main" val="20001"/>
                    </a:ext>
                  </a:extLst>
                </a:gridCol>
                <a:gridCol w="1740775">
                  <a:extLst>
                    <a:ext uri="{9D8B030D-6E8A-4147-A177-3AD203B41FA5}">
                      <a16:colId xmlns:a16="http://schemas.microsoft.com/office/drawing/2014/main" val="20002"/>
                    </a:ext>
                  </a:extLst>
                </a:gridCol>
                <a:gridCol w="2567475">
                  <a:extLst>
                    <a:ext uri="{9D8B030D-6E8A-4147-A177-3AD203B41FA5}">
                      <a16:colId xmlns:a16="http://schemas.microsoft.com/office/drawing/2014/main" val="20003"/>
                    </a:ext>
                  </a:extLst>
                </a:gridCol>
              </a:tblGrid>
              <a:tr h="381000">
                <a:tc>
                  <a:txBody>
                    <a:bodyPr/>
                    <a:lstStyle/>
                    <a:p>
                      <a:pPr marL="0" lvl="0" indent="0" algn="l" rtl="0">
                        <a:spcBef>
                          <a:spcPts val="0"/>
                        </a:spcBef>
                        <a:spcAft>
                          <a:spcPts val="0"/>
                        </a:spcAft>
                        <a:buNone/>
                      </a:pPr>
                      <a:r>
                        <a:rPr lang="ja" b="1"/>
                        <a:t>区分</a:t>
                      </a:r>
                      <a:endParaRPr b="1"/>
                    </a:p>
                  </a:txBody>
                  <a:tcPr marL="91425" marR="91425" marT="91425" marB="91425">
                    <a:solidFill>
                      <a:schemeClr val="lt2"/>
                    </a:solidFill>
                  </a:tcPr>
                </a:tc>
                <a:tc>
                  <a:txBody>
                    <a:bodyPr/>
                    <a:lstStyle/>
                    <a:p>
                      <a:pPr marL="0" lvl="0" indent="0" algn="l" rtl="0">
                        <a:spcBef>
                          <a:spcPts val="0"/>
                        </a:spcBef>
                        <a:spcAft>
                          <a:spcPts val="0"/>
                        </a:spcAft>
                        <a:buNone/>
                      </a:pPr>
                      <a:r>
                        <a:rPr lang="ja" b="1"/>
                        <a:t>内容</a:t>
                      </a:r>
                      <a:endParaRPr b="1"/>
                    </a:p>
                  </a:txBody>
                  <a:tcPr marL="91425" marR="91425" marT="91425" marB="91425">
                    <a:solidFill>
                      <a:schemeClr val="lt2"/>
                    </a:solidFill>
                  </a:tcPr>
                </a:tc>
                <a:tc>
                  <a:txBody>
                    <a:bodyPr/>
                    <a:lstStyle/>
                    <a:p>
                      <a:pPr marL="0" lvl="0" indent="0" algn="l" rtl="0">
                        <a:spcBef>
                          <a:spcPts val="0"/>
                        </a:spcBef>
                        <a:spcAft>
                          <a:spcPts val="0"/>
                        </a:spcAft>
                        <a:buNone/>
                      </a:pPr>
                      <a:r>
                        <a:rPr lang="ja" b="1"/>
                        <a:t>AWSサービス</a:t>
                      </a:r>
                      <a:endParaRPr b="1"/>
                    </a:p>
                  </a:txBody>
                  <a:tcPr marL="91425" marR="91425" marT="91425" marB="91425">
                    <a:solidFill>
                      <a:schemeClr val="lt2"/>
                    </a:solidFill>
                  </a:tcPr>
                </a:tc>
                <a:tc>
                  <a:txBody>
                    <a:bodyPr/>
                    <a:lstStyle/>
                    <a:p>
                      <a:pPr marL="0" lvl="0" indent="0" algn="l" rtl="0">
                        <a:spcBef>
                          <a:spcPts val="0"/>
                        </a:spcBef>
                        <a:spcAft>
                          <a:spcPts val="0"/>
                        </a:spcAft>
                        <a:buNone/>
                      </a:pPr>
                      <a:r>
                        <a:rPr lang="ja" b="1"/>
                        <a:t>保存世代数</a:t>
                      </a:r>
                      <a:endParaRPr b="1"/>
                    </a:p>
                  </a:txBody>
                  <a:tcPr marL="91425" marR="91425" marT="91425" marB="91425">
                    <a:solidFill>
                      <a:schemeClr val="lt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ja"/>
                        <a:t>ファイル</a:t>
                      </a:r>
                      <a:endParaRPr/>
                    </a:p>
                  </a:txBody>
                  <a:tcPr marL="91425" marR="91425" marT="91425" marB="91425"/>
                </a:tc>
                <a:tc>
                  <a:txBody>
                    <a:bodyPr/>
                    <a:lstStyle/>
                    <a:p>
                      <a:pPr marL="0" lvl="0" indent="0" algn="l" rtl="0">
                        <a:spcBef>
                          <a:spcPts val="0"/>
                        </a:spcBef>
                        <a:spcAft>
                          <a:spcPts val="0"/>
                        </a:spcAft>
                        <a:buNone/>
                      </a:pPr>
                      <a:r>
                        <a:rPr lang="ja"/>
                        <a:t>・外部連携マスタ</a:t>
                      </a:r>
                      <a:endParaRPr/>
                    </a:p>
                    <a:p>
                      <a:pPr marL="0" lvl="0" indent="0" algn="l" rtl="0">
                        <a:spcBef>
                          <a:spcPts val="0"/>
                        </a:spcBef>
                        <a:spcAft>
                          <a:spcPts val="0"/>
                        </a:spcAft>
                        <a:buNone/>
                      </a:pPr>
                      <a:r>
                        <a:rPr lang="ja"/>
                        <a:t>・POSマスタ</a:t>
                      </a:r>
                      <a:endParaRPr/>
                    </a:p>
                  </a:txBody>
                  <a:tcPr marL="91425" marR="91425" marT="91425" marB="91425"/>
                </a:tc>
                <a:tc>
                  <a:txBody>
                    <a:bodyPr/>
                    <a:lstStyle/>
                    <a:p>
                      <a:pPr marL="0" lvl="0" indent="0" algn="l" rtl="0">
                        <a:spcBef>
                          <a:spcPts val="0"/>
                        </a:spcBef>
                        <a:spcAft>
                          <a:spcPts val="0"/>
                        </a:spcAft>
                        <a:buNone/>
                      </a:pPr>
                      <a:r>
                        <a:rPr lang="ja"/>
                        <a:t>S3</a:t>
                      </a:r>
                      <a:endParaRPr/>
                    </a:p>
                  </a:txBody>
                  <a:tcPr marL="91425" marR="91425" marT="91425" marB="91425"/>
                </a:tc>
                <a:tc>
                  <a:txBody>
                    <a:bodyPr/>
                    <a:lstStyle/>
                    <a:p>
                      <a:pPr marL="0" lvl="0" indent="0" algn="l" rtl="0">
                        <a:spcBef>
                          <a:spcPts val="0"/>
                        </a:spcBef>
                        <a:spcAft>
                          <a:spcPts val="0"/>
                        </a:spcAft>
                        <a:buNone/>
                      </a:pPr>
                      <a:r>
                        <a:rPr lang="ja"/>
                        <a:t>永久保存するが、一定期間後アーカイブ</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ja"/>
                        <a:t>データベース</a:t>
                      </a:r>
                      <a:endParaRPr/>
                    </a:p>
                  </a:txBody>
                  <a:tcPr marL="91425" marR="91425" marT="91425" marB="91425"/>
                </a:tc>
                <a:tc>
                  <a:txBody>
                    <a:bodyPr/>
                    <a:lstStyle/>
                    <a:p>
                      <a:pPr marL="0" lvl="0" indent="0" algn="l" rtl="0">
                        <a:spcBef>
                          <a:spcPts val="0"/>
                        </a:spcBef>
                        <a:spcAft>
                          <a:spcPts val="0"/>
                        </a:spcAft>
                        <a:buNone/>
                      </a:pPr>
                      <a:r>
                        <a:rPr lang="ja" dirty="0"/>
                        <a:t>・マスタDB</a:t>
                      </a:r>
                      <a:endParaRPr dirty="0"/>
                    </a:p>
                    <a:p>
                      <a:pPr marL="0" lvl="0" indent="0" algn="l" rtl="0">
                        <a:spcBef>
                          <a:spcPts val="0"/>
                        </a:spcBef>
                        <a:spcAft>
                          <a:spcPts val="0"/>
                        </a:spcAft>
                        <a:buNone/>
                      </a:pPr>
                      <a:r>
                        <a:rPr lang="ja" dirty="0"/>
                        <a:t>・トランザクションDB</a:t>
                      </a:r>
                      <a:endParaRPr dirty="0"/>
                    </a:p>
                  </a:txBody>
                  <a:tcPr marL="91425" marR="91425" marT="91425" marB="91425"/>
                </a:tc>
                <a:tc>
                  <a:txBody>
                    <a:bodyPr/>
                    <a:lstStyle/>
                    <a:p>
                      <a:pPr marL="0" lvl="0" indent="0" algn="l" rtl="0">
                        <a:spcBef>
                          <a:spcPts val="0"/>
                        </a:spcBef>
                        <a:spcAft>
                          <a:spcPts val="0"/>
                        </a:spcAft>
                        <a:buNone/>
                      </a:pPr>
                      <a:r>
                        <a:rPr lang="ja"/>
                        <a:t>Aurora</a:t>
                      </a:r>
                      <a:endParaRPr/>
                    </a:p>
                  </a:txBody>
                  <a:tcPr marL="91425" marR="91425" marT="91425" marB="91425"/>
                </a:tc>
                <a:tc>
                  <a:txBody>
                    <a:bodyPr/>
                    <a:lstStyle/>
                    <a:p>
                      <a:pPr marL="0" lvl="0" indent="0" algn="l" rtl="0">
                        <a:spcBef>
                          <a:spcPts val="0"/>
                        </a:spcBef>
                        <a:spcAft>
                          <a:spcPts val="0"/>
                        </a:spcAft>
                        <a:buNone/>
                      </a:pPr>
                      <a:r>
                        <a:rPr lang="ja" dirty="0"/>
                        <a:t>スナップショットを5世代</a:t>
                      </a:r>
                      <a:endParaRPr dirty="0"/>
                    </a:p>
                  </a:txBody>
                  <a:tcPr marL="91425" marR="91425" marT="91425" marB="91425"/>
                </a:tc>
                <a:extLst>
                  <a:ext uri="{0D108BD9-81ED-4DB2-BD59-A6C34878D82A}">
                    <a16:rowId xmlns:a16="http://schemas.microsoft.com/office/drawing/2014/main" val="10002"/>
                  </a:ext>
                </a:extLst>
              </a:tr>
            </a:tbl>
          </a:graphicData>
        </a:graphic>
      </p:graphicFrame>
      <p:sp>
        <p:nvSpPr>
          <p:cNvPr id="366" name="Google Shape;366;p52"/>
          <p:cNvSpPr txBox="1">
            <a:spLocks noGrp="1"/>
          </p:cNvSpPr>
          <p:nvPr>
            <p:ph type="body" idx="1"/>
          </p:nvPr>
        </p:nvSpPr>
        <p:spPr>
          <a:xfrm>
            <a:off x="682375" y="3278975"/>
            <a:ext cx="6815700" cy="12900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ja" sz="1700"/>
              <a:t>ディザスターリカバリ（DR）は想定しない</a:t>
            </a:r>
            <a:endParaRPr sz="170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361">
          <a:extLst>
            <a:ext uri="{FF2B5EF4-FFF2-40B4-BE49-F238E27FC236}">
              <a16:creationId xmlns:a16="http://schemas.microsoft.com/office/drawing/2014/main" id="{A7320AE3-8ECA-9C2D-3819-8197489130ED}"/>
            </a:ext>
          </a:extLst>
        </p:cNvPr>
        <p:cNvGrpSpPr/>
        <p:nvPr/>
      </p:nvGrpSpPr>
      <p:grpSpPr>
        <a:xfrm>
          <a:off x="0" y="0"/>
          <a:ext cx="0" cy="0"/>
          <a:chOff x="0" y="0"/>
          <a:chExt cx="0" cy="0"/>
        </a:xfrm>
      </p:grpSpPr>
      <p:sp>
        <p:nvSpPr>
          <p:cNvPr id="362" name="Google Shape;362;p52">
            <a:extLst>
              <a:ext uri="{FF2B5EF4-FFF2-40B4-BE49-F238E27FC236}">
                <a16:creationId xmlns:a16="http://schemas.microsoft.com/office/drawing/2014/main" id="{968A203D-526A-2AAC-BD8F-6E9277A178CB}"/>
              </a:ext>
            </a:extLst>
          </p:cNvPr>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lvl="0"/>
            <a:r>
              <a:rPr lang="ja" dirty="0">
                <a:highlight>
                  <a:srgbClr val="D9D9D9"/>
                </a:highlight>
              </a:rPr>
              <a:t>9-3.</a:t>
            </a:r>
            <a:r>
              <a:rPr lang="vi-VN" dirty="0">
                <a:highlight>
                  <a:srgbClr val="D9D9D9"/>
                </a:highlight>
              </a:rPr>
              <a:t> Sao lưu (Backup)</a:t>
            </a:r>
            <a:endParaRPr dirty="0">
              <a:highlight>
                <a:srgbClr val="D9D9D9"/>
              </a:highlight>
            </a:endParaRPr>
          </a:p>
          <a:p>
            <a:pPr marL="0" lvl="0" indent="0" algn="l" rtl="0">
              <a:spcBef>
                <a:spcPts val="0"/>
              </a:spcBef>
              <a:spcAft>
                <a:spcPts val="0"/>
              </a:spcAft>
              <a:buNone/>
            </a:pPr>
            <a:endParaRPr dirty="0">
              <a:highlight>
                <a:srgbClr val="D9D9D9"/>
              </a:highlight>
            </a:endParaRPr>
          </a:p>
        </p:txBody>
      </p:sp>
      <p:pic>
        <p:nvPicPr>
          <p:cNvPr id="363" name="Google Shape;363;p52" title="logo-luvina-2022-2.png">
            <a:extLst>
              <a:ext uri="{FF2B5EF4-FFF2-40B4-BE49-F238E27FC236}">
                <a16:creationId xmlns:a16="http://schemas.microsoft.com/office/drawing/2014/main" id="{63D785C9-FFA8-0760-15EC-274D02769D2A}"/>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64" name="Google Shape;364;p52">
            <a:extLst>
              <a:ext uri="{FF2B5EF4-FFF2-40B4-BE49-F238E27FC236}">
                <a16:creationId xmlns:a16="http://schemas.microsoft.com/office/drawing/2014/main" id="{874D7988-2983-8FDE-8D8B-7200B94F217E}"/>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68</a:t>
            </a:fld>
            <a:endParaRPr/>
          </a:p>
        </p:txBody>
      </p:sp>
      <p:graphicFrame>
        <p:nvGraphicFramePr>
          <p:cNvPr id="365" name="Google Shape;365;p52">
            <a:extLst>
              <a:ext uri="{FF2B5EF4-FFF2-40B4-BE49-F238E27FC236}">
                <a16:creationId xmlns:a16="http://schemas.microsoft.com/office/drawing/2014/main" id="{F4F0901B-AA5B-EDB7-2103-A6BE35DA8EEC}"/>
              </a:ext>
            </a:extLst>
          </p:cNvPr>
          <p:cNvGraphicFramePr/>
          <p:nvPr>
            <p:extLst>
              <p:ext uri="{D42A27DB-BD31-4B8C-83A1-F6EECF244321}">
                <p14:modId xmlns:p14="http://schemas.microsoft.com/office/powerpoint/2010/main" val="991650724"/>
              </p:ext>
            </p:extLst>
          </p:nvPr>
        </p:nvGraphicFramePr>
        <p:xfrm>
          <a:off x="682375" y="1383150"/>
          <a:ext cx="7481950" cy="2042070"/>
        </p:xfrm>
        <a:graphic>
          <a:graphicData uri="http://schemas.openxmlformats.org/drawingml/2006/table">
            <a:tbl>
              <a:tblPr>
                <a:noFill/>
                <a:tableStyleId>{87A281C8-0844-4F7E-8F5C-31C3930F0FE5}</a:tableStyleId>
              </a:tblPr>
              <a:tblGrid>
                <a:gridCol w="1019575">
                  <a:extLst>
                    <a:ext uri="{9D8B030D-6E8A-4147-A177-3AD203B41FA5}">
                      <a16:colId xmlns:a16="http://schemas.microsoft.com/office/drawing/2014/main" val="20000"/>
                    </a:ext>
                  </a:extLst>
                </a:gridCol>
                <a:gridCol w="2154125">
                  <a:extLst>
                    <a:ext uri="{9D8B030D-6E8A-4147-A177-3AD203B41FA5}">
                      <a16:colId xmlns:a16="http://schemas.microsoft.com/office/drawing/2014/main" val="20001"/>
                    </a:ext>
                  </a:extLst>
                </a:gridCol>
                <a:gridCol w="1740775">
                  <a:extLst>
                    <a:ext uri="{9D8B030D-6E8A-4147-A177-3AD203B41FA5}">
                      <a16:colId xmlns:a16="http://schemas.microsoft.com/office/drawing/2014/main" val="20002"/>
                    </a:ext>
                  </a:extLst>
                </a:gridCol>
                <a:gridCol w="2567475">
                  <a:extLst>
                    <a:ext uri="{9D8B030D-6E8A-4147-A177-3AD203B41FA5}">
                      <a16:colId xmlns:a16="http://schemas.microsoft.com/office/drawing/2014/main" val="20003"/>
                    </a:ext>
                  </a:extLst>
                </a:gridCol>
              </a:tblGrid>
              <a:tr h="381000">
                <a:tc>
                  <a:txBody>
                    <a:bodyPr/>
                    <a:lstStyle/>
                    <a:p>
                      <a:pPr marL="0" lvl="0" indent="0" algn="l" rtl="0">
                        <a:spcBef>
                          <a:spcPts val="0"/>
                        </a:spcBef>
                        <a:spcAft>
                          <a:spcPts val="0"/>
                        </a:spcAft>
                        <a:buNone/>
                      </a:pPr>
                      <a:r>
                        <a:rPr lang="en-US" dirty="0" err="1"/>
                        <a:t>Hạng</a:t>
                      </a:r>
                      <a:r>
                        <a:rPr lang="en-US" dirty="0"/>
                        <a:t> </a:t>
                      </a:r>
                      <a:r>
                        <a:rPr lang="en-US" dirty="0" err="1"/>
                        <a:t>mục</a:t>
                      </a:r>
                      <a:endParaRPr b="1" dirty="0"/>
                    </a:p>
                  </a:txBody>
                  <a:tcPr marL="91425" marR="91425" marT="91425" marB="91425">
                    <a:solidFill>
                      <a:schemeClr val="lt2"/>
                    </a:solidFill>
                  </a:tcPr>
                </a:tc>
                <a:tc>
                  <a:txBody>
                    <a:bodyPr/>
                    <a:lstStyle/>
                    <a:p>
                      <a:pPr marL="0" lvl="0" indent="0" algn="l" rtl="0">
                        <a:spcBef>
                          <a:spcPts val="0"/>
                        </a:spcBef>
                        <a:spcAft>
                          <a:spcPts val="0"/>
                        </a:spcAft>
                        <a:buNone/>
                      </a:pPr>
                      <a:r>
                        <a:rPr lang="en-US" b="1" dirty="0" err="1"/>
                        <a:t>Nội</a:t>
                      </a:r>
                      <a:r>
                        <a:rPr lang="en-US" b="1" dirty="0"/>
                        <a:t> dung</a:t>
                      </a:r>
                      <a:endParaRPr b="1" dirty="0"/>
                    </a:p>
                  </a:txBody>
                  <a:tcPr marL="91425" marR="91425" marT="91425" marB="91425">
                    <a:solidFill>
                      <a:schemeClr val="lt2"/>
                    </a:solidFill>
                  </a:tcPr>
                </a:tc>
                <a:tc>
                  <a:txBody>
                    <a:bodyPr/>
                    <a:lstStyle/>
                    <a:p>
                      <a:pPr marL="0" lvl="0" indent="0" algn="l" rtl="0">
                        <a:spcBef>
                          <a:spcPts val="0"/>
                        </a:spcBef>
                        <a:spcAft>
                          <a:spcPts val="0"/>
                        </a:spcAft>
                        <a:buNone/>
                      </a:pPr>
                      <a:r>
                        <a:rPr lang="ja" b="1" dirty="0"/>
                        <a:t>AWS</a:t>
                      </a:r>
                      <a:r>
                        <a:rPr lang="en-US" altLang="ja" b="1" dirty="0"/>
                        <a:t> Service</a:t>
                      </a:r>
                      <a:endParaRPr b="1" dirty="0"/>
                    </a:p>
                  </a:txBody>
                  <a:tcPr marL="91425" marR="91425" marT="91425" marB="91425">
                    <a:solidFill>
                      <a:schemeClr val="lt2"/>
                    </a:solidFill>
                  </a:tcPr>
                </a:tc>
                <a:tc>
                  <a:txBody>
                    <a:bodyPr/>
                    <a:lstStyle/>
                    <a:p>
                      <a:pPr marL="0" lvl="0" indent="0" algn="l" rtl="0">
                        <a:spcBef>
                          <a:spcPts val="0"/>
                        </a:spcBef>
                        <a:spcAft>
                          <a:spcPts val="0"/>
                        </a:spcAft>
                        <a:buNone/>
                      </a:pPr>
                      <a:r>
                        <a:rPr lang="vi-VN" dirty="0"/>
                        <a:t>Số thế hệ lưu trữ</a:t>
                      </a:r>
                      <a:endParaRPr b="1" dirty="0"/>
                    </a:p>
                  </a:txBody>
                  <a:tcPr marL="91425" marR="91425" marT="91425" marB="91425">
                    <a:solidFill>
                      <a:schemeClr val="lt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US" altLang="ja" dirty="0"/>
                        <a:t>File</a:t>
                      </a:r>
                      <a:endParaRPr dirty="0"/>
                    </a:p>
                  </a:txBody>
                  <a:tcPr marL="91425" marR="91425" marT="91425" marB="91425"/>
                </a:tc>
                <a:tc>
                  <a:txBody>
                    <a:bodyPr/>
                    <a:lstStyle/>
                    <a:p>
                      <a:r>
                        <a:rPr lang="ja" dirty="0"/>
                        <a:t>・</a:t>
                      </a:r>
                      <a:r>
                        <a:rPr lang="en-US" dirty="0"/>
                        <a:t>Master </a:t>
                      </a:r>
                      <a:r>
                        <a:rPr lang="en-US" dirty="0" err="1"/>
                        <a:t>liên</a:t>
                      </a:r>
                      <a:r>
                        <a:rPr lang="en-US" dirty="0"/>
                        <a:t> </a:t>
                      </a:r>
                      <a:r>
                        <a:rPr lang="en-US" dirty="0" err="1"/>
                        <a:t>kết</a:t>
                      </a:r>
                      <a:r>
                        <a:rPr lang="en-US" dirty="0"/>
                        <a:t> </a:t>
                      </a:r>
                      <a:r>
                        <a:rPr lang="en-US" dirty="0" err="1"/>
                        <a:t>bên</a:t>
                      </a:r>
                      <a:r>
                        <a:rPr lang="en-US" dirty="0"/>
                        <a:t> </a:t>
                      </a:r>
                      <a:r>
                        <a:rPr lang="en-US" dirty="0" err="1"/>
                        <a:t>ngoài</a:t>
                      </a:r>
                      <a:endParaRPr lang="en-US" dirty="0"/>
                    </a:p>
                    <a:p>
                      <a:r>
                        <a:rPr lang="ja" altLang="en-US" dirty="0"/>
                        <a:t>・</a:t>
                      </a:r>
                      <a:r>
                        <a:rPr lang="en-US" dirty="0"/>
                        <a:t>Master POS</a:t>
                      </a:r>
                    </a:p>
                  </a:txBody>
                  <a:tcPr marL="91425" marR="91425" marT="91425" marB="91425"/>
                </a:tc>
                <a:tc>
                  <a:txBody>
                    <a:bodyPr/>
                    <a:lstStyle/>
                    <a:p>
                      <a:pPr marL="0" lvl="0" indent="0" algn="l" rtl="0">
                        <a:spcBef>
                          <a:spcPts val="0"/>
                        </a:spcBef>
                        <a:spcAft>
                          <a:spcPts val="0"/>
                        </a:spcAft>
                        <a:buNone/>
                      </a:pPr>
                      <a:r>
                        <a:rPr lang="ja"/>
                        <a:t>S3</a:t>
                      </a:r>
                      <a:endParaRPr/>
                    </a:p>
                  </a:txBody>
                  <a:tcPr marL="91425" marR="91425" marT="91425" marB="91425"/>
                </a:tc>
                <a:tc>
                  <a:txBody>
                    <a:bodyPr/>
                    <a:lstStyle/>
                    <a:p>
                      <a:pPr marL="0" lvl="0" indent="0" algn="l" rtl="0">
                        <a:spcBef>
                          <a:spcPts val="0"/>
                        </a:spcBef>
                        <a:spcAft>
                          <a:spcPts val="0"/>
                        </a:spcAft>
                        <a:buNone/>
                      </a:pPr>
                      <a:r>
                        <a:rPr lang="vi-VN" dirty="0"/>
                        <a:t>Lưu trữ vĩnh viễn, nhưng sẽ được lưu vào kho lưu trữ (archive) sau một khoảng thời gian nhất định.</a:t>
                      </a:r>
                      <a:endParaRPr dirty="0"/>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US" dirty="0"/>
                        <a:t>Database</a:t>
                      </a:r>
                      <a:endParaRPr dirty="0"/>
                    </a:p>
                  </a:txBody>
                  <a:tcPr marL="91425" marR="91425" marT="91425" marB="91425"/>
                </a:tc>
                <a:tc>
                  <a:txBody>
                    <a:bodyPr/>
                    <a:lstStyle/>
                    <a:p>
                      <a:pPr marL="0" lvl="0" indent="0" algn="l" rtl="0">
                        <a:spcBef>
                          <a:spcPts val="0"/>
                        </a:spcBef>
                        <a:spcAft>
                          <a:spcPts val="0"/>
                        </a:spcAft>
                        <a:buNone/>
                      </a:pPr>
                      <a:r>
                        <a:rPr lang="ja" dirty="0"/>
                        <a:t>・</a:t>
                      </a:r>
                      <a:r>
                        <a:rPr lang="en-US" dirty="0"/>
                        <a:t>Master DB</a:t>
                      </a:r>
                      <a:endParaRPr dirty="0"/>
                    </a:p>
                    <a:p>
                      <a:pPr marL="0" lvl="0" indent="0" algn="l" rtl="0">
                        <a:spcBef>
                          <a:spcPts val="0"/>
                        </a:spcBef>
                        <a:spcAft>
                          <a:spcPts val="0"/>
                        </a:spcAft>
                        <a:buNone/>
                      </a:pPr>
                      <a:r>
                        <a:rPr lang="ja" dirty="0"/>
                        <a:t>・</a:t>
                      </a:r>
                      <a:r>
                        <a:rPr lang="en-US" dirty="0"/>
                        <a:t>Transaction DB</a:t>
                      </a:r>
                      <a:endParaRPr dirty="0"/>
                    </a:p>
                  </a:txBody>
                  <a:tcPr marL="91425" marR="91425" marT="91425" marB="91425"/>
                </a:tc>
                <a:tc>
                  <a:txBody>
                    <a:bodyPr/>
                    <a:lstStyle/>
                    <a:p>
                      <a:pPr marL="0" lvl="0" indent="0" algn="l" rtl="0">
                        <a:spcBef>
                          <a:spcPts val="0"/>
                        </a:spcBef>
                        <a:spcAft>
                          <a:spcPts val="0"/>
                        </a:spcAft>
                        <a:buNone/>
                      </a:pPr>
                      <a:r>
                        <a:rPr lang="ja"/>
                        <a:t>Aurora</a:t>
                      </a:r>
                      <a:endParaRPr/>
                    </a:p>
                  </a:txBody>
                  <a:tcPr marL="91425" marR="91425" marT="91425" marB="91425"/>
                </a:tc>
                <a:tc>
                  <a:txBody>
                    <a:bodyPr/>
                    <a:lstStyle/>
                    <a:p>
                      <a:pPr marL="0" lvl="0" indent="0" algn="l" rtl="0">
                        <a:spcBef>
                          <a:spcPts val="0"/>
                        </a:spcBef>
                        <a:spcAft>
                          <a:spcPts val="0"/>
                        </a:spcAft>
                        <a:buNone/>
                      </a:pPr>
                      <a:r>
                        <a:rPr lang="en-US" dirty="0" err="1"/>
                        <a:t>Giữ</a:t>
                      </a:r>
                      <a:r>
                        <a:rPr lang="en-US" dirty="0"/>
                        <a:t> 5 </a:t>
                      </a:r>
                      <a:r>
                        <a:rPr lang="en-US" dirty="0" err="1"/>
                        <a:t>thế</a:t>
                      </a:r>
                      <a:r>
                        <a:rPr lang="en-US" dirty="0"/>
                        <a:t> </a:t>
                      </a:r>
                      <a:r>
                        <a:rPr lang="en-US" dirty="0" err="1"/>
                        <a:t>hệ</a:t>
                      </a:r>
                      <a:r>
                        <a:rPr lang="en-US" dirty="0"/>
                        <a:t> snapshot (</a:t>
                      </a:r>
                      <a:r>
                        <a:rPr lang="en-US" dirty="0" err="1"/>
                        <a:t>ảnh</a:t>
                      </a:r>
                      <a:r>
                        <a:rPr lang="en-US" dirty="0"/>
                        <a:t> </a:t>
                      </a:r>
                      <a:r>
                        <a:rPr lang="en-US" dirty="0" err="1"/>
                        <a:t>chụp</a:t>
                      </a:r>
                      <a:r>
                        <a:rPr lang="en-US" dirty="0"/>
                        <a:t> </a:t>
                      </a:r>
                      <a:r>
                        <a:rPr lang="en-US" dirty="0" err="1"/>
                        <a:t>nhanh</a:t>
                      </a:r>
                      <a:r>
                        <a:rPr lang="en-US" dirty="0"/>
                        <a:t> </a:t>
                      </a:r>
                      <a:r>
                        <a:rPr lang="en-US" dirty="0" err="1"/>
                        <a:t>dữ</a:t>
                      </a:r>
                      <a:r>
                        <a:rPr lang="en-US" dirty="0"/>
                        <a:t> </a:t>
                      </a:r>
                      <a:r>
                        <a:rPr lang="en-US" dirty="0" err="1"/>
                        <a:t>liệu</a:t>
                      </a:r>
                      <a:r>
                        <a:rPr lang="en-US" dirty="0"/>
                        <a:t>)</a:t>
                      </a:r>
                      <a:endParaRPr dirty="0"/>
                    </a:p>
                  </a:txBody>
                  <a:tcPr marL="91425" marR="91425" marT="91425" marB="91425"/>
                </a:tc>
                <a:extLst>
                  <a:ext uri="{0D108BD9-81ED-4DB2-BD59-A6C34878D82A}">
                    <a16:rowId xmlns:a16="http://schemas.microsoft.com/office/drawing/2014/main" val="10002"/>
                  </a:ext>
                </a:extLst>
              </a:tr>
            </a:tbl>
          </a:graphicData>
        </a:graphic>
      </p:graphicFrame>
      <p:sp>
        <p:nvSpPr>
          <p:cNvPr id="366" name="Google Shape;366;p52">
            <a:extLst>
              <a:ext uri="{FF2B5EF4-FFF2-40B4-BE49-F238E27FC236}">
                <a16:creationId xmlns:a16="http://schemas.microsoft.com/office/drawing/2014/main" id="{FB269956-3B01-013E-9DAE-DDCA4E711BC7}"/>
              </a:ext>
            </a:extLst>
          </p:cNvPr>
          <p:cNvSpPr txBox="1">
            <a:spLocks noGrp="1"/>
          </p:cNvSpPr>
          <p:nvPr>
            <p:ph type="body" idx="1"/>
          </p:nvPr>
        </p:nvSpPr>
        <p:spPr>
          <a:xfrm>
            <a:off x="682375" y="3434025"/>
            <a:ext cx="6815700" cy="1290000"/>
          </a:xfrm>
          <a:prstGeom prst="rect">
            <a:avLst/>
          </a:prstGeom>
        </p:spPr>
        <p:txBody>
          <a:bodyPr spcFirstLastPara="1" wrap="square" lIns="91425" tIns="91425" rIns="91425" bIns="91425" anchor="t" anchorCtr="0">
            <a:normAutofit/>
          </a:bodyPr>
          <a:lstStyle/>
          <a:p>
            <a:pPr lvl="0" indent="-336550">
              <a:buSzPts val="1700"/>
            </a:pPr>
            <a:r>
              <a:rPr lang="vi-VN" sz="1600" dirty="0"/>
              <a:t>Không tính đến phương án khôi phục thảm họa (Disaster Recovery - DR)</a:t>
            </a:r>
            <a:endParaRPr sz="1700" dirty="0"/>
          </a:p>
        </p:txBody>
      </p:sp>
    </p:spTree>
    <p:extLst>
      <p:ext uri="{BB962C8B-B14F-4D97-AF65-F5344CB8AC3E}">
        <p14:creationId xmlns:p14="http://schemas.microsoft.com/office/powerpoint/2010/main" val="243636599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5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ja" sz="3000" dirty="0">
                <a:highlight>
                  <a:srgbClr val="FFFFFF"/>
                </a:highlight>
              </a:rPr>
              <a:t>10.監視</a:t>
            </a:r>
            <a:br>
              <a:rPr lang="en-US" altLang="ja" sz="3000" dirty="0">
                <a:highlight>
                  <a:srgbClr val="FFFFFF"/>
                </a:highlight>
              </a:rPr>
            </a:br>
            <a:br>
              <a:rPr lang="en-US" altLang="ja" sz="3000" dirty="0">
                <a:highlight>
                  <a:srgbClr val="FFFFFF"/>
                </a:highlight>
              </a:rPr>
            </a:br>
            <a:r>
              <a:rPr lang="en-US" altLang="ja" sz="3000" dirty="0" err="1">
                <a:highlight>
                  <a:srgbClr val="FFFFFF"/>
                </a:highlight>
              </a:rPr>
              <a:t>Giám</a:t>
            </a:r>
            <a:r>
              <a:rPr lang="en-US" altLang="ja" sz="3000" dirty="0">
                <a:highlight>
                  <a:srgbClr val="FFFFFF"/>
                </a:highlight>
              </a:rPr>
              <a:t> sat</a:t>
            </a:r>
            <a:endParaRPr sz="3000" dirty="0">
              <a:highlight>
                <a:srgbClr val="FFFFFF"/>
              </a:highlight>
            </a:endParaRPr>
          </a:p>
        </p:txBody>
      </p:sp>
      <p:pic>
        <p:nvPicPr>
          <p:cNvPr id="372" name="Google Shape;372;p53"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73" name="Google Shape;373;p5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69</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54"/>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a:bodyPr>
          <a:lstStyle/>
          <a:p>
            <a:pPr lvl="0"/>
            <a:r>
              <a:rPr lang="ja" sz="1600" dirty="0">
                <a:highlight>
                  <a:srgbClr val="D9D9D9"/>
                </a:highlight>
              </a:rPr>
              <a:t>10-1.監視のAWS構成図</a:t>
            </a:r>
            <a:r>
              <a:rPr lang="en-US" altLang="ja" sz="1600" dirty="0">
                <a:highlight>
                  <a:srgbClr val="D9D9D9"/>
                </a:highlight>
              </a:rPr>
              <a:t> /</a:t>
            </a:r>
            <a:r>
              <a:rPr lang="vi-VN" sz="1600" dirty="0">
                <a:highlight>
                  <a:srgbClr val="D9D9D9"/>
                </a:highlight>
              </a:rPr>
              <a:t> Sơ đồ cấu trúc AWS cho giám sát (monitoring)</a:t>
            </a:r>
            <a:endParaRPr sz="1600" dirty="0">
              <a:highlight>
                <a:srgbClr val="D9D9D9"/>
              </a:highlight>
            </a:endParaRPr>
          </a:p>
        </p:txBody>
      </p:sp>
      <p:pic>
        <p:nvPicPr>
          <p:cNvPr id="379" name="Google Shape;379;p54"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80" name="Google Shape;380;p5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70</a:t>
            </a:fld>
            <a:endParaRPr/>
          </a:p>
        </p:txBody>
      </p:sp>
      <p:pic>
        <p:nvPicPr>
          <p:cNvPr id="381" name="Google Shape;381;p54" title="【POS】infra_ishida-10-1.drawio.png"/>
          <p:cNvPicPr preferRelativeResize="0"/>
          <p:nvPr/>
        </p:nvPicPr>
        <p:blipFill>
          <a:blip r:embed="rId4">
            <a:alphaModFix/>
          </a:blip>
          <a:stretch>
            <a:fillRect/>
          </a:stretch>
        </p:blipFill>
        <p:spPr>
          <a:xfrm>
            <a:off x="431350" y="1080800"/>
            <a:ext cx="8167657" cy="3707054"/>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54"/>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a:bodyPr>
          <a:lstStyle/>
          <a:p>
            <a:pPr lvl="0"/>
            <a:r>
              <a:rPr lang="ja" sz="1600" dirty="0">
                <a:highlight>
                  <a:srgbClr val="D9D9D9"/>
                </a:highlight>
              </a:rPr>
              <a:t>10-1.監視のAWS構成図</a:t>
            </a:r>
            <a:r>
              <a:rPr lang="en-US" altLang="ja" sz="1600" dirty="0">
                <a:highlight>
                  <a:srgbClr val="D9D9D9"/>
                </a:highlight>
              </a:rPr>
              <a:t> /</a:t>
            </a:r>
            <a:r>
              <a:rPr lang="vi-VN" sz="1600" dirty="0">
                <a:highlight>
                  <a:srgbClr val="D9D9D9"/>
                </a:highlight>
              </a:rPr>
              <a:t> Sơ đồ cấu trúc AWS cho giám sát (monitoring)</a:t>
            </a:r>
            <a:endParaRPr sz="1600" dirty="0">
              <a:highlight>
                <a:srgbClr val="D9D9D9"/>
              </a:highlight>
            </a:endParaRPr>
          </a:p>
        </p:txBody>
      </p:sp>
      <p:pic>
        <p:nvPicPr>
          <p:cNvPr id="379" name="Google Shape;379;p54"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80" name="Google Shape;380;p5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71</a:t>
            </a:fld>
            <a:endParaRPr/>
          </a:p>
        </p:txBody>
      </p:sp>
      <p:pic>
        <p:nvPicPr>
          <p:cNvPr id="381" name="Google Shape;381;p54" title="【POS】infra_ishida-10-1.drawio.png"/>
          <p:cNvPicPr preferRelativeResize="0"/>
          <p:nvPr/>
        </p:nvPicPr>
        <p:blipFill>
          <a:blip r:embed="rId4">
            <a:alphaModFix/>
          </a:blip>
          <a:stretch>
            <a:fillRect/>
          </a:stretch>
        </p:blipFill>
        <p:spPr>
          <a:xfrm>
            <a:off x="431350" y="1080800"/>
            <a:ext cx="8167657" cy="3707054"/>
          </a:xfrm>
          <a:prstGeom prst="rect">
            <a:avLst/>
          </a:prstGeom>
          <a:noFill/>
          <a:ln>
            <a:noFill/>
          </a:ln>
        </p:spPr>
      </p:pic>
      <p:sp>
        <p:nvSpPr>
          <p:cNvPr id="3" name="TextBox 2">
            <a:extLst>
              <a:ext uri="{FF2B5EF4-FFF2-40B4-BE49-F238E27FC236}">
                <a16:creationId xmlns:a16="http://schemas.microsoft.com/office/drawing/2014/main" id="{504855D9-5F37-3406-E7D1-8A2BA6507883}"/>
              </a:ext>
            </a:extLst>
          </p:cNvPr>
          <p:cNvSpPr txBox="1"/>
          <p:nvPr/>
        </p:nvSpPr>
        <p:spPr>
          <a:xfrm>
            <a:off x="505296" y="3114179"/>
            <a:ext cx="1061274" cy="369332"/>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r>
              <a:rPr lang="en-VN" sz="900" dirty="0"/>
              <a:t>Thu thập log từ ứng dụng</a:t>
            </a:r>
          </a:p>
        </p:txBody>
      </p:sp>
      <p:sp>
        <p:nvSpPr>
          <p:cNvPr id="4" name="TextBox 3">
            <a:extLst>
              <a:ext uri="{FF2B5EF4-FFF2-40B4-BE49-F238E27FC236}">
                <a16:creationId xmlns:a16="http://schemas.microsoft.com/office/drawing/2014/main" id="{5D3675E9-6A9F-723C-7DEB-359718FF583B}"/>
              </a:ext>
            </a:extLst>
          </p:cNvPr>
          <p:cNvSpPr txBox="1"/>
          <p:nvPr/>
        </p:nvSpPr>
        <p:spPr>
          <a:xfrm>
            <a:off x="4050" y="4324419"/>
            <a:ext cx="1061274" cy="430887"/>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r>
              <a:rPr lang="en-VN" sz="1050" dirty="0"/>
              <a:t>Ứng dụng xuất log</a:t>
            </a:r>
          </a:p>
        </p:txBody>
      </p:sp>
      <p:sp>
        <p:nvSpPr>
          <p:cNvPr id="5" name="TextBox 4">
            <a:extLst>
              <a:ext uri="{FF2B5EF4-FFF2-40B4-BE49-F238E27FC236}">
                <a16:creationId xmlns:a16="http://schemas.microsoft.com/office/drawing/2014/main" id="{208C3F9B-15FC-B314-92EB-71154BB68655}"/>
              </a:ext>
            </a:extLst>
          </p:cNvPr>
          <p:cNvSpPr txBox="1"/>
          <p:nvPr/>
        </p:nvSpPr>
        <p:spPr>
          <a:xfrm>
            <a:off x="1640516" y="3298845"/>
            <a:ext cx="806822" cy="276999"/>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r>
              <a:rPr lang="en-VN" sz="600" dirty="0"/>
              <a:t>Log lỗi của ứng dụng(log group)</a:t>
            </a:r>
          </a:p>
        </p:txBody>
      </p:sp>
      <p:sp>
        <p:nvSpPr>
          <p:cNvPr id="6" name="TextBox 5">
            <a:extLst>
              <a:ext uri="{FF2B5EF4-FFF2-40B4-BE49-F238E27FC236}">
                <a16:creationId xmlns:a16="http://schemas.microsoft.com/office/drawing/2014/main" id="{01252CDF-A21A-10ED-832C-8126B4250633}"/>
              </a:ext>
            </a:extLst>
          </p:cNvPr>
          <p:cNvSpPr txBox="1"/>
          <p:nvPr/>
        </p:nvSpPr>
        <p:spPr>
          <a:xfrm>
            <a:off x="1640516" y="4062700"/>
            <a:ext cx="806822" cy="369332"/>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r>
              <a:rPr lang="en-VN" sz="600" dirty="0"/>
              <a:t>Log truy cập và lỗi của ứng dụng dc ghi vaò S3</a:t>
            </a:r>
          </a:p>
        </p:txBody>
      </p:sp>
      <p:sp>
        <p:nvSpPr>
          <p:cNvPr id="7" name="TextBox 6">
            <a:extLst>
              <a:ext uri="{FF2B5EF4-FFF2-40B4-BE49-F238E27FC236}">
                <a16:creationId xmlns:a16="http://schemas.microsoft.com/office/drawing/2014/main" id="{134AFEE6-7A50-EC63-EBBC-1CD72045F95B}"/>
              </a:ext>
            </a:extLst>
          </p:cNvPr>
          <p:cNvSpPr txBox="1"/>
          <p:nvPr/>
        </p:nvSpPr>
        <p:spPr>
          <a:xfrm>
            <a:off x="1539688" y="1594393"/>
            <a:ext cx="966431" cy="954107"/>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r>
              <a:rPr lang="en-VN" sz="800" dirty="0"/>
              <a:t>Thu thập và quản lý số liệu metrics, log</a:t>
            </a:r>
          </a:p>
          <a:p>
            <a:r>
              <a:rPr lang="en-VN" sz="800" dirty="0"/>
              <a:t>Quản lý cảnh báo </a:t>
            </a:r>
          </a:p>
          <a:p>
            <a:r>
              <a:rPr lang="en-VN" sz="800" dirty="0"/>
              <a:t>Hiện thị qua dashboard</a:t>
            </a:r>
          </a:p>
        </p:txBody>
      </p:sp>
      <p:sp>
        <p:nvSpPr>
          <p:cNvPr id="8" name="TextBox 7">
            <a:extLst>
              <a:ext uri="{FF2B5EF4-FFF2-40B4-BE49-F238E27FC236}">
                <a16:creationId xmlns:a16="http://schemas.microsoft.com/office/drawing/2014/main" id="{950CF2D7-A410-CC0D-09A7-39C44D102002}"/>
              </a:ext>
            </a:extLst>
          </p:cNvPr>
          <p:cNvSpPr txBox="1"/>
          <p:nvPr/>
        </p:nvSpPr>
        <p:spPr>
          <a:xfrm>
            <a:off x="4870495" y="2365909"/>
            <a:ext cx="806821" cy="32316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r>
              <a:rPr lang="en-VN" sz="500" dirty="0"/>
              <a:t>Môi trường production</a:t>
            </a:r>
          </a:p>
          <a:p>
            <a:r>
              <a:rPr lang="en-US" sz="500" dirty="0"/>
              <a:t>L</a:t>
            </a:r>
            <a:r>
              <a:rPr lang="en-VN" sz="500" dirty="0"/>
              <a:t>og AWS </a:t>
            </a:r>
          </a:p>
          <a:p>
            <a:r>
              <a:rPr lang="en-VN" sz="500" dirty="0"/>
              <a:t>Log app</a:t>
            </a:r>
          </a:p>
        </p:txBody>
      </p:sp>
      <p:sp>
        <p:nvSpPr>
          <p:cNvPr id="9" name="TextBox 8">
            <a:extLst>
              <a:ext uri="{FF2B5EF4-FFF2-40B4-BE49-F238E27FC236}">
                <a16:creationId xmlns:a16="http://schemas.microsoft.com/office/drawing/2014/main" id="{BBB08715-65BC-C891-26CE-1CC1BEA64591}"/>
              </a:ext>
            </a:extLst>
          </p:cNvPr>
          <p:cNvSpPr txBox="1"/>
          <p:nvPr/>
        </p:nvSpPr>
        <p:spPr>
          <a:xfrm>
            <a:off x="4957582" y="1754796"/>
            <a:ext cx="806821" cy="246221"/>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r>
              <a:rPr lang="en-VN" sz="500" dirty="0"/>
              <a:t>Môi trường production</a:t>
            </a:r>
          </a:p>
          <a:p>
            <a:r>
              <a:rPr lang="en-VN" sz="500" dirty="0"/>
              <a:t>Log app</a:t>
            </a:r>
          </a:p>
        </p:txBody>
      </p:sp>
      <p:sp>
        <p:nvSpPr>
          <p:cNvPr id="10" name="TextBox 9">
            <a:extLst>
              <a:ext uri="{FF2B5EF4-FFF2-40B4-BE49-F238E27FC236}">
                <a16:creationId xmlns:a16="http://schemas.microsoft.com/office/drawing/2014/main" id="{97282E8F-B8D2-6D8E-19CD-0812B92ECDEB}"/>
              </a:ext>
            </a:extLst>
          </p:cNvPr>
          <p:cNvSpPr txBox="1"/>
          <p:nvPr/>
        </p:nvSpPr>
        <p:spPr>
          <a:xfrm>
            <a:off x="4957582" y="2042744"/>
            <a:ext cx="806821" cy="32316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r>
              <a:rPr lang="en-VN" sz="500" dirty="0"/>
              <a:t>Môi trường production,stageing</a:t>
            </a:r>
          </a:p>
          <a:p>
            <a:r>
              <a:rPr lang="en-VN" sz="500" dirty="0"/>
              <a:t>Log app,log AWS</a:t>
            </a:r>
          </a:p>
        </p:txBody>
      </p:sp>
      <p:sp>
        <p:nvSpPr>
          <p:cNvPr id="11" name="TextBox 10">
            <a:extLst>
              <a:ext uri="{FF2B5EF4-FFF2-40B4-BE49-F238E27FC236}">
                <a16:creationId xmlns:a16="http://schemas.microsoft.com/office/drawing/2014/main" id="{A1112C62-DA10-C7FF-19D0-AED39FDB3A8A}"/>
              </a:ext>
            </a:extLst>
          </p:cNvPr>
          <p:cNvSpPr txBox="1"/>
          <p:nvPr/>
        </p:nvSpPr>
        <p:spPr>
          <a:xfrm>
            <a:off x="5360992" y="1018714"/>
            <a:ext cx="806821" cy="246221"/>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r>
              <a:rPr lang="en-VN" sz="500" dirty="0"/>
              <a:t>Chỉ cho phép gửi đến các kênh của team</a:t>
            </a:r>
          </a:p>
        </p:txBody>
      </p:sp>
      <p:sp>
        <p:nvSpPr>
          <p:cNvPr id="12" name="TextBox 11">
            <a:extLst>
              <a:ext uri="{FF2B5EF4-FFF2-40B4-BE49-F238E27FC236}">
                <a16:creationId xmlns:a16="http://schemas.microsoft.com/office/drawing/2014/main" id="{9FC175FB-EC9D-2033-9132-5E894975C3C2}"/>
              </a:ext>
            </a:extLst>
          </p:cNvPr>
          <p:cNvSpPr txBox="1"/>
          <p:nvPr/>
        </p:nvSpPr>
        <p:spPr>
          <a:xfrm>
            <a:off x="7074404" y="1877906"/>
            <a:ext cx="806821" cy="246221"/>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r>
              <a:rPr lang="en-VN" sz="500" dirty="0"/>
              <a:t>Luvina phụ trách bảo trì hệ thống</a:t>
            </a:r>
          </a:p>
        </p:txBody>
      </p:sp>
      <p:sp>
        <p:nvSpPr>
          <p:cNvPr id="13" name="TextBox 12">
            <a:extLst>
              <a:ext uri="{FF2B5EF4-FFF2-40B4-BE49-F238E27FC236}">
                <a16:creationId xmlns:a16="http://schemas.microsoft.com/office/drawing/2014/main" id="{DE6DD0D7-5531-3ADF-E8EF-C191769B75B5}"/>
              </a:ext>
            </a:extLst>
          </p:cNvPr>
          <p:cNvSpPr txBox="1"/>
          <p:nvPr/>
        </p:nvSpPr>
        <p:spPr>
          <a:xfrm>
            <a:off x="7074403" y="2612623"/>
            <a:ext cx="806821" cy="32316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r>
              <a:rPr lang="en-VN" sz="500" dirty="0"/>
              <a:t>Khi có sự cố Luvina báo cho USMH qua email or team</a:t>
            </a:r>
          </a:p>
        </p:txBody>
      </p:sp>
      <p:sp>
        <p:nvSpPr>
          <p:cNvPr id="14" name="TextBox 13">
            <a:extLst>
              <a:ext uri="{FF2B5EF4-FFF2-40B4-BE49-F238E27FC236}">
                <a16:creationId xmlns:a16="http://schemas.microsoft.com/office/drawing/2014/main" id="{1F9B0E59-D318-4AC0-8655-5466FFB5C35C}"/>
              </a:ext>
            </a:extLst>
          </p:cNvPr>
          <p:cNvSpPr txBox="1"/>
          <p:nvPr/>
        </p:nvSpPr>
        <p:spPr>
          <a:xfrm>
            <a:off x="7987718" y="1731881"/>
            <a:ext cx="806821" cy="246221"/>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r>
              <a:rPr lang="en-VN" sz="500" dirty="0"/>
              <a:t>UMSH nhận thông báo sự cố</a:t>
            </a:r>
          </a:p>
        </p:txBody>
      </p:sp>
    </p:spTree>
    <p:extLst>
      <p:ext uri="{BB962C8B-B14F-4D97-AF65-F5344CB8AC3E}">
        <p14:creationId xmlns:p14="http://schemas.microsoft.com/office/powerpoint/2010/main" val="190232888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55"/>
          <p:cNvSpPr txBox="1">
            <a:spLocks noGrp="1"/>
          </p:cNvSpPr>
          <p:nvPr>
            <p:ph type="title"/>
          </p:nvPr>
        </p:nvSpPr>
        <p:spPr>
          <a:xfrm>
            <a:off x="311700" y="269825"/>
            <a:ext cx="8520600" cy="572700"/>
          </a:xfrm>
          <a:prstGeom prst="rect">
            <a:avLst/>
          </a:prstGeom>
        </p:spPr>
        <p:txBody>
          <a:bodyPr spcFirstLastPara="1" wrap="square" lIns="91425" tIns="91425" rIns="91425" bIns="91425" anchor="t" anchorCtr="0">
            <a:normAutofit fontScale="90000"/>
          </a:bodyPr>
          <a:lstStyle/>
          <a:p>
            <a:pPr lvl="0"/>
            <a:r>
              <a:rPr lang="ja" dirty="0">
                <a:highlight>
                  <a:srgbClr val="D9D9D9"/>
                </a:highlight>
              </a:rPr>
              <a:t>10-2.アプリのエラーログの一覧 </a:t>
            </a:r>
            <a:r>
              <a:rPr lang="ja" dirty="0">
                <a:solidFill>
                  <a:srgbClr val="FF0000"/>
                </a:solidFill>
                <a:highlight>
                  <a:srgbClr val="D9D9D9"/>
                </a:highlight>
              </a:rPr>
              <a:t>※確認中※</a:t>
            </a:r>
            <a:r>
              <a:rPr lang="en-US" altLang="ja" dirty="0">
                <a:solidFill>
                  <a:srgbClr val="FF0000"/>
                </a:solidFill>
                <a:highlight>
                  <a:srgbClr val="D9D9D9"/>
                </a:highlight>
              </a:rPr>
              <a:t>/</a:t>
            </a:r>
            <a:r>
              <a:rPr lang="en-US" dirty="0">
                <a:highlight>
                  <a:srgbClr val="D9D9D9"/>
                </a:highlight>
              </a:rPr>
              <a:t> Danh </a:t>
            </a:r>
            <a:r>
              <a:rPr lang="en-US" dirty="0" err="1">
                <a:highlight>
                  <a:srgbClr val="D9D9D9"/>
                </a:highlight>
              </a:rPr>
              <a:t>sách</a:t>
            </a:r>
            <a:r>
              <a:rPr lang="en-US" dirty="0">
                <a:highlight>
                  <a:srgbClr val="D9D9D9"/>
                </a:highlight>
              </a:rPr>
              <a:t> log </a:t>
            </a:r>
            <a:r>
              <a:rPr lang="en-US" dirty="0" err="1">
                <a:highlight>
                  <a:srgbClr val="D9D9D9"/>
                </a:highlight>
              </a:rPr>
              <a:t>lỗi</a:t>
            </a:r>
            <a:r>
              <a:rPr lang="en-US" dirty="0">
                <a:highlight>
                  <a:srgbClr val="D9D9D9"/>
                </a:highlight>
              </a:rPr>
              <a:t> </a:t>
            </a:r>
            <a:r>
              <a:rPr lang="en-US" dirty="0" err="1">
                <a:highlight>
                  <a:srgbClr val="D9D9D9"/>
                </a:highlight>
              </a:rPr>
              <a:t>của</a:t>
            </a:r>
            <a:r>
              <a:rPr lang="en-US" dirty="0">
                <a:highlight>
                  <a:srgbClr val="D9D9D9"/>
                </a:highlight>
              </a:rPr>
              <a:t> </a:t>
            </a:r>
            <a:r>
              <a:rPr lang="en-US" dirty="0" err="1">
                <a:highlight>
                  <a:srgbClr val="D9D9D9"/>
                </a:highlight>
              </a:rPr>
              <a:t>ứng</a:t>
            </a:r>
            <a:r>
              <a:rPr lang="en-US" dirty="0">
                <a:highlight>
                  <a:srgbClr val="D9D9D9"/>
                </a:highlight>
              </a:rPr>
              <a:t> </a:t>
            </a:r>
            <a:r>
              <a:rPr lang="en-US" dirty="0" err="1">
                <a:highlight>
                  <a:srgbClr val="D9D9D9"/>
                </a:highlight>
              </a:rPr>
              <a:t>dụng</a:t>
            </a:r>
            <a:r>
              <a:rPr lang="en-US" dirty="0">
                <a:highlight>
                  <a:srgbClr val="D9D9D9"/>
                </a:highlight>
              </a:rPr>
              <a:t> </a:t>
            </a:r>
            <a:r>
              <a:rPr lang="en-US" dirty="0">
                <a:solidFill>
                  <a:srgbClr val="FF0000"/>
                </a:solidFill>
                <a:highlight>
                  <a:srgbClr val="D9D9D9"/>
                </a:highlight>
              </a:rPr>
              <a:t>※</a:t>
            </a:r>
            <a:r>
              <a:rPr lang="en-US" dirty="0" err="1">
                <a:solidFill>
                  <a:srgbClr val="FF0000"/>
                </a:solidFill>
                <a:highlight>
                  <a:srgbClr val="D9D9D9"/>
                </a:highlight>
              </a:rPr>
              <a:t>Đang</a:t>
            </a:r>
            <a:r>
              <a:rPr lang="en-US" dirty="0">
                <a:solidFill>
                  <a:srgbClr val="FF0000"/>
                </a:solidFill>
                <a:highlight>
                  <a:srgbClr val="D9D9D9"/>
                </a:highlight>
              </a:rPr>
              <a:t> </a:t>
            </a:r>
            <a:r>
              <a:rPr lang="en-US" dirty="0" err="1">
                <a:solidFill>
                  <a:srgbClr val="FF0000"/>
                </a:solidFill>
                <a:highlight>
                  <a:srgbClr val="D9D9D9"/>
                </a:highlight>
              </a:rPr>
              <a:t>xác</a:t>
            </a:r>
            <a:r>
              <a:rPr lang="en-US" dirty="0">
                <a:solidFill>
                  <a:srgbClr val="FF0000"/>
                </a:solidFill>
                <a:highlight>
                  <a:srgbClr val="D9D9D9"/>
                </a:highlight>
              </a:rPr>
              <a:t> </a:t>
            </a:r>
            <a:r>
              <a:rPr lang="en-US" dirty="0" err="1">
                <a:solidFill>
                  <a:srgbClr val="FF0000"/>
                </a:solidFill>
                <a:highlight>
                  <a:srgbClr val="D9D9D9"/>
                </a:highlight>
              </a:rPr>
              <a:t>nhận</a:t>
            </a:r>
            <a:r>
              <a:rPr lang="en-US" dirty="0">
                <a:solidFill>
                  <a:srgbClr val="FF0000"/>
                </a:solidFill>
                <a:highlight>
                  <a:srgbClr val="D9D9D9"/>
                </a:highlight>
              </a:rPr>
              <a:t>※</a:t>
            </a:r>
            <a:endParaRPr dirty="0">
              <a:solidFill>
                <a:srgbClr val="FF0000"/>
              </a:solidFill>
              <a:highlight>
                <a:srgbClr val="D9D9D9"/>
              </a:highlight>
            </a:endParaRPr>
          </a:p>
        </p:txBody>
      </p:sp>
      <p:pic>
        <p:nvPicPr>
          <p:cNvPr id="387" name="Google Shape;387;p55"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88" name="Google Shape;388;p5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72</a:t>
            </a:fld>
            <a:endParaRPr/>
          </a:p>
        </p:txBody>
      </p:sp>
      <p:graphicFrame>
        <p:nvGraphicFramePr>
          <p:cNvPr id="389" name="Google Shape;389;p55"/>
          <p:cNvGraphicFramePr/>
          <p:nvPr>
            <p:extLst>
              <p:ext uri="{D42A27DB-BD31-4B8C-83A1-F6EECF244321}">
                <p14:modId xmlns:p14="http://schemas.microsoft.com/office/powerpoint/2010/main" val="2740413816"/>
              </p:ext>
            </p:extLst>
          </p:nvPr>
        </p:nvGraphicFramePr>
        <p:xfrm>
          <a:off x="734575" y="1278025"/>
          <a:ext cx="7522700" cy="2072610"/>
        </p:xfrm>
        <a:graphic>
          <a:graphicData uri="http://schemas.openxmlformats.org/drawingml/2006/table">
            <a:tbl>
              <a:tblPr>
                <a:noFill/>
                <a:tableStyleId>{87A281C8-0844-4F7E-8F5C-31C3930F0FE5}</a:tableStyleId>
              </a:tblPr>
              <a:tblGrid>
                <a:gridCol w="1518675">
                  <a:extLst>
                    <a:ext uri="{9D8B030D-6E8A-4147-A177-3AD203B41FA5}">
                      <a16:colId xmlns:a16="http://schemas.microsoft.com/office/drawing/2014/main" val="20000"/>
                    </a:ext>
                  </a:extLst>
                </a:gridCol>
                <a:gridCol w="3161300">
                  <a:extLst>
                    <a:ext uri="{9D8B030D-6E8A-4147-A177-3AD203B41FA5}">
                      <a16:colId xmlns:a16="http://schemas.microsoft.com/office/drawing/2014/main" val="20001"/>
                    </a:ext>
                  </a:extLst>
                </a:gridCol>
                <a:gridCol w="2842725">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ja" sz="1200" dirty="0"/>
                        <a:t>ロググループ名</a:t>
                      </a:r>
                      <a:r>
                        <a:rPr lang="en-US" altLang="ja" sz="1200" dirty="0"/>
                        <a:t>/Log group Name</a:t>
                      </a:r>
                      <a:endParaRPr sz="1200" dirty="0"/>
                    </a:p>
                  </a:txBody>
                  <a:tcPr marL="91425" marR="91425" marT="91425" marB="91425">
                    <a:solidFill>
                      <a:schemeClr val="lt2"/>
                    </a:solidFill>
                  </a:tcPr>
                </a:tc>
                <a:tc>
                  <a:txBody>
                    <a:bodyPr/>
                    <a:lstStyle/>
                    <a:p>
                      <a:pPr marL="0" lvl="0" indent="0" algn="l" rtl="0">
                        <a:spcBef>
                          <a:spcPts val="0"/>
                        </a:spcBef>
                        <a:spcAft>
                          <a:spcPts val="0"/>
                        </a:spcAft>
                        <a:buNone/>
                      </a:pPr>
                      <a:endParaRPr sz="1200"/>
                    </a:p>
                  </a:txBody>
                  <a:tcPr marL="91425" marR="91425" marT="91425" marB="91425">
                    <a:solidFill>
                      <a:schemeClr val="lt2"/>
                    </a:solidFill>
                  </a:tcPr>
                </a:tc>
                <a:tc>
                  <a:txBody>
                    <a:bodyPr/>
                    <a:lstStyle/>
                    <a:p>
                      <a:pPr marL="0" lvl="0" indent="0" algn="l" rtl="0">
                        <a:spcBef>
                          <a:spcPts val="0"/>
                        </a:spcBef>
                        <a:spcAft>
                          <a:spcPts val="0"/>
                        </a:spcAft>
                        <a:buNone/>
                      </a:pPr>
                      <a:endParaRPr sz="1200"/>
                    </a:p>
                  </a:txBody>
                  <a:tcPr marL="91425" marR="91425" marT="91425" marB="91425">
                    <a:solidFill>
                      <a:schemeClr val="lt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ja" sz="1000"/>
                        <a:t>/pos/log/import</a:t>
                      </a:r>
                      <a:endParaRPr sz="1000"/>
                    </a:p>
                  </a:txBody>
                  <a:tcPr marL="91425" marR="91425" marT="91425" marB="91425"/>
                </a:tc>
                <a:tc>
                  <a:txBody>
                    <a:bodyPr/>
                    <a:lstStyle/>
                    <a:p>
                      <a:pPr marL="0" lvl="0" indent="0" algn="l" rtl="0">
                        <a:lnSpc>
                          <a:spcPct val="115000"/>
                        </a:lnSpc>
                        <a:spcBef>
                          <a:spcPts val="0"/>
                        </a:spcBef>
                        <a:spcAft>
                          <a:spcPts val="0"/>
                        </a:spcAft>
                        <a:buNone/>
                      </a:pPr>
                      <a:endParaRPr sz="1000"/>
                    </a:p>
                  </a:txBody>
                  <a:tcPr marL="91425" marR="91425" marT="91425" marB="91425"/>
                </a:tc>
                <a:tc>
                  <a:txBody>
                    <a:bodyPr/>
                    <a:lstStyle/>
                    <a:p>
                      <a:pPr marL="0" lvl="0" indent="0" algn="l" rtl="0">
                        <a:lnSpc>
                          <a:spcPct val="115000"/>
                        </a:lnSpc>
                        <a:spcBef>
                          <a:spcPts val="0"/>
                        </a:spcBef>
                        <a:spcAft>
                          <a:spcPts val="0"/>
                        </a:spcAft>
                        <a:buNone/>
                      </a:pPr>
                      <a:endParaRPr sz="1000"/>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ja" sz="1000"/>
                        <a:t>/pos/log/export</a:t>
                      </a: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ja" sz="1000"/>
                        <a:t>/pos/log/sent</a:t>
                      </a: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ja" sz="1000"/>
                        <a:t>/pos/log/email</a:t>
                      </a: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tc>
                  <a:txBody>
                    <a:bodyPr/>
                    <a:lstStyle/>
                    <a:p>
                      <a:pPr marL="0" lvl="0" indent="0" algn="l" rtl="0">
                        <a:spcBef>
                          <a:spcPts val="0"/>
                        </a:spcBef>
                        <a:spcAft>
                          <a:spcPts val="0"/>
                        </a:spcAft>
                        <a:buNone/>
                      </a:pPr>
                      <a:endParaRPr sz="1000" dirty="0"/>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5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fontScale="90000"/>
          </a:bodyPr>
          <a:lstStyle/>
          <a:p>
            <a:pPr lvl="0"/>
            <a:r>
              <a:rPr lang="ja" sz="3000" dirty="0">
                <a:highlight>
                  <a:srgbClr val="FFFFFF"/>
                </a:highlight>
              </a:rPr>
              <a:t>11.セキュリティ対策</a:t>
            </a:r>
            <a:br>
              <a:rPr lang="en-US" altLang="ja" sz="3000" dirty="0">
                <a:highlight>
                  <a:srgbClr val="FFFFFF"/>
                </a:highlight>
              </a:rPr>
            </a:br>
            <a:br>
              <a:rPr lang="en-US" altLang="ja" sz="3000" dirty="0">
                <a:highlight>
                  <a:srgbClr val="FFFFFF"/>
                </a:highlight>
              </a:rPr>
            </a:br>
            <a:r>
              <a:rPr lang="en-US" sz="3200" dirty="0" err="1">
                <a:highlight>
                  <a:srgbClr val="FFFFFF"/>
                </a:highlight>
              </a:rPr>
              <a:t>Đối</a:t>
            </a:r>
            <a:r>
              <a:rPr lang="en-US" sz="3200" dirty="0">
                <a:highlight>
                  <a:srgbClr val="FFFFFF"/>
                </a:highlight>
              </a:rPr>
              <a:t> </a:t>
            </a:r>
            <a:r>
              <a:rPr lang="en-US" sz="3200" dirty="0" err="1">
                <a:highlight>
                  <a:srgbClr val="FFFFFF"/>
                </a:highlight>
              </a:rPr>
              <a:t>sách</a:t>
            </a:r>
            <a:r>
              <a:rPr lang="en-US" sz="3200" dirty="0">
                <a:highlight>
                  <a:srgbClr val="FFFFFF"/>
                </a:highlight>
              </a:rPr>
              <a:t> an </a:t>
            </a:r>
            <a:r>
              <a:rPr lang="en-US" sz="3200" dirty="0" err="1">
                <a:highlight>
                  <a:srgbClr val="FFFFFF"/>
                </a:highlight>
              </a:rPr>
              <a:t>ninh</a:t>
            </a:r>
            <a:endParaRPr sz="3000" dirty="0">
              <a:highlight>
                <a:srgbClr val="FFFFFF"/>
              </a:highlight>
            </a:endParaRPr>
          </a:p>
        </p:txBody>
      </p:sp>
      <p:pic>
        <p:nvPicPr>
          <p:cNvPr id="395" name="Google Shape;395;p56"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96" name="Google Shape;396;p5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73</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57"/>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dirty="0">
                <a:highlight>
                  <a:srgbClr val="D9D9D9"/>
                </a:highlight>
              </a:rPr>
              <a:t>11-1.検知</a:t>
            </a:r>
            <a:endParaRPr dirty="0">
              <a:highlight>
                <a:srgbClr val="D9D9D9"/>
              </a:highlight>
            </a:endParaRPr>
          </a:p>
          <a:p>
            <a:pPr marL="0" lvl="0" indent="0" algn="l" rtl="0">
              <a:spcBef>
                <a:spcPts val="0"/>
              </a:spcBef>
              <a:spcAft>
                <a:spcPts val="0"/>
              </a:spcAft>
              <a:buNone/>
            </a:pPr>
            <a:endParaRPr dirty="0">
              <a:highlight>
                <a:srgbClr val="D9D9D9"/>
              </a:highlight>
            </a:endParaRPr>
          </a:p>
        </p:txBody>
      </p:sp>
      <p:pic>
        <p:nvPicPr>
          <p:cNvPr id="402" name="Google Shape;402;p57"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403" name="Google Shape;403;p5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74</a:t>
            </a:fld>
            <a:endParaRPr/>
          </a:p>
        </p:txBody>
      </p:sp>
      <p:graphicFrame>
        <p:nvGraphicFramePr>
          <p:cNvPr id="404" name="Google Shape;404;p57"/>
          <p:cNvGraphicFramePr/>
          <p:nvPr/>
        </p:nvGraphicFramePr>
        <p:xfrm>
          <a:off x="569525" y="1174925"/>
          <a:ext cx="8103475" cy="3032620"/>
        </p:xfrm>
        <a:graphic>
          <a:graphicData uri="http://schemas.openxmlformats.org/drawingml/2006/table">
            <a:tbl>
              <a:tblPr>
                <a:noFill/>
                <a:tableStyleId>{87A281C8-0844-4F7E-8F5C-31C3930F0FE5}</a:tableStyleId>
              </a:tblPr>
              <a:tblGrid>
                <a:gridCol w="1237125">
                  <a:extLst>
                    <a:ext uri="{9D8B030D-6E8A-4147-A177-3AD203B41FA5}">
                      <a16:colId xmlns:a16="http://schemas.microsoft.com/office/drawing/2014/main" val="20000"/>
                    </a:ext>
                  </a:extLst>
                </a:gridCol>
                <a:gridCol w="1708375">
                  <a:extLst>
                    <a:ext uri="{9D8B030D-6E8A-4147-A177-3AD203B41FA5}">
                      <a16:colId xmlns:a16="http://schemas.microsoft.com/office/drawing/2014/main" val="20001"/>
                    </a:ext>
                  </a:extLst>
                </a:gridCol>
                <a:gridCol w="5157975">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ja" sz="1200"/>
                        <a:t>AWSサービス</a:t>
                      </a:r>
                      <a:endParaRPr sz="1200"/>
                    </a:p>
                  </a:txBody>
                  <a:tcPr marL="91425" marR="91425" marT="91425" marB="91425">
                    <a:solidFill>
                      <a:schemeClr val="lt2"/>
                    </a:solidFill>
                  </a:tcPr>
                </a:tc>
                <a:tc>
                  <a:txBody>
                    <a:bodyPr/>
                    <a:lstStyle/>
                    <a:p>
                      <a:pPr marL="0" lvl="0" indent="0" algn="l" rtl="0">
                        <a:spcBef>
                          <a:spcPts val="0"/>
                        </a:spcBef>
                        <a:spcAft>
                          <a:spcPts val="0"/>
                        </a:spcAft>
                        <a:buNone/>
                      </a:pPr>
                      <a:r>
                        <a:rPr lang="ja" sz="1200"/>
                        <a:t>環境</a:t>
                      </a:r>
                      <a:endParaRPr sz="1200"/>
                    </a:p>
                  </a:txBody>
                  <a:tcPr marL="91425" marR="91425" marT="91425" marB="91425">
                    <a:solidFill>
                      <a:schemeClr val="lt2"/>
                    </a:solidFill>
                  </a:tcPr>
                </a:tc>
                <a:tc>
                  <a:txBody>
                    <a:bodyPr/>
                    <a:lstStyle/>
                    <a:p>
                      <a:pPr marL="0" lvl="0" indent="0" algn="l" rtl="0">
                        <a:spcBef>
                          <a:spcPts val="0"/>
                        </a:spcBef>
                        <a:spcAft>
                          <a:spcPts val="0"/>
                        </a:spcAft>
                        <a:buNone/>
                      </a:pPr>
                      <a:r>
                        <a:rPr lang="ja" sz="1200"/>
                        <a:t>目的</a:t>
                      </a:r>
                      <a:endParaRPr sz="1200"/>
                    </a:p>
                  </a:txBody>
                  <a:tcPr marL="91425" marR="91425" marT="91425" marB="91425">
                    <a:solidFill>
                      <a:schemeClr val="lt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ja" sz="1200"/>
                        <a:t>Config</a:t>
                      </a:r>
                      <a:endParaRPr sz="1200"/>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ja" sz="1200"/>
                        <a:t>本番・ステージング</a:t>
                      </a:r>
                      <a:endParaRPr sz="1200"/>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ja" sz="1200"/>
                        <a:t>AWSリソースの設定変更履歴を取得し、コンプライアンス要件に準拠しているか評価</a:t>
                      </a:r>
                      <a:endParaRPr sz="1200"/>
                    </a:p>
                  </a:txBody>
                  <a:tcPr marL="91425" marR="91425" marT="91425" marB="91425">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ja" sz="1200"/>
                        <a:t>IAM Access Analyzer</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ja" sz="1200">
                          <a:solidFill>
                            <a:schemeClr val="dk1"/>
                          </a:solidFill>
                        </a:rPr>
                        <a:t>本番・ステージング</a:t>
                      </a:r>
                      <a:endParaRPr sz="1200">
                        <a:solidFill>
                          <a:schemeClr val="dk1"/>
                        </a:solidFill>
                      </a:endParaRPr>
                    </a:p>
                    <a:p>
                      <a:pPr marL="0" lvl="0" indent="0" algn="l" rtl="0">
                        <a:lnSpc>
                          <a:spcPct val="115000"/>
                        </a:lnSpc>
                        <a:spcBef>
                          <a:spcPts val="0"/>
                        </a:spcBef>
                        <a:spcAft>
                          <a:spcPts val="0"/>
                        </a:spcAft>
                        <a:buNone/>
                      </a:pPr>
                      <a:endParaRPr sz="12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ja" sz="1200"/>
                        <a:t>AWSリソースに紐づくポリシーが意図せぬ公開設定されていないか検出</a:t>
                      </a:r>
                      <a:endParaRPr sz="12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ja" sz="1200"/>
                        <a:t>Security Hub</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ja" sz="1200">
                          <a:solidFill>
                            <a:schemeClr val="dk1"/>
                          </a:solidFill>
                        </a:rPr>
                        <a:t>本番・ステージング</a:t>
                      </a:r>
                      <a:endParaRPr sz="12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ja" sz="1200"/>
                        <a:t>AWS環境全体のセキュリティを一言管理</a:t>
                      </a:r>
                      <a:endParaRPr sz="12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ja" sz="1200"/>
                        <a:t>CloudTrail</a:t>
                      </a:r>
                      <a:endParaRPr sz="1200"/>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lnSpc>
                          <a:spcPct val="115000"/>
                        </a:lnSpc>
                        <a:spcBef>
                          <a:spcPts val="0"/>
                        </a:spcBef>
                        <a:spcAft>
                          <a:spcPts val="0"/>
                        </a:spcAft>
                        <a:buNone/>
                      </a:pPr>
                      <a:r>
                        <a:rPr lang="ja" sz="1200">
                          <a:solidFill>
                            <a:schemeClr val="dk1"/>
                          </a:solidFill>
                        </a:rPr>
                        <a:t>本番</a:t>
                      </a:r>
                      <a:endParaRPr sz="1200">
                        <a:solidFill>
                          <a:schemeClr val="dk1"/>
                        </a:solidFill>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lnSpc>
                          <a:spcPct val="115000"/>
                        </a:lnSpc>
                        <a:spcBef>
                          <a:spcPts val="0"/>
                        </a:spcBef>
                        <a:spcAft>
                          <a:spcPts val="0"/>
                        </a:spcAft>
                        <a:buNone/>
                      </a:pPr>
                      <a:r>
                        <a:rPr lang="ja" sz="1200">
                          <a:solidFill>
                            <a:schemeClr val="dk1"/>
                          </a:solidFill>
                        </a:rPr>
                        <a:t>AWSアカウント内で行われたAPIコールと関連イベントをモニタリング</a:t>
                      </a:r>
                      <a:endParaRPr sz="1200"/>
                    </a:p>
                  </a:txBody>
                  <a:tcPr marL="91425" marR="91425" marT="91425" marB="91425">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4"/>
                  </a:ext>
                </a:extLst>
              </a:tr>
              <a:tr h="401875">
                <a:tc>
                  <a:txBody>
                    <a:bodyPr/>
                    <a:lstStyle/>
                    <a:p>
                      <a:pPr marL="0" lvl="0" indent="0" algn="l" rtl="0">
                        <a:spcBef>
                          <a:spcPts val="0"/>
                        </a:spcBef>
                        <a:spcAft>
                          <a:spcPts val="0"/>
                        </a:spcAft>
                        <a:buNone/>
                      </a:pPr>
                      <a:r>
                        <a:rPr lang="ja" sz="1200"/>
                        <a:t>Inspector</a:t>
                      </a:r>
                      <a:endParaRPr sz="1200"/>
                    </a:p>
                  </a:txBody>
                  <a:tcPr marL="91425" marR="91425" marT="91425" marB="91425"/>
                </a:tc>
                <a:tc>
                  <a:txBody>
                    <a:bodyPr/>
                    <a:lstStyle/>
                    <a:p>
                      <a:pPr marL="0" lvl="0" indent="0" algn="l" rtl="0">
                        <a:lnSpc>
                          <a:spcPct val="115000"/>
                        </a:lnSpc>
                        <a:spcBef>
                          <a:spcPts val="0"/>
                        </a:spcBef>
                        <a:spcAft>
                          <a:spcPts val="0"/>
                        </a:spcAft>
                        <a:buNone/>
                      </a:pPr>
                      <a:r>
                        <a:rPr lang="ja" sz="1200">
                          <a:solidFill>
                            <a:schemeClr val="dk1"/>
                          </a:solidFill>
                        </a:rPr>
                        <a:t>本番</a:t>
                      </a:r>
                      <a:endParaRPr sz="1200">
                        <a:solidFill>
                          <a:schemeClr val="dk1"/>
                        </a:solidFill>
                      </a:endParaRPr>
                    </a:p>
                  </a:txBody>
                  <a:tcPr marL="91425" marR="91425" marT="91425" marB="91425"/>
                </a:tc>
                <a:tc>
                  <a:txBody>
                    <a:bodyPr/>
                    <a:lstStyle/>
                    <a:p>
                      <a:pPr marL="0" lvl="0" indent="0" algn="l" rtl="0">
                        <a:lnSpc>
                          <a:spcPct val="115000"/>
                        </a:lnSpc>
                        <a:spcBef>
                          <a:spcPts val="0"/>
                        </a:spcBef>
                        <a:spcAft>
                          <a:spcPts val="0"/>
                        </a:spcAft>
                        <a:buClr>
                          <a:schemeClr val="dk1"/>
                        </a:buClr>
                        <a:buSzPts val="1100"/>
                        <a:buFont typeface="Arial"/>
                        <a:buNone/>
                      </a:pPr>
                      <a:r>
                        <a:rPr lang="ja" sz="1200">
                          <a:solidFill>
                            <a:schemeClr val="dk1"/>
                          </a:solidFill>
                        </a:rPr>
                        <a:t>EC2,ECSコンテナ,Lambdaの脆弱性を検出</a:t>
                      </a:r>
                      <a:endParaRPr sz="1200">
                        <a:solidFill>
                          <a:schemeClr val="dk1"/>
                        </a:solidFill>
                      </a:endParaRPr>
                    </a:p>
                  </a:txBody>
                  <a:tcPr marL="91425" marR="91425" marT="91425" marB="91425"/>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ja" sz="1200"/>
                        <a:t>VPC Flow logs</a:t>
                      </a:r>
                      <a:endParaRPr sz="1200"/>
                    </a:p>
                  </a:txBody>
                  <a:tcPr marL="91425" marR="91425" marT="91425" marB="91425"/>
                </a:tc>
                <a:tc>
                  <a:txBody>
                    <a:bodyPr/>
                    <a:lstStyle/>
                    <a:p>
                      <a:pPr marL="0" lvl="0" indent="0" algn="l" rtl="0">
                        <a:spcBef>
                          <a:spcPts val="0"/>
                        </a:spcBef>
                        <a:spcAft>
                          <a:spcPts val="0"/>
                        </a:spcAft>
                        <a:buNone/>
                      </a:pPr>
                      <a:r>
                        <a:rPr lang="ja" sz="1200"/>
                        <a:t>本番</a:t>
                      </a:r>
                      <a:endParaRPr sz="1200"/>
                    </a:p>
                  </a:txBody>
                  <a:tcPr marL="91425" marR="91425" marT="91425" marB="91425"/>
                </a:tc>
                <a:tc>
                  <a:txBody>
                    <a:bodyPr/>
                    <a:lstStyle/>
                    <a:p>
                      <a:pPr marL="0" lvl="0" indent="0" algn="l" rtl="0">
                        <a:spcBef>
                          <a:spcPts val="0"/>
                        </a:spcBef>
                        <a:spcAft>
                          <a:spcPts val="0"/>
                        </a:spcAft>
                        <a:buNone/>
                      </a:pPr>
                      <a:r>
                        <a:rPr lang="ja" sz="1200"/>
                        <a:t>トラフィックのメタ情報を分析</a:t>
                      </a:r>
                      <a:endParaRPr sz="1200"/>
                    </a:p>
                  </a:txBody>
                  <a:tcPr marL="91425" marR="91425" marT="91425" marB="91425"/>
                </a:tc>
                <a:extLst>
                  <a:ext uri="{0D108BD9-81ED-4DB2-BD59-A6C34878D82A}">
                    <a16:rowId xmlns:a16="http://schemas.microsoft.com/office/drawing/2014/main" val="10006"/>
                  </a:ext>
                </a:extLst>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400">
          <a:extLst>
            <a:ext uri="{FF2B5EF4-FFF2-40B4-BE49-F238E27FC236}">
              <a16:creationId xmlns:a16="http://schemas.microsoft.com/office/drawing/2014/main" id="{7AC969F1-4DF5-4F59-15F2-0C5A32A839A7}"/>
            </a:ext>
          </a:extLst>
        </p:cNvPr>
        <p:cNvGrpSpPr/>
        <p:nvPr/>
      </p:nvGrpSpPr>
      <p:grpSpPr>
        <a:xfrm>
          <a:off x="0" y="0"/>
          <a:ext cx="0" cy="0"/>
          <a:chOff x="0" y="0"/>
          <a:chExt cx="0" cy="0"/>
        </a:xfrm>
      </p:grpSpPr>
      <p:sp>
        <p:nvSpPr>
          <p:cNvPr id="401" name="Google Shape;401;p57">
            <a:extLst>
              <a:ext uri="{FF2B5EF4-FFF2-40B4-BE49-F238E27FC236}">
                <a16:creationId xmlns:a16="http://schemas.microsoft.com/office/drawing/2014/main" id="{1146D788-CD47-2C73-F38D-5BF430D4DB77}"/>
              </a:ext>
            </a:extLst>
          </p:cNvPr>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lvl="0"/>
            <a:r>
              <a:rPr lang="ja" dirty="0">
                <a:highlight>
                  <a:srgbClr val="D9D9D9"/>
                </a:highlight>
              </a:rPr>
              <a:t>11-1.検知</a:t>
            </a:r>
            <a:r>
              <a:rPr lang="en-US" altLang="ja" dirty="0">
                <a:highlight>
                  <a:srgbClr val="D9D9D9"/>
                </a:highlight>
              </a:rPr>
              <a:t>/</a:t>
            </a:r>
            <a:r>
              <a:rPr lang="en-US" dirty="0">
                <a:highlight>
                  <a:srgbClr val="D9D9D9"/>
                </a:highlight>
              </a:rPr>
              <a:t> </a:t>
            </a:r>
            <a:r>
              <a:rPr lang="en-US" dirty="0" err="1">
                <a:highlight>
                  <a:srgbClr val="D9D9D9"/>
                </a:highlight>
              </a:rPr>
              <a:t>Phát</a:t>
            </a:r>
            <a:r>
              <a:rPr lang="en-US" dirty="0">
                <a:highlight>
                  <a:srgbClr val="D9D9D9"/>
                </a:highlight>
              </a:rPr>
              <a:t> </a:t>
            </a:r>
            <a:r>
              <a:rPr lang="en-US" dirty="0" err="1">
                <a:highlight>
                  <a:srgbClr val="D9D9D9"/>
                </a:highlight>
              </a:rPr>
              <a:t>hiện</a:t>
            </a:r>
            <a:r>
              <a:rPr lang="en-US" dirty="0">
                <a:highlight>
                  <a:srgbClr val="D9D9D9"/>
                </a:highlight>
              </a:rPr>
              <a:t> (Detection)</a:t>
            </a:r>
            <a:endParaRPr dirty="0">
              <a:highlight>
                <a:srgbClr val="D9D9D9"/>
              </a:highlight>
            </a:endParaRPr>
          </a:p>
          <a:p>
            <a:pPr marL="0" lvl="0" indent="0" algn="l" rtl="0">
              <a:spcBef>
                <a:spcPts val="0"/>
              </a:spcBef>
              <a:spcAft>
                <a:spcPts val="0"/>
              </a:spcAft>
              <a:buNone/>
            </a:pPr>
            <a:endParaRPr dirty="0">
              <a:highlight>
                <a:srgbClr val="D9D9D9"/>
              </a:highlight>
            </a:endParaRPr>
          </a:p>
        </p:txBody>
      </p:sp>
      <p:pic>
        <p:nvPicPr>
          <p:cNvPr id="402" name="Google Shape;402;p57" title="logo-luvina-2022-2.png">
            <a:extLst>
              <a:ext uri="{FF2B5EF4-FFF2-40B4-BE49-F238E27FC236}">
                <a16:creationId xmlns:a16="http://schemas.microsoft.com/office/drawing/2014/main" id="{8C6D0972-0547-B112-652C-3DF98B7E9AA3}"/>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403" name="Google Shape;403;p57">
            <a:extLst>
              <a:ext uri="{FF2B5EF4-FFF2-40B4-BE49-F238E27FC236}">
                <a16:creationId xmlns:a16="http://schemas.microsoft.com/office/drawing/2014/main" id="{96FF1BCC-9BFC-3C4C-5526-940C9ABCD013}"/>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75</a:t>
            </a:fld>
            <a:endParaRPr/>
          </a:p>
        </p:txBody>
      </p:sp>
      <p:graphicFrame>
        <p:nvGraphicFramePr>
          <p:cNvPr id="404" name="Google Shape;404;p57">
            <a:extLst>
              <a:ext uri="{FF2B5EF4-FFF2-40B4-BE49-F238E27FC236}">
                <a16:creationId xmlns:a16="http://schemas.microsoft.com/office/drawing/2014/main" id="{BD8D7F08-A935-7DF8-25F4-05854755890B}"/>
              </a:ext>
            </a:extLst>
          </p:cNvPr>
          <p:cNvGraphicFramePr/>
          <p:nvPr>
            <p:extLst>
              <p:ext uri="{D42A27DB-BD31-4B8C-83A1-F6EECF244321}">
                <p14:modId xmlns:p14="http://schemas.microsoft.com/office/powerpoint/2010/main" val="2910932404"/>
              </p:ext>
            </p:extLst>
          </p:nvPr>
        </p:nvGraphicFramePr>
        <p:xfrm>
          <a:off x="569525" y="1174925"/>
          <a:ext cx="8103475" cy="3469186"/>
        </p:xfrm>
        <a:graphic>
          <a:graphicData uri="http://schemas.openxmlformats.org/drawingml/2006/table">
            <a:tbl>
              <a:tblPr>
                <a:noFill/>
                <a:tableStyleId>{87A281C8-0844-4F7E-8F5C-31C3930F0FE5}</a:tableStyleId>
              </a:tblPr>
              <a:tblGrid>
                <a:gridCol w="1237125">
                  <a:extLst>
                    <a:ext uri="{9D8B030D-6E8A-4147-A177-3AD203B41FA5}">
                      <a16:colId xmlns:a16="http://schemas.microsoft.com/office/drawing/2014/main" val="20000"/>
                    </a:ext>
                  </a:extLst>
                </a:gridCol>
                <a:gridCol w="1708375">
                  <a:extLst>
                    <a:ext uri="{9D8B030D-6E8A-4147-A177-3AD203B41FA5}">
                      <a16:colId xmlns:a16="http://schemas.microsoft.com/office/drawing/2014/main" val="20001"/>
                    </a:ext>
                  </a:extLst>
                </a:gridCol>
                <a:gridCol w="5157975">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ja" sz="1200" dirty="0"/>
                        <a:t>AWS</a:t>
                      </a:r>
                      <a:r>
                        <a:rPr lang="en-US" altLang="ja" sz="1200" dirty="0"/>
                        <a:t> </a:t>
                      </a:r>
                      <a:r>
                        <a:rPr lang="en-US" altLang="ja" sz="1200" dirty="0" err="1"/>
                        <a:t>Serive</a:t>
                      </a:r>
                      <a:endParaRPr sz="1200" dirty="0"/>
                    </a:p>
                  </a:txBody>
                  <a:tcPr marL="91425" marR="91425" marT="91425" marB="91425">
                    <a:solidFill>
                      <a:schemeClr val="lt2"/>
                    </a:solidFill>
                  </a:tcPr>
                </a:tc>
                <a:tc>
                  <a:txBody>
                    <a:bodyPr/>
                    <a:lstStyle/>
                    <a:p>
                      <a:pPr marL="0" lvl="0" indent="0" algn="l" rtl="0">
                        <a:spcBef>
                          <a:spcPts val="0"/>
                        </a:spcBef>
                        <a:spcAft>
                          <a:spcPts val="0"/>
                        </a:spcAft>
                        <a:buNone/>
                      </a:pPr>
                      <a:r>
                        <a:rPr lang="en-US" sz="1200" dirty="0" err="1"/>
                        <a:t>Môi</a:t>
                      </a:r>
                      <a:r>
                        <a:rPr lang="en-US" sz="1200" dirty="0"/>
                        <a:t> </a:t>
                      </a:r>
                      <a:r>
                        <a:rPr lang="en-US" sz="1200" dirty="0" err="1"/>
                        <a:t>trường</a:t>
                      </a:r>
                      <a:endParaRPr sz="1200" dirty="0"/>
                    </a:p>
                  </a:txBody>
                  <a:tcPr marL="91425" marR="91425" marT="91425" marB="91425">
                    <a:solidFill>
                      <a:schemeClr val="lt2"/>
                    </a:solidFill>
                  </a:tcPr>
                </a:tc>
                <a:tc>
                  <a:txBody>
                    <a:bodyPr/>
                    <a:lstStyle/>
                    <a:p>
                      <a:pPr marL="0" lvl="0" indent="0" algn="l" rtl="0">
                        <a:spcBef>
                          <a:spcPts val="0"/>
                        </a:spcBef>
                        <a:spcAft>
                          <a:spcPts val="0"/>
                        </a:spcAft>
                        <a:buNone/>
                      </a:pPr>
                      <a:r>
                        <a:rPr lang="en-US" sz="1200" dirty="0" err="1"/>
                        <a:t>Mục</a:t>
                      </a:r>
                      <a:r>
                        <a:rPr lang="en-US" sz="1200" dirty="0"/>
                        <a:t> </a:t>
                      </a:r>
                      <a:r>
                        <a:rPr lang="en-US" sz="1200" dirty="0" err="1"/>
                        <a:t>đích</a:t>
                      </a:r>
                      <a:endParaRPr sz="1200" dirty="0"/>
                    </a:p>
                  </a:txBody>
                  <a:tcPr marL="91425" marR="91425" marT="91425" marB="91425">
                    <a:solidFill>
                      <a:schemeClr val="lt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ja" sz="1200"/>
                        <a:t>Config</a:t>
                      </a:r>
                      <a:endParaRPr sz="1200"/>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ltLang="ja" sz="1200" dirty="0"/>
                        <a:t>Prod</a:t>
                      </a:r>
                      <a:r>
                        <a:rPr lang="ja" sz="1200" dirty="0"/>
                        <a:t>・</a:t>
                      </a:r>
                      <a:r>
                        <a:rPr lang="en-US" altLang="ja" sz="1200" dirty="0"/>
                        <a:t>Stg</a:t>
                      </a:r>
                      <a:endParaRPr sz="1200" dirty="0"/>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200" dirty="0" err="1"/>
                        <a:t>Lấy</a:t>
                      </a:r>
                      <a:r>
                        <a:rPr lang="en-US" sz="1200" dirty="0"/>
                        <a:t> </a:t>
                      </a:r>
                      <a:r>
                        <a:rPr lang="en-US" sz="1200" dirty="0" err="1"/>
                        <a:t>lịch</a:t>
                      </a:r>
                      <a:r>
                        <a:rPr lang="en-US" sz="1200" dirty="0"/>
                        <a:t> </a:t>
                      </a:r>
                      <a:r>
                        <a:rPr lang="en-US" sz="1200" dirty="0" err="1"/>
                        <a:t>sử</a:t>
                      </a:r>
                      <a:r>
                        <a:rPr lang="en-US" sz="1200" dirty="0"/>
                        <a:t> </a:t>
                      </a:r>
                      <a:r>
                        <a:rPr lang="en-US" sz="1200" dirty="0" err="1"/>
                        <a:t>thay</a:t>
                      </a:r>
                      <a:r>
                        <a:rPr lang="en-US" sz="1200" dirty="0"/>
                        <a:t> </a:t>
                      </a:r>
                      <a:r>
                        <a:rPr lang="en-US" sz="1200" dirty="0" err="1"/>
                        <a:t>đổi</a:t>
                      </a:r>
                      <a:r>
                        <a:rPr lang="en-US" sz="1200" dirty="0"/>
                        <a:t> </a:t>
                      </a:r>
                      <a:r>
                        <a:rPr lang="en-US" sz="1200" dirty="0" err="1"/>
                        <a:t>cấu</a:t>
                      </a:r>
                      <a:r>
                        <a:rPr lang="en-US" sz="1200" dirty="0"/>
                        <a:t> </a:t>
                      </a:r>
                      <a:r>
                        <a:rPr lang="en-US" sz="1200" dirty="0" err="1"/>
                        <a:t>hình</a:t>
                      </a:r>
                      <a:r>
                        <a:rPr lang="en-US" sz="1200" dirty="0"/>
                        <a:t> </a:t>
                      </a:r>
                      <a:r>
                        <a:rPr lang="en-US" sz="1200" dirty="0" err="1"/>
                        <a:t>của</a:t>
                      </a:r>
                      <a:r>
                        <a:rPr lang="en-US" sz="1200" dirty="0"/>
                        <a:t> </a:t>
                      </a:r>
                      <a:r>
                        <a:rPr lang="en-US" sz="1200" dirty="0" err="1"/>
                        <a:t>tài</a:t>
                      </a:r>
                      <a:r>
                        <a:rPr lang="en-US" sz="1200" dirty="0"/>
                        <a:t> </a:t>
                      </a:r>
                      <a:r>
                        <a:rPr lang="en-US" sz="1200" dirty="0" err="1"/>
                        <a:t>nguyên</a:t>
                      </a:r>
                      <a:r>
                        <a:rPr lang="en-US" sz="1200" dirty="0"/>
                        <a:t> AWS </a:t>
                      </a:r>
                      <a:r>
                        <a:rPr lang="en-US" sz="1200" dirty="0" err="1"/>
                        <a:t>và</a:t>
                      </a:r>
                      <a:r>
                        <a:rPr lang="en-US" sz="1200" dirty="0"/>
                        <a:t> </a:t>
                      </a:r>
                      <a:r>
                        <a:rPr lang="en-US" sz="1200" dirty="0" err="1"/>
                        <a:t>đánh</a:t>
                      </a:r>
                      <a:r>
                        <a:rPr lang="en-US" sz="1200" dirty="0"/>
                        <a:t> </a:t>
                      </a:r>
                      <a:r>
                        <a:rPr lang="en-US" sz="1200" dirty="0" err="1"/>
                        <a:t>giá</a:t>
                      </a:r>
                      <a:r>
                        <a:rPr lang="en-US" sz="1200" dirty="0"/>
                        <a:t> </a:t>
                      </a:r>
                      <a:r>
                        <a:rPr lang="en-US" sz="1200" dirty="0" err="1"/>
                        <a:t>xem</a:t>
                      </a:r>
                      <a:r>
                        <a:rPr lang="en-US" sz="1200" dirty="0"/>
                        <a:t> </a:t>
                      </a:r>
                      <a:r>
                        <a:rPr lang="en-US" sz="1200" dirty="0" err="1"/>
                        <a:t>có</a:t>
                      </a:r>
                      <a:r>
                        <a:rPr lang="en-US" sz="1200" dirty="0"/>
                        <a:t> </a:t>
                      </a:r>
                      <a:r>
                        <a:rPr lang="en-US" sz="1200" dirty="0" err="1"/>
                        <a:t>tuân</a:t>
                      </a:r>
                      <a:r>
                        <a:rPr lang="en-US" sz="1200" dirty="0"/>
                        <a:t> </a:t>
                      </a:r>
                      <a:r>
                        <a:rPr lang="en-US" sz="1200" dirty="0" err="1"/>
                        <a:t>thủ</a:t>
                      </a:r>
                      <a:r>
                        <a:rPr lang="en-US" sz="1200" dirty="0"/>
                        <a:t> </a:t>
                      </a:r>
                      <a:r>
                        <a:rPr lang="en-US" sz="1200" dirty="0" err="1"/>
                        <a:t>các</a:t>
                      </a:r>
                      <a:r>
                        <a:rPr lang="en-US" sz="1200" dirty="0"/>
                        <a:t> </a:t>
                      </a:r>
                      <a:r>
                        <a:rPr lang="en-US" sz="1200" dirty="0" err="1"/>
                        <a:t>yêu</a:t>
                      </a:r>
                      <a:r>
                        <a:rPr lang="en-US" sz="1200" dirty="0"/>
                        <a:t> </a:t>
                      </a:r>
                      <a:r>
                        <a:rPr lang="en-US" sz="1200" dirty="0" err="1"/>
                        <a:t>cầu</a:t>
                      </a:r>
                      <a:r>
                        <a:rPr lang="en-US" sz="1200" dirty="0"/>
                        <a:t> </a:t>
                      </a:r>
                      <a:r>
                        <a:rPr lang="en-US" sz="1200" dirty="0" err="1"/>
                        <a:t>về</a:t>
                      </a:r>
                      <a:r>
                        <a:rPr lang="en-US" sz="1200" dirty="0"/>
                        <a:t> </a:t>
                      </a:r>
                      <a:r>
                        <a:rPr lang="en-US" sz="1200" dirty="0" err="1"/>
                        <a:t>tuân</a:t>
                      </a:r>
                      <a:r>
                        <a:rPr lang="en-US" sz="1200" dirty="0"/>
                        <a:t> </a:t>
                      </a:r>
                      <a:r>
                        <a:rPr lang="en-US" sz="1200" dirty="0" err="1"/>
                        <a:t>thủ</a:t>
                      </a:r>
                      <a:r>
                        <a:rPr lang="en-US" sz="1200" dirty="0"/>
                        <a:t> (compliance) hay </a:t>
                      </a:r>
                      <a:r>
                        <a:rPr lang="en-US" sz="1200" dirty="0" err="1"/>
                        <a:t>không</a:t>
                      </a:r>
                      <a:r>
                        <a:rPr lang="en-US" sz="1200" dirty="0"/>
                        <a:t>.</a:t>
                      </a:r>
                      <a:endParaRPr sz="1200" dirty="0"/>
                    </a:p>
                  </a:txBody>
                  <a:tcPr marL="91425" marR="91425" marT="91425" marB="91425">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ja" sz="1200"/>
                        <a:t>IAM Access Analyzer</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ltLang="ja" sz="1200" dirty="0"/>
                        <a:t>Prod</a:t>
                      </a:r>
                      <a:r>
                        <a:rPr lang="ja" altLang="en-US" sz="1200" dirty="0"/>
                        <a:t>・</a:t>
                      </a:r>
                      <a:r>
                        <a:rPr lang="en-US" altLang="ja" sz="1200" dirty="0"/>
                        <a:t>Stg</a:t>
                      </a:r>
                      <a:endParaRPr sz="1200" dirty="0">
                        <a:solidFill>
                          <a:schemeClr val="dk1"/>
                        </a:solidFill>
                      </a:endParaRPr>
                    </a:p>
                    <a:p>
                      <a:pPr marL="0" lvl="0" indent="0" algn="l" rtl="0">
                        <a:lnSpc>
                          <a:spcPct val="115000"/>
                        </a:lnSpc>
                        <a:spcBef>
                          <a:spcPts val="0"/>
                        </a:spcBef>
                        <a:spcAft>
                          <a:spcPts val="0"/>
                        </a:spcAft>
                        <a:buNone/>
                      </a:pPr>
                      <a:endParaRPr sz="1200" dirty="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dirty="0" err="1"/>
                        <a:t>Phát</a:t>
                      </a:r>
                      <a:r>
                        <a:rPr lang="en-US" sz="1200" dirty="0"/>
                        <a:t> </a:t>
                      </a:r>
                      <a:r>
                        <a:rPr lang="en-US" sz="1200" dirty="0" err="1"/>
                        <a:t>hiện</a:t>
                      </a:r>
                      <a:r>
                        <a:rPr lang="en-US" sz="1200" dirty="0"/>
                        <a:t> </a:t>
                      </a:r>
                      <a:r>
                        <a:rPr lang="en-US" sz="1200" dirty="0" err="1"/>
                        <a:t>xem</a:t>
                      </a:r>
                      <a:r>
                        <a:rPr lang="en-US" sz="1200" dirty="0"/>
                        <a:t> </a:t>
                      </a:r>
                      <a:r>
                        <a:rPr lang="en-US" sz="1200" dirty="0" err="1"/>
                        <a:t>các</a:t>
                      </a:r>
                      <a:r>
                        <a:rPr lang="en-US" sz="1200" dirty="0"/>
                        <a:t> policy (</a:t>
                      </a:r>
                      <a:r>
                        <a:rPr lang="en-US" sz="1200" dirty="0" err="1"/>
                        <a:t>chính</a:t>
                      </a:r>
                      <a:r>
                        <a:rPr lang="en-US" sz="1200" dirty="0"/>
                        <a:t> </a:t>
                      </a:r>
                      <a:r>
                        <a:rPr lang="en-US" sz="1200" dirty="0" err="1"/>
                        <a:t>sách</a:t>
                      </a:r>
                      <a:r>
                        <a:rPr lang="en-US" sz="1200" dirty="0"/>
                        <a:t>) </a:t>
                      </a:r>
                      <a:r>
                        <a:rPr lang="en-US" sz="1200" dirty="0" err="1"/>
                        <a:t>liên</a:t>
                      </a:r>
                      <a:r>
                        <a:rPr lang="en-US" sz="1200" dirty="0"/>
                        <a:t> </a:t>
                      </a:r>
                      <a:r>
                        <a:rPr lang="en-US" sz="1200" dirty="0" err="1"/>
                        <a:t>kết</a:t>
                      </a:r>
                      <a:r>
                        <a:rPr lang="en-US" sz="1200" dirty="0"/>
                        <a:t> </a:t>
                      </a:r>
                      <a:r>
                        <a:rPr lang="en-US" sz="1200" dirty="0" err="1"/>
                        <a:t>với</a:t>
                      </a:r>
                      <a:r>
                        <a:rPr lang="en-US" sz="1200" dirty="0"/>
                        <a:t> </a:t>
                      </a:r>
                      <a:r>
                        <a:rPr lang="en-US" sz="1200" dirty="0" err="1"/>
                        <a:t>tài</a:t>
                      </a:r>
                      <a:r>
                        <a:rPr lang="en-US" sz="1200" dirty="0"/>
                        <a:t> </a:t>
                      </a:r>
                      <a:r>
                        <a:rPr lang="en-US" sz="1200" dirty="0" err="1"/>
                        <a:t>nguyên</a:t>
                      </a:r>
                      <a:r>
                        <a:rPr lang="en-US" sz="1200" dirty="0"/>
                        <a:t> AWS </a:t>
                      </a:r>
                      <a:r>
                        <a:rPr lang="en-US" sz="1200" dirty="0" err="1"/>
                        <a:t>có</a:t>
                      </a:r>
                      <a:r>
                        <a:rPr lang="en-US" sz="1200" dirty="0"/>
                        <a:t> </a:t>
                      </a:r>
                      <a:r>
                        <a:rPr lang="en-US" sz="1200" dirty="0" err="1"/>
                        <a:t>bị</a:t>
                      </a:r>
                      <a:r>
                        <a:rPr lang="en-US" sz="1200" dirty="0"/>
                        <a:t> </a:t>
                      </a:r>
                      <a:r>
                        <a:rPr lang="en-US" sz="1200" dirty="0" err="1"/>
                        <a:t>thiết</a:t>
                      </a:r>
                      <a:r>
                        <a:rPr lang="en-US" sz="1200" dirty="0"/>
                        <a:t> </a:t>
                      </a:r>
                      <a:r>
                        <a:rPr lang="en-US" sz="1200" dirty="0" err="1"/>
                        <a:t>lập</a:t>
                      </a:r>
                      <a:r>
                        <a:rPr lang="en-US" sz="1200" dirty="0"/>
                        <a:t> </a:t>
                      </a:r>
                      <a:r>
                        <a:rPr lang="en-US" sz="1200" dirty="0" err="1"/>
                        <a:t>công</a:t>
                      </a:r>
                      <a:r>
                        <a:rPr lang="en-US" sz="1200" dirty="0"/>
                        <a:t> </a:t>
                      </a:r>
                      <a:r>
                        <a:rPr lang="en-US" sz="1200" dirty="0" err="1"/>
                        <a:t>khai</a:t>
                      </a:r>
                      <a:r>
                        <a:rPr lang="en-US" sz="1200" dirty="0"/>
                        <a:t> </a:t>
                      </a:r>
                      <a:r>
                        <a:rPr lang="en-US" sz="1200" dirty="0" err="1"/>
                        <a:t>ngoài</a:t>
                      </a:r>
                      <a:r>
                        <a:rPr lang="en-US" sz="1200" dirty="0"/>
                        <a:t> ý </a:t>
                      </a:r>
                      <a:r>
                        <a:rPr lang="en-US" sz="1200" dirty="0" err="1"/>
                        <a:t>muốn</a:t>
                      </a:r>
                      <a:r>
                        <a:rPr lang="en-US" sz="1200" dirty="0"/>
                        <a:t> hay </a:t>
                      </a:r>
                      <a:r>
                        <a:rPr lang="en-US" sz="1200" dirty="0" err="1"/>
                        <a:t>không</a:t>
                      </a:r>
                      <a:r>
                        <a:rPr lang="en-US" sz="1200" dirty="0"/>
                        <a:t>.</a:t>
                      </a:r>
                      <a:endParaRPr sz="1200" dirty="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ja" sz="1200"/>
                        <a:t>Security Hub</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ltLang="ja" sz="1200" dirty="0"/>
                        <a:t>Prod</a:t>
                      </a:r>
                      <a:r>
                        <a:rPr lang="ja" altLang="en-US" sz="1200" dirty="0"/>
                        <a:t>・</a:t>
                      </a:r>
                      <a:r>
                        <a:rPr lang="en-US" altLang="ja" sz="1200" dirty="0"/>
                        <a:t>Stg</a:t>
                      </a:r>
                      <a:endParaRPr sz="1200" dirty="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vi-VN" sz="1200" dirty="0"/>
                        <a:t>Quản lý tập trung toàn bộ bảo mật của môi trường AWS chỉ trong một câu lệnh (một nơi duy nhất)</a:t>
                      </a:r>
                      <a:endParaRPr sz="1200" dirty="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ja" sz="1200"/>
                        <a:t>CloudTrail</a:t>
                      </a:r>
                      <a:endParaRPr sz="1200"/>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lnSpc>
                          <a:spcPct val="115000"/>
                        </a:lnSpc>
                        <a:spcBef>
                          <a:spcPts val="0"/>
                        </a:spcBef>
                        <a:spcAft>
                          <a:spcPts val="0"/>
                        </a:spcAft>
                        <a:buNone/>
                      </a:pPr>
                      <a:r>
                        <a:rPr lang="en-US" sz="1200" dirty="0">
                          <a:solidFill>
                            <a:schemeClr val="dk1"/>
                          </a:solidFill>
                        </a:rPr>
                        <a:t>Prod</a:t>
                      </a:r>
                      <a:endParaRPr sz="1200" dirty="0">
                        <a:solidFill>
                          <a:schemeClr val="dk1"/>
                        </a:solidFill>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lnSpc>
                          <a:spcPct val="115000"/>
                        </a:lnSpc>
                        <a:spcBef>
                          <a:spcPts val="0"/>
                        </a:spcBef>
                        <a:spcAft>
                          <a:spcPts val="0"/>
                        </a:spcAft>
                        <a:buNone/>
                      </a:pPr>
                      <a:r>
                        <a:rPr lang="vi-VN" sz="1200" dirty="0"/>
                        <a:t>Giám sát các lệnh gọi API và các sự kiện liên quan được thực hiện trong tài khoản AWS.</a:t>
                      </a:r>
                      <a:endParaRPr sz="1200" dirty="0"/>
                    </a:p>
                  </a:txBody>
                  <a:tcPr marL="91425" marR="91425" marT="91425" marB="91425">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4"/>
                  </a:ext>
                </a:extLst>
              </a:tr>
              <a:tr h="401875">
                <a:tc>
                  <a:txBody>
                    <a:bodyPr/>
                    <a:lstStyle/>
                    <a:p>
                      <a:pPr marL="0" lvl="0" indent="0" algn="l" rtl="0">
                        <a:spcBef>
                          <a:spcPts val="0"/>
                        </a:spcBef>
                        <a:spcAft>
                          <a:spcPts val="0"/>
                        </a:spcAft>
                        <a:buNone/>
                      </a:pPr>
                      <a:r>
                        <a:rPr lang="ja" sz="1200"/>
                        <a:t>Inspector</a:t>
                      </a:r>
                      <a:endParaRPr sz="1200"/>
                    </a:p>
                  </a:txBody>
                  <a:tcPr marL="91425" marR="91425" marT="91425" marB="91425"/>
                </a:tc>
                <a:tc>
                  <a:txBody>
                    <a:bodyPr/>
                    <a:lstStyle/>
                    <a:p>
                      <a:pPr marL="0" lvl="0" indent="0" algn="l" rtl="0">
                        <a:lnSpc>
                          <a:spcPct val="115000"/>
                        </a:lnSpc>
                        <a:spcBef>
                          <a:spcPts val="0"/>
                        </a:spcBef>
                        <a:spcAft>
                          <a:spcPts val="0"/>
                        </a:spcAft>
                        <a:buNone/>
                      </a:pPr>
                      <a:r>
                        <a:rPr lang="en-US" sz="1200" dirty="0">
                          <a:solidFill>
                            <a:schemeClr val="dk1"/>
                          </a:solidFill>
                        </a:rPr>
                        <a:t>Prod</a:t>
                      </a:r>
                      <a:endParaRPr sz="1200" dirty="0">
                        <a:solidFill>
                          <a:schemeClr val="dk1"/>
                        </a:solidFill>
                      </a:endParaRPr>
                    </a:p>
                  </a:txBody>
                  <a:tcPr marL="91425" marR="91425" marT="91425" marB="91425"/>
                </a:tc>
                <a:tc>
                  <a:txBody>
                    <a:bodyPr/>
                    <a:lstStyle/>
                    <a:p>
                      <a:pPr marL="0" lvl="0" indent="0" algn="l" rtl="0">
                        <a:lnSpc>
                          <a:spcPct val="115000"/>
                        </a:lnSpc>
                        <a:spcBef>
                          <a:spcPts val="0"/>
                        </a:spcBef>
                        <a:spcAft>
                          <a:spcPts val="0"/>
                        </a:spcAft>
                        <a:buClr>
                          <a:schemeClr val="dk1"/>
                        </a:buClr>
                        <a:buSzPts val="1100"/>
                        <a:buFont typeface="Arial"/>
                        <a:buNone/>
                      </a:pPr>
                      <a:r>
                        <a:rPr lang="en-US" sz="1200" dirty="0" err="1"/>
                        <a:t>Phát</a:t>
                      </a:r>
                      <a:r>
                        <a:rPr lang="en-US" sz="1200" dirty="0"/>
                        <a:t> </a:t>
                      </a:r>
                      <a:r>
                        <a:rPr lang="en-US" sz="1200" dirty="0" err="1"/>
                        <a:t>hiện</a:t>
                      </a:r>
                      <a:r>
                        <a:rPr lang="en-US" sz="1200" dirty="0"/>
                        <a:t> </a:t>
                      </a:r>
                      <a:r>
                        <a:rPr lang="en-US" sz="1200" dirty="0" err="1"/>
                        <a:t>lỗ</a:t>
                      </a:r>
                      <a:r>
                        <a:rPr lang="en-US" sz="1200" dirty="0"/>
                        <a:t> </a:t>
                      </a:r>
                      <a:r>
                        <a:rPr lang="en-US" sz="1200" dirty="0" err="1"/>
                        <a:t>hổng</a:t>
                      </a:r>
                      <a:r>
                        <a:rPr lang="en-US" sz="1200" dirty="0"/>
                        <a:t> </a:t>
                      </a:r>
                      <a:r>
                        <a:rPr lang="en-US" sz="1200" dirty="0" err="1"/>
                        <a:t>bảo</a:t>
                      </a:r>
                      <a:r>
                        <a:rPr lang="en-US" sz="1200" dirty="0"/>
                        <a:t> </a:t>
                      </a:r>
                      <a:r>
                        <a:rPr lang="en-US" sz="1200" dirty="0" err="1"/>
                        <a:t>mật</a:t>
                      </a:r>
                      <a:r>
                        <a:rPr lang="en-US" sz="1200" dirty="0"/>
                        <a:t> </a:t>
                      </a:r>
                      <a:r>
                        <a:rPr lang="en-US" sz="1200" dirty="0" err="1"/>
                        <a:t>trên</a:t>
                      </a:r>
                      <a:r>
                        <a:rPr lang="en-US" sz="1200" dirty="0"/>
                        <a:t> EC2, container ECS </a:t>
                      </a:r>
                      <a:r>
                        <a:rPr lang="en-US" sz="1200" dirty="0" err="1"/>
                        <a:t>và</a:t>
                      </a:r>
                      <a:r>
                        <a:rPr lang="en-US" sz="1200" dirty="0"/>
                        <a:t> Lambda.</a:t>
                      </a:r>
                      <a:endParaRPr sz="1200" dirty="0">
                        <a:solidFill>
                          <a:schemeClr val="dk1"/>
                        </a:solidFill>
                      </a:endParaRPr>
                    </a:p>
                  </a:txBody>
                  <a:tcPr marL="91425" marR="91425" marT="91425" marB="91425"/>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ja" sz="1200"/>
                        <a:t>VPC Flow logs</a:t>
                      </a:r>
                      <a:endParaRPr sz="1200"/>
                    </a:p>
                  </a:txBody>
                  <a:tcPr marL="91425" marR="91425" marT="91425" marB="91425"/>
                </a:tc>
                <a:tc>
                  <a:txBody>
                    <a:bodyPr/>
                    <a:lstStyle/>
                    <a:p>
                      <a:pPr marL="0" lvl="0" indent="0" algn="l" rtl="0">
                        <a:spcBef>
                          <a:spcPts val="0"/>
                        </a:spcBef>
                        <a:spcAft>
                          <a:spcPts val="0"/>
                        </a:spcAft>
                        <a:buNone/>
                      </a:pPr>
                      <a:r>
                        <a:rPr lang="en-US" sz="1200" dirty="0">
                          <a:solidFill>
                            <a:schemeClr val="dk1"/>
                          </a:solidFill>
                        </a:rPr>
                        <a:t>Prod</a:t>
                      </a:r>
                      <a:endParaRPr sz="1200" dirty="0"/>
                    </a:p>
                  </a:txBody>
                  <a:tcPr marL="91425" marR="91425" marT="91425" marB="91425"/>
                </a:tc>
                <a:tc>
                  <a:txBody>
                    <a:bodyPr/>
                    <a:lstStyle/>
                    <a:p>
                      <a:pPr marL="0" lvl="0" indent="0" algn="l" rtl="0">
                        <a:spcBef>
                          <a:spcPts val="0"/>
                        </a:spcBef>
                        <a:spcAft>
                          <a:spcPts val="0"/>
                        </a:spcAft>
                        <a:buNone/>
                      </a:pPr>
                      <a:r>
                        <a:rPr lang="vi-VN" sz="1200" dirty="0"/>
                        <a:t>Phân tích siêu dữ liệu (metadata) của lưu lượng truy cập (traffic).</a:t>
                      </a:r>
                      <a:endParaRPr sz="1200" dirty="0"/>
                    </a:p>
                  </a:txBody>
                  <a:tcPr marL="91425" marR="91425" marT="91425" marB="91425"/>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84306443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58"/>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Autofit/>
          </a:bodyPr>
          <a:lstStyle/>
          <a:p>
            <a:pPr lvl="0"/>
            <a:r>
              <a:rPr lang="ja" sz="1800" dirty="0">
                <a:highlight>
                  <a:srgbClr val="D9D9D9"/>
                </a:highlight>
              </a:rPr>
              <a:t>11-2.セキュリティ関連のAWS見積</a:t>
            </a:r>
            <a:r>
              <a:rPr lang="en-US" altLang="ja" sz="1800" dirty="0">
                <a:highlight>
                  <a:srgbClr val="D9D9D9"/>
                </a:highlight>
              </a:rPr>
              <a:t>/</a:t>
            </a:r>
            <a:r>
              <a:rPr lang="vi-VN" sz="1800" dirty="0">
                <a:highlight>
                  <a:srgbClr val="D9D9D9"/>
                </a:highlight>
              </a:rPr>
              <a:t> Bản ước tính chi phí AWS liên quan đến bảo mật (Security-related AWS cost estimate)</a:t>
            </a:r>
            <a:endParaRPr sz="1800" dirty="0">
              <a:highlight>
                <a:srgbClr val="D9D9D9"/>
              </a:highlight>
            </a:endParaRPr>
          </a:p>
          <a:p>
            <a:pPr marL="0" lvl="0" indent="0" algn="l" rtl="0">
              <a:spcBef>
                <a:spcPts val="0"/>
              </a:spcBef>
              <a:spcAft>
                <a:spcPts val="0"/>
              </a:spcAft>
              <a:buNone/>
            </a:pPr>
            <a:endParaRPr sz="1800" dirty="0">
              <a:highlight>
                <a:srgbClr val="D9D9D9"/>
              </a:highlight>
            </a:endParaRPr>
          </a:p>
          <a:p>
            <a:pPr marL="0" lvl="0" indent="0" algn="l" rtl="0">
              <a:spcBef>
                <a:spcPts val="0"/>
              </a:spcBef>
              <a:spcAft>
                <a:spcPts val="0"/>
              </a:spcAft>
              <a:buNone/>
            </a:pPr>
            <a:endParaRPr sz="1800" dirty="0">
              <a:highlight>
                <a:srgbClr val="D9D9D9"/>
              </a:highlight>
            </a:endParaRPr>
          </a:p>
          <a:p>
            <a:pPr marL="0" lvl="0" indent="0" algn="l" rtl="0">
              <a:spcBef>
                <a:spcPts val="0"/>
              </a:spcBef>
              <a:spcAft>
                <a:spcPts val="0"/>
              </a:spcAft>
              <a:buNone/>
            </a:pPr>
            <a:endParaRPr sz="1800" dirty="0">
              <a:highlight>
                <a:srgbClr val="D9D9D9"/>
              </a:highlight>
            </a:endParaRPr>
          </a:p>
          <a:p>
            <a:pPr marL="0" lvl="0" indent="0" algn="l" rtl="0">
              <a:spcBef>
                <a:spcPts val="0"/>
              </a:spcBef>
              <a:spcAft>
                <a:spcPts val="0"/>
              </a:spcAft>
              <a:buNone/>
            </a:pPr>
            <a:endParaRPr sz="1800" dirty="0">
              <a:highlight>
                <a:srgbClr val="D9D9D9"/>
              </a:highlight>
            </a:endParaRPr>
          </a:p>
        </p:txBody>
      </p:sp>
      <p:pic>
        <p:nvPicPr>
          <p:cNvPr id="410" name="Google Shape;410;p58"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411" name="Google Shape;411;p5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76</a:t>
            </a:fld>
            <a:endParaRPr/>
          </a:p>
        </p:txBody>
      </p:sp>
      <p:pic>
        <p:nvPicPr>
          <p:cNvPr id="412" name="Google Shape;412;p58" title="スクリーンショット 2025-07-03 午前10.20.13.png"/>
          <p:cNvPicPr preferRelativeResize="0"/>
          <p:nvPr/>
        </p:nvPicPr>
        <p:blipFill>
          <a:blip r:embed="rId4">
            <a:alphaModFix/>
          </a:blip>
          <a:stretch>
            <a:fillRect/>
          </a:stretch>
        </p:blipFill>
        <p:spPr>
          <a:xfrm>
            <a:off x="1994667" y="1091400"/>
            <a:ext cx="4429125" cy="1381125"/>
          </a:xfrm>
          <a:prstGeom prst="rect">
            <a:avLst/>
          </a:prstGeom>
          <a:noFill/>
          <a:ln>
            <a:noFill/>
          </a:ln>
        </p:spPr>
      </p:pic>
      <p:pic>
        <p:nvPicPr>
          <p:cNvPr id="413" name="Google Shape;413;p58" title="スクリーンショット 2025-07-03 午前10.20.47.png"/>
          <p:cNvPicPr preferRelativeResize="0"/>
          <p:nvPr/>
        </p:nvPicPr>
        <p:blipFill>
          <a:blip r:embed="rId5">
            <a:alphaModFix/>
          </a:blip>
          <a:stretch>
            <a:fillRect/>
          </a:stretch>
        </p:blipFill>
        <p:spPr>
          <a:xfrm>
            <a:off x="2049200" y="2571750"/>
            <a:ext cx="4583297" cy="2386900"/>
          </a:xfrm>
          <a:prstGeom prst="rect">
            <a:avLst/>
          </a:prstGeom>
          <a:noFill/>
          <a:ln>
            <a:noFill/>
          </a:ln>
        </p:spPr>
      </p:pic>
      <p:sp>
        <p:nvSpPr>
          <p:cNvPr id="2" name="TextBox 1">
            <a:extLst>
              <a:ext uri="{FF2B5EF4-FFF2-40B4-BE49-F238E27FC236}">
                <a16:creationId xmlns:a16="http://schemas.microsoft.com/office/drawing/2014/main" id="{2C93B0F6-FE40-3448-3A2F-7D43867FE270}"/>
              </a:ext>
            </a:extLst>
          </p:cNvPr>
          <p:cNvSpPr txBox="1"/>
          <p:nvPr/>
        </p:nvSpPr>
        <p:spPr>
          <a:xfrm>
            <a:off x="2223655" y="1154611"/>
            <a:ext cx="1385454" cy="307777"/>
          </a:xfrm>
          <a:prstGeom prst="rect">
            <a:avLst/>
          </a:prstGeom>
          <a:noFill/>
        </p:spPr>
        <p:txBody>
          <a:bodyPr wrap="square" rtlCol="0">
            <a:spAutoFit/>
          </a:bodyPr>
          <a:lstStyle/>
          <a:p>
            <a:r>
              <a:rPr lang="en-US" dirty="0"/>
              <a:t>Cost 1 </a:t>
            </a:r>
            <a:r>
              <a:rPr lang="en-US" dirty="0" err="1"/>
              <a:t>tháng</a:t>
            </a:r>
            <a:endParaRPr lang="en-US" dirty="0"/>
          </a:p>
        </p:txBody>
      </p:sp>
      <p:sp>
        <p:nvSpPr>
          <p:cNvPr id="3" name="TextBox 2">
            <a:extLst>
              <a:ext uri="{FF2B5EF4-FFF2-40B4-BE49-F238E27FC236}">
                <a16:creationId xmlns:a16="http://schemas.microsoft.com/office/drawing/2014/main" id="{570A97DE-44E4-3521-66E6-7D51C3290A85}"/>
              </a:ext>
            </a:extLst>
          </p:cNvPr>
          <p:cNvSpPr txBox="1"/>
          <p:nvPr/>
        </p:nvSpPr>
        <p:spPr>
          <a:xfrm>
            <a:off x="4703619" y="1154611"/>
            <a:ext cx="1385454" cy="307777"/>
          </a:xfrm>
          <a:prstGeom prst="rect">
            <a:avLst/>
          </a:prstGeom>
          <a:noFill/>
        </p:spPr>
        <p:txBody>
          <a:bodyPr wrap="square" rtlCol="0">
            <a:spAutoFit/>
          </a:bodyPr>
          <a:lstStyle/>
          <a:p>
            <a:r>
              <a:rPr lang="en-US" dirty="0"/>
              <a:t>Total 12 </a:t>
            </a:r>
            <a:r>
              <a:rPr lang="en-US" dirty="0" err="1"/>
              <a:t>tháng</a:t>
            </a:r>
            <a:endParaRPr lang="en-US" dirty="0"/>
          </a:p>
        </p:txBody>
      </p:sp>
      <p:sp>
        <p:nvSpPr>
          <p:cNvPr id="4" name="TextBox 3">
            <a:extLst>
              <a:ext uri="{FF2B5EF4-FFF2-40B4-BE49-F238E27FC236}">
                <a16:creationId xmlns:a16="http://schemas.microsoft.com/office/drawing/2014/main" id="{99FA3C3B-E909-85EE-3D37-2CEB405989C1}"/>
              </a:ext>
            </a:extLst>
          </p:cNvPr>
          <p:cNvSpPr txBox="1"/>
          <p:nvPr/>
        </p:nvSpPr>
        <p:spPr>
          <a:xfrm>
            <a:off x="5098472" y="2164748"/>
            <a:ext cx="1724891" cy="307777"/>
          </a:xfrm>
          <a:prstGeom prst="rect">
            <a:avLst/>
          </a:prstGeom>
          <a:noFill/>
        </p:spPr>
        <p:txBody>
          <a:bodyPr wrap="square" rtlCol="0">
            <a:spAutoFit/>
          </a:bodyPr>
          <a:lstStyle/>
          <a:p>
            <a:r>
              <a:rPr lang="en-US" dirty="0"/>
              <a:t>Bao </a:t>
            </a:r>
            <a:r>
              <a:rPr lang="en-US" dirty="0" err="1"/>
              <a:t>gồm</a:t>
            </a:r>
            <a:r>
              <a:rPr lang="en-US" dirty="0"/>
              <a:t> </a:t>
            </a:r>
            <a:r>
              <a:rPr lang="en-US" dirty="0" err="1"/>
              <a:t>trả</a:t>
            </a:r>
            <a:r>
              <a:rPr lang="en-US" dirty="0"/>
              <a:t> </a:t>
            </a:r>
            <a:r>
              <a:rPr lang="en-US" dirty="0" err="1"/>
              <a:t>trước</a:t>
            </a:r>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59"/>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highlight>
                  <a:srgbClr val="D9D9D9"/>
                </a:highlight>
              </a:rPr>
              <a:t>11-3.EC2に対するセキュリティ対策</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419" name="Google Shape;419;p59"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420" name="Google Shape;420;p5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77</a:t>
            </a:fld>
            <a:endParaRPr/>
          </a:p>
        </p:txBody>
      </p:sp>
      <p:sp>
        <p:nvSpPr>
          <p:cNvPr id="421" name="Google Shape;421;p59"/>
          <p:cNvSpPr txBox="1">
            <a:spLocks noGrp="1"/>
          </p:cNvSpPr>
          <p:nvPr>
            <p:ph type="body" idx="1"/>
          </p:nvPr>
        </p:nvSpPr>
        <p:spPr>
          <a:xfrm>
            <a:off x="637950" y="1075175"/>
            <a:ext cx="7901700" cy="3634500"/>
          </a:xfrm>
          <a:prstGeom prst="rect">
            <a:avLst/>
          </a:prstGeom>
        </p:spPr>
        <p:txBody>
          <a:bodyPr spcFirstLastPara="1" wrap="square" lIns="91425" tIns="91425" rIns="91425" bIns="91425" anchor="t" anchorCtr="0">
            <a:normAutofit lnSpcReduction="10000"/>
          </a:bodyPr>
          <a:lstStyle/>
          <a:p>
            <a:pPr marL="457200" lvl="0" indent="-336550" algn="l" rtl="0">
              <a:spcBef>
                <a:spcPts val="0"/>
              </a:spcBef>
              <a:spcAft>
                <a:spcPts val="0"/>
              </a:spcAft>
              <a:buSzPts val="1700"/>
              <a:buChar char="●"/>
            </a:pPr>
            <a:r>
              <a:rPr lang="ja" sz="1700" dirty="0"/>
              <a:t>対象はBastionサーバのみ</a:t>
            </a:r>
            <a:endParaRPr sz="1700" dirty="0"/>
          </a:p>
          <a:p>
            <a:pPr marL="457200" lvl="0" indent="-336550" algn="l" rtl="0">
              <a:spcBef>
                <a:spcPts val="0"/>
              </a:spcBef>
              <a:spcAft>
                <a:spcPts val="0"/>
              </a:spcAft>
              <a:buSzPts val="1700"/>
              <a:buChar char="●"/>
            </a:pPr>
            <a:r>
              <a:rPr lang="ja" sz="1700" dirty="0"/>
              <a:t>OSはAmazon Linux 20203</a:t>
            </a:r>
            <a:endParaRPr sz="1700" dirty="0"/>
          </a:p>
          <a:p>
            <a:pPr marL="457200" lvl="0" indent="-336550" algn="l" rtl="0">
              <a:spcBef>
                <a:spcPts val="0"/>
              </a:spcBef>
              <a:spcAft>
                <a:spcPts val="0"/>
              </a:spcAft>
              <a:buSzPts val="1700"/>
              <a:buChar char="●"/>
            </a:pPr>
            <a:r>
              <a:rPr lang="ja" sz="1700" dirty="0"/>
              <a:t>ログ監視</a:t>
            </a:r>
            <a:endParaRPr sz="1700" dirty="0"/>
          </a:p>
          <a:p>
            <a:pPr marL="914400" lvl="1" indent="-336550" algn="l" rtl="0">
              <a:spcBef>
                <a:spcPts val="0"/>
              </a:spcBef>
              <a:spcAft>
                <a:spcPts val="0"/>
              </a:spcAft>
              <a:buSzPts val="1700"/>
              <a:buChar char="○"/>
            </a:pPr>
            <a:r>
              <a:rPr lang="ja" sz="1700" dirty="0"/>
              <a:t>/var/log/{messages,secure,dnf.log,/audit/audit.log}</a:t>
            </a:r>
            <a:endParaRPr sz="1700" dirty="0"/>
          </a:p>
          <a:p>
            <a:pPr marL="914400" lvl="1" indent="-336550" algn="l" rtl="0">
              <a:spcBef>
                <a:spcPts val="0"/>
              </a:spcBef>
              <a:spcAft>
                <a:spcPts val="0"/>
              </a:spcAft>
              <a:buSzPts val="1700"/>
              <a:buChar char="○"/>
            </a:pPr>
            <a:r>
              <a:rPr lang="ja" sz="1700" dirty="0"/>
              <a:t>キーワード検索：error、fail</a:t>
            </a:r>
            <a:endParaRPr sz="1700" dirty="0"/>
          </a:p>
          <a:p>
            <a:pPr marL="457200" lvl="0" indent="-336550" algn="l" rtl="0">
              <a:spcBef>
                <a:spcPts val="0"/>
              </a:spcBef>
              <a:spcAft>
                <a:spcPts val="0"/>
              </a:spcAft>
              <a:buSzPts val="1700"/>
              <a:buChar char="●"/>
            </a:pPr>
            <a:r>
              <a:rPr lang="ja" sz="1700" dirty="0"/>
              <a:t>Inspectorの適用</a:t>
            </a:r>
            <a:endParaRPr sz="1700" dirty="0"/>
          </a:p>
          <a:p>
            <a:pPr marL="914400" lvl="1" indent="-336550" algn="l" rtl="0">
              <a:spcBef>
                <a:spcPts val="0"/>
              </a:spcBef>
              <a:spcAft>
                <a:spcPts val="0"/>
              </a:spcAft>
              <a:buSzPts val="1700"/>
              <a:buChar char="○"/>
            </a:pPr>
            <a:r>
              <a:rPr lang="ja" sz="1700" dirty="0"/>
              <a:t>ソフトウェアの脆弱性（CVEs）検出</a:t>
            </a:r>
            <a:endParaRPr sz="1700" dirty="0"/>
          </a:p>
          <a:p>
            <a:pPr marL="457200" lvl="0" indent="-336550" algn="l" rtl="0">
              <a:spcBef>
                <a:spcPts val="0"/>
              </a:spcBef>
              <a:spcAft>
                <a:spcPts val="0"/>
              </a:spcAft>
              <a:buSzPts val="1700"/>
              <a:buChar char="●"/>
            </a:pPr>
            <a:r>
              <a:rPr lang="ja" sz="1700" dirty="0"/>
              <a:t>デフォルトユーザ ec2-userの削除</a:t>
            </a:r>
            <a:endParaRPr sz="1700" dirty="0"/>
          </a:p>
          <a:p>
            <a:pPr marL="457200" lvl="0" indent="-336550" algn="l" rtl="0">
              <a:spcBef>
                <a:spcPts val="0"/>
              </a:spcBef>
              <a:spcAft>
                <a:spcPts val="0"/>
              </a:spcAft>
              <a:buSzPts val="1700"/>
              <a:buChar char="●"/>
            </a:pPr>
            <a:r>
              <a:rPr lang="ja" sz="1700" dirty="0"/>
              <a:t>BastionサーバへのSSHログインアカウントはユーザ毎に発行</a:t>
            </a:r>
            <a:endParaRPr sz="1700" dirty="0"/>
          </a:p>
          <a:p>
            <a:pPr marL="914400" lvl="1" indent="-336550" algn="l" rtl="0">
              <a:spcBef>
                <a:spcPts val="0"/>
              </a:spcBef>
              <a:spcAft>
                <a:spcPts val="0"/>
              </a:spcAft>
              <a:buSzPts val="1700"/>
              <a:buChar char="○"/>
            </a:pPr>
            <a:r>
              <a:rPr lang="ja" sz="1700" dirty="0"/>
              <a:t>ただし、開発者PCのWinSCPを使ってS3接続するユースケースがあり、その場合には、トンネル専用のユーザを作成する</a:t>
            </a:r>
            <a:endParaRPr sz="1700" dirty="0"/>
          </a:p>
          <a:p>
            <a:pPr marL="914400" lvl="1" indent="-336550" algn="l" rtl="0">
              <a:spcBef>
                <a:spcPts val="0"/>
              </a:spcBef>
              <a:spcAft>
                <a:spcPts val="0"/>
              </a:spcAft>
              <a:buSzPts val="1700"/>
              <a:buChar char="○"/>
            </a:pPr>
            <a:r>
              <a:rPr lang="ja" sz="1700" dirty="0"/>
              <a:t>クライアントとサーバ側でセッションタイムアウトを適切に設定する</a:t>
            </a:r>
            <a:endParaRPr sz="1700" dirty="0"/>
          </a:p>
          <a:p>
            <a:pPr marL="457200" lvl="0" indent="0" algn="l" rtl="0">
              <a:spcBef>
                <a:spcPts val="1200"/>
              </a:spcBef>
              <a:spcAft>
                <a:spcPts val="1200"/>
              </a:spcAft>
              <a:buNone/>
            </a:pPr>
            <a:endParaRPr sz="17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417">
          <a:extLst>
            <a:ext uri="{FF2B5EF4-FFF2-40B4-BE49-F238E27FC236}">
              <a16:creationId xmlns:a16="http://schemas.microsoft.com/office/drawing/2014/main" id="{E793A2E2-9572-0D03-47EA-FA3AB731A9AB}"/>
            </a:ext>
          </a:extLst>
        </p:cNvPr>
        <p:cNvGrpSpPr/>
        <p:nvPr/>
      </p:nvGrpSpPr>
      <p:grpSpPr>
        <a:xfrm>
          <a:off x="0" y="0"/>
          <a:ext cx="0" cy="0"/>
          <a:chOff x="0" y="0"/>
          <a:chExt cx="0" cy="0"/>
        </a:xfrm>
      </p:grpSpPr>
      <p:sp>
        <p:nvSpPr>
          <p:cNvPr id="418" name="Google Shape;418;p59">
            <a:extLst>
              <a:ext uri="{FF2B5EF4-FFF2-40B4-BE49-F238E27FC236}">
                <a16:creationId xmlns:a16="http://schemas.microsoft.com/office/drawing/2014/main" id="{96697A3F-B2CB-94B0-00E7-8682E536E4E0}"/>
              </a:ext>
            </a:extLst>
          </p:cNvPr>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a:bodyPr>
          <a:lstStyle/>
          <a:p>
            <a:pPr lvl="0"/>
            <a:r>
              <a:rPr lang="ja" sz="1800" dirty="0">
                <a:highlight>
                  <a:srgbClr val="D9D9D9"/>
                </a:highlight>
              </a:rPr>
              <a:t>11-3.</a:t>
            </a:r>
            <a:r>
              <a:rPr lang="en-US" sz="1800" dirty="0">
                <a:highlight>
                  <a:srgbClr val="D9D9D9"/>
                </a:highlight>
              </a:rPr>
              <a:t> </a:t>
            </a:r>
            <a:r>
              <a:rPr lang="en-US" sz="1800" dirty="0" err="1">
                <a:highlight>
                  <a:srgbClr val="D9D9D9"/>
                </a:highlight>
              </a:rPr>
              <a:t>Biện</a:t>
            </a:r>
            <a:r>
              <a:rPr lang="en-US" sz="1800" dirty="0">
                <a:highlight>
                  <a:srgbClr val="D9D9D9"/>
                </a:highlight>
              </a:rPr>
              <a:t> </a:t>
            </a:r>
            <a:r>
              <a:rPr lang="en-US" sz="1800" dirty="0" err="1">
                <a:highlight>
                  <a:srgbClr val="D9D9D9"/>
                </a:highlight>
              </a:rPr>
              <a:t>pháp</a:t>
            </a:r>
            <a:r>
              <a:rPr lang="en-US" sz="1800" dirty="0">
                <a:highlight>
                  <a:srgbClr val="D9D9D9"/>
                </a:highlight>
              </a:rPr>
              <a:t> </a:t>
            </a:r>
            <a:r>
              <a:rPr lang="en-US" sz="1800" dirty="0" err="1">
                <a:highlight>
                  <a:srgbClr val="D9D9D9"/>
                </a:highlight>
              </a:rPr>
              <a:t>bảo</a:t>
            </a:r>
            <a:r>
              <a:rPr lang="en-US" sz="1800" dirty="0">
                <a:highlight>
                  <a:srgbClr val="D9D9D9"/>
                </a:highlight>
              </a:rPr>
              <a:t> </a:t>
            </a:r>
            <a:r>
              <a:rPr lang="en-US" sz="1800" dirty="0" err="1">
                <a:highlight>
                  <a:srgbClr val="D9D9D9"/>
                </a:highlight>
              </a:rPr>
              <a:t>mật</a:t>
            </a:r>
            <a:r>
              <a:rPr lang="en-US" sz="1800" dirty="0">
                <a:highlight>
                  <a:srgbClr val="D9D9D9"/>
                </a:highlight>
              </a:rPr>
              <a:t> </a:t>
            </a:r>
            <a:r>
              <a:rPr lang="en-US" sz="1800" dirty="0" err="1">
                <a:highlight>
                  <a:srgbClr val="D9D9D9"/>
                </a:highlight>
              </a:rPr>
              <a:t>đối</a:t>
            </a:r>
            <a:r>
              <a:rPr lang="en-US" sz="1800" dirty="0">
                <a:highlight>
                  <a:srgbClr val="D9D9D9"/>
                </a:highlight>
              </a:rPr>
              <a:t> </a:t>
            </a:r>
            <a:r>
              <a:rPr lang="en-US" sz="1800" dirty="0" err="1">
                <a:highlight>
                  <a:srgbClr val="D9D9D9"/>
                </a:highlight>
              </a:rPr>
              <a:t>với</a:t>
            </a:r>
            <a:r>
              <a:rPr lang="en-US" sz="1800" dirty="0">
                <a:highlight>
                  <a:srgbClr val="D9D9D9"/>
                </a:highlight>
              </a:rPr>
              <a:t> EC2 (Amazon Elastic Compute Cloud)</a:t>
            </a:r>
            <a:endParaRPr sz="1800" dirty="0">
              <a:highlight>
                <a:srgbClr val="D9D9D9"/>
              </a:highlight>
            </a:endParaRPr>
          </a:p>
          <a:p>
            <a:pPr marL="0" lvl="0" indent="0" algn="l" rtl="0">
              <a:spcBef>
                <a:spcPts val="0"/>
              </a:spcBef>
              <a:spcAft>
                <a:spcPts val="0"/>
              </a:spcAft>
              <a:buNone/>
            </a:pPr>
            <a:endParaRPr sz="1800" dirty="0">
              <a:highlight>
                <a:srgbClr val="D9D9D9"/>
              </a:highlight>
            </a:endParaRPr>
          </a:p>
        </p:txBody>
      </p:sp>
      <p:pic>
        <p:nvPicPr>
          <p:cNvPr id="419" name="Google Shape;419;p59" title="logo-luvina-2022-2.png">
            <a:extLst>
              <a:ext uri="{FF2B5EF4-FFF2-40B4-BE49-F238E27FC236}">
                <a16:creationId xmlns:a16="http://schemas.microsoft.com/office/drawing/2014/main" id="{5AD3117A-6BAB-5B41-9C35-2A27A5A7A739}"/>
              </a:ext>
            </a:extLst>
          </p:cNvPr>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420" name="Google Shape;420;p59">
            <a:extLst>
              <a:ext uri="{FF2B5EF4-FFF2-40B4-BE49-F238E27FC236}">
                <a16:creationId xmlns:a16="http://schemas.microsoft.com/office/drawing/2014/main" id="{D581DDE7-7A9D-19E8-318F-67CCD155DBA7}"/>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78</a:t>
            </a:fld>
            <a:endParaRPr/>
          </a:p>
        </p:txBody>
      </p:sp>
      <p:sp>
        <p:nvSpPr>
          <p:cNvPr id="421" name="Google Shape;421;p59">
            <a:extLst>
              <a:ext uri="{FF2B5EF4-FFF2-40B4-BE49-F238E27FC236}">
                <a16:creationId xmlns:a16="http://schemas.microsoft.com/office/drawing/2014/main" id="{CD59B0A4-6983-EEE8-C54B-7B29D3542704}"/>
              </a:ext>
            </a:extLst>
          </p:cNvPr>
          <p:cNvSpPr txBox="1">
            <a:spLocks noGrp="1"/>
          </p:cNvSpPr>
          <p:nvPr>
            <p:ph type="body" idx="1"/>
          </p:nvPr>
        </p:nvSpPr>
        <p:spPr>
          <a:xfrm>
            <a:off x="637950" y="1075175"/>
            <a:ext cx="7901700" cy="3634500"/>
          </a:xfrm>
          <a:prstGeom prst="rect">
            <a:avLst/>
          </a:prstGeom>
        </p:spPr>
        <p:txBody>
          <a:bodyPr spcFirstLastPara="1" wrap="square" lIns="91425" tIns="91425" rIns="91425" bIns="91425" anchor="t" anchorCtr="0">
            <a:normAutofit fontScale="92500" lnSpcReduction="20000"/>
          </a:bodyPr>
          <a:lstStyle/>
          <a:p>
            <a:pPr marL="120650" lvl="0" indent="0">
              <a:buSzPts val="1700"/>
              <a:buNone/>
            </a:pPr>
            <a:r>
              <a:rPr lang="vi-VN" altLang="ja-JP" sz="1700" dirty="0"/>
              <a:t>● Chỉ áp dụng cho máy chủ Bastion</a:t>
            </a:r>
          </a:p>
          <a:p>
            <a:pPr marL="120650" lvl="0" indent="0">
              <a:buSzPts val="1700"/>
              <a:buNone/>
            </a:pPr>
            <a:r>
              <a:rPr lang="vi-VN" altLang="ja-JP" sz="1700" dirty="0"/>
              <a:t>● Hệ điều hành: Amazon Linux 2023</a:t>
            </a:r>
          </a:p>
          <a:p>
            <a:pPr marL="120650" lvl="0" indent="0">
              <a:buSzPts val="1700"/>
              <a:buNone/>
            </a:pPr>
            <a:r>
              <a:rPr lang="vi-VN" altLang="ja-JP" sz="1700" dirty="0"/>
              <a:t>● Giám sát log</a:t>
            </a:r>
          </a:p>
          <a:p>
            <a:pPr marL="120650" lvl="0" indent="0">
              <a:buSzPts val="1700"/>
              <a:buNone/>
            </a:pPr>
            <a:r>
              <a:rPr lang="ja-JP" altLang="vi-VN" sz="1700" dirty="0"/>
              <a:t>・</a:t>
            </a:r>
            <a:r>
              <a:rPr lang="vi-VN" altLang="ja-JP" sz="1700" dirty="0"/>
              <a:t>Các file log: /var/log/{messages,secure,dnf.log,/audit/audit.log}</a:t>
            </a:r>
          </a:p>
          <a:p>
            <a:pPr marL="120650" lvl="0" indent="0">
              <a:buSzPts val="1700"/>
              <a:buNone/>
            </a:pPr>
            <a:r>
              <a:rPr lang="ja-JP" altLang="vi-VN" sz="1700" dirty="0"/>
              <a:t>・</a:t>
            </a:r>
            <a:r>
              <a:rPr lang="vi-VN" altLang="ja-JP" sz="1700" dirty="0"/>
              <a:t>Tìm kiếm theo từ khóa: error, fail</a:t>
            </a:r>
          </a:p>
          <a:p>
            <a:pPr marL="120650" lvl="0" indent="0">
              <a:buSzPts val="1700"/>
              <a:buNone/>
            </a:pPr>
            <a:r>
              <a:rPr lang="vi-VN" altLang="ja-JP" sz="1700" dirty="0"/>
              <a:t>● Áp dụng Amazon Inspector</a:t>
            </a:r>
          </a:p>
          <a:p>
            <a:pPr marL="120650" lvl="0" indent="0">
              <a:buSzPts val="1700"/>
              <a:buNone/>
            </a:pPr>
            <a:r>
              <a:rPr lang="ja-JP" altLang="vi-VN" sz="1700" dirty="0"/>
              <a:t>・</a:t>
            </a:r>
            <a:r>
              <a:rPr lang="vi-VN" altLang="ja-JP" sz="1700" dirty="0"/>
              <a:t>Phát hiện lỗ hổng phần mềm (CVEs)</a:t>
            </a:r>
          </a:p>
          <a:p>
            <a:pPr marL="120650" lvl="0" indent="0">
              <a:buSzPts val="1700"/>
              <a:buNone/>
            </a:pPr>
            <a:r>
              <a:rPr lang="vi-VN" altLang="ja-JP" sz="1700" dirty="0"/>
              <a:t>● Xóa người dùng mặc định ec2-user</a:t>
            </a:r>
          </a:p>
          <a:p>
            <a:pPr marL="120650" lvl="0" indent="0">
              <a:buSzPts val="1700"/>
              <a:buNone/>
            </a:pPr>
            <a:r>
              <a:rPr lang="vi-VN" altLang="ja-JP" sz="1700" dirty="0"/>
              <a:t>● Tài khoản đăng nhập SSH vào máy chủ Bastion được cấp riêng cho từng người dùng</a:t>
            </a:r>
          </a:p>
          <a:p>
            <a:pPr marL="120650" lvl="0" indent="0">
              <a:buSzPts val="1700"/>
              <a:buNone/>
            </a:pPr>
            <a:r>
              <a:rPr lang="ja-JP" altLang="vi-VN" sz="1700" dirty="0"/>
              <a:t>・</a:t>
            </a:r>
            <a:r>
              <a:rPr lang="vi-VN" altLang="ja-JP" sz="1700" dirty="0"/>
              <a:t>Tuy nhiên, có trường hợp sử dụng WinSCP trên máy tính phát triển để kết nối S3, trong trường hợp này sẽ tạo tài khoản chuyên dụng cho tunnel</a:t>
            </a:r>
          </a:p>
          <a:p>
            <a:pPr marL="120650" lvl="0" indent="0">
              <a:buSzPts val="1700"/>
              <a:buNone/>
            </a:pPr>
            <a:r>
              <a:rPr lang="ja-JP" altLang="vi-VN" sz="1700" dirty="0"/>
              <a:t>・</a:t>
            </a:r>
            <a:r>
              <a:rPr lang="vi-VN" altLang="ja-JP" sz="1700" dirty="0"/>
              <a:t>Thiết lập thời gian chờ phiên làm việc (session timeout) phù hợp ở cả phía client và server</a:t>
            </a:r>
            <a:endParaRPr lang="en-US" altLang="ja-JP" sz="1700" dirty="0"/>
          </a:p>
        </p:txBody>
      </p:sp>
    </p:spTree>
    <p:extLst>
      <p:ext uri="{BB962C8B-B14F-4D97-AF65-F5344CB8AC3E}">
        <p14:creationId xmlns:p14="http://schemas.microsoft.com/office/powerpoint/2010/main" val="104425600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6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ja" sz="3000">
                <a:highlight>
                  <a:srgbClr val="FFFFFF"/>
                </a:highlight>
              </a:rPr>
              <a:t>12.CICD</a:t>
            </a:r>
            <a:endParaRPr sz="3000">
              <a:highlight>
                <a:srgbClr val="FFFFFF"/>
              </a:highlight>
            </a:endParaRPr>
          </a:p>
        </p:txBody>
      </p:sp>
      <p:pic>
        <p:nvPicPr>
          <p:cNvPr id="427" name="Google Shape;427;p60"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428" name="Google Shape;428;p6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79</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61"/>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dirty="0">
                <a:highlight>
                  <a:srgbClr val="D9D9D9"/>
                </a:highlight>
              </a:rPr>
              <a:t>12-1.デプロイ環境</a:t>
            </a:r>
            <a:r>
              <a:rPr lang="en-US" altLang="ja" dirty="0">
                <a:highlight>
                  <a:srgbClr val="D9D9D9"/>
                </a:highlight>
              </a:rPr>
              <a:t>/ </a:t>
            </a:r>
            <a:r>
              <a:rPr lang="en-US" altLang="ja" dirty="0" err="1">
                <a:highlight>
                  <a:srgbClr val="D9D9D9"/>
                </a:highlight>
              </a:rPr>
              <a:t>Môi</a:t>
            </a:r>
            <a:r>
              <a:rPr lang="en-US" altLang="ja" dirty="0">
                <a:highlight>
                  <a:srgbClr val="D9D9D9"/>
                </a:highlight>
              </a:rPr>
              <a:t> </a:t>
            </a:r>
            <a:r>
              <a:rPr lang="en-US" altLang="ja" dirty="0" err="1">
                <a:highlight>
                  <a:srgbClr val="D9D9D9"/>
                </a:highlight>
              </a:rPr>
              <a:t>trường</a:t>
            </a:r>
            <a:r>
              <a:rPr lang="en-US" altLang="ja" dirty="0">
                <a:highlight>
                  <a:srgbClr val="D9D9D9"/>
                </a:highlight>
              </a:rPr>
              <a:t> deploy</a:t>
            </a:r>
            <a:endParaRPr dirty="0">
              <a:highlight>
                <a:srgbClr val="D9D9D9"/>
              </a:highlight>
            </a:endParaRPr>
          </a:p>
          <a:p>
            <a:pPr marL="0" lvl="0" indent="0" algn="l" rtl="0">
              <a:spcBef>
                <a:spcPts val="0"/>
              </a:spcBef>
              <a:spcAft>
                <a:spcPts val="0"/>
              </a:spcAft>
              <a:buNone/>
            </a:pPr>
            <a:endParaRPr dirty="0">
              <a:highlight>
                <a:srgbClr val="D9D9D9"/>
              </a:highlight>
            </a:endParaRPr>
          </a:p>
        </p:txBody>
      </p:sp>
      <p:pic>
        <p:nvPicPr>
          <p:cNvPr id="434" name="Google Shape;434;p61"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435" name="Google Shape;435;p6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80</a:t>
            </a:fld>
            <a:endParaRPr/>
          </a:p>
        </p:txBody>
      </p:sp>
      <p:pic>
        <p:nvPicPr>
          <p:cNvPr id="436" name="Google Shape;436;p61" title="【POS】infra_ishida-12-1.drawio.png"/>
          <p:cNvPicPr preferRelativeResize="0"/>
          <p:nvPr/>
        </p:nvPicPr>
        <p:blipFill>
          <a:blip r:embed="rId4">
            <a:alphaModFix/>
          </a:blip>
          <a:stretch>
            <a:fillRect/>
          </a:stretch>
        </p:blipFill>
        <p:spPr>
          <a:xfrm>
            <a:off x="465050" y="1091450"/>
            <a:ext cx="8007388" cy="3846524"/>
          </a:xfrm>
          <a:prstGeom prst="rect">
            <a:avLst/>
          </a:prstGeom>
          <a:noFill/>
          <a:ln>
            <a:noFill/>
          </a:ln>
        </p:spPr>
      </p:pic>
      <p:sp>
        <p:nvSpPr>
          <p:cNvPr id="2" name="TextBox 1">
            <a:extLst>
              <a:ext uri="{FF2B5EF4-FFF2-40B4-BE49-F238E27FC236}">
                <a16:creationId xmlns:a16="http://schemas.microsoft.com/office/drawing/2014/main" id="{3824963F-55A9-BD82-FD31-16DD64BE83DE}"/>
              </a:ext>
            </a:extLst>
          </p:cNvPr>
          <p:cNvSpPr txBox="1"/>
          <p:nvPr/>
        </p:nvSpPr>
        <p:spPr>
          <a:xfrm>
            <a:off x="311700" y="1864659"/>
            <a:ext cx="1318926" cy="307777"/>
          </a:xfrm>
          <a:prstGeom prst="rect">
            <a:avLst/>
          </a:prstGeom>
          <a:noFill/>
        </p:spPr>
        <p:txBody>
          <a:bodyPr wrap="square" rtlCol="0">
            <a:spAutoFit/>
          </a:bodyPr>
          <a:lstStyle/>
          <a:p>
            <a:r>
              <a:rPr lang="en-VN" dirty="0"/>
              <a:t>Developer</a:t>
            </a:r>
          </a:p>
        </p:txBody>
      </p:sp>
      <p:sp>
        <p:nvSpPr>
          <p:cNvPr id="3" name="TextBox 2">
            <a:extLst>
              <a:ext uri="{FF2B5EF4-FFF2-40B4-BE49-F238E27FC236}">
                <a16:creationId xmlns:a16="http://schemas.microsoft.com/office/drawing/2014/main" id="{03187F62-F3CE-D184-B0B6-EB69D39B78D1}"/>
              </a:ext>
            </a:extLst>
          </p:cNvPr>
          <p:cNvSpPr txBox="1"/>
          <p:nvPr/>
        </p:nvSpPr>
        <p:spPr>
          <a:xfrm>
            <a:off x="3216265" y="1488140"/>
            <a:ext cx="1149547" cy="261610"/>
          </a:xfrm>
          <a:prstGeom prst="rect">
            <a:avLst/>
          </a:prstGeom>
          <a:noFill/>
        </p:spPr>
        <p:txBody>
          <a:bodyPr wrap="square" rtlCol="0">
            <a:spAutoFit/>
          </a:bodyPr>
          <a:lstStyle/>
          <a:p>
            <a:r>
              <a:rPr lang="en-US" sz="1100" dirty="0"/>
              <a:t>branch</a:t>
            </a:r>
            <a:endParaRPr lang="en-VN" sz="1100" dirty="0"/>
          </a:p>
        </p:txBody>
      </p:sp>
      <p:sp>
        <p:nvSpPr>
          <p:cNvPr id="4" name="TextBox 3">
            <a:extLst>
              <a:ext uri="{FF2B5EF4-FFF2-40B4-BE49-F238E27FC236}">
                <a16:creationId xmlns:a16="http://schemas.microsoft.com/office/drawing/2014/main" id="{1DEFA948-643E-9246-2CC5-8766E9EC3A57}"/>
              </a:ext>
            </a:extLst>
          </p:cNvPr>
          <p:cNvSpPr txBox="1"/>
          <p:nvPr/>
        </p:nvSpPr>
        <p:spPr>
          <a:xfrm>
            <a:off x="2938359" y="1069854"/>
            <a:ext cx="1149547" cy="246221"/>
          </a:xfrm>
          <a:prstGeom prst="rect">
            <a:avLst/>
          </a:prstGeom>
          <a:noFill/>
        </p:spPr>
        <p:txBody>
          <a:bodyPr wrap="square" rtlCol="0">
            <a:spAutoFit/>
          </a:bodyPr>
          <a:lstStyle/>
          <a:p>
            <a:r>
              <a:rPr lang="en-VN" sz="1000" dirty="0"/>
              <a:t>Điểm kết nối</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4a0992f-8328-4daf-870b-3d2b13d3e940">
      <Terms xmlns="http://schemas.microsoft.com/office/infopath/2007/PartnerControls"/>
    </lcf76f155ced4ddcb4097134ff3c332f>
    <TaxCatchAll xmlns="4a37abda-15dd-4e37-8275-3b7fb2897b6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8AB003DB5A4D644C9FB3BD19B5C7E000" ma:contentTypeVersion="11" ma:contentTypeDescription="新しいドキュメントを作成します。" ma:contentTypeScope="" ma:versionID="14213891138059eb724b9e737fafccea">
  <xsd:schema xmlns:xsd="http://www.w3.org/2001/XMLSchema" xmlns:xs="http://www.w3.org/2001/XMLSchema" xmlns:p="http://schemas.microsoft.com/office/2006/metadata/properties" xmlns:ns2="74a0992f-8328-4daf-870b-3d2b13d3e940" xmlns:ns3="4a37abda-15dd-4e37-8275-3b7fb2897b65" targetNamespace="http://schemas.microsoft.com/office/2006/metadata/properties" ma:root="true" ma:fieldsID="c0714e9ec9c019f03b39320eca5a0ecc" ns2:_="" ns3:_="">
    <xsd:import namespace="74a0992f-8328-4daf-870b-3d2b13d3e940"/>
    <xsd:import namespace="4a37abda-15dd-4e37-8275-3b7fb2897b6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4a0992f-8328-4daf-870b-3d2b13d3e94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画像タグ" ma:readOnly="false" ma:fieldId="{5cf76f15-5ced-4ddc-b409-7134ff3c332f}" ma:taxonomyMulti="true" ma:sspId="e6619b5c-6674-40b7-9c01-33e12ba1bd7c"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a37abda-15dd-4e37-8275-3b7fb2897b65"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2a2e70a-4904-448e-b588-7989bbdb9dd5}" ma:internalName="TaxCatchAll" ma:showField="CatchAllData" ma:web="4a37abda-15dd-4e37-8275-3b7fb2897b6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2A72C1D-B48C-4C0B-B85E-F7B9BBFB99A5}">
  <ds:schemaRefs>
    <ds:schemaRef ds:uri="http://schemas.microsoft.com/office/2006/metadata/properties"/>
    <ds:schemaRef ds:uri="http://schemas.microsoft.com/office/infopath/2007/PartnerControls"/>
    <ds:schemaRef ds:uri="8dbf7540-46e2-4291-999e-80d6200bae7a"/>
    <ds:schemaRef ds:uri="2d13a9ec-4dcc-4bf0-b813-bb41ddf201ec"/>
  </ds:schemaRefs>
</ds:datastoreItem>
</file>

<file path=customXml/itemProps2.xml><?xml version="1.0" encoding="utf-8"?>
<ds:datastoreItem xmlns:ds="http://schemas.openxmlformats.org/officeDocument/2006/customXml" ds:itemID="{E3CC6771-F566-40DF-AE36-D431702C116C}">
  <ds:schemaRefs>
    <ds:schemaRef ds:uri="http://schemas.microsoft.com/sharepoint/v3/contenttype/forms"/>
  </ds:schemaRefs>
</ds:datastoreItem>
</file>

<file path=customXml/itemProps3.xml><?xml version="1.0" encoding="utf-8"?>
<ds:datastoreItem xmlns:ds="http://schemas.openxmlformats.org/officeDocument/2006/customXml" ds:itemID="{923ED047-B0F7-4E70-BD86-CF69BA095888}"/>
</file>

<file path=docProps/app.xml><?xml version="1.0" encoding="utf-8"?>
<Properties xmlns="http://schemas.openxmlformats.org/officeDocument/2006/extended-properties" xmlns:vt="http://schemas.openxmlformats.org/officeDocument/2006/docPropsVTypes">
  <TotalTime>595</TotalTime>
  <Words>9371</Words>
  <Application>Microsoft Office PowerPoint</Application>
  <PresentationFormat>On-screen Show (16:9)</PresentationFormat>
  <Paragraphs>833</Paragraphs>
  <Slides>80</Slides>
  <Notes>80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80</vt:i4>
      </vt:variant>
    </vt:vector>
  </HeadingPairs>
  <TitlesOfParts>
    <vt:vector size="83" baseType="lpstr">
      <vt:lpstr>Meiryo</vt:lpstr>
      <vt:lpstr>Arial</vt:lpstr>
      <vt:lpstr>Simple Light</vt:lpstr>
      <vt:lpstr>【POS Server Offline 2.0】 Điều kiện Infra (ISHIDA)</vt:lpstr>
      <vt:lpstr>目次</vt:lpstr>
      <vt:lpstr>Các mục</vt:lpstr>
      <vt:lpstr>1.オフライン版POSサーバ2.0の 位置づけ  Vai trò của POS Server phiên bản 2.0 cho chế độ offline</vt:lpstr>
      <vt:lpstr>1-1. オフライン版POSサーバ2.0の役割</vt:lpstr>
      <vt:lpstr>1-1. Vị trí (hoặc vai trò) của POS Server phiên bản 2.0 cho chế độ offline</vt:lpstr>
      <vt:lpstr>1-2. 通信障害時の業務継続性</vt:lpstr>
      <vt:lpstr>1-2. Tính liên tục hoạt động trong trường hợp sự cố mạng truyền thông</vt:lpstr>
      <vt:lpstr>2.インフラ設計方針 Phương châm thiết kế hạ tầng</vt:lpstr>
      <vt:lpstr>2-1.設計方針</vt:lpstr>
      <vt:lpstr>2-1. Phương châm thiết kế hạ tầng</vt:lpstr>
      <vt:lpstr>3.AWSアカウント設計 Setting account AWS</vt:lpstr>
      <vt:lpstr>3-1.AWSアカウント分割 </vt:lpstr>
      <vt:lpstr>3-1.Phân quyền acc AWS </vt:lpstr>
      <vt:lpstr>3-2.AWSアカウントを分割する理由 </vt:lpstr>
      <vt:lpstr>3-2.Lý do phân quyền acc AWS </vt:lpstr>
      <vt:lpstr>4.ネットワーク構成 （既存のオンライン版POSサーバ）  Cấu trúc mạng (POS Server Online hiện tại)</vt:lpstr>
      <vt:lpstr>4-1.オンライン版POSサーバ</vt:lpstr>
      <vt:lpstr>4-1.Pos server bản Online</vt:lpstr>
      <vt:lpstr>5.ネットワーク構成 （オフライン版POSサーバとUSHM閉域網）  Cấu trúc mạng (POS Server Offline và mạng nội bộ USMH)</vt:lpstr>
      <vt:lpstr>5-1.スパイク環境</vt:lpstr>
      <vt:lpstr>5-1.Môi trường spike</vt:lpstr>
      <vt:lpstr>5-2.オフライン版POSサーバ2.0とUSMH閉域網</vt:lpstr>
      <vt:lpstr>5-2. POS server phiên bản offline 2.0 và mạng nội bộ kín của USMH (USMH Closed Network)</vt:lpstr>
      <vt:lpstr>5-3.Direct Connectのトラフィック状況（2025/5/30）</vt:lpstr>
      <vt:lpstr>5-3. Tình hình lưu lượng Direct Connect (ngày 30/05/2025)</vt:lpstr>
      <vt:lpstr>5-4.帯域検証/ Xác minh năng lực đường truyền mạng </vt:lpstr>
      <vt:lpstr>6.ネットワーク構成 （ルビナオフィス）  6. Cấu trúc mạng (Trụ sở văn phòng Luvina)  </vt:lpstr>
      <vt:lpstr>6-1.ルビナオフィスからの接続</vt:lpstr>
      <vt:lpstr>6-1.Môi trường Luvina</vt:lpstr>
      <vt:lpstr>6-2.開発者PC端末からのアクセス/ Truy cập từ PC của dev</vt:lpstr>
      <vt:lpstr>7.AWSアカウント管理  Quản lý AWS account</vt:lpstr>
      <vt:lpstr>7-1.AWSアカウントのオーナー </vt:lpstr>
      <vt:lpstr>7-1. Chủ sở hữu tài khoản AWS </vt:lpstr>
      <vt:lpstr>7-2.AWSサポートプラン </vt:lpstr>
      <vt:lpstr>7-2. Gói AWS Support </vt:lpstr>
      <vt:lpstr>8.システム構成  Cấu trúc hệ thông</vt:lpstr>
      <vt:lpstr>8-1.処理フロー </vt:lpstr>
      <vt:lpstr>8-1.Flow xử lý </vt:lpstr>
      <vt:lpstr>8-2.外部接続の全体図</vt:lpstr>
      <vt:lpstr>8-2. Tổng quan sơ đồ kết nối với hệ thống bên ngoài</vt:lpstr>
      <vt:lpstr>8-3.外部連携マスタの受信経路①</vt:lpstr>
      <vt:lpstr>8-3. Đường truyền nhận file master từ hệ thống bên ngoài①</vt:lpstr>
      <vt:lpstr>8-4.外部連携マスタの受信経路②</vt:lpstr>
      <vt:lpstr>8-4. Đường truyền nhận file master từ hệ thống bên ②</vt:lpstr>
      <vt:lpstr>8-5.POSマスタ連携方法について（PUSH・PULL型） </vt:lpstr>
      <vt:lpstr>8-5.POSマスタ連携方法について（PUSH・PULL型） </vt:lpstr>
      <vt:lpstr>8-6.POSマスタ連携 ISHIDA（フェーズ1）/ Liên kết master POS với ISHIDA (Giai đoạn 1)  </vt:lpstr>
      <vt:lpstr>8-6.POSマスタ連携 ISHIDA（フェーズ1）/ Liên kết master POS với ISHIDA (Giai đoạn 1)  </vt:lpstr>
      <vt:lpstr>8-7.POSマスタ連携：ISHIDA（フェーズ2 a案）/ Liên kết master POS với ISHIDA (Giai đoạn 1) </vt:lpstr>
      <vt:lpstr>8-7.POSマスタ連携：ISHIDA（フェーズ2 a案）/ Liên kết master POS với ISHIDA (Giai đoạn 1) </vt:lpstr>
      <vt:lpstr>8-8.POSマスタ連携：ISHIDA（フェーズ2 b案）/ Liên kết master POS: ISHIDA (Giai đoạn 2 - phương án B)</vt:lpstr>
      <vt:lpstr>8-8.POSマスタ連携：ISHIDA（フェーズ2 b案）/ Liên kết master POS: ISHIDA (Giai đoạn 2 - phương án B)</vt:lpstr>
      <vt:lpstr>8-9.Step①マスタ受信（OC）/ Bước ① Nhận master (OC) </vt:lpstr>
      <vt:lpstr>8-9.Step①マスタ受信（OC）/ Bước ① Nhận master (OC) </vt:lpstr>
      <vt:lpstr>8-10.Step②マスタ受信（中継サーバ） / Bước ② Nhận master (máy chủ trung gian) </vt:lpstr>
      <vt:lpstr>8-10.Step②マスタ受信（中継サーバ） / Bước ② Nhận master (máy chủ trung gian) </vt:lpstr>
      <vt:lpstr>8-11.Step②POSマスタ作成（共通）/ Bước ② Tạo master POS (dùng chung)</vt:lpstr>
      <vt:lpstr>8-11.Step②POSマスタ作成（共通）/ Bước ② Tạo master POS (dùng chung)</vt:lpstr>
      <vt:lpstr>8-12.③ISHIDAへの送信（共通）/ Bước ③ Gửi đến ISHIDA (dùng chung)    </vt:lpstr>
      <vt:lpstr>8-12.③ISHIDAへの送信（共通）/ Bước ③ Gửi đến ISHIDA (dùng chung)    </vt:lpstr>
      <vt:lpstr>9.AWSサービス共通  AWS public service</vt:lpstr>
      <vt:lpstr>9-1.S3バケット構成  </vt:lpstr>
      <vt:lpstr>9-1.S3バケット構成 / Cấu trúc bucket S3 </vt:lpstr>
      <vt:lpstr>9-2.データベース</vt:lpstr>
      <vt:lpstr>9-2.Database</vt:lpstr>
      <vt:lpstr>9-3.バックアップ </vt:lpstr>
      <vt:lpstr>9-3. Sao lưu (Backup) </vt:lpstr>
      <vt:lpstr>10.監視  Giám sat</vt:lpstr>
      <vt:lpstr>10-1.監視のAWS構成図 / Sơ đồ cấu trúc AWS cho giám sát (monitoring)</vt:lpstr>
      <vt:lpstr>10-1.監視のAWS構成図 / Sơ đồ cấu trúc AWS cho giám sát (monitoring)</vt:lpstr>
      <vt:lpstr>10-2.アプリのエラーログの一覧 ※確認中※/ Danh sách log lỗi của ứng dụng ※Đang xác nhận※</vt:lpstr>
      <vt:lpstr>11.セキュリティ対策  Đối sách an ninh</vt:lpstr>
      <vt:lpstr>11-1.検知 </vt:lpstr>
      <vt:lpstr>11-1.検知/ Phát hiện (Detection) </vt:lpstr>
      <vt:lpstr>11-2.セキュリティ関連のAWS見積/ Bản ước tính chi phí AWS liên quan đến bảo mật (Security-related AWS cost estimate)    </vt:lpstr>
      <vt:lpstr>11-3.EC2に対するセキュリティ対策 </vt:lpstr>
      <vt:lpstr>11-3. Biện pháp bảo mật đối với EC2 (Amazon Elastic Compute Cloud) </vt:lpstr>
      <vt:lpstr>12.CICD</vt:lpstr>
      <vt:lpstr>12-1.デプロイ環境/ Môi trường deploy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オフライン版POSサーバ2.0 ignica POS インフラ要件 ＜カスミ様ISHIDA電子棚札対応＞</dc:title>
  <cp:lastModifiedBy>Nguyen Hoai Son</cp:lastModifiedBy>
  <cp:revision>74</cp:revision>
  <dcterms:modified xsi:type="dcterms:W3CDTF">2025-07-10T19:54:24Z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0x0101008AB003DB5A4D644C9FB3BD19B5C7E000</vt:lpwstr>
  </property>
  <property fmtid="{D5CDD505-2E9C-101B-9397-08002B2CF9AE}" pid="3" name="MediaServiceImageTags">
    <vt:lpwstr/>
  </property>
</Properties>
</file>