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82" r:id="rId5"/>
    <p:sldId id="383" r:id="rId6"/>
    <p:sldId id="384" r:id="rId7"/>
  </p:sldIdLst>
  <p:sldSz cx="9906000" cy="6858000" type="A4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20"/>
    <a:srgbClr val="86D0ED"/>
    <a:srgbClr val="00744D"/>
    <a:srgbClr val="E60012"/>
    <a:srgbClr val="40B172"/>
    <a:srgbClr val="F2DCDB"/>
    <a:srgbClr val="C00000"/>
    <a:srgbClr val="FFE1E1"/>
    <a:srgbClr val="CCECFF"/>
    <a:srgbClr val="F7E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E20A73-3F40-4131-AE8A-0FC244CBECA7}" v="1" dt="2024-05-15T04:12:05.928"/>
  </p1510:revLst>
</p1510:revInfo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92" autoAdjust="0"/>
    <p:restoredTop sz="70982" autoAdjust="0"/>
  </p:normalViewPr>
  <p:slideViewPr>
    <p:cSldViewPr>
      <p:cViewPr varScale="1">
        <p:scale>
          <a:sx n="110" d="100"/>
          <a:sy n="110" d="100"/>
        </p:scale>
        <p:origin x="1890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44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120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r">
              <a:defRPr sz="1300"/>
            </a:lvl1pPr>
          </a:lstStyle>
          <a:p>
            <a:fld id="{0D11254A-35F0-4387-BD63-57CE2757674D}" type="datetimeFigureOut">
              <a:rPr kumimoji="1" lang="ja-JP" altLang="en-US" smtClean="0"/>
              <a:pPr/>
              <a:t>2024/5/15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022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r">
              <a:defRPr sz="1300"/>
            </a:lvl1pPr>
          </a:lstStyle>
          <a:p>
            <a:fld id="{9C269975-7BE2-4E87-802B-58439506061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2229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500"/>
            </a:lvl1pPr>
          </a:lstStyle>
          <a:p>
            <a:fld id="{D7387CCE-2FF8-4C4F-814C-EE6E76026263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5" y="3374432"/>
            <a:ext cx="8187689" cy="3196828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500"/>
            </a:lvl1pPr>
          </a:lstStyle>
          <a:p>
            <a:fld id="{084ACCD1-6A07-4099-ACBF-2EA3310362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62522" y="1196752"/>
            <a:ext cx="8556604" cy="2016224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64497" y="4911219"/>
            <a:ext cx="6472746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図形グループ 15"/>
          <p:cNvGrpSpPr/>
          <p:nvPr userDrawn="1"/>
        </p:nvGrpSpPr>
        <p:grpSpPr>
          <a:xfrm>
            <a:off x="7527286" y="4045673"/>
            <a:ext cx="2106234" cy="391438"/>
            <a:chOff x="6516216" y="3933056"/>
            <a:chExt cx="2503572" cy="504056"/>
          </a:xfrm>
        </p:grpSpPr>
        <p:pic>
          <p:nvPicPr>
            <p:cNvPr id="11" name="図 10" descr="Logo_9001.jp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3933056"/>
              <a:ext cx="760016" cy="494068"/>
            </a:xfrm>
            <a:prstGeom prst="rect">
              <a:avLst/>
            </a:prstGeom>
          </p:spPr>
        </p:pic>
        <p:pic>
          <p:nvPicPr>
            <p:cNvPr id="13" name="図 12" descr="Logo_27001.jp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2" y="3933056"/>
              <a:ext cx="775381" cy="504056"/>
            </a:xfrm>
            <a:prstGeom prst="rect">
              <a:avLst/>
            </a:prstGeom>
          </p:spPr>
        </p:pic>
        <p:pic>
          <p:nvPicPr>
            <p:cNvPr id="14" name="図 13" descr="CMMI3.jpg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408" y="3933056"/>
              <a:ext cx="775380" cy="504056"/>
            </a:xfrm>
            <a:prstGeom prst="rect">
              <a:avLst/>
            </a:prstGeom>
          </p:spPr>
        </p:pic>
      </p:grpSp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89" y="4725145"/>
            <a:ext cx="2077233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522" y="1196752"/>
            <a:ext cx="8580000" cy="1008112"/>
          </a:xfrm>
        </p:spPr>
        <p:txBody>
          <a:bodyPr anchor="b"/>
          <a:lstStyle>
            <a:lvl1pPr algn="l">
              <a:defRPr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496" y="2204865"/>
            <a:ext cx="8578981" cy="78654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7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41" y="240396"/>
            <a:ext cx="8592159" cy="1066129"/>
          </a:xfrm>
        </p:spPr>
        <p:txBody>
          <a:bodyPr/>
          <a:lstStyle>
            <a:lvl1pPr algn="l"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41" y="1484785"/>
            <a:ext cx="8592159" cy="4525963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1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200" b="1" smtClean="0"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200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581128"/>
            <a:ext cx="9906000" cy="2276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5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FDCD1-C7A1-4E9F-AA09-39CD61F98800}"/>
              </a:ext>
            </a:extLst>
          </p:cNvPr>
          <p:cNvSpPr/>
          <p:nvPr userDrawn="1"/>
        </p:nvSpPr>
        <p:spPr>
          <a:xfrm>
            <a:off x="432000" y="864000"/>
            <a:ext cx="9000000" cy="5760000"/>
          </a:xfrm>
          <a:prstGeom prst="rect">
            <a:avLst/>
          </a:prstGeom>
          <a:gradFill>
            <a:gsLst>
              <a:gs pos="0">
                <a:srgbClr val="FFEBEB"/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240397"/>
            <a:ext cx="8993444" cy="596316"/>
          </a:xfrm>
        </p:spPr>
        <p:txBody>
          <a:bodyPr wrap="none">
            <a:noAutofit/>
          </a:bodyPr>
          <a:lstStyle>
            <a:lvl1pPr algn="l">
              <a:defRPr sz="2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3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 dirty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0"/>
            <a:ext cx="467502" cy="6858000"/>
            <a:chOff x="0" y="0"/>
            <a:chExt cx="43154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251520" cy="685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5400000">
              <a:off x="233518" y="638690"/>
              <a:ext cx="216024" cy="1800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8" name="Isosceles Triangle 9">
            <a:extLst>
              <a:ext uri="{FF2B5EF4-FFF2-40B4-BE49-F238E27FC236}">
                <a16:creationId xmlns:a16="http://schemas.microsoft.com/office/drawing/2014/main" id="{3D95FF19-0180-4042-BF48-03063A2CD4AE}"/>
              </a:ext>
            </a:extLst>
          </p:cNvPr>
          <p:cNvSpPr/>
          <p:nvPr userDrawn="1"/>
        </p:nvSpPr>
        <p:spPr>
          <a:xfrm rot="5400000">
            <a:off x="4930142" y="-3807043"/>
            <a:ext cx="45719" cy="9071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baseline="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9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luvina.net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3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rgbClr val="C00000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svg"/><Relationship Id="rId21" Type="http://schemas.openxmlformats.org/officeDocument/2006/relationships/image" Target="../media/image25.svg"/><Relationship Id="rId34" Type="http://schemas.openxmlformats.org/officeDocument/2006/relationships/image" Target="../media/image38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35" Type="http://schemas.openxmlformats.org/officeDocument/2006/relationships/image" Target="../media/image39.svg"/><Relationship Id="rId8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svg"/><Relationship Id="rId21" Type="http://schemas.openxmlformats.org/officeDocument/2006/relationships/image" Target="../media/image25.svg"/><Relationship Id="rId34" Type="http://schemas.openxmlformats.org/officeDocument/2006/relationships/image" Target="../media/image38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35" Type="http://schemas.openxmlformats.org/officeDocument/2006/relationships/image" Target="../media/image39.sv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C4AAB-6AA9-9B89-3F85-1746A324B4C0}"/>
              </a:ext>
            </a:extLst>
          </p:cNvPr>
          <p:cNvSpPr/>
          <p:nvPr/>
        </p:nvSpPr>
        <p:spPr>
          <a:xfrm>
            <a:off x="694285" y="1016161"/>
            <a:ext cx="8409053" cy="586216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r>
              <a:rPr kumimoji="1" lang="ja-JP" altLang="en-US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を使用する方向で検討</a:t>
            </a: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2280435" y="1729077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83" y="1962377"/>
            <a:ext cx="4860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45" name="Graphic 77" descr="Server resource icon for the General Icons category.">
            <a:extLst>
              <a:ext uri="{FF2B5EF4-FFF2-40B4-BE49-F238E27FC236}">
                <a16:creationId xmlns:a16="http://schemas.microsoft.com/office/drawing/2014/main" id="{A99FB1E8-E3A0-EACC-110E-A0048A3988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46280" y="4477371"/>
            <a:ext cx="430521" cy="430521"/>
          </a:xfrm>
          <a:prstGeom prst="rect">
            <a:avLst/>
          </a:prstGeom>
        </p:spPr>
      </p:pic>
      <p:sp>
        <p:nvSpPr>
          <p:cNvPr id="48" name="Rectangle 77">
            <a:extLst>
              <a:ext uri="{FF2B5EF4-FFF2-40B4-BE49-F238E27FC236}">
                <a16:creationId xmlns:a16="http://schemas.microsoft.com/office/drawing/2014/main" id="{C8061041-2633-1197-C765-2B8DFEFF151D}"/>
              </a:ext>
            </a:extLst>
          </p:cNvPr>
          <p:cNvSpPr/>
          <p:nvPr/>
        </p:nvSpPr>
        <p:spPr>
          <a:xfrm>
            <a:off x="7890000" y="4140000"/>
            <a:ext cx="1440000" cy="79200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data center</a:t>
            </a:r>
          </a:p>
        </p:txBody>
      </p:sp>
      <p:pic>
        <p:nvPicPr>
          <p:cNvPr id="51" name="Graphic 78" descr="Corporate data center group icon. ">
            <a:extLst>
              <a:ext uri="{FF2B5EF4-FFF2-40B4-BE49-F238E27FC236}">
                <a16:creationId xmlns:a16="http://schemas.microsoft.com/office/drawing/2014/main" id="{B394DCF5-59DF-3FCC-869C-8BF21984CC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890001" y="4140000"/>
            <a:ext cx="216000" cy="216000"/>
          </a:xfrm>
          <a:prstGeom prst="rect">
            <a:avLst/>
          </a:prstGeom>
        </p:spPr>
      </p:pic>
      <p:pic>
        <p:nvPicPr>
          <p:cNvPr id="52" name="Graphic 77" descr="Server resource icon for the General Icons category.">
            <a:extLst>
              <a:ext uri="{FF2B5EF4-FFF2-40B4-BE49-F238E27FC236}">
                <a16:creationId xmlns:a16="http://schemas.microsoft.com/office/drawing/2014/main" id="{BE0352FE-0D34-902C-8D6F-5B2A08EA86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06640" y="4477371"/>
            <a:ext cx="430521" cy="430521"/>
          </a:xfrm>
          <a:prstGeom prst="rect">
            <a:avLst/>
          </a:prstGeom>
        </p:spPr>
      </p:pic>
      <p:pic>
        <p:nvPicPr>
          <p:cNvPr id="53" name="Graphic 77" descr="Server resource icon for the General Icons category.">
            <a:extLst>
              <a:ext uri="{FF2B5EF4-FFF2-40B4-BE49-F238E27FC236}">
                <a16:creationId xmlns:a16="http://schemas.microsoft.com/office/drawing/2014/main" id="{B6EB681F-D151-E129-96DD-7F5A281C4F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86481" y="4477371"/>
            <a:ext cx="430521" cy="430521"/>
          </a:xfrm>
          <a:prstGeom prst="rect">
            <a:avLst/>
          </a:prstGeom>
        </p:spPr>
      </p:pic>
      <p:pic>
        <p:nvPicPr>
          <p:cNvPr id="54" name="Graphic 21" descr="Amazon Route 53 service icon.">
            <a:extLst>
              <a:ext uri="{FF2B5EF4-FFF2-40B4-BE49-F238E27FC236}">
                <a16:creationId xmlns:a16="http://schemas.microsoft.com/office/drawing/2014/main" id="{4B155731-1130-F160-F2F9-8F3E968D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1872000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12">
            <a:extLst>
              <a:ext uri="{FF2B5EF4-FFF2-40B4-BE49-F238E27FC236}">
                <a16:creationId xmlns:a16="http://schemas.microsoft.com/office/drawing/2014/main" id="{1C370F5A-5BB4-CDC8-1F2B-EC2568AE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629" y="2628000"/>
            <a:ext cx="65274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80" name="Graphic 65" descr="VPN gateway resource icon for the Amazon VPC service.&#10;">
            <a:extLst>
              <a:ext uri="{FF2B5EF4-FFF2-40B4-BE49-F238E27FC236}">
                <a16:creationId xmlns:a16="http://schemas.microsoft.com/office/drawing/2014/main" id="{593D0E47-EB78-2282-D482-16DAE80F3D1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14873" y="4495334"/>
            <a:ext cx="288000" cy="288000"/>
          </a:xfrm>
          <a:prstGeom prst="rect">
            <a:avLst/>
          </a:prstGeom>
        </p:spPr>
      </p:pic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stCxn id="43" idx="1"/>
            <a:endCxn id="56" idx="0"/>
          </p:cNvCxnSpPr>
          <p:nvPr/>
        </p:nvCxnSpPr>
        <p:spPr>
          <a:xfrm>
            <a:off x="2568435" y="1873077"/>
            <a:ext cx="294217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0759A624-03A0-463C-83F8-B4E104A976AB}"/>
              </a:ext>
            </a:extLst>
          </p:cNvPr>
          <p:cNvCxnSpPr>
            <a:cxnSpLocks/>
            <a:stCxn id="43" idx="3"/>
            <a:endCxn id="54" idx="0"/>
          </p:cNvCxnSpPr>
          <p:nvPr/>
        </p:nvCxnSpPr>
        <p:spPr>
          <a:xfrm rot="10800000" flipV="1">
            <a:off x="2016001" y="1873076"/>
            <a:ext cx="264435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8384D735-13D5-2B2E-CE49-36F68D7B3752}"/>
              </a:ext>
            </a:extLst>
          </p:cNvPr>
          <p:cNvCxnSpPr>
            <a:cxnSpLocks/>
            <a:stCxn id="48" idx="1"/>
            <a:endCxn id="80" idx="3"/>
          </p:cNvCxnSpPr>
          <p:nvPr/>
        </p:nvCxnSpPr>
        <p:spPr>
          <a:xfrm rot="10800000" flipV="1">
            <a:off x="7602874" y="4536000"/>
            <a:ext cx="287127" cy="1033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1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7EDF0-E42D-B7B2-CC8B-B7D50254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概算見積で。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4F7B26-18E1-A9E6-D95D-66875FFC635C}"/>
              </a:ext>
            </a:extLst>
          </p:cNvPr>
          <p:cNvSpPr txBox="1"/>
          <p:nvPr/>
        </p:nvSpPr>
        <p:spPr>
          <a:xfrm>
            <a:off x="1208584" y="1556792"/>
            <a:ext cx="67681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●初期</a:t>
            </a:r>
            <a:endParaRPr kumimoji="1" lang="en-US" altLang="ja-JP" dirty="0"/>
          </a:p>
          <a:p>
            <a:r>
              <a:rPr kumimoji="1" lang="ja-JP" altLang="en-US" dirty="0"/>
              <a:t>開発環境・・・・・月額２０万円程度　規模が大きくなると、５０万円程度</a:t>
            </a:r>
            <a:endParaRPr kumimoji="1" lang="en-US" altLang="ja-JP" dirty="0"/>
          </a:p>
          <a:p>
            <a:r>
              <a:rPr kumimoji="1" lang="ja-JP" altLang="en-US" dirty="0"/>
              <a:t>検証環境・・・・・開発環境と同様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本番環境・・・・１６，０００台対応　３００万～５００万円程度を予想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FC1149-F1A7-536A-9D2E-E660DA1A5509}"/>
              </a:ext>
            </a:extLst>
          </p:cNvPr>
          <p:cNvSpPr txBox="1"/>
          <p:nvPr/>
        </p:nvSpPr>
        <p:spPr>
          <a:xfrm>
            <a:off x="1213560" y="3754199"/>
            <a:ext cx="6929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●ご精算方法</a:t>
            </a:r>
            <a:endParaRPr kumimoji="1" lang="en-US" altLang="ja-JP" dirty="0"/>
          </a:p>
          <a:p>
            <a:r>
              <a:rPr kumimoji="1" lang="ja-JP" altLang="en-US" dirty="0"/>
              <a:t>実費（</a:t>
            </a:r>
            <a:r>
              <a:rPr kumimoji="1" lang="en-US" altLang="ja-JP" dirty="0"/>
              <a:t>AWS</a:t>
            </a:r>
            <a:r>
              <a:rPr kumimoji="1" lang="ja-JP" altLang="en-US" dirty="0"/>
              <a:t>からの請求書＋明細付）＋</a:t>
            </a:r>
            <a:r>
              <a:rPr kumimoji="1" lang="en-US" altLang="ja-JP" dirty="0"/>
              <a:t>15</a:t>
            </a:r>
            <a:r>
              <a:rPr kumimoji="1" lang="ja-JP" altLang="en-US" dirty="0"/>
              <a:t>％（運用管理費（調整中））を、</a:t>
            </a:r>
            <a:endParaRPr kumimoji="1" lang="en-US" altLang="ja-JP" dirty="0"/>
          </a:p>
          <a:p>
            <a:r>
              <a:rPr kumimoji="1" lang="ja-JP" altLang="en-US" dirty="0"/>
              <a:t>月末締めの翌月末払いのご請求書にて請求にしたい。</a:t>
            </a:r>
            <a:endParaRPr kumimoji="1" lang="en-US" altLang="ja-JP" dirty="0"/>
          </a:p>
          <a:p>
            <a:r>
              <a:rPr kumimoji="1" lang="ja-JP" altLang="en-US" dirty="0"/>
              <a:t>既存の開発費とは別です。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明朗会計を希望。</a:t>
            </a:r>
            <a:br>
              <a:rPr kumimoji="1"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6167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C4AAB-6AA9-9B89-3F85-1746A324B4C0}"/>
              </a:ext>
            </a:extLst>
          </p:cNvPr>
          <p:cNvSpPr/>
          <p:nvPr/>
        </p:nvSpPr>
        <p:spPr>
          <a:xfrm>
            <a:off x="694285" y="1016161"/>
            <a:ext cx="8409053" cy="586216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r>
              <a:rPr kumimoji="1" lang="ja-JP" altLang="en-US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を使用する方向で検討</a:t>
            </a: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2280435" y="1729077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83" y="1962377"/>
            <a:ext cx="4860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45" name="Graphic 77" descr="Server resource icon for the General Icons category.">
            <a:extLst>
              <a:ext uri="{FF2B5EF4-FFF2-40B4-BE49-F238E27FC236}">
                <a16:creationId xmlns:a16="http://schemas.microsoft.com/office/drawing/2014/main" id="{A99FB1E8-E3A0-EACC-110E-A0048A3988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46280" y="4477371"/>
            <a:ext cx="430521" cy="430521"/>
          </a:xfrm>
          <a:prstGeom prst="rect">
            <a:avLst/>
          </a:prstGeom>
        </p:spPr>
      </p:pic>
      <p:sp>
        <p:nvSpPr>
          <p:cNvPr id="48" name="Rectangle 77">
            <a:extLst>
              <a:ext uri="{FF2B5EF4-FFF2-40B4-BE49-F238E27FC236}">
                <a16:creationId xmlns:a16="http://schemas.microsoft.com/office/drawing/2014/main" id="{C8061041-2633-1197-C765-2B8DFEFF151D}"/>
              </a:ext>
            </a:extLst>
          </p:cNvPr>
          <p:cNvSpPr/>
          <p:nvPr/>
        </p:nvSpPr>
        <p:spPr>
          <a:xfrm>
            <a:off x="7890000" y="4140000"/>
            <a:ext cx="1440000" cy="79200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data center</a:t>
            </a:r>
          </a:p>
        </p:txBody>
      </p:sp>
      <p:pic>
        <p:nvPicPr>
          <p:cNvPr id="51" name="Graphic 78" descr="Corporate data center group icon. ">
            <a:extLst>
              <a:ext uri="{FF2B5EF4-FFF2-40B4-BE49-F238E27FC236}">
                <a16:creationId xmlns:a16="http://schemas.microsoft.com/office/drawing/2014/main" id="{B394DCF5-59DF-3FCC-869C-8BF21984CC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890001" y="4140000"/>
            <a:ext cx="216000" cy="216000"/>
          </a:xfrm>
          <a:prstGeom prst="rect">
            <a:avLst/>
          </a:prstGeom>
        </p:spPr>
      </p:pic>
      <p:pic>
        <p:nvPicPr>
          <p:cNvPr id="52" name="Graphic 77" descr="Server resource icon for the General Icons category.">
            <a:extLst>
              <a:ext uri="{FF2B5EF4-FFF2-40B4-BE49-F238E27FC236}">
                <a16:creationId xmlns:a16="http://schemas.microsoft.com/office/drawing/2014/main" id="{BE0352FE-0D34-902C-8D6F-5B2A08EA86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06640" y="4477371"/>
            <a:ext cx="430521" cy="430521"/>
          </a:xfrm>
          <a:prstGeom prst="rect">
            <a:avLst/>
          </a:prstGeom>
        </p:spPr>
      </p:pic>
      <p:pic>
        <p:nvPicPr>
          <p:cNvPr id="53" name="Graphic 77" descr="Server resource icon for the General Icons category.">
            <a:extLst>
              <a:ext uri="{FF2B5EF4-FFF2-40B4-BE49-F238E27FC236}">
                <a16:creationId xmlns:a16="http://schemas.microsoft.com/office/drawing/2014/main" id="{B6EB681F-D151-E129-96DD-7F5A281C4F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86481" y="4477371"/>
            <a:ext cx="430521" cy="430521"/>
          </a:xfrm>
          <a:prstGeom prst="rect">
            <a:avLst/>
          </a:prstGeom>
        </p:spPr>
      </p:pic>
      <p:pic>
        <p:nvPicPr>
          <p:cNvPr id="54" name="Graphic 21" descr="Amazon Route 53 service icon.">
            <a:extLst>
              <a:ext uri="{FF2B5EF4-FFF2-40B4-BE49-F238E27FC236}">
                <a16:creationId xmlns:a16="http://schemas.microsoft.com/office/drawing/2014/main" id="{4B155731-1130-F160-F2F9-8F3E968D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1872000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12">
            <a:extLst>
              <a:ext uri="{FF2B5EF4-FFF2-40B4-BE49-F238E27FC236}">
                <a16:creationId xmlns:a16="http://schemas.microsoft.com/office/drawing/2014/main" id="{1C370F5A-5BB4-CDC8-1F2B-EC2568AE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629" y="2628000"/>
            <a:ext cx="65274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80" name="Graphic 65" descr="VPN gateway resource icon for the Amazon VPC service.&#10;">
            <a:extLst>
              <a:ext uri="{FF2B5EF4-FFF2-40B4-BE49-F238E27FC236}">
                <a16:creationId xmlns:a16="http://schemas.microsoft.com/office/drawing/2014/main" id="{593D0E47-EB78-2282-D482-16DAE80F3D1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14873" y="4495334"/>
            <a:ext cx="288000" cy="288000"/>
          </a:xfrm>
          <a:prstGeom prst="rect">
            <a:avLst/>
          </a:prstGeom>
        </p:spPr>
      </p:pic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stCxn id="43" idx="1"/>
            <a:endCxn id="56" idx="0"/>
          </p:cNvCxnSpPr>
          <p:nvPr/>
        </p:nvCxnSpPr>
        <p:spPr>
          <a:xfrm>
            <a:off x="2568435" y="1873077"/>
            <a:ext cx="294217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0759A624-03A0-463C-83F8-B4E104A976AB}"/>
              </a:ext>
            </a:extLst>
          </p:cNvPr>
          <p:cNvCxnSpPr>
            <a:cxnSpLocks/>
            <a:stCxn id="43" idx="3"/>
            <a:endCxn id="54" idx="0"/>
          </p:cNvCxnSpPr>
          <p:nvPr/>
        </p:nvCxnSpPr>
        <p:spPr>
          <a:xfrm rot="10800000" flipV="1">
            <a:off x="2016001" y="1873076"/>
            <a:ext cx="264435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8384D735-13D5-2B2E-CE49-36F68D7B3752}"/>
              </a:ext>
            </a:extLst>
          </p:cNvPr>
          <p:cNvCxnSpPr>
            <a:cxnSpLocks/>
            <a:stCxn id="48" idx="1"/>
            <a:endCxn id="80" idx="3"/>
          </p:cNvCxnSpPr>
          <p:nvPr/>
        </p:nvCxnSpPr>
        <p:spPr>
          <a:xfrm rot="10800000" flipV="1">
            <a:off x="7602874" y="4536000"/>
            <a:ext cx="287127" cy="1033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56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56A5CC-370E-45E3-A34E-38EC35C3BC86}"/>
</file>

<file path=customXml/itemProps2.xml><?xml version="1.0" encoding="utf-8"?>
<ds:datastoreItem xmlns:ds="http://schemas.openxmlformats.org/officeDocument/2006/customXml" ds:itemID="{28CCEF71-4DE4-4376-9794-E02C8ECB6C3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D6FA0F-7047-4DED-9BCC-8A0BCAF078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278</Words>
  <Application>Microsoft Office PowerPoint</Application>
  <PresentationFormat>A4 210 x 297 mm</PresentationFormat>
  <Paragraphs>77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Yu Gothic UI</vt:lpstr>
      <vt:lpstr>Arial</vt:lpstr>
      <vt:lpstr>Calibri</vt:lpstr>
      <vt:lpstr>Office Theme</vt:lpstr>
      <vt:lpstr>POSサーバー システム構成(全体イメージ)</vt:lpstr>
      <vt:lpstr>概算見積で。</vt:lpstr>
      <vt:lpstr>POSサーバー システム構成(全体イメージ)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2021-10-28T06:38:14Z</dcterms:created>
  <dcterms:modified xsi:type="dcterms:W3CDTF">2024-05-15T04:12:16Z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