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7"/>
  </p:notesMasterIdLst>
  <p:sldIdLst>
    <p:sldId id="1205" r:id="rId5"/>
    <p:sldId id="1206" r:id="rId6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E9560D"/>
    <a:srgbClr val="CE4D0C"/>
    <a:srgbClr val="FF6600"/>
    <a:srgbClr val="FF9966"/>
    <a:srgbClr val="BC4D08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A198E2-41BF-49D9-00CC-19A9286FAA0F}" v="32" dt="2025-03-04T05:26:29.5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737" autoAdjust="0"/>
  </p:normalViewPr>
  <p:slideViewPr>
    <p:cSldViewPr snapToGrid="0">
      <p:cViewPr varScale="1">
        <p:scale>
          <a:sx n="120" d="100"/>
          <a:sy n="120" d="100"/>
        </p:scale>
        <p:origin x="624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佐々木  大助" userId="S::daisuke.sasaki_kasumi.co.jp#ext#@usmh.onmicrosoft.com::3abe477e-7fe6-4d71-843b-fea31b2fdabd" providerId="AD" clId="Web-{30A198E2-41BF-49D9-00CC-19A9286FAA0F}"/>
    <pc:docChg chg="addSld modSld">
      <pc:chgData name="佐々木  大助" userId="S::daisuke.sasaki_kasumi.co.jp#ext#@usmh.onmicrosoft.com::3abe477e-7fe6-4d71-843b-fea31b2fdabd" providerId="AD" clId="Web-{30A198E2-41BF-49D9-00CC-19A9286FAA0F}" dt="2025-03-04T05:26:29.509" v="30" actId="1076"/>
      <pc:docMkLst>
        <pc:docMk/>
      </pc:docMkLst>
      <pc:sldChg chg="modSp">
        <pc:chgData name="佐々木  大助" userId="S::daisuke.sasaki_kasumi.co.jp#ext#@usmh.onmicrosoft.com::3abe477e-7fe6-4d71-843b-fea31b2fdabd" providerId="AD" clId="Web-{30A198E2-41BF-49D9-00CC-19A9286FAA0F}" dt="2025-03-04T05:25:38.617" v="23" actId="1076"/>
        <pc:sldMkLst>
          <pc:docMk/>
          <pc:sldMk cId="2921295042" sldId="1205"/>
        </pc:sldMkLst>
        <pc:spChg chg="mod">
          <ac:chgData name="佐々木  大助" userId="S::daisuke.sasaki_kasumi.co.jp#ext#@usmh.onmicrosoft.com::3abe477e-7fe6-4d71-843b-fea31b2fdabd" providerId="AD" clId="Web-{30A198E2-41BF-49D9-00CC-19A9286FAA0F}" dt="2025-03-04T05:25:38.617" v="23" actId="1076"/>
          <ac:spMkLst>
            <pc:docMk/>
            <pc:sldMk cId="2921295042" sldId="1205"/>
            <ac:spMk id="9" creationId="{F06623C9-31B7-4895-B0F2-09209847AC10}"/>
          </ac:spMkLst>
        </pc:spChg>
        <pc:spChg chg="mod">
          <ac:chgData name="佐々木  大助" userId="S::daisuke.sasaki_kasumi.co.jp#ext#@usmh.onmicrosoft.com::3abe477e-7fe6-4d71-843b-fea31b2fdabd" providerId="AD" clId="Web-{30A198E2-41BF-49D9-00CC-19A9286FAA0F}" dt="2025-03-04T05:23:44.644" v="8" actId="20577"/>
          <ac:spMkLst>
            <pc:docMk/>
            <pc:sldMk cId="2921295042" sldId="1205"/>
            <ac:spMk id="72" creationId="{00000000-0000-0000-0000-000000000000}"/>
          </ac:spMkLst>
        </pc:spChg>
      </pc:sldChg>
      <pc:sldChg chg="addSp delSp modSp add replId">
        <pc:chgData name="佐々木  大助" userId="S::daisuke.sasaki_kasumi.co.jp#ext#@usmh.onmicrosoft.com::3abe477e-7fe6-4d71-843b-fea31b2fdabd" providerId="AD" clId="Web-{30A198E2-41BF-49D9-00CC-19A9286FAA0F}" dt="2025-03-04T05:26:29.509" v="30" actId="1076"/>
        <pc:sldMkLst>
          <pc:docMk/>
          <pc:sldMk cId="2015774473" sldId="1206"/>
        </pc:sldMkLst>
        <pc:spChg chg="mod">
          <ac:chgData name="佐々木  大助" userId="S::daisuke.sasaki_kasumi.co.jp#ext#@usmh.onmicrosoft.com::3abe477e-7fe6-4d71-843b-fea31b2fdabd" providerId="AD" clId="Web-{30A198E2-41BF-49D9-00CC-19A9286FAA0F}" dt="2025-03-04T05:24:53.178" v="19" actId="1076"/>
          <ac:spMkLst>
            <pc:docMk/>
            <pc:sldMk cId="2015774473" sldId="1206"/>
            <ac:spMk id="8" creationId="{B1C13E0D-8218-9B60-8CFA-5C15BD2C6F6C}"/>
          </ac:spMkLst>
        </pc:spChg>
        <pc:spChg chg="mod">
          <ac:chgData name="佐々木  大助" userId="S::daisuke.sasaki_kasumi.co.jp#ext#@usmh.onmicrosoft.com::3abe477e-7fe6-4d71-843b-fea31b2fdabd" providerId="AD" clId="Web-{30A198E2-41BF-49D9-00CC-19A9286FAA0F}" dt="2025-03-04T05:25:32.304" v="22" actId="1076"/>
          <ac:spMkLst>
            <pc:docMk/>
            <pc:sldMk cId="2015774473" sldId="1206"/>
            <ac:spMk id="9" creationId="{A7E0C6A2-CCD3-FCFB-DD7B-A994EAE8A636}"/>
          </ac:spMkLst>
        </pc:spChg>
        <pc:spChg chg="del mod">
          <ac:chgData name="佐々木  大助" userId="S::daisuke.sasaki_kasumi.co.jp#ext#@usmh.onmicrosoft.com::3abe477e-7fe6-4d71-843b-fea31b2fdabd" providerId="AD" clId="Web-{30A198E2-41BF-49D9-00CC-19A9286FAA0F}" dt="2025-03-04T05:24:02.645" v="11"/>
          <ac:spMkLst>
            <pc:docMk/>
            <pc:sldMk cId="2015774473" sldId="1206"/>
            <ac:spMk id="63" creationId="{695FEFC6-6750-B6AB-EF66-2029D6A9816F}"/>
          </ac:spMkLst>
        </pc:spChg>
        <pc:spChg chg="mod">
          <ac:chgData name="佐々木  大助" userId="S::daisuke.sasaki_kasumi.co.jp#ext#@usmh.onmicrosoft.com::3abe477e-7fe6-4d71-843b-fea31b2fdabd" providerId="AD" clId="Web-{30A198E2-41BF-49D9-00CC-19A9286FAA0F}" dt="2025-03-04T05:23:36.191" v="4" actId="20577"/>
          <ac:spMkLst>
            <pc:docMk/>
            <pc:sldMk cId="2015774473" sldId="1206"/>
            <ac:spMk id="72" creationId="{6C0631BE-4317-B464-4C8D-B96EB025EA53}"/>
          </ac:spMkLst>
        </pc:spChg>
        <pc:spChg chg="del topLvl">
          <ac:chgData name="佐々木  大助" userId="S::daisuke.sasaki_kasumi.co.jp#ext#@usmh.onmicrosoft.com::3abe477e-7fe6-4d71-843b-fea31b2fdabd" providerId="AD" clId="Web-{30A198E2-41BF-49D9-00CC-19A9286FAA0F}" dt="2025-03-04T05:24:10.161" v="13"/>
          <ac:spMkLst>
            <pc:docMk/>
            <pc:sldMk cId="2015774473" sldId="1206"/>
            <ac:spMk id="136" creationId="{720EF2AA-6729-F4C3-428A-80BDC0E835CD}"/>
          </ac:spMkLst>
        </pc:spChg>
        <pc:spChg chg="del topLvl">
          <ac:chgData name="佐々木  大助" userId="S::daisuke.sasaki_kasumi.co.jp#ext#@usmh.onmicrosoft.com::3abe477e-7fe6-4d71-843b-fea31b2fdabd" providerId="AD" clId="Web-{30A198E2-41BF-49D9-00CC-19A9286FAA0F}" dt="2025-03-04T05:23:52.176" v="9"/>
          <ac:spMkLst>
            <pc:docMk/>
            <pc:sldMk cId="2015774473" sldId="1206"/>
            <ac:spMk id="140" creationId="{D3DBF20C-2AC6-87B5-C92F-BAFD512EDBAA}"/>
          </ac:spMkLst>
        </pc:spChg>
        <pc:spChg chg="del mod">
          <ac:chgData name="佐々木  大助" userId="S::daisuke.sasaki_kasumi.co.jp#ext#@usmh.onmicrosoft.com::3abe477e-7fe6-4d71-843b-fea31b2fdabd" providerId="AD" clId="Web-{30A198E2-41BF-49D9-00CC-19A9286FAA0F}" dt="2025-03-04T05:24:29.849" v="16"/>
          <ac:spMkLst>
            <pc:docMk/>
            <pc:sldMk cId="2015774473" sldId="1206"/>
            <ac:spMk id="151" creationId="{D8CD3763-7E5C-BF0F-97EB-0058B55F8076}"/>
          </ac:spMkLst>
        </pc:spChg>
        <pc:spChg chg="del">
          <ac:chgData name="佐々木  大助" userId="S::daisuke.sasaki_kasumi.co.jp#ext#@usmh.onmicrosoft.com::3abe477e-7fe6-4d71-843b-fea31b2fdabd" providerId="AD" clId="Web-{30A198E2-41BF-49D9-00CC-19A9286FAA0F}" dt="2025-03-04T05:24:33.396" v="17"/>
          <ac:spMkLst>
            <pc:docMk/>
            <pc:sldMk cId="2015774473" sldId="1206"/>
            <ac:spMk id="159" creationId="{0E5B2199-EEC1-B83D-85B5-697983CA5DF2}"/>
          </ac:spMkLst>
        </pc:spChg>
        <pc:spChg chg="mod">
          <ac:chgData name="佐々木  大助" userId="S::daisuke.sasaki_kasumi.co.jp#ext#@usmh.onmicrosoft.com::3abe477e-7fe6-4d71-843b-fea31b2fdabd" providerId="AD" clId="Web-{30A198E2-41BF-49D9-00CC-19A9286FAA0F}" dt="2025-03-04T05:26:29.509" v="30" actId="1076"/>
          <ac:spMkLst>
            <pc:docMk/>
            <pc:sldMk cId="2015774473" sldId="1206"/>
            <ac:spMk id="166" creationId="{8DCB564E-BB07-7598-F625-61E024AD51AA}"/>
          </ac:spMkLst>
        </pc:spChg>
        <pc:grpChg chg="add mod">
          <ac:chgData name="佐々木  大助" userId="S::daisuke.sasaki_kasumi.co.jp#ext#@usmh.onmicrosoft.com::3abe477e-7fe6-4d71-843b-fea31b2fdabd" providerId="AD" clId="Web-{30A198E2-41BF-49D9-00CC-19A9286FAA0F}" dt="2025-03-04T05:25:16.194" v="21" actId="1076"/>
          <ac:grpSpMkLst>
            <pc:docMk/>
            <pc:sldMk cId="2015774473" sldId="1206"/>
            <ac:grpSpMk id="5" creationId="{4EDA95B4-65FF-6AF7-8EA8-AE3AD705B0B0}"/>
          </ac:grpSpMkLst>
        </pc:grpChg>
        <pc:grpChg chg="add mod">
          <ac:chgData name="佐々木  大助" userId="S::daisuke.sasaki_kasumi.co.jp#ext#@usmh.onmicrosoft.com::3abe477e-7fe6-4d71-843b-fea31b2fdabd" providerId="AD" clId="Web-{30A198E2-41BF-49D9-00CC-19A9286FAA0F}" dt="2025-03-04T05:25:48.898" v="25" actId="1076"/>
          <ac:grpSpMkLst>
            <pc:docMk/>
            <pc:sldMk cId="2015774473" sldId="1206"/>
            <ac:grpSpMk id="12" creationId="{9FBAC994-3098-4735-2FA6-9BEF7C45A59D}"/>
          </ac:grpSpMkLst>
        </pc:grpChg>
        <pc:grpChg chg="add mod">
          <ac:chgData name="佐々木  大助" userId="S::daisuke.sasaki_kasumi.co.jp#ext#@usmh.onmicrosoft.com::3abe477e-7fe6-4d71-843b-fea31b2fdabd" providerId="AD" clId="Web-{30A198E2-41BF-49D9-00CC-19A9286FAA0F}" dt="2025-03-04T05:25:56.789" v="27" actId="1076"/>
          <ac:grpSpMkLst>
            <pc:docMk/>
            <pc:sldMk cId="2015774473" sldId="1206"/>
            <ac:grpSpMk id="15" creationId="{D5E6DA42-6D45-5F42-2760-442B5CB8ACA0}"/>
          </ac:grpSpMkLst>
        </pc:grpChg>
        <pc:grpChg chg="del">
          <ac:chgData name="佐々木  大助" userId="S::daisuke.sasaki_kasumi.co.jp#ext#@usmh.onmicrosoft.com::3abe477e-7fe6-4d71-843b-fea31b2fdabd" providerId="AD" clId="Web-{30A198E2-41BF-49D9-00CC-19A9286FAA0F}" dt="2025-03-04T05:23:52.176" v="9"/>
          <ac:grpSpMkLst>
            <pc:docMk/>
            <pc:sldMk cId="2015774473" sldId="1206"/>
            <ac:grpSpMk id="109" creationId="{048FD334-E8B5-6F44-65DA-31BBB359ED5A}"/>
          </ac:grpSpMkLst>
        </pc:grpChg>
        <pc:picChg chg="del">
          <ac:chgData name="佐々木  大助" userId="S::daisuke.sasaki_kasumi.co.jp#ext#@usmh.onmicrosoft.com::3abe477e-7fe6-4d71-843b-fea31b2fdabd" providerId="AD" clId="Web-{30A198E2-41BF-49D9-00CC-19A9286FAA0F}" dt="2025-03-04T05:24:05.473" v="12"/>
          <ac:picMkLst>
            <pc:docMk/>
            <pc:sldMk cId="2015774473" sldId="1206"/>
            <ac:picMk id="64" creationId="{98EE93BE-935D-D571-6894-95BD75A84F95}"/>
          </ac:picMkLst>
        </pc:picChg>
        <pc:cxnChg chg="mod">
          <ac:chgData name="佐々木  大助" userId="S::daisuke.sasaki_kasumi.co.jp#ext#@usmh.onmicrosoft.com::3abe477e-7fe6-4d71-843b-fea31b2fdabd" providerId="AD" clId="Web-{30A198E2-41BF-49D9-00CC-19A9286FAA0F}" dt="2025-03-04T05:26:04.821" v="29" actId="14100"/>
          <ac:cxnSpMkLst>
            <pc:docMk/>
            <pc:sldMk cId="2015774473" sldId="1206"/>
            <ac:cxnSpMk id="10" creationId="{47101D3B-2C77-ED2B-28F6-3967E9E341AD}"/>
          </ac:cxnSpMkLst>
        </pc:cxnChg>
        <pc:cxnChg chg="del mod">
          <ac:chgData name="佐々木  大助" userId="S::daisuke.sasaki_kasumi.co.jp#ext#@usmh.onmicrosoft.com::3abe477e-7fe6-4d71-843b-fea31b2fdabd" providerId="AD" clId="Web-{30A198E2-41BF-49D9-00CC-19A9286FAA0F}" dt="2025-03-04T05:24:14.286" v="14"/>
          <ac:cxnSpMkLst>
            <pc:docMk/>
            <pc:sldMk cId="2015774473" sldId="1206"/>
            <ac:cxnSpMk id="43" creationId="{A2AAEC5A-7D93-4E2E-7E4F-FC59FBC5E0B9}"/>
          </ac:cxnSpMkLst>
        </pc:cxnChg>
        <pc:cxnChg chg="mod">
          <ac:chgData name="佐々木  大助" userId="S::daisuke.sasaki_kasumi.co.jp#ext#@usmh.onmicrosoft.com::3abe477e-7fe6-4d71-843b-fea31b2fdabd" providerId="AD" clId="Web-{30A198E2-41BF-49D9-00CC-19A9286FAA0F}" dt="2025-03-04T05:24:02.645" v="11"/>
          <ac:cxnSpMkLst>
            <pc:docMk/>
            <pc:sldMk cId="2015774473" sldId="1206"/>
            <ac:cxnSpMk id="54" creationId="{A7E4F6FE-3E31-2A52-EC94-0A1A3F3EC403}"/>
          </ac:cxnSpMkLst>
        </pc:cxnChg>
        <pc:cxnChg chg="mod">
          <ac:chgData name="佐々木  大助" userId="S::daisuke.sasaki_kasumi.co.jp#ext#@usmh.onmicrosoft.com::3abe477e-7fe6-4d71-843b-fea31b2fdabd" providerId="AD" clId="Web-{30A198E2-41BF-49D9-00CC-19A9286FAA0F}" dt="2025-03-04T05:24:02.645" v="11"/>
          <ac:cxnSpMkLst>
            <pc:docMk/>
            <pc:sldMk cId="2015774473" sldId="1206"/>
            <ac:cxnSpMk id="66" creationId="{D4401723-F87D-F8E4-4A08-012EFAE85829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610505-29F3-4817-A654-B55014098BEF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993335-684B-4E69-98A7-E833F27690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96707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15988" y="744538"/>
            <a:ext cx="4973637" cy="3730625"/>
          </a:xfrm>
          <a:ln/>
        </p:spPr>
      </p:sp>
      <p:sp>
        <p:nvSpPr>
          <p:cNvPr id="14339" name="ノート プレースホルダー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ja-JP" altLang="en-US"/>
          </a:p>
        </p:txBody>
      </p:sp>
      <p:sp>
        <p:nvSpPr>
          <p:cNvPr id="14340" name="フッター プレースホルダー 3"/>
          <p:cNvSpPr>
            <a:spLocks noGrp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20664" eaLnBrk="0" hangingPunct="0"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1pPr>
            <a:lvl2pPr marL="742881" indent="-285723" defTabSz="920664" eaLnBrk="0" hangingPunct="0"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2pPr>
            <a:lvl3pPr marL="1142893" indent="-228579" defTabSz="920664" eaLnBrk="0" hangingPunct="0"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3pPr>
            <a:lvl4pPr marL="1600051" indent="-228579" defTabSz="920664" eaLnBrk="0" hangingPunct="0"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4pPr>
            <a:lvl5pPr marL="2057208" indent="-228579" defTabSz="920664" eaLnBrk="0" hangingPunct="0"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5pPr>
            <a:lvl6pPr marL="2514365" indent="-228579" algn="ctr" defTabSz="920664" eaLnBrk="0" fontAlgn="ctr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6pPr>
            <a:lvl7pPr marL="2971522" indent="-228579" algn="ctr" defTabSz="920664" eaLnBrk="0" fontAlgn="ctr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7pPr>
            <a:lvl8pPr marL="3428680" indent="-228579" algn="ctr" defTabSz="920664" eaLnBrk="0" fontAlgn="ctr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8pPr>
            <a:lvl9pPr marL="3885837" indent="-228579" algn="ctr" defTabSz="920664" eaLnBrk="0" fontAlgn="ctr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9pPr>
          </a:lstStyle>
          <a:p>
            <a:pPr eaLnBrk="1" hangingPunct="1"/>
            <a:r>
              <a:rPr lang="en-US" altLang="ja-JP" sz="700">
                <a:solidFill>
                  <a:schemeClr val="tx1"/>
                </a:solidFill>
                <a:latin typeface="Arial" charset="0"/>
              </a:rPr>
              <a:t>Copyright 2013 FWEST</a:t>
            </a:r>
          </a:p>
        </p:txBody>
      </p:sp>
      <p:sp>
        <p:nvSpPr>
          <p:cNvPr id="14341" name="スライド番号プレースホルダー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0664" eaLnBrk="0" hangingPunct="0"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1pPr>
            <a:lvl2pPr marL="742881" indent="-285723" defTabSz="920664" eaLnBrk="0" hangingPunct="0"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2pPr>
            <a:lvl3pPr marL="1142893" indent="-228579" defTabSz="920664" eaLnBrk="0" hangingPunct="0"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3pPr>
            <a:lvl4pPr marL="1600051" indent="-228579" defTabSz="920664" eaLnBrk="0" hangingPunct="0"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4pPr>
            <a:lvl5pPr marL="2057208" indent="-228579" defTabSz="920664" eaLnBrk="0" hangingPunct="0"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5pPr>
            <a:lvl6pPr marL="2514365" indent="-228579" algn="ctr" defTabSz="920664" eaLnBrk="0" fontAlgn="ctr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6pPr>
            <a:lvl7pPr marL="2971522" indent="-228579" algn="ctr" defTabSz="920664" eaLnBrk="0" fontAlgn="ctr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7pPr>
            <a:lvl8pPr marL="3428680" indent="-228579" algn="ctr" defTabSz="920664" eaLnBrk="0" fontAlgn="ctr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8pPr>
            <a:lvl9pPr marL="3885837" indent="-228579" algn="ctr" defTabSz="920664" eaLnBrk="0" fontAlgn="ctr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9pPr>
          </a:lstStyle>
          <a:p>
            <a:pPr eaLnBrk="1" hangingPunct="1"/>
            <a:fld id="{ED434BAB-E572-4744-B8F0-CBD79FFC888E}" type="slidenum">
              <a:rPr lang="en-US" altLang="ja-JP" sz="700">
                <a:solidFill>
                  <a:schemeClr val="tx1"/>
                </a:solidFill>
                <a:latin typeface="Arial" charset="0"/>
              </a:rPr>
              <a:pPr eaLnBrk="1" hangingPunct="1"/>
              <a:t>1</a:t>
            </a:fld>
            <a:endParaRPr lang="en-US" altLang="ja-JP" sz="700">
              <a:solidFill>
                <a:schemeClr val="tx1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5854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92CF5-4AA3-1A1D-B6C5-752140625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スライド イメージ プレースホルダー 1">
            <a:extLst>
              <a:ext uri="{FF2B5EF4-FFF2-40B4-BE49-F238E27FC236}">
                <a16:creationId xmlns:a16="http://schemas.microsoft.com/office/drawing/2014/main" id="{E8F7A1A5-A88A-E6FB-3A66-5BEF5B764BD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915988" y="744538"/>
            <a:ext cx="4973637" cy="3730625"/>
          </a:xfrm>
          <a:ln/>
        </p:spPr>
      </p:sp>
      <p:sp>
        <p:nvSpPr>
          <p:cNvPr id="14339" name="ノート プレースホルダー 2">
            <a:extLst>
              <a:ext uri="{FF2B5EF4-FFF2-40B4-BE49-F238E27FC236}">
                <a16:creationId xmlns:a16="http://schemas.microsoft.com/office/drawing/2014/main" id="{5946F974-FA45-8115-0E56-1E785AF8B4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ja-JP" altLang="en-US"/>
          </a:p>
        </p:txBody>
      </p:sp>
      <p:sp>
        <p:nvSpPr>
          <p:cNvPr id="14340" name="フッター プレースホルダー 3">
            <a:extLst>
              <a:ext uri="{FF2B5EF4-FFF2-40B4-BE49-F238E27FC236}">
                <a16:creationId xmlns:a16="http://schemas.microsoft.com/office/drawing/2014/main" id="{E872015A-F449-1342-2513-1B38DEF6F5E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20664" eaLnBrk="0" hangingPunct="0"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1pPr>
            <a:lvl2pPr marL="742881" indent="-285723" defTabSz="920664" eaLnBrk="0" hangingPunct="0"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2pPr>
            <a:lvl3pPr marL="1142893" indent="-228579" defTabSz="920664" eaLnBrk="0" hangingPunct="0"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3pPr>
            <a:lvl4pPr marL="1600051" indent="-228579" defTabSz="920664" eaLnBrk="0" hangingPunct="0"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4pPr>
            <a:lvl5pPr marL="2057208" indent="-228579" defTabSz="920664" eaLnBrk="0" hangingPunct="0"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5pPr>
            <a:lvl6pPr marL="2514365" indent="-228579" algn="ctr" defTabSz="920664" eaLnBrk="0" fontAlgn="ctr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6pPr>
            <a:lvl7pPr marL="2971522" indent="-228579" algn="ctr" defTabSz="920664" eaLnBrk="0" fontAlgn="ctr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7pPr>
            <a:lvl8pPr marL="3428680" indent="-228579" algn="ctr" defTabSz="920664" eaLnBrk="0" fontAlgn="ctr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8pPr>
            <a:lvl9pPr marL="3885837" indent="-228579" algn="ctr" defTabSz="920664" eaLnBrk="0" fontAlgn="ctr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9pPr>
          </a:lstStyle>
          <a:p>
            <a:pPr eaLnBrk="1" hangingPunct="1"/>
            <a:r>
              <a:rPr lang="en-US" altLang="ja-JP" sz="700">
                <a:solidFill>
                  <a:schemeClr val="tx1"/>
                </a:solidFill>
                <a:latin typeface="Arial" charset="0"/>
              </a:rPr>
              <a:t>Copyright 2013 FWEST</a:t>
            </a:r>
          </a:p>
        </p:txBody>
      </p:sp>
      <p:sp>
        <p:nvSpPr>
          <p:cNvPr id="14341" name="スライド番号プレースホルダー 4">
            <a:extLst>
              <a:ext uri="{FF2B5EF4-FFF2-40B4-BE49-F238E27FC236}">
                <a16:creationId xmlns:a16="http://schemas.microsoft.com/office/drawing/2014/main" id="{C626534A-ADF4-F5E8-EEC2-A0A2010A89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0664" eaLnBrk="0" hangingPunct="0"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1pPr>
            <a:lvl2pPr marL="742881" indent="-285723" defTabSz="920664" eaLnBrk="0" hangingPunct="0"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2pPr>
            <a:lvl3pPr marL="1142893" indent="-228579" defTabSz="920664" eaLnBrk="0" hangingPunct="0"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3pPr>
            <a:lvl4pPr marL="1600051" indent="-228579" defTabSz="920664" eaLnBrk="0" hangingPunct="0"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4pPr>
            <a:lvl5pPr marL="2057208" indent="-228579" defTabSz="920664" eaLnBrk="0" hangingPunct="0"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5pPr>
            <a:lvl6pPr marL="2514365" indent="-228579" algn="ctr" defTabSz="920664" eaLnBrk="0" fontAlgn="ctr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6pPr>
            <a:lvl7pPr marL="2971522" indent="-228579" algn="ctr" defTabSz="920664" eaLnBrk="0" fontAlgn="ctr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7pPr>
            <a:lvl8pPr marL="3428680" indent="-228579" algn="ctr" defTabSz="920664" eaLnBrk="0" fontAlgn="ctr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8pPr>
            <a:lvl9pPr marL="3885837" indent="-228579" algn="ctr" defTabSz="920664" eaLnBrk="0" fontAlgn="ctr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9pPr>
          </a:lstStyle>
          <a:p>
            <a:pPr eaLnBrk="1" hangingPunct="1"/>
            <a:fld id="{ED434BAB-E572-4744-B8F0-CBD79FFC888E}" type="slidenum">
              <a:rPr lang="en-US" altLang="ja-JP" sz="700">
                <a:solidFill>
                  <a:schemeClr val="tx1"/>
                </a:solidFill>
                <a:latin typeface="Arial" charset="0"/>
              </a:rPr>
              <a:pPr eaLnBrk="1" hangingPunct="1"/>
              <a:t>2</a:t>
            </a:fld>
            <a:endParaRPr lang="en-US" altLang="ja-JP" sz="700">
              <a:solidFill>
                <a:schemeClr val="tx1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2113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73291"/>
            <a:ext cx="7772400" cy="1470025"/>
          </a:xfrm>
        </p:spPr>
        <p:txBody>
          <a:bodyPr/>
          <a:lstStyle>
            <a:lvl1pPr algn="ctr">
              <a:defRPr sz="3300" b="1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2643174" y="4176730"/>
            <a:ext cx="5129226" cy="1752600"/>
          </a:xfrm>
        </p:spPr>
        <p:txBody>
          <a:bodyPr anchor="b"/>
          <a:lstStyle>
            <a:lvl1pPr marL="0" indent="0" algn="r">
              <a:buNone/>
              <a:defRPr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マスター サブタイトルの書式設定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CD246A3-9A20-47C2-9090-4D4B506A28F3}" type="datetime1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5" name="スライド番号プレースホル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D3BA266-C45D-4247-AFA2-0456ACADB962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39" name="AutoShape 4"/>
          <p:cNvSpPr>
            <a:spLocks noChangeArrowheads="1"/>
          </p:cNvSpPr>
          <p:nvPr/>
        </p:nvSpPr>
        <p:spPr bwMode="gray">
          <a:xfrm>
            <a:off x="4545014" y="0"/>
            <a:ext cx="53975" cy="44450"/>
          </a:xfrm>
          <a:prstGeom prst="triangle">
            <a:avLst>
              <a:gd name="adj" fmla="val 50000"/>
            </a:avLst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59595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lIns="68571" tIns="34286" rIns="68571" bIns="34286" anchor="ctr"/>
          <a:lstStyle>
            <a:lvl1pPr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912813"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fontAlgn="ctr">
              <a:defRPr/>
            </a:pPr>
            <a:endParaRPr lang="en-GB" altLang="ja-JP" sz="750">
              <a:latin typeface="ＭＳ Ｐゴシック" charset="-128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1381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D8E1B32-66AC-4476-91A7-DE36575B6CAF}" type="datetime1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5" name="スライド番号プレースホル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D3BA266-C45D-4247-AFA2-0456ACADB9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3483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594AF1A-C667-4BBA-B249-8F3B839239B6}" type="datetime1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5" name="スライド番号プレースホル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D3BA266-C45D-4247-AFA2-0456ACADB9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9343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63379" y="1031792"/>
            <a:ext cx="4038600" cy="544932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54379" y="1031792"/>
            <a:ext cx="4038600" cy="544932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7EF0088-BBF4-4C4A-9E03-55798B69C59C}" type="datetime1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D3BA266-C45D-4247-AFA2-0456ACADB9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6492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20129" y="965228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20129" y="1604989"/>
            <a:ext cx="4040188" cy="4746383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07955" y="965228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07955" y="1604989"/>
            <a:ext cx="4041775" cy="4746383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B4540D4-146A-459E-8BF2-938C05C7543F}" type="datetime1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8" name="スライド番号プレースホル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D3BA266-C45D-4247-AFA2-0456ACADB9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5825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ECADC07-EF19-4495-922B-2381E3A46AA3}" type="datetime1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4" name="スライド番号プレースホル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D3BA266-C45D-4247-AFA2-0456ACADB9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76203604"/>
      </p:ext>
    </p:extLst>
  </p:cSld>
  <p:clrMapOvr>
    <a:masterClrMapping/>
  </p:clrMapOvr>
  <p:transition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3A063C0-ED2D-4F97-B513-A86C52688953}" type="datetime1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3" name="スライド番号プレースホル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D3BA266-C45D-4247-AFA2-0456ACADB9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68747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E4CD44C-19B0-487F-991B-B77941585965}" type="datetime1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5" name="スライド番号プレースホル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D3BA266-C45D-4247-AFA2-0456ACADB9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75042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タイトル、テキスト、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04800" y="44624"/>
            <a:ext cx="8077200" cy="68580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sz="half" idx="1"/>
          </p:nvPr>
        </p:nvSpPr>
        <p:spPr>
          <a:xfrm>
            <a:off x="304800" y="1143000"/>
            <a:ext cx="3962400" cy="54864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quarter" idx="2"/>
          </p:nvPr>
        </p:nvSpPr>
        <p:spPr>
          <a:xfrm>
            <a:off x="4419600" y="1143000"/>
            <a:ext cx="3962400" cy="26670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コンテンツ プレースホルダ 4"/>
          <p:cNvSpPr>
            <a:spLocks noGrp="1"/>
          </p:cNvSpPr>
          <p:nvPr>
            <p:ph sz="quarter" idx="3"/>
          </p:nvPr>
        </p:nvSpPr>
        <p:spPr>
          <a:xfrm>
            <a:off x="4419600" y="3962400"/>
            <a:ext cx="3962400" cy="26670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668321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/>
          <p:cNvSpPr/>
          <p:nvPr/>
        </p:nvSpPr>
        <p:spPr>
          <a:xfrm>
            <a:off x="0" y="668694"/>
            <a:ext cx="9144000" cy="169179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accent6">
                  <a:lumMod val="75000"/>
                </a:schemeClr>
              </a:gs>
              <a:gs pos="100000">
                <a:srgbClr val="C00000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900" b="0" i="1" baseline="0">
                <a:solidFill>
                  <a:schemeClr val="bg1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Art, Science, Craft, New Business Model</a:t>
            </a:r>
            <a:endParaRPr lang="ja-JP" altLang="en-US" sz="900" b="0" i="1">
              <a:solidFill>
                <a:schemeClr val="bg1"/>
              </a:solidFill>
              <a:effectLst/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277984" y="131004"/>
            <a:ext cx="6740654" cy="441267"/>
          </a:xfrm>
          <a:prstGeom prst="rect">
            <a:avLst/>
          </a:prstGeom>
          <a:noFill/>
          <a:effectLst>
            <a:softEdge rad="31750"/>
          </a:effectLst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1029" name="テキスト プレースホルダ 2"/>
          <p:cNvSpPr>
            <a:spLocks noGrp="1"/>
          </p:cNvSpPr>
          <p:nvPr>
            <p:ph type="body" idx="1"/>
          </p:nvPr>
        </p:nvSpPr>
        <p:spPr bwMode="auto">
          <a:xfrm>
            <a:off x="256381" y="934296"/>
            <a:ext cx="8691237" cy="557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110754" y="6588998"/>
            <a:ext cx="1042988" cy="214313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 baseline="0" smtClean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Sans Serif" panose="020B0604020202020204" pitchFamily="34" charset="0"/>
              </a:defRPr>
            </a:lvl1pPr>
          </a:lstStyle>
          <a:p>
            <a:fld id="{6B663F84-4260-4708-8997-8F1E20C91564}" type="datetime1">
              <a:rPr lang="ja-JP" altLang="en-US" smtClean="0"/>
              <a:t>2025/3/3</a:t>
            </a:fld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7993064" y="6588998"/>
            <a:ext cx="1042987" cy="220663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600" b="0" baseline="0" smtClean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Sans Serif" panose="020B0604020202020204" pitchFamily="34" charset="0"/>
              </a:defRPr>
            </a:lvl1pPr>
          </a:lstStyle>
          <a:p>
            <a:fld id="{2D3BA266-C45D-4247-AFA2-0456ACADB962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032" name="テキスト ボックス 11"/>
          <p:cNvSpPr txBox="1">
            <a:spLocks noChangeArrowheads="1"/>
          </p:cNvSpPr>
          <p:nvPr/>
        </p:nvSpPr>
        <p:spPr bwMode="auto">
          <a:xfrm>
            <a:off x="2037297" y="6588998"/>
            <a:ext cx="5569153" cy="2308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9pPr>
          </a:lstStyle>
          <a:p>
            <a:pPr>
              <a:defRPr/>
            </a:pPr>
            <a:r>
              <a:rPr lang="en-US" altLang="ja-JP" sz="90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Sans Serif" panose="020B0604020202020204" pitchFamily="34" charset="0"/>
              </a:rPr>
              <a:t>CONFIDENTIAL.</a:t>
            </a:r>
            <a:r>
              <a:rPr lang="ja-JP" altLang="en-US" sz="90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Sans Serif" panose="020B0604020202020204" pitchFamily="34" charset="0"/>
              </a:rPr>
              <a:t> </a:t>
            </a:r>
            <a:r>
              <a:rPr lang="en-US" altLang="ja-JP" sz="90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Sans Serif" panose="020B0604020202020204" pitchFamily="34" charset="0"/>
              </a:rPr>
              <a:t> </a:t>
            </a:r>
            <a:r>
              <a:rPr lang="ja-JP" altLang="en-US" sz="90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Sans Serif" panose="020B0604020202020204" pitchFamily="34" charset="0"/>
              </a:rPr>
              <a:t>　</a:t>
            </a:r>
            <a:r>
              <a:rPr lang="en-US" altLang="ja-JP" sz="90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Copyright © 2015 - 2019 United Super Market Holdings Inc. All Rights Reserved.</a:t>
            </a:r>
          </a:p>
        </p:txBody>
      </p:sp>
      <p:sp>
        <p:nvSpPr>
          <p:cNvPr id="12" name="AutoShape 6"/>
          <p:cNvSpPr>
            <a:spLocks noChangeArrowheads="1"/>
          </p:cNvSpPr>
          <p:nvPr/>
        </p:nvSpPr>
        <p:spPr bwMode="gray">
          <a:xfrm>
            <a:off x="4545014" y="0"/>
            <a:ext cx="53975" cy="44450"/>
          </a:xfrm>
          <a:prstGeom prst="triangle">
            <a:avLst>
              <a:gd name="adj" fmla="val 50000"/>
            </a:avLst>
          </a:prstGeom>
          <a:solidFill>
            <a:srgbClr val="C0C0C0"/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68571" tIns="34286" rIns="68571" bIns="34286" anchor="ctr"/>
          <a:lstStyle>
            <a:lvl1pPr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algn="ctr" eaLnBrk="1" fontAlgn="ctr" hangingPunct="1">
              <a:defRPr/>
            </a:pPr>
            <a:endParaRPr lang="en-GB" altLang="ja-JP" sz="1350">
              <a:effectLst/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pic>
        <p:nvPicPr>
          <p:cNvPr id="13" name="Picture 3"/>
          <p:cNvPicPr>
            <a:picLocks noChangeAspect="1" noChangeArrowheads="1"/>
          </p:cNvPicPr>
          <p:nvPr userDrawn="1"/>
        </p:nvPicPr>
        <p:blipFill>
          <a:blip r:embed="rId1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1378" y="216240"/>
            <a:ext cx="1828800" cy="2493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512079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ransition>
    <p:zoom/>
  </p:transition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2000" b="1" kern="1200">
          <a:solidFill>
            <a:schemeClr val="tx1"/>
          </a:solidFill>
          <a:latin typeface="+mj-ea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ea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1800" kern="1200">
          <a:solidFill>
            <a:schemeClr val="tx1"/>
          </a:solidFill>
          <a:latin typeface="+mn-ea"/>
          <a:ea typeface="+mn-ea"/>
          <a:cs typeface="+mn-cs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ea"/>
          <a:ea typeface="+mn-ea"/>
          <a:cs typeface="+mn-cs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1800" kern="1200">
          <a:solidFill>
            <a:schemeClr val="tx1"/>
          </a:solidFill>
          <a:latin typeface="+mn-ea"/>
          <a:ea typeface="+mn-ea"/>
          <a:cs typeface="+mn-cs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sz="1800" kern="1200">
          <a:solidFill>
            <a:schemeClr val="tx1"/>
          </a:solidFill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正方形/長方形 134"/>
          <p:cNvSpPr/>
          <p:nvPr/>
        </p:nvSpPr>
        <p:spPr>
          <a:xfrm>
            <a:off x="3953822" y="905764"/>
            <a:ext cx="4129474" cy="118886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ja-JP" altLang="en-US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7887EE94-8469-40A7-BDC5-77FC9C6AAF7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3BA266-C45D-4247-AFA2-0456ACADB962}" type="slidenum">
              <a:rPr kumimoji="1" lang="ja-JP" altLang="en-US" smtClean="0"/>
              <a:t>1</a:t>
            </a:fld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1DDF818-4802-4FDA-A525-4494A0F659C7}"/>
              </a:ext>
            </a:extLst>
          </p:cNvPr>
          <p:cNvSpPr/>
          <p:nvPr/>
        </p:nvSpPr>
        <p:spPr>
          <a:xfrm flipH="1">
            <a:off x="4072940" y="5088537"/>
            <a:ext cx="1695474" cy="106537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ja-JP" altLang="en-US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8" name="正方形/長方形 7"/>
          <p:cNvSpPr/>
          <p:nvPr/>
        </p:nvSpPr>
        <p:spPr>
          <a:xfrm>
            <a:off x="110732" y="2065211"/>
            <a:ext cx="3436556" cy="208845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ja-JP" altLang="en-US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B323924B-D3E7-4902-B995-66298D2F4098}"/>
              </a:ext>
            </a:extLst>
          </p:cNvPr>
          <p:cNvSpPr/>
          <p:nvPr/>
        </p:nvSpPr>
        <p:spPr>
          <a:xfrm>
            <a:off x="4116870" y="5391980"/>
            <a:ext cx="1575274" cy="642938"/>
          </a:xfrm>
          <a:prstGeom prst="rect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r>
              <a:rPr lang="ja-JP" altLang="en-US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カスミ</a:t>
            </a:r>
            <a:endParaRPr lang="en-US" altLang="ja-JP" sz="11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</a:endParaRPr>
          </a:p>
          <a:p>
            <a:r>
              <a:rPr lang="ja-JP" altLang="en-US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ＭＶＩＦレジ</a:t>
            </a:r>
            <a:endParaRPr lang="en-US" altLang="ja-JP" sz="11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</a:endParaRPr>
          </a:p>
          <a:p>
            <a:r>
              <a:rPr lang="ja-JP" altLang="en-US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スキャンＧＯ</a:t>
            </a:r>
            <a:endParaRPr lang="en-US" altLang="ja-JP" sz="11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</a:endParaRPr>
          </a:p>
        </p:txBody>
      </p:sp>
      <p:pic>
        <p:nvPicPr>
          <p:cNvPr id="48" name="図 30">
            <a:extLst>
              <a:ext uri="{FF2B5EF4-FFF2-40B4-BE49-F238E27FC236}">
                <a16:creationId xmlns:a16="http://schemas.microsoft.com/office/drawing/2014/main" id="{B0EB81EE-7BA6-41AA-BE95-9B167E18E46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78287" y="5508018"/>
            <a:ext cx="379413" cy="439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67505C4E-170B-4814-B8AA-605D9EC64462}"/>
              </a:ext>
            </a:extLst>
          </p:cNvPr>
          <p:cNvSpPr/>
          <p:nvPr/>
        </p:nvSpPr>
        <p:spPr>
          <a:xfrm>
            <a:off x="277808" y="2884378"/>
            <a:ext cx="1592514" cy="53198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US" altLang="ja-JP" sz="1100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POS</a:t>
            </a:r>
            <a:r>
              <a:rPr lang="ja-JP" altLang="en-US" sz="1100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データ</a:t>
            </a:r>
            <a:endParaRPr lang="en-US" altLang="ja-JP" sz="1100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r>
              <a:rPr lang="ja-JP" altLang="en-US" sz="1100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加工</a:t>
            </a:r>
            <a:endParaRPr lang="en-US" altLang="ja-JP" sz="1100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pic>
        <p:nvPicPr>
          <p:cNvPr id="64" name="Picture 11">
            <a:extLst>
              <a:ext uri="{FF2B5EF4-FFF2-40B4-BE49-F238E27FC236}">
                <a16:creationId xmlns:a16="http://schemas.microsoft.com/office/drawing/2014/main" id="{771F8F63-09A9-4268-A6CE-C986F97E30B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321657" y="2912159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6" name="正方形/長方形 75"/>
          <p:cNvSpPr/>
          <p:nvPr/>
        </p:nvSpPr>
        <p:spPr>
          <a:xfrm>
            <a:off x="1890532" y="1980695"/>
            <a:ext cx="856316" cy="4286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1200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アイネス</a:t>
            </a:r>
            <a:endParaRPr lang="en-US" altLang="ja-JP" sz="1200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cxnSp>
        <p:nvCxnSpPr>
          <p:cNvPr id="54" name="直線矢印コネクタ 53">
            <a:extLst>
              <a:ext uri="{FF2B5EF4-FFF2-40B4-BE49-F238E27FC236}">
                <a16:creationId xmlns:a16="http://schemas.microsoft.com/office/drawing/2014/main" id="{80377972-11F3-47C6-B890-20200DCDC600}"/>
              </a:ext>
            </a:extLst>
          </p:cNvPr>
          <p:cNvCxnSpPr>
            <a:cxnSpLocks/>
            <a:stCxn id="67" idx="2"/>
            <a:endCxn id="63" idx="0"/>
          </p:cNvCxnSpPr>
          <p:nvPr/>
        </p:nvCxnSpPr>
        <p:spPr>
          <a:xfrm>
            <a:off x="1074065" y="1653855"/>
            <a:ext cx="0" cy="1230523"/>
          </a:xfrm>
          <a:prstGeom prst="straightConnector1">
            <a:avLst/>
          </a:prstGeom>
          <a:ln w="127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正方形/長方形 66">
            <a:extLst>
              <a:ext uri="{FF2B5EF4-FFF2-40B4-BE49-F238E27FC236}">
                <a16:creationId xmlns:a16="http://schemas.microsoft.com/office/drawing/2014/main" id="{67505C4E-170B-4814-B8AA-605D9EC64462}"/>
              </a:ext>
            </a:extLst>
          </p:cNvPr>
          <p:cNvSpPr/>
          <p:nvPr/>
        </p:nvSpPr>
        <p:spPr>
          <a:xfrm>
            <a:off x="277808" y="1121866"/>
            <a:ext cx="1592514" cy="53198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US" altLang="ja-JP" sz="1100" dirty="0" err="1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OzSearch</a:t>
            </a:r>
            <a:endParaRPr lang="en-US" altLang="ja-JP" sz="1100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pic>
        <p:nvPicPr>
          <p:cNvPr id="70" name="Picture 11">
            <a:extLst>
              <a:ext uri="{FF2B5EF4-FFF2-40B4-BE49-F238E27FC236}">
                <a16:creationId xmlns:a16="http://schemas.microsoft.com/office/drawing/2014/main" id="{771F8F63-09A9-4268-A6CE-C986F97E30B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321657" y="1149647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2" name="グループ化 31"/>
          <p:cNvGrpSpPr/>
          <p:nvPr/>
        </p:nvGrpSpPr>
        <p:grpSpPr>
          <a:xfrm>
            <a:off x="7460054" y="4095744"/>
            <a:ext cx="1592514" cy="527844"/>
            <a:chOff x="7460054" y="4095744"/>
            <a:chExt cx="1592514" cy="527844"/>
          </a:xfrm>
        </p:grpSpPr>
        <p:sp>
          <p:nvSpPr>
            <p:cNvPr id="96" name="正方形/長方形 95">
              <a:extLst>
                <a:ext uri="{FF2B5EF4-FFF2-40B4-BE49-F238E27FC236}">
                  <a16:creationId xmlns:a16="http://schemas.microsoft.com/office/drawing/2014/main" id="{087FBF44-9390-4D23-A9DE-8F4F8245FB52}"/>
                </a:ext>
              </a:extLst>
            </p:cNvPr>
            <p:cNvSpPr/>
            <p:nvPr/>
          </p:nvSpPr>
          <p:spPr>
            <a:xfrm>
              <a:off x="7460054" y="4095744"/>
              <a:ext cx="1592514" cy="527844"/>
            </a:xfrm>
            <a:prstGeom prst="rect">
              <a:avLst/>
            </a:prstGeom>
            <a:gradFill>
              <a:gsLst>
                <a:gs pos="0">
                  <a:schemeClr val="tx2">
                    <a:lumMod val="40000"/>
                    <a:lumOff val="60000"/>
                  </a:schemeClr>
                </a:gs>
                <a:gs pos="40000">
                  <a:schemeClr val="accent1"/>
                </a:gs>
                <a:gs pos="100000">
                  <a:schemeClr val="tx2">
                    <a:lumMod val="40000"/>
                    <a:lumOff val="60000"/>
                  </a:schemeClr>
                </a:gs>
              </a:gsLst>
              <a:lin ang="16200000" scaled="1"/>
            </a:gradFill>
            <a:ln w="9525">
              <a:solidFill>
                <a:schemeClr val="accent2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anchor="ctr"/>
            <a:lstStyle/>
            <a:p>
              <a:r>
                <a:rPr lang="en-US" altLang="ja-JP" sz="1100" dirty="0">
                  <a:solidFill>
                    <a:schemeClr val="tx1"/>
                  </a:solidFill>
                  <a:latin typeface="メイリオ" pitchFamily="50" charset="-128"/>
                  <a:ea typeface="メイリオ" pitchFamily="50" charset="-128"/>
                </a:rPr>
                <a:t>Azure</a:t>
              </a:r>
            </a:p>
            <a:p>
              <a:r>
                <a:rPr lang="en-US" altLang="ja-JP" sz="1100" dirty="0">
                  <a:solidFill>
                    <a:schemeClr val="tx1"/>
                  </a:solidFill>
                  <a:latin typeface="メイリオ" pitchFamily="50" charset="-128"/>
                  <a:ea typeface="メイリオ" pitchFamily="50" charset="-128"/>
                </a:rPr>
                <a:t>POS</a:t>
              </a:r>
              <a:r>
                <a:rPr lang="ja-JP" altLang="en-US" sz="1100" dirty="0">
                  <a:solidFill>
                    <a:schemeClr val="tx1"/>
                  </a:solidFill>
                  <a:latin typeface="メイリオ" pitchFamily="50" charset="-128"/>
                  <a:ea typeface="メイリオ" pitchFamily="50" charset="-128"/>
                </a:rPr>
                <a:t>サーバ</a:t>
              </a:r>
              <a:endParaRPr lang="en-US" altLang="ja-JP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endParaRPr>
            </a:p>
            <a:p>
              <a:r>
                <a:rPr lang="ja-JP" altLang="en-US" sz="1100" dirty="0">
                  <a:solidFill>
                    <a:schemeClr val="tx1"/>
                  </a:solidFill>
                  <a:latin typeface="メイリオ" pitchFamily="50" charset="-128"/>
                  <a:ea typeface="メイリオ" pitchFamily="50" charset="-128"/>
                </a:rPr>
                <a:t>ＭＶ関東</a:t>
              </a:r>
              <a:endParaRPr lang="en-US" altLang="ja-JP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endParaRPr>
            </a:p>
          </p:txBody>
        </p:sp>
        <p:pic>
          <p:nvPicPr>
            <p:cNvPr id="97" name="Picture 11">
              <a:extLst>
                <a:ext uri="{FF2B5EF4-FFF2-40B4-BE49-F238E27FC236}">
                  <a16:creationId xmlns:a16="http://schemas.microsoft.com/office/drawing/2014/main" id="{3E5C3251-647F-4EF7-BB55-66A28AD488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8538760" y="4112707"/>
              <a:ext cx="496568" cy="5042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98" name="正方形/長方形 97">
            <a:extLst>
              <a:ext uri="{FF2B5EF4-FFF2-40B4-BE49-F238E27FC236}">
                <a16:creationId xmlns:a16="http://schemas.microsoft.com/office/drawing/2014/main" id="{67505C4E-170B-4814-B8AA-605D9EC64462}"/>
              </a:ext>
            </a:extLst>
          </p:cNvPr>
          <p:cNvSpPr/>
          <p:nvPr/>
        </p:nvSpPr>
        <p:spPr>
          <a:xfrm>
            <a:off x="4112881" y="1248576"/>
            <a:ext cx="1592514" cy="53198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US" altLang="ja-JP" sz="1100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AWS</a:t>
            </a:r>
            <a:r>
              <a:rPr lang="ja-JP" altLang="en-US" sz="1100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上</a:t>
            </a:r>
            <a:endParaRPr lang="en-US" altLang="ja-JP" sz="1100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r>
              <a:rPr lang="en-US" altLang="ja-JP" sz="1100" dirty="0" err="1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OzCube</a:t>
            </a:r>
            <a:endParaRPr lang="en-US" altLang="ja-JP" sz="1100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pic>
        <p:nvPicPr>
          <p:cNvPr id="99" name="Picture 11">
            <a:extLst>
              <a:ext uri="{FF2B5EF4-FFF2-40B4-BE49-F238E27FC236}">
                <a16:creationId xmlns:a16="http://schemas.microsoft.com/office/drawing/2014/main" id="{771F8F63-09A9-4268-A6CE-C986F97E30B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156730" y="1276357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0" name="正方形/長方形 99"/>
          <p:cNvSpPr/>
          <p:nvPr/>
        </p:nvSpPr>
        <p:spPr>
          <a:xfrm>
            <a:off x="3911713" y="851408"/>
            <a:ext cx="856316" cy="4286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1200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ＵＳＭＨ</a:t>
            </a:r>
            <a:endParaRPr lang="en-US" altLang="ja-JP" sz="1200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05" name="正方形/長方形 104"/>
          <p:cNvSpPr/>
          <p:nvPr/>
        </p:nvSpPr>
        <p:spPr>
          <a:xfrm>
            <a:off x="4014214" y="5033673"/>
            <a:ext cx="856316" cy="4286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1200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店舗環境</a:t>
            </a:r>
            <a:endParaRPr lang="en-US" altLang="ja-JP" sz="1200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10" name="正方形/長方形 109">
            <a:extLst>
              <a:ext uri="{FF2B5EF4-FFF2-40B4-BE49-F238E27FC236}">
                <a16:creationId xmlns:a16="http://schemas.microsoft.com/office/drawing/2014/main" id="{81DDF818-4802-4FDA-A525-4494A0F659C7}"/>
              </a:ext>
            </a:extLst>
          </p:cNvPr>
          <p:cNvSpPr/>
          <p:nvPr/>
        </p:nvSpPr>
        <p:spPr>
          <a:xfrm flipH="1">
            <a:off x="5768414" y="5088537"/>
            <a:ext cx="1695474" cy="106537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ja-JP" altLang="en-US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11" name="正方形/長方形 110">
            <a:extLst>
              <a:ext uri="{FF2B5EF4-FFF2-40B4-BE49-F238E27FC236}">
                <a16:creationId xmlns:a16="http://schemas.microsoft.com/office/drawing/2014/main" id="{B323924B-D3E7-4902-B995-66298D2F4098}"/>
              </a:ext>
            </a:extLst>
          </p:cNvPr>
          <p:cNvSpPr/>
          <p:nvPr/>
        </p:nvSpPr>
        <p:spPr>
          <a:xfrm>
            <a:off x="5812344" y="5391980"/>
            <a:ext cx="1575274" cy="642938"/>
          </a:xfrm>
          <a:prstGeom prst="rect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r>
              <a:rPr lang="ja-JP" altLang="en-US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マルエツ</a:t>
            </a:r>
            <a:endParaRPr lang="en-US" altLang="ja-JP" sz="11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</a:endParaRPr>
          </a:p>
          <a:p>
            <a:r>
              <a:rPr lang="ja-JP" altLang="en-US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ＭＶＩＦレジ</a:t>
            </a:r>
            <a:endParaRPr lang="en-US" altLang="ja-JP" sz="11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</a:endParaRPr>
          </a:p>
          <a:p>
            <a:r>
              <a:rPr lang="ja-JP" altLang="en-US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スキャンＧＯ</a:t>
            </a:r>
            <a:endParaRPr lang="en-US" altLang="ja-JP" sz="11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</a:endParaRPr>
          </a:p>
        </p:txBody>
      </p:sp>
      <p:pic>
        <p:nvPicPr>
          <p:cNvPr id="112" name="図 30">
            <a:extLst>
              <a:ext uri="{FF2B5EF4-FFF2-40B4-BE49-F238E27FC236}">
                <a16:creationId xmlns:a16="http://schemas.microsoft.com/office/drawing/2014/main" id="{B0EB81EE-7BA6-41AA-BE95-9B167E18E46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73761" y="5508018"/>
            <a:ext cx="379413" cy="439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3" name="正方形/長方形 112">
            <a:extLst>
              <a:ext uri="{FF2B5EF4-FFF2-40B4-BE49-F238E27FC236}">
                <a16:creationId xmlns:a16="http://schemas.microsoft.com/office/drawing/2014/main" id="{81DDF818-4802-4FDA-A525-4494A0F659C7}"/>
              </a:ext>
            </a:extLst>
          </p:cNvPr>
          <p:cNvSpPr/>
          <p:nvPr/>
        </p:nvSpPr>
        <p:spPr>
          <a:xfrm flipH="1">
            <a:off x="7408574" y="5088537"/>
            <a:ext cx="1695474" cy="106537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ja-JP" altLang="en-US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14" name="正方形/長方形 113">
            <a:extLst>
              <a:ext uri="{FF2B5EF4-FFF2-40B4-BE49-F238E27FC236}">
                <a16:creationId xmlns:a16="http://schemas.microsoft.com/office/drawing/2014/main" id="{B323924B-D3E7-4902-B995-66298D2F4098}"/>
              </a:ext>
            </a:extLst>
          </p:cNvPr>
          <p:cNvSpPr/>
          <p:nvPr/>
        </p:nvSpPr>
        <p:spPr>
          <a:xfrm>
            <a:off x="7452504" y="5391980"/>
            <a:ext cx="1575274" cy="642938"/>
          </a:xfrm>
          <a:prstGeom prst="rect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r>
              <a:rPr lang="ja-JP" altLang="en-US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ＭＶ関東</a:t>
            </a:r>
            <a:endParaRPr lang="en-US" altLang="ja-JP" sz="11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</a:endParaRPr>
          </a:p>
          <a:p>
            <a:r>
              <a:rPr lang="ja-JP" altLang="en-US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ＭＶＩＦレジ</a:t>
            </a:r>
            <a:endParaRPr lang="en-US" altLang="ja-JP" sz="11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</a:endParaRPr>
          </a:p>
          <a:p>
            <a:r>
              <a:rPr lang="ja-JP" altLang="en-US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スキャンＧＯ</a:t>
            </a:r>
            <a:endParaRPr lang="en-US" altLang="ja-JP" sz="11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</a:endParaRPr>
          </a:p>
        </p:txBody>
      </p:sp>
      <p:pic>
        <p:nvPicPr>
          <p:cNvPr id="115" name="図 30">
            <a:extLst>
              <a:ext uri="{FF2B5EF4-FFF2-40B4-BE49-F238E27FC236}">
                <a16:creationId xmlns:a16="http://schemas.microsoft.com/office/drawing/2014/main" id="{B0EB81EE-7BA6-41AA-BE95-9B167E18E46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513921" y="5508018"/>
            <a:ext cx="379413" cy="439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18" name="直線矢印コネクタ 117">
            <a:extLst>
              <a:ext uri="{FF2B5EF4-FFF2-40B4-BE49-F238E27FC236}">
                <a16:creationId xmlns:a16="http://schemas.microsoft.com/office/drawing/2014/main" id="{80377972-11F3-47C6-B890-20200DCDC600}"/>
              </a:ext>
            </a:extLst>
          </p:cNvPr>
          <p:cNvCxnSpPr>
            <a:stCxn id="101" idx="2"/>
          </p:cNvCxnSpPr>
          <p:nvPr/>
        </p:nvCxnSpPr>
        <p:spPr>
          <a:xfrm flipH="1">
            <a:off x="7151623" y="1780565"/>
            <a:ext cx="6939" cy="2330959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線矢印コネクタ 118">
            <a:extLst>
              <a:ext uri="{FF2B5EF4-FFF2-40B4-BE49-F238E27FC236}">
                <a16:creationId xmlns:a16="http://schemas.microsoft.com/office/drawing/2014/main" id="{80377972-11F3-47C6-B890-20200DCDC600}"/>
              </a:ext>
            </a:extLst>
          </p:cNvPr>
          <p:cNvCxnSpPr>
            <a:stCxn id="101" idx="2"/>
          </p:cNvCxnSpPr>
          <p:nvPr/>
        </p:nvCxnSpPr>
        <p:spPr>
          <a:xfrm>
            <a:off x="7158562" y="1780565"/>
            <a:ext cx="590705" cy="2330959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0" name="グループ化 119"/>
          <p:cNvGrpSpPr/>
          <p:nvPr/>
        </p:nvGrpSpPr>
        <p:grpSpPr>
          <a:xfrm>
            <a:off x="2146354" y="989808"/>
            <a:ext cx="757171" cy="610183"/>
            <a:chOff x="-122746" y="2265909"/>
            <a:chExt cx="757171" cy="610183"/>
          </a:xfrm>
        </p:grpSpPr>
        <p:sp>
          <p:nvSpPr>
            <p:cNvPr id="121" name="フローチャート: 直接アクセス記憶 1">
              <a:extLst>
                <a:ext uri="{FF2B5EF4-FFF2-40B4-BE49-F238E27FC236}">
                  <a16:creationId xmlns:a16="http://schemas.microsoft.com/office/drawing/2014/main" id="{9132BF12-5757-4CA7-A072-4A5814C4D0FF}"/>
                </a:ext>
              </a:extLst>
            </p:cNvPr>
            <p:cNvSpPr/>
            <p:nvPr/>
          </p:nvSpPr>
          <p:spPr>
            <a:xfrm rot="16200000">
              <a:off x="-42872" y="2295336"/>
              <a:ext cx="603063" cy="544210"/>
            </a:xfrm>
            <a:prstGeom prst="flowChartMagneticDrum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endParaRPr lang="ja-JP" altLang="en-US" sz="1100" dirty="0">
                <a:solidFill>
                  <a:schemeClr val="dk1"/>
                </a:solidFill>
                <a:latin typeface="メイリオ" pitchFamily="50" charset="-128"/>
                <a:ea typeface="メイリオ" pitchFamily="50" charset="-128"/>
              </a:endParaRPr>
            </a:p>
          </p:txBody>
        </p:sp>
        <p:sp>
          <p:nvSpPr>
            <p:cNvPr id="122" name="正方形/長方形 121"/>
            <p:cNvSpPr/>
            <p:nvPr/>
          </p:nvSpPr>
          <p:spPr>
            <a:xfrm>
              <a:off x="-122746" y="2344103"/>
              <a:ext cx="757171" cy="531989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800" dirty="0">
                  <a:solidFill>
                    <a:schemeClr val="tx1"/>
                  </a:solidFill>
                </a:rPr>
                <a:t>SG/OD</a:t>
              </a:r>
              <a:r>
                <a:rPr kumimoji="1" lang="ja-JP" altLang="en-US" sz="800" dirty="0">
                  <a:solidFill>
                    <a:schemeClr val="tx1"/>
                  </a:solidFill>
                </a:rPr>
                <a:t>データのみ</a:t>
              </a:r>
            </a:p>
          </p:txBody>
        </p:sp>
      </p:grpSp>
      <p:grpSp>
        <p:nvGrpSpPr>
          <p:cNvPr id="123" name="グループ化 122"/>
          <p:cNvGrpSpPr/>
          <p:nvPr/>
        </p:nvGrpSpPr>
        <p:grpSpPr>
          <a:xfrm>
            <a:off x="6301655" y="3416367"/>
            <a:ext cx="757171" cy="610183"/>
            <a:chOff x="1978955" y="2265909"/>
            <a:chExt cx="757171" cy="610183"/>
          </a:xfrm>
        </p:grpSpPr>
        <p:sp>
          <p:nvSpPr>
            <p:cNvPr id="124" name="フローチャート: 直接アクセス記憶 1">
              <a:extLst>
                <a:ext uri="{FF2B5EF4-FFF2-40B4-BE49-F238E27FC236}">
                  <a16:creationId xmlns:a16="http://schemas.microsoft.com/office/drawing/2014/main" id="{9132BF12-5757-4CA7-A072-4A5814C4D0FF}"/>
                </a:ext>
              </a:extLst>
            </p:cNvPr>
            <p:cNvSpPr/>
            <p:nvPr/>
          </p:nvSpPr>
          <p:spPr>
            <a:xfrm rot="16200000">
              <a:off x="2058829" y="2295336"/>
              <a:ext cx="603063" cy="544210"/>
            </a:xfrm>
            <a:prstGeom prst="flowChartMagneticDrum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endParaRPr lang="ja-JP" altLang="en-US" sz="1100" dirty="0">
                <a:solidFill>
                  <a:schemeClr val="dk1"/>
                </a:solidFill>
                <a:latin typeface="メイリオ" pitchFamily="50" charset="-128"/>
                <a:ea typeface="メイリオ" pitchFamily="50" charset="-128"/>
              </a:endParaRPr>
            </a:p>
          </p:txBody>
        </p:sp>
        <p:sp>
          <p:nvSpPr>
            <p:cNvPr id="125" name="正方形/長方形 124"/>
            <p:cNvSpPr/>
            <p:nvPr/>
          </p:nvSpPr>
          <p:spPr>
            <a:xfrm>
              <a:off x="1978955" y="2344103"/>
              <a:ext cx="757171" cy="531989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800" dirty="0">
                  <a:solidFill>
                    <a:schemeClr val="tx1"/>
                  </a:solidFill>
                </a:rPr>
                <a:t>SG/OD</a:t>
              </a:r>
              <a:r>
                <a:rPr kumimoji="1" lang="ja-JP" altLang="en-US" sz="800" dirty="0">
                  <a:solidFill>
                    <a:schemeClr val="tx1"/>
                  </a:solidFill>
                </a:rPr>
                <a:t>データ</a:t>
              </a:r>
              <a:endParaRPr kumimoji="1" lang="en-US" altLang="ja-JP" sz="800" dirty="0">
                <a:solidFill>
                  <a:schemeClr val="tx1"/>
                </a:solidFill>
              </a:endParaRPr>
            </a:p>
            <a:p>
              <a:pPr algn="ctr"/>
              <a:r>
                <a:rPr lang="ja-JP" altLang="en-US" sz="800" dirty="0">
                  <a:solidFill>
                    <a:schemeClr val="tx1"/>
                  </a:solidFill>
                </a:rPr>
                <a:t>のみ</a:t>
              </a:r>
              <a:endParaRPr kumimoji="1" lang="ja-JP" altLang="en-US" sz="8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26" name="グループ化 125"/>
          <p:cNvGrpSpPr/>
          <p:nvPr/>
        </p:nvGrpSpPr>
        <p:grpSpPr>
          <a:xfrm>
            <a:off x="7788997" y="3422698"/>
            <a:ext cx="757171" cy="610183"/>
            <a:chOff x="1978955" y="2265909"/>
            <a:chExt cx="757171" cy="610183"/>
          </a:xfrm>
        </p:grpSpPr>
        <p:sp>
          <p:nvSpPr>
            <p:cNvPr id="127" name="フローチャート: 直接アクセス記憶 1">
              <a:extLst>
                <a:ext uri="{FF2B5EF4-FFF2-40B4-BE49-F238E27FC236}">
                  <a16:creationId xmlns:a16="http://schemas.microsoft.com/office/drawing/2014/main" id="{9132BF12-5757-4CA7-A072-4A5814C4D0FF}"/>
                </a:ext>
              </a:extLst>
            </p:cNvPr>
            <p:cNvSpPr/>
            <p:nvPr/>
          </p:nvSpPr>
          <p:spPr>
            <a:xfrm rot="16200000">
              <a:off x="2058829" y="2295336"/>
              <a:ext cx="603063" cy="544210"/>
            </a:xfrm>
            <a:prstGeom prst="flowChartMagneticDrum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endParaRPr lang="ja-JP" altLang="en-US" sz="1100" dirty="0">
                <a:solidFill>
                  <a:schemeClr val="dk1"/>
                </a:solidFill>
                <a:latin typeface="メイリオ" pitchFamily="50" charset="-128"/>
                <a:ea typeface="メイリオ" pitchFamily="50" charset="-128"/>
              </a:endParaRPr>
            </a:p>
          </p:txBody>
        </p:sp>
        <p:sp>
          <p:nvSpPr>
            <p:cNvPr id="128" name="正方形/長方形 127"/>
            <p:cNvSpPr/>
            <p:nvPr/>
          </p:nvSpPr>
          <p:spPr>
            <a:xfrm>
              <a:off x="1978955" y="2344103"/>
              <a:ext cx="757171" cy="531989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800" dirty="0">
                  <a:solidFill>
                    <a:schemeClr val="tx1"/>
                  </a:solidFill>
                </a:rPr>
                <a:t>SG/OD</a:t>
              </a:r>
              <a:r>
                <a:rPr kumimoji="1" lang="ja-JP" altLang="en-US" sz="800" dirty="0">
                  <a:solidFill>
                    <a:schemeClr val="tx1"/>
                  </a:solidFill>
                </a:rPr>
                <a:t>データのみ</a:t>
              </a:r>
            </a:p>
          </p:txBody>
        </p:sp>
      </p:grpSp>
      <p:cxnSp>
        <p:nvCxnSpPr>
          <p:cNvPr id="129" name="直線矢印コネクタ 128">
            <a:extLst>
              <a:ext uri="{FF2B5EF4-FFF2-40B4-BE49-F238E27FC236}">
                <a16:creationId xmlns:a16="http://schemas.microsoft.com/office/drawing/2014/main" id="{B74D8AA0-35EA-4804-936E-BF7CBF382FF1}"/>
              </a:ext>
            </a:extLst>
          </p:cNvPr>
          <p:cNvCxnSpPr>
            <a:cxnSpLocks/>
          </p:cNvCxnSpPr>
          <p:nvPr/>
        </p:nvCxnSpPr>
        <p:spPr>
          <a:xfrm flipH="1">
            <a:off x="4920677" y="4111524"/>
            <a:ext cx="8620" cy="1280456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3" name="Picture 11">
            <a:extLst>
              <a:ext uri="{FF2B5EF4-FFF2-40B4-BE49-F238E27FC236}">
                <a16:creationId xmlns:a16="http://schemas.microsoft.com/office/drawing/2014/main" id="{3E5C3251-647F-4EF7-BB55-66A28AD4889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151646" y="4112707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30" name="直線矢印コネクタ 129">
            <a:extLst>
              <a:ext uri="{FF2B5EF4-FFF2-40B4-BE49-F238E27FC236}">
                <a16:creationId xmlns:a16="http://schemas.microsoft.com/office/drawing/2014/main" id="{B74D8AA0-35EA-4804-936E-BF7CBF382FF1}"/>
              </a:ext>
            </a:extLst>
          </p:cNvPr>
          <p:cNvCxnSpPr>
            <a:cxnSpLocks/>
          </p:cNvCxnSpPr>
          <p:nvPr/>
        </p:nvCxnSpPr>
        <p:spPr>
          <a:xfrm flipH="1">
            <a:off x="6556051" y="4111524"/>
            <a:ext cx="8620" cy="1280456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正方形/長方形 93">
            <a:extLst>
              <a:ext uri="{FF2B5EF4-FFF2-40B4-BE49-F238E27FC236}">
                <a16:creationId xmlns:a16="http://schemas.microsoft.com/office/drawing/2014/main" id="{087FBF44-9390-4D23-A9DE-8F4F8245FB52}"/>
              </a:ext>
            </a:extLst>
          </p:cNvPr>
          <p:cNvSpPr/>
          <p:nvPr/>
        </p:nvSpPr>
        <p:spPr>
          <a:xfrm>
            <a:off x="5768414" y="4095744"/>
            <a:ext cx="1592514" cy="527844"/>
          </a:xfrm>
          <a:prstGeom prst="rect">
            <a:avLst/>
          </a:prstGeom>
          <a:gradFill>
            <a:gsLst>
              <a:gs pos="0">
                <a:schemeClr val="tx2">
                  <a:lumMod val="40000"/>
                  <a:lumOff val="60000"/>
                </a:schemeClr>
              </a:gs>
              <a:gs pos="40000">
                <a:schemeClr val="accent1"/>
              </a:gs>
              <a:gs pos="100000">
                <a:schemeClr val="tx2">
                  <a:lumMod val="40000"/>
                  <a:lumOff val="60000"/>
                </a:schemeClr>
              </a:gs>
            </a:gsLst>
            <a:lin ang="16200000" scaled="1"/>
          </a:gradFill>
          <a:ln w="9525">
            <a:solidFill>
              <a:schemeClr val="accent2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r>
              <a:rPr lang="en-US" altLang="ja-JP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Azure</a:t>
            </a:r>
          </a:p>
          <a:p>
            <a:r>
              <a:rPr lang="en-US" altLang="ja-JP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POS</a:t>
            </a:r>
            <a:r>
              <a:rPr lang="ja-JP" altLang="en-US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サーバ</a:t>
            </a:r>
            <a:endParaRPr lang="en-US" altLang="ja-JP" sz="11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</a:endParaRPr>
          </a:p>
          <a:p>
            <a:r>
              <a:rPr lang="ja-JP" altLang="en-US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マルエツ</a:t>
            </a:r>
            <a:endParaRPr lang="en-US" altLang="ja-JP" sz="11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</a:endParaRPr>
          </a:p>
        </p:txBody>
      </p:sp>
      <p:pic>
        <p:nvPicPr>
          <p:cNvPr id="95" name="Picture 11">
            <a:extLst>
              <a:ext uri="{FF2B5EF4-FFF2-40B4-BE49-F238E27FC236}">
                <a16:creationId xmlns:a16="http://schemas.microsoft.com/office/drawing/2014/main" id="{3E5C3251-647F-4EF7-BB55-66A28AD4889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847120" y="4112707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32" name="直線矢印コネクタ 131">
            <a:extLst>
              <a:ext uri="{FF2B5EF4-FFF2-40B4-BE49-F238E27FC236}">
                <a16:creationId xmlns:a16="http://schemas.microsoft.com/office/drawing/2014/main" id="{B74D8AA0-35EA-4804-936E-BF7CBF382FF1}"/>
              </a:ext>
            </a:extLst>
          </p:cNvPr>
          <p:cNvCxnSpPr>
            <a:cxnSpLocks/>
          </p:cNvCxnSpPr>
          <p:nvPr/>
        </p:nvCxnSpPr>
        <p:spPr>
          <a:xfrm>
            <a:off x="8158241" y="4623588"/>
            <a:ext cx="0" cy="768392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線矢印コネクタ 133">
            <a:extLst>
              <a:ext uri="{FF2B5EF4-FFF2-40B4-BE49-F238E27FC236}">
                <a16:creationId xmlns:a16="http://schemas.microsoft.com/office/drawing/2014/main" id="{77BC4580-D2C4-41DB-A2A4-F1A29CE6F207}"/>
              </a:ext>
            </a:extLst>
          </p:cNvPr>
          <p:cNvCxnSpPr>
            <a:cxnSpLocks/>
          </p:cNvCxnSpPr>
          <p:nvPr/>
        </p:nvCxnSpPr>
        <p:spPr>
          <a:xfrm>
            <a:off x="5705395" y="1514570"/>
            <a:ext cx="1016732" cy="0"/>
          </a:xfrm>
          <a:prstGeom prst="straightConnector1">
            <a:avLst/>
          </a:prstGeom>
          <a:ln w="22225">
            <a:solidFill>
              <a:schemeClr val="accent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正方形/長方形 100">
            <a:extLst>
              <a:ext uri="{FF2B5EF4-FFF2-40B4-BE49-F238E27FC236}">
                <a16:creationId xmlns:a16="http://schemas.microsoft.com/office/drawing/2014/main" id="{67505C4E-170B-4814-B8AA-605D9EC64462}"/>
              </a:ext>
            </a:extLst>
          </p:cNvPr>
          <p:cNvSpPr/>
          <p:nvPr/>
        </p:nvSpPr>
        <p:spPr>
          <a:xfrm>
            <a:off x="6362305" y="1248576"/>
            <a:ext cx="1592514" cy="531989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US" altLang="ja-JP" sz="1100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Azure</a:t>
            </a:r>
            <a:r>
              <a:rPr lang="ja-JP" altLang="en-US" sz="1100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上</a:t>
            </a:r>
            <a:endParaRPr lang="en-US" altLang="ja-JP" sz="1100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r>
              <a:rPr lang="ja-JP" altLang="en-US" sz="1100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共通</a:t>
            </a:r>
            <a:r>
              <a:rPr lang="en-US" altLang="ja-JP" sz="1100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DB</a:t>
            </a:r>
          </a:p>
        </p:txBody>
      </p:sp>
      <p:pic>
        <p:nvPicPr>
          <p:cNvPr id="102" name="Picture 11">
            <a:extLst>
              <a:ext uri="{FF2B5EF4-FFF2-40B4-BE49-F238E27FC236}">
                <a16:creationId xmlns:a16="http://schemas.microsoft.com/office/drawing/2014/main" id="{771F8F63-09A9-4268-A6CE-C986F97E30B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406154" y="1276357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2" name="正方形/長方形 71"/>
          <p:cNvSpPr/>
          <p:nvPr/>
        </p:nvSpPr>
        <p:spPr>
          <a:xfrm>
            <a:off x="39797" y="91440"/>
            <a:ext cx="7366358" cy="5394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r>
              <a:rPr kumimoji="1" lang="ja-JP" altLang="en-US" sz="2000">
                <a:latin typeface="HG丸ｺﾞｼｯｸM-PRO"/>
                <a:ea typeface="HG丸ｺﾞｼｯｸM-PRO"/>
              </a:rPr>
              <a:t>ＰＯＳ</a:t>
            </a:r>
            <a:r>
              <a:rPr lang="ja-JP" altLang="en-US" sz="2000">
                <a:latin typeface="HG丸ｺﾞｼｯｸM-PRO"/>
                <a:ea typeface="HG丸ｺﾞｼｯｸM-PRO"/>
              </a:rPr>
              <a:t>データ加工サーバー連携図（現システム）</a:t>
            </a:r>
            <a:endParaRPr kumimoji="1" lang="ja-JP" altLang="en-US" sz="2000" dirty="0">
              <a:latin typeface="HG丸ｺﾞｼｯｸM-PRO" pitchFamily="50" charset="-128"/>
              <a:ea typeface="HG丸ｺﾞｼｯｸM-PRO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1689A24-E5C2-4719-AF89-939718CBA4A8}"/>
              </a:ext>
            </a:extLst>
          </p:cNvPr>
          <p:cNvSpPr txBox="1"/>
          <p:nvPr/>
        </p:nvSpPr>
        <p:spPr>
          <a:xfrm>
            <a:off x="6821796" y="2755226"/>
            <a:ext cx="1415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通信は</a:t>
            </a:r>
            <a:r>
              <a:rPr kumimoji="1" lang="en-US" altLang="ja-JP" sz="1000" dirty="0" err="1"/>
              <a:t>AzCopy</a:t>
            </a:r>
            <a:r>
              <a:rPr kumimoji="1" lang="ja-JP" altLang="en-US" sz="1000" dirty="0"/>
              <a:t>を利用</a:t>
            </a:r>
            <a:endParaRPr kumimoji="1" lang="en-US" altLang="ja-JP" sz="1000" dirty="0"/>
          </a:p>
        </p:txBody>
      </p:sp>
      <p:sp>
        <p:nvSpPr>
          <p:cNvPr id="74" name="テキスト ボックス 73">
            <a:extLst>
              <a:ext uri="{FF2B5EF4-FFF2-40B4-BE49-F238E27FC236}">
                <a16:creationId xmlns:a16="http://schemas.microsoft.com/office/drawing/2014/main" id="{CFE71DCA-EC94-4743-B256-7CBB2D27561F}"/>
              </a:ext>
            </a:extLst>
          </p:cNvPr>
          <p:cNvSpPr txBox="1"/>
          <p:nvPr/>
        </p:nvSpPr>
        <p:spPr>
          <a:xfrm>
            <a:off x="6887921" y="3087134"/>
            <a:ext cx="12832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00" dirty="0"/>
              <a:t>SG/OD</a:t>
            </a:r>
            <a:r>
              <a:rPr kumimoji="1" lang="ja-JP" altLang="en-US" sz="1000" dirty="0"/>
              <a:t>データのみ</a:t>
            </a:r>
            <a:endParaRPr kumimoji="1" lang="en-US" altLang="ja-JP" sz="1000" dirty="0"/>
          </a:p>
          <a:p>
            <a:r>
              <a:rPr kumimoji="1" lang="ja-JP" altLang="en-US" sz="1000" dirty="0"/>
              <a:t>送信</a:t>
            </a:r>
            <a:endParaRPr kumimoji="1" lang="en-US" altLang="ja-JP" sz="1000" dirty="0"/>
          </a:p>
        </p:txBody>
      </p: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D5627265-8F3E-43EF-A33B-6487A933C1ED}"/>
              </a:ext>
            </a:extLst>
          </p:cNvPr>
          <p:cNvSpPr txBox="1"/>
          <p:nvPr/>
        </p:nvSpPr>
        <p:spPr>
          <a:xfrm>
            <a:off x="2146354" y="1564725"/>
            <a:ext cx="15574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00" dirty="0"/>
              <a:t>SG/OD</a:t>
            </a:r>
            <a:r>
              <a:rPr kumimoji="1" lang="ja-JP" altLang="en-US" sz="1000" dirty="0"/>
              <a:t>データのみ</a:t>
            </a:r>
            <a:endParaRPr kumimoji="1" lang="en-US" altLang="ja-JP" sz="1000" dirty="0"/>
          </a:p>
          <a:p>
            <a:r>
              <a:rPr lang="ja-JP" altLang="en-US" sz="1000" dirty="0"/>
              <a:t>抽出して送信</a:t>
            </a:r>
            <a:endParaRPr kumimoji="1" lang="en-US" altLang="ja-JP" sz="1000" dirty="0"/>
          </a:p>
        </p:txBody>
      </p:sp>
      <p:sp>
        <p:nvSpPr>
          <p:cNvPr id="4" name="フリーフォーム: 図形 3">
            <a:extLst>
              <a:ext uri="{FF2B5EF4-FFF2-40B4-BE49-F238E27FC236}">
                <a16:creationId xmlns:a16="http://schemas.microsoft.com/office/drawing/2014/main" id="{645085A2-7B79-49AC-BBC8-7334E7250AF1}"/>
              </a:ext>
            </a:extLst>
          </p:cNvPr>
          <p:cNvSpPr/>
          <p:nvPr/>
        </p:nvSpPr>
        <p:spPr>
          <a:xfrm>
            <a:off x="1883802" y="1509369"/>
            <a:ext cx="5107283" cy="1005093"/>
          </a:xfrm>
          <a:custGeom>
            <a:avLst/>
            <a:gdLst>
              <a:gd name="connsiteX0" fmla="*/ 0 w 5133315"/>
              <a:gd name="connsiteY0" fmla="*/ 0 h 1008278"/>
              <a:gd name="connsiteX1" fmla="*/ 3485585 w 5133315"/>
              <a:gd name="connsiteY1" fmla="*/ 1004934 h 1008278"/>
              <a:gd name="connsiteX2" fmla="*/ 5133315 w 5133315"/>
              <a:gd name="connsiteY2" fmla="*/ 262550 h 1008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33315" h="1008278">
                <a:moveTo>
                  <a:pt x="0" y="0"/>
                </a:moveTo>
                <a:cubicBezTo>
                  <a:pt x="1315016" y="480588"/>
                  <a:pt x="2630033" y="961176"/>
                  <a:pt x="3485585" y="1004934"/>
                </a:cubicBezTo>
                <a:cubicBezTo>
                  <a:pt x="4341137" y="1048692"/>
                  <a:pt x="4737226" y="655621"/>
                  <a:pt x="5133315" y="262550"/>
                </a:cubicBezTo>
              </a:path>
            </a:pathLst>
          </a:custGeom>
          <a:noFill/>
          <a:ln>
            <a:solidFill>
              <a:schemeClr val="accent1"/>
            </a:solidFill>
            <a:tailEnd type="triangle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09" name="グループ化 108">
            <a:extLst>
              <a:ext uri="{FF2B5EF4-FFF2-40B4-BE49-F238E27FC236}">
                <a16:creationId xmlns:a16="http://schemas.microsoft.com/office/drawing/2014/main" id="{D529015E-2EE8-4BC1-A6A8-F9B376122151}"/>
              </a:ext>
            </a:extLst>
          </p:cNvPr>
          <p:cNvGrpSpPr/>
          <p:nvPr/>
        </p:nvGrpSpPr>
        <p:grpSpPr>
          <a:xfrm>
            <a:off x="4234244" y="3469225"/>
            <a:ext cx="757171" cy="610183"/>
            <a:chOff x="1978955" y="2265909"/>
            <a:chExt cx="757171" cy="610183"/>
          </a:xfrm>
        </p:grpSpPr>
        <p:sp>
          <p:nvSpPr>
            <p:cNvPr id="136" name="フローチャート: 直接アクセス記憶 1">
              <a:extLst>
                <a:ext uri="{FF2B5EF4-FFF2-40B4-BE49-F238E27FC236}">
                  <a16:creationId xmlns:a16="http://schemas.microsoft.com/office/drawing/2014/main" id="{7B2DAEF0-11A8-4608-BF8C-C5FD842488AA}"/>
                </a:ext>
              </a:extLst>
            </p:cNvPr>
            <p:cNvSpPr/>
            <p:nvPr/>
          </p:nvSpPr>
          <p:spPr>
            <a:xfrm rot="16200000">
              <a:off x="2058829" y="2295336"/>
              <a:ext cx="603063" cy="544210"/>
            </a:xfrm>
            <a:prstGeom prst="flowChartMagneticDrum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endParaRPr lang="ja-JP" altLang="en-US" sz="1100" dirty="0">
                <a:solidFill>
                  <a:schemeClr val="dk1"/>
                </a:solidFill>
                <a:latin typeface="メイリオ" pitchFamily="50" charset="-128"/>
                <a:ea typeface="メイリオ" pitchFamily="50" charset="-128"/>
              </a:endParaRPr>
            </a:p>
          </p:txBody>
        </p:sp>
        <p:sp>
          <p:nvSpPr>
            <p:cNvPr id="140" name="正方形/長方形 139">
              <a:extLst>
                <a:ext uri="{FF2B5EF4-FFF2-40B4-BE49-F238E27FC236}">
                  <a16:creationId xmlns:a16="http://schemas.microsoft.com/office/drawing/2014/main" id="{39ADF55A-6B43-4F9C-9C5E-5088662366DB}"/>
                </a:ext>
              </a:extLst>
            </p:cNvPr>
            <p:cNvSpPr/>
            <p:nvPr/>
          </p:nvSpPr>
          <p:spPr>
            <a:xfrm>
              <a:off x="1978955" y="2344103"/>
              <a:ext cx="757171" cy="531989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800" dirty="0">
                  <a:solidFill>
                    <a:srgbClr val="FF0000"/>
                  </a:solidFill>
                </a:rPr>
                <a:t>アイテムログ</a:t>
              </a:r>
              <a:endParaRPr kumimoji="1" lang="en-US" altLang="ja-JP" sz="800" dirty="0">
                <a:solidFill>
                  <a:srgbClr val="FF0000"/>
                </a:solidFill>
              </a:endParaRPr>
            </a:p>
            <a:p>
              <a:pPr algn="ctr"/>
              <a:r>
                <a:rPr lang="ja-JP" altLang="en-US" sz="800" dirty="0">
                  <a:solidFill>
                    <a:srgbClr val="FF0000"/>
                  </a:solidFill>
                </a:rPr>
                <a:t>トータルログ</a:t>
              </a:r>
              <a:endParaRPr lang="en-US" altLang="ja-JP" sz="800" dirty="0">
                <a:solidFill>
                  <a:srgbClr val="FF0000"/>
                </a:solidFill>
              </a:endParaRPr>
            </a:p>
            <a:p>
              <a:pPr algn="ctr"/>
              <a:r>
                <a:rPr kumimoji="1" lang="ja-JP" altLang="en-US" sz="800" dirty="0">
                  <a:solidFill>
                    <a:srgbClr val="FF0000"/>
                  </a:solidFill>
                </a:rPr>
                <a:t>クレジットログ</a:t>
              </a:r>
            </a:p>
          </p:txBody>
        </p:sp>
      </p:grpSp>
      <p:grpSp>
        <p:nvGrpSpPr>
          <p:cNvPr id="147" name="グループ化 146">
            <a:extLst>
              <a:ext uri="{FF2B5EF4-FFF2-40B4-BE49-F238E27FC236}">
                <a16:creationId xmlns:a16="http://schemas.microsoft.com/office/drawing/2014/main" id="{1A421643-FE93-4B64-B2BC-309A64437564}"/>
              </a:ext>
            </a:extLst>
          </p:cNvPr>
          <p:cNvGrpSpPr/>
          <p:nvPr/>
        </p:nvGrpSpPr>
        <p:grpSpPr>
          <a:xfrm>
            <a:off x="579233" y="1981643"/>
            <a:ext cx="963333" cy="574946"/>
            <a:chOff x="1633927" y="2205683"/>
            <a:chExt cx="1090362" cy="670409"/>
          </a:xfrm>
        </p:grpSpPr>
        <p:sp>
          <p:nvSpPr>
            <p:cNvPr id="149" name="フローチャート: 直接アクセス記憶 1">
              <a:extLst>
                <a:ext uri="{FF2B5EF4-FFF2-40B4-BE49-F238E27FC236}">
                  <a16:creationId xmlns:a16="http://schemas.microsoft.com/office/drawing/2014/main" id="{01620340-9562-4DC2-AB48-579907A7C3DC}"/>
                </a:ext>
              </a:extLst>
            </p:cNvPr>
            <p:cNvSpPr/>
            <p:nvPr/>
          </p:nvSpPr>
          <p:spPr>
            <a:xfrm rot="16200000">
              <a:off x="1859616" y="2043385"/>
              <a:ext cx="670409" cy="995006"/>
            </a:xfrm>
            <a:prstGeom prst="flowChartMagneticDrum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endParaRPr lang="ja-JP" altLang="en-US" sz="1100" dirty="0">
                <a:solidFill>
                  <a:schemeClr val="dk1"/>
                </a:solidFill>
                <a:latin typeface="メイリオ" pitchFamily="50" charset="-128"/>
                <a:ea typeface="メイリオ" pitchFamily="50" charset="-128"/>
              </a:endParaRPr>
            </a:p>
          </p:txBody>
        </p:sp>
        <p:sp>
          <p:nvSpPr>
            <p:cNvPr id="150" name="正方形/長方形 149">
              <a:extLst>
                <a:ext uri="{FF2B5EF4-FFF2-40B4-BE49-F238E27FC236}">
                  <a16:creationId xmlns:a16="http://schemas.microsoft.com/office/drawing/2014/main" id="{AB64D33A-5B53-4697-8957-4CDF990C7A6D}"/>
                </a:ext>
              </a:extLst>
            </p:cNvPr>
            <p:cNvSpPr/>
            <p:nvPr/>
          </p:nvSpPr>
          <p:spPr>
            <a:xfrm>
              <a:off x="1633927" y="2251197"/>
              <a:ext cx="1090362" cy="624895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800" dirty="0"/>
                <a:t>分析用</a:t>
              </a:r>
              <a:r>
                <a:rPr kumimoji="1" lang="en-US" altLang="ja-JP" sz="800" dirty="0"/>
                <a:t>POS</a:t>
              </a:r>
              <a:r>
                <a:rPr kumimoji="1" lang="ja-JP" altLang="en-US" sz="800" dirty="0"/>
                <a:t>データ</a:t>
              </a:r>
              <a:endParaRPr kumimoji="1" lang="en-US" altLang="ja-JP" sz="800" dirty="0"/>
            </a:p>
            <a:p>
              <a:pPr algn="ctr"/>
              <a:r>
                <a:rPr lang="en-US" altLang="ja-JP" sz="800" dirty="0"/>
                <a:t>(</a:t>
              </a:r>
              <a:r>
                <a:rPr lang="ja-JP" altLang="en-US" sz="800" dirty="0"/>
                <a:t>ｲｸﾞﾆｶﾏﾈｰ</a:t>
              </a:r>
              <a:endParaRPr lang="en-US" altLang="ja-JP" sz="800" dirty="0"/>
            </a:p>
            <a:p>
              <a:pPr algn="ctr"/>
              <a:r>
                <a:rPr lang="ja-JP" altLang="en-US" sz="800" dirty="0"/>
                <a:t>支払情報</a:t>
              </a:r>
              <a:r>
                <a:rPr lang="ja-JP" altLang="en-US" sz="800" b="1" dirty="0">
                  <a:solidFill>
                    <a:srgbClr val="FF0000"/>
                  </a:solidFill>
                </a:rPr>
                <a:t>アリ</a:t>
              </a:r>
              <a:r>
                <a:rPr lang="ja-JP" altLang="en-US" sz="800" dirty="0"/>
                <a:t>）</a:t>
              </a:r>
              <a:endParaRPr kumimoji="1" lang="en-US" altLang="ja-JP" sz="800" dirty="0"/>
            </a:p>
          </p:txBody>
        </p:sp>
      </p:grpSp>
      <p:sp>
        <p:nvSpPr>
          <p:cNvPr id="151" name="テキスト ボックス 150">
            <a:extLst>
              <a:ext uri="{FF2B5EF4-FFF2-40B4-BE49-F238E27FC236}">
                <a16:creationId xmlns:a16="http://schemas.microsoft.com/office/drawing/2014/main" id="{449DBF34-4535-4612-9699-D01041875806}"/>
              </a:ext>
            </a:extLst>
          </p:cNvPr>
          <p:cNvSpPr txBox="1"/>
          <p:nvPr/>
        </p:nvSpPr>
        <p:spPr>
          <a:xfrm>
            <a:off x="665383" y="2564333"/>
            <a:ext cx="15574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全店舗の全データ</a:t>
            </a:r>
            <a:endParaRPr kumimoji="1" lang="en-US" altLang="ja-JP" sz="1000" dirty="0"/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70156DF2-13A1-4F50-BE27-AB79ADF585E2}"/>
              </a:ext>
            </a:extLst>
          </p:cNvPr>
          <p:cNvCxnSpPr>
            <a:cxnSpLocks/>
          </p:cNvCxnSpPr>
          <p:nvPr/>
        </p:nvCxnSpPr>
        <p:spPr>
          <a:xfrm flipH="1" flipV="1">
            <a:off x="1870322" y="3416367"/>
            <a:ext cx="2701678" cy="69515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正方形/長方形 91">
            <a:extLst>
              <a:ext uri="{FF2B5EF4-FFF2-40B4-BE49-F238E27FC236}">
                <a16:creationId xmlns:a16="http://schemas.microsoft.com/office/drawing/2014/main" id="{087FBF44-9390-4D23-A9DE-8F4F8245FB52}"/>
              </a:ext>
            </a:extLst>
          </p:cNvPr>
          <p:cNvSpPr/>
          <p:nvPr/>
        </p:nvSpPr>
        <p:spPr>
          <a:xfrm>
            <a:off x="4072940" y="4095744"/>
            <a:ext cx="1592514" cy="527844"/>
          </a:xfrm>
          <a:prstGeom prst="rect">
            <a:avLst/>
          </a:prstGeom>
          <a:gradFill>
            <a:gsLst>
              <a:gs pos="0">
                <a:schemeClr val="tx2">
                  <a:lumMod val="40000"/>
                  <a:lumOff val="60000"/>
                </a:schemeClr>
              </a:gs>
              <a:gs pos="40000">
                <a:schemeClr val="accent1"/>
              </a:gs>
              <a:gs pos="100000">
                <a:schemeClr val="tx2">
                  <a:lumMod val="40000"/>
                  <a:lumOff val="60000"/>
                </a:schemeClr>
              </a:gs>
            </a:gsLst>
            <a:lin ang="16200000" scaled="1"/>
          </a:gradFill>
          <a:ln w="9525">
            <a:solidFill>
              <a:schemeClr val="accent2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r>
              <a:rPr lang="en-US" altLang="ja-JP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Azure</a:t>
            </a:r>
          </a:p>
          <a:p>
            <a:r>
              <a:rPr lang="en-US" altLang="ja-JP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POS</a:t>
            </a:r>
            <a:r>
              <a:rPr lang="ja-JP" altLang="en-US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サーバ</a:t>
            </a:r>
            <a:endParaRPr lang="en-US" altLang="ja-JP" sz="11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</a:endParaRPr>
          </a:p>
          <a:p>
            <a:r>
              <a:rPr lang="ja-JP" altLang="en-US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カスミ</a:t>
            </a:r>
            <a:endParaRPr lang="en-US" altLang="ja-JP" sz="11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06623C9-31B7-4895-B0F2-09209847AC10}"/>
              </a:ext>
            </a:extLst>
          </p:cNvPr>
          <p:cNvSpPr txBox="1"/>
          <p:nvPr/>
        </p:nvSpPr>
        <p:spPr>
          <a:xfrm>
            <a:off x="3637112" y="1859671"/>
            <a:ext cx="26228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100" b="1" dirty="0">
                <a:solidFill>
                  <a:srgbClr val="FF0000"/>
                </a:solidFill>
              </a:rPr>
              <a:t>※</a:t>
            </a:r>
            <a:r>
              <a:rPr lang="ja-JP" altLang="en-US" sz="1100" b="1" dirty="0">
                <a:solidFill>
                  <a:srgbClr val="FF0000"/>
                </a:solidFill>
              </a:rPr>
              <a:t>カスミの</a:t>
            </a:r>
            <a:r>
              <a:rPr lang="en-US" altLang="ja-JP" sz="1100" b="1" dirty="0">
                <a:solidFill>
                  <a:srgbClr val="FF0000"/>
                </a:solidFill>
              </a:rPr>
              <a:t>SG/OD</a:t>
            </a:r>
            <a:r>
              <a:rPr lang="ja-JP" altLang="en-US" sz="1100" b="1" dirty="0">
                <a:solidFill>
                  <a:srgbClr val="FF0000"/>
                </a:solidFill>
              </a:rPr>
              <a:t>データは、</a:t>
            </a:r>
            <a:endParaRPr lang="en-US" altLang="ja-JP" sz="1100" b="1" dirty="0">
              <a:solidFill>
                <a:srgbClr val="FF0000"/>
              </a:solidFill>
            </a:endParaRPr>
          </a:p>
          <a:p>
            <a:r>
              <a:rPr lang="ja-JP" altLang="en-US" sz="1100" b="1" dirty="0">
                <a:solidFill>
                  <a:srgbClr val="FF0000"/>
                </a:solidFill>
              </a:rPr>
              <a:t>　</a:t>
            </a:r>
            <a:r>
              <a:rPr lang="en-US" altLang="ja-JP" sz="1100" b="1" dirty="0" err="1">
                <a:solidFill>
                  <a:srgbClr val="FF0000"/>
                </a:solidFill>
              </a:rPr>
              <a:t>OzSearch</a:t>
            </a:r>
            <a:r>
              <a:rPr lang="ja-JP" altLang="en-US" sz="1100" b="1" dirty="0">
                <a:solidFill>
                  <a:srgbClr val="FF0000"/>
                </a:solidFill>
              </a:rPr>
              <a:t>から抽出したものを使用する。</a:t>
            </a:r>
            <a:endParaRPr lang="en-US" altLang="ja-JP" sz="1100" b="1" dirty="0">
              <a:solidFill>
                <a:srgbClr val="FF0000"/>
              </a:solidFill>
            </a:endParaRPr>
          </a:p>
        </p:txBody>
      </p:sp>
      <p:sp>
        <p:nvSpPr>
          <p:cNvPr id="16" name="吹き出し: 折線 15">
            <a:extLst>
              <a:ext uri="{FF2B5EF4-FFF2-40B4-BE49-F238E27FC236}">
                <a16:creationId xmlns:a16="http://schemas.microsoft.com/office/drawing/2014/main" id="{47ED674D-AF53-A7DD-9132-C436FB175AC8}"/>
              </a:ext>
            </a:extLst>
          </p:cNvPr>
          <p:cNvSpPr/>
          <p:nvPr/>
        </p:nvSpPr>
        <p:spPr>
          <a:xfrm>
            <a:off x="6269267" y="942803"/>
            <a:ext cx="882356" cy="269289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218798"/>
              <a:gd name="adj6" fmla="val -34051"/>
            </a:avLst>
          </a:prstGeom>
          <a:ln w="15875">
            <a:solidFill>
              <a:srgbClr val="FF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/>
              <a:t>月一手作業</a:t>
            </a: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A1A350F3-BB42-6D0B-D7A5-49C607E2BFD7}"/>
              </a:ext>
            </a:extLst>
          </p:cNvPr>
          <p:cNvSpPr/>
          <p:nvPr/>
        </p:nvSpPr>
        <p:spPr>
          <a:xfrm>
            <a:off x="268366" y="4573194"/>
            <a:ext cx="1592514" cy="53198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US" altLang="ja-JP" sz="1100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WAON</a:t>
            </a:r>
            <a:r>
              <a:rPr lang="ja-JP" altLang="en-US" sz="1100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ポイント</a:t>
            </a:r>
            <a:endParaRPr lang="en-US" altLang="ja-JP" sz="1100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r>
              <a:rPr lang="ja-JP" altLang="en-US" sz="1100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集計</a:t>
            </a:r>
            <a:endParaRPr lang="en-US" altLang="ja-JP" sz="1100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pic>
        <p:nvPicPr>
          <p:cNvPr id="35" name="Picture 11">
            <a:extLst>
              <a:ext uri="{FF2B5EF4-FFF2-40B4-BE49-F238E27FC236}">
                <a16:creationId xmlns:a16="http://schemas.microsoft.com/office/drawing/2014/main" id="{09AC242B-3799-0476-2532-D1BF174A56B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363456" y="4587084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B3902A85-3C48-C4FF-1EAD-ABA00A2C97EA}"/>
              </a:ext>
            </a:extLst>
          </p:cNvPr>
          <p:cNvSpPr/>
          <p:nvPr/>
        </p:nvSpPr>
        <p:spPr>
          <a:xfrm>
            <a:off x="2105593" y="4587084"/>
            <a:ext cx="1592514" cy="53198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US" altLang="ja-JP" sz="1100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AWS</a:t>
            </a:r>
          </a:p>
          <a:p>
            <a:pPr>
              <a:defRPr/>
            </a:pPr>
            <a:r>
              <a:rPr lang="ja-JP" altLang="en-US" sz="1100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データ連携</a:t>
            </a:r>
            <a:endParaRPr lang="en-US" altLang="ja-JP" sz="1100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pic>
        <p:nvPicPr>
          <p:cNvPr id="40" name="Picture 11">
            <a:extLst>
              <a:ext uri="{FF2B5EF4-FFF2-40B4-BE49-F238E27FC236}">
                <a16:creationId xmlns:a16="http://schemas.microsoft.com/office/drawing/2014/main" id="{3E8BBE50-3D17-85C2-24C8-CBD65EBE15C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189197" y="4614865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43" name="直線コネクタ 42">
            <a:extLst>
              <a:ext uri="{FF2B5EF4-FFF2-40B4-BE49-F238E27FC236}">
                <a16:creationId xmlns:a16="http://schemas.microsoft.com/office/drawing/2014/main" id="{5230C28F-FE6D-96EF-46D1-DB55DE4C553A}"/>
              </a:ext>
            </a:extLst>
          </p:cNvPr>
          <p:cNvCxnSpPr>
            <a:stCxn id="63" idx="3"/>
          </p:cNvCxnSpPr>
          <p:nvPr/>
        </p:nvCxnSpPr>
        <p:spPr>
          <a:xfrm flipV="1">
            <a:off x="1870322" y="3150372"/>
            <a:ext cx="862442" cy="1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55956C56-2D94-2415-E44B-3ED23BBB51D4}"/>
              </a:ext>
            </a:extLst>
          </p:cNvPr>
          <p:cNvGrpSpPr/>
          <p:nvPr/>
        </p:nvGrpSpPr>
        <p:grpSpPr>
          <a:xfrm>
            <a:off x="2292836" y="2837237"/>
            <a:ext cx="963333" cy="574946"/>
            <a:chOff x="1633927" y="2205683"/>
            <a:chExt cx="1090362" cy="670409"/>
          </a:xfrm>
        </p:grpSpPr>
        <p:sp>
          <p:nvSpPr>
            <p:cNvPr id="26" name="フローチャート: 直接アクセス記憶 1">
              <a:extLst>
                <a:ext uri="{FF2B5EF4-FFF2-40B4-BE49-F238E27FC236}">
                  <a16:creationId xmlns:a16="http://schemas.microsoft.com/office/drawing/2014/main" id="{5158E3F6-C25A-004A-26F6-1F014D7C57EC}"/>
                </a:ext>
              </a:extLst>
            </p:cNvPr>
            <p:cNvSpPr/>
            <p:nvPr/>
          </p:nvSpPr>
          <p:spPr>
            <a:xfrm rot="16200000">
              <a:off x="1859616" y="2043385"/>
              <a:ext cx="670409" cy="995006"/>
            </a:xfrm>
            <a:prstGeom prst="flowChartMagneticDrum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endParaRPr lang="ja-JP" altLang="en-US" sz="1100" dirty="0">
                <a:solidFill>
                  <a:schemeClr val="dk1"/>
                </a:solidFill>
                <a:latin typeface="メイリオ" pitchFamily="50" charset="-128"/>
                <a:ea typeface="メイリオ" pitchFamily="50" charset="-128"/>
              </a:endParaRPr>
            </a:p>
          </p:txBody>
        </p:sp>
        <p:sp>
          <p:nvSpPr>
            <p:cNvPr id="27" name="正方形/長方形 26">
              <a:extLst>
                <a:ext uri="{FF2B5EF4-FFF2-40B4-BE49-F238E27FC236}">
                  <a16:creationId xmlns:a16="http://schemas.microsoft.com/office/drawing/2014/main" id="{6D58F022-66AE-94C6-729E-34EDA2FC71CB}"/>
                </a:ext>
              </a:extLst>
            </p:cNvPr>
            <p:cNvSpPr/>
            <p:nvPr/>
          </p:nvSpPr>
          <p:spPr>
            <a:xfrm>
              <a:off x="1633927" y="2251197"/>
              <a:ext cx="1090362" cy="624895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800" dirty="0"/>
                <a:t>分析用</a:t>
              </a:r>
              <a:r>
                <a:rPr kumimoji="1" lang="en-US" altLang="ja-JP" sz="800" dirty="0"/>
                <a:t>POS</a:t>
              </a:r>
              <a:r>
                <a:rPr kumimoji="1" lang="ja-JP" altLang="en-US" sz="800" dirty="0"/>
                <a:t>データ</a:t>
              </a:r>
              <a:endParaRPr kumimoji="1" lang="en-US" altLang="ja-JP" sz="800" dirty="0"/>
            </a:p>
            <a:p>
              <a:pPr algn="ctr"/>
              <a:r>
                <a:rPr lang="en-US" altLang="ja-JP" sz="800" dirty="0"/>
                <a:t>(</a:t>
              </a:r>
              <a:r>
                <a:rPr lang="ja-JP" altLang="en-US" sz="800" dirty="0"/>
                <a:t>ｲｸﾞﾆｶﾏﾈｰ</a:t>
              </a:r>
              <a:endParaRPr lang="en-US" altLang="ja-JP" sz="800" dirty="0"/>
            </a:p>
            <a:p>
              <a:pPr algn="ctr"/>
              <a:r>
                <a:rPr lang="ja-JP" altLang="en-US" sz="800" dirty="0"/>
                <a:t>支払情報</a:t>
              </a:r>
              <a:r>
                <a:rPr lang="ja-JP" altLang="en-US" sz="800" b="1" dirty="0"/>
                <a:t>ナシ</a:t>
              </a:r>
              <a:r>
                <a:rPr lang="ja-JP" altLang="en-US" sz="800" dirty="0"/>
                <a:t>）</a:t>
              </a:r>
              <a:endParaRPr kumimoji="1" lang="en-US" altLang="ja-JP" sz="800" dirty="0"/>
            </a:p>
          </p:txBody>
        </p:sp>
      </p:grpSp>
      <p:cxnSp>
        <p:nvCxnSpPr>
          <p:cNvPr id="50" name="直線矢印コネクタ 49">
            <a:extLst>
              <a:ext uri="{FF2B5EF4-FFF2-40B4-BE49-F238E27FC236}">
                <a16:creationId xmlns:a16="http://schemas.microsoft.com/office/drawing/2014/main" id="{224BE68F-186C-8EC0-E2AA-A3B8F73FAEF7}"/>
              </a:ext>
            </a:extLst>
          </p:cNvPr>
          <p:cNvCxnSpPr>
            <a:cxnSpLocks/>
            <a:stCxn id="26" idx="1"/>
            <a:endCxn id="39" idx="0"/>
          </p:cNvCxnSpPr>
          <p:nvPr/>
        </p:nvCxnSpPr>
        <p:spPr>
          <a:xfrm>
            <a:off x="2788384" y="3412183"/>
            <a:ext cx="113466" cy="117490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矢印コネクタ 65">
            <a:extLst>
              <a:ext uri="{FF2B5EF4-FFF2-40B4-BE49-F238E27FC236}">
                <a16:creationId xmlns:a16="http://schemas.microsoft.com/office/drawing/2014/main" id="{99ED9D06-3535-911C-391E-20D678A5B88C}"/>
              </a:ext>
            </a:extLst>
          </p:cNvPr>
          <p:cNvCxnSpPr>
            <a:cxnSpLocks/>
            <a:stCxn id="34" idx="0"/>
            <a:endCxn id="63" idx="2"/>
          </p:cNvCxnSpPr>
          <p:nvPr/>
        </p:nvCxnSpPr>
        <p:spPr>
          <a:xfrm flipV="1">
            <a:off x="1064623" y="3416367"/>
            <a:ext cx="9442" cy="1156827"/>
          </a:xfrm>
          <a:prstGeom prst="straightConnector1">
            <a:avLst/>
          </a:prstGeom>
          <a:ln w="127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0" name="グループ化 59">
            <a:extLst>
              <a:ext uri="{FF2B5EF4-FFF2-40B4-BE49-F238E27FC236}">
                <a16:creationId xmlns:a16="http://schemas.microsoft.com/office/drawing/2014/main" id="{873AA048-6388-F419-1BEA-1C200EC018F1}"/>
              </a:ext>
            </a:extLst>
          </p:cNvPr>
          <p:cNvGrpSpPr/>
          <p:nvPr/>
        </p:nvGrpSpPr>
        <p:grpSpPr>
          <a:xfrm>
            <a:off x="581981" y="3687791"/>
            <a:ext cx="963333" cy="574946"/>
            <a:chOff x="1633927" y="2205683"/>
            <a:chExt cx="1090362" cy="670409"/>
          </a:xfrm>
        </p:grpSpPr>
        <p:sp>
          <p:nvSpPr>
            <p:cNvPr id="61" name="フローチャート: 直接アクセス記憶 1">
              <a:extLst>
                <a:ext uri="{FF2B5EF4-FFF2-40B4-BE49-F238E27FC236}">
                  <a16:creationId xmlns:a16="http://schemas.microsoft.com/office/drawing/2014/main" id="{34DFA47C-3BF3-733B-209F-05ACFFC9A38B}"/>
                </a:ext>
              </a:extLst>
            </p:cNvPr>
            <p:cNvSpPr/>
            <p:nvPr/>
          </p:nvSpPr>
          <p:spPr>
            <a:xfrm rot="16200000">
              <a:off x="1859616" y="2043385"/>
              <a:ext cx="670409" cy="995006"/>
            </a:xfrm>
            <a:prstGeom prst="flowChartMagneticDrum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endParaRPr lang="ja-JP" altLang="en-US" sz="1100" dirty="0">
                <a:solidFill>
                  <a:schemeClr val="dk1"/>
                </a:solidFill>
                <a:latin typeface="メイリオ" pitchFamily="50" charset="-128"/>
                <a:ea typeface="メイリオ" pitchFamily="50" charset="-128"/>
              </a:endParaRPr>
            </a:p>
          </p:txBody>
        </p:sp>
        <p:sp>
          <p:nvSpPr>
            <p:cNvPr id="62" name="正方形/長方形 61">
              <a:extLst>
                <a:ext uri="{FF2B5EF4-FFF2-40B4-BE49-F238E27FC236}">
                  <a16:creationId xmlns:a16="http://schemas.microsoft.com/office/drawing/2014/main" id="{EF0492C0-129E-9DD3-3AFD-630509F7CD76}"/>
                </a:ext>
              </a:extLst>
            </p:cNvPr>
            <p:cNvSpPr/>
            <p:nvPr/>
          </p:nvSpPr>
          <p:spPr>
            <a:xfrm>
              <a:off x="1633927" y="2251197"/>
              <a:ext cx="1090362" cy="624895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800" dirty="0"/>
                <a:t>WAON</a:t>
              </a:r>
            </a:p>
            <a:p>
              <a:pPr algn="ctr"/>
              <a:r>
                <a:rPr lang="ja-JP" altLang="en-US" sz="800" dirty="0"/>
                <a:t>ポイントデータ</a:t>
              </a:r>
              <a:endParaRPr kumimoji="1" lang="en-US" altLang="ja-JP" sz="800" dirty="0"/>
            </a:p>
          </p:txBody>
        </p:sp>
      </p:grpSp>
      <p:pic>
        <p:nvPicPr>
          <p:cNvPr id="117" name="Picture 11">
            <a:extLst>
              <a:ext uri="{FF2B5EF4-FFF2-40B4-BE49-F238E27FC236}">
                <a16:creationId xmlns:a16="http://schemas.microsoft.com/office/drawing/2014/main" id="{384DCC12-C6FB-E940-9A7F-2DADED3AC6D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163657" y="4112707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7" name="Picture 27" descr="ICON_Cloud_Q308">
            <a:extLst>
              <a:ext uri="{FF2B5EF4-FFF2-40B4-BE49-F238E27FC236}">
                <a16:creationId xmlns:a16="http://schemas.microsoft.com/office/drawing/2014/main" id="{64FB1AF0-F8D1-46D6-B697-EA721AA09A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264580" y="5621224"/>
            <a:ext cx="1275763" cy="82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8" name="テキスト ボックス 7">
            <a:extLst>
              <a:ext uri="{FF2B5EF4-FFF2-40B4-BE49-F238E27FC236}">
                <a16:creationId xmlns:a16="http://schemas.microsoft.com/office/drawing/2014/main" id="{140FF2B1-3068-400F-8761-EEAF088EA8E0}"/>
              </a:ext>
            </a:extLst>
          </p:cNvPr>
          <p:cNvSpPr txBox="1"/>
          <p:nvPr/>
        </p:nvSpPr>
        <p:spPr>
          <a:xfrm>
            <a:off x="2555259" y="5841240"/>
            <a:ext cx="992029" cy="38201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1100" dirty="0"/>
              <a:t>Azure</a:t>
            </a:r>
          </a:p>
          <a:p>
            <a:r>
              <a:rPr kumimoji="1" lang="ja-JP" altLang="en-US" sz="1100" dirty="0"/>
              <a:t>イオン</a:t>
            </a:r>
            <a:r>
              <a:rPr kumimoji="1" lang="en-US" altLang="ja-JP" sz="1100" dirty="0"/>
              <a:t>DIC</a:t>
            </a:r>
            <a:endParaRPr kumimoji="1" lang="ja-JP" altLang="en-US" sz="1100" dirty="0"/>
          </a:p>
        </p:txBody>
      </p:sp>
      <p:cxnSp>
        <p:nvCxnSpPr>
          <p:cNvPr id="139" name="直線矢印コネクタ 138">
            <a:extLst>
              <a:ext uri="{FF2B5EF4-FFF2-40B4-BE49-F238E27FC236}">
                <a16:creationId xmlns:a16="http://schemas.microsoft.com/office/drawing/2014/main" id="{F8ECDE0B-A934-9F76-6C7F-A987188E0E1A}"/>
              </a:ext>
            </a:extLst>
          </p:cNvPr>
          <p:cNvCxnSpPr>
            <a:cxnSpLocks/>
            <a:stCxn id="39" idx="2"/>
            <a:endCxn id="137" idx="0"/>
          </p:cNvCxnSpPr>
          <p:nvPr/>
        </p:nvCxnSpPr>
        <p:spPr>
          <a:xfrm>
            <a:off x="2901850" y="5119073"/>
            <a:ext cx="612" cy="50215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線矢印コネクタ 155">
            <a:extLst>
              <a:ext uri="{FF2B5EF4-FFF2-40B4-BE49-F238E27FC236}">
                <a16:creationId xmlns:a16="http://schemas.microsoft.com/office/drawing/2014/main" id="{9EC9B2BC-2FB1-4533-20D9-46F49B2D387A}"/>
              </a:ext>
            </a:extLst>
          </p:cNvPr>
          <p:cNvCxnSpPr>
            <a:cxnSpLocks/>
            <a:stCxn id="26" idx="4"/>
            <a:endCxn id="98" idx="1"/>
          </p:cNvCxnSpPr>
          <p:nvPr/>
        </p:nvCxnSpPr>
        <p:spPr>
          <a:xfrm flipV="1">
            <a:off x="2788384" y="1514571"/>
            <a:ext cx="1324497" cy="132266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テキスト ボックス 158">
            <a:extLst>
              <a:ext uri="{FF2B5EF4-FFF2-40B4-BE49-F238E27FC236}">
                <a16:creationId xmlns:a16="http://schemas.microsoft.com/office/drawing/2014/main" id="{153E54EF-61D0-C688-FA76-2DD927FF45E6}"/>
              </a:ext>
            </a:extLst>
          </p:cNvPr>
          <p:cNvSpPr txBox="1"/>
          <p:nvPr/>
        </p:nvSpPr>
        <p:spPr>
          <a:xfrm>
            <a:off x="2352688" y="2581726"/>
            <a:ext cx="15574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全店舗の全データ</a:t>
            </a:r>
            <a:endParaRPr kumimoji="1" lang="en-US" altLang="ja-JP" sz="1000" dirty="0"/>
          </a:p>
        </p:txBody>
      </p:sp>
      <p:sp>
        <p:nvSpPr>
          <p:cNvPr id="160" name="テキスト ボックス 159">
            <a:extLst>
              <a:ext uri="{FF2B5EF4-FFF2-40B4-BE49-F238E27FC236}">
                <a16:creationId xmlns:a16="http://schemas.microsoft.com/office/drawing/2014/main" id="{1CD6CADB-64DA-884A-FE5C-7117E62210BA}"/>
              </a:ext>
            </a:extLst>
          </p:cNvPr>
          <p:cNvSpPr txBox="1"/>
          <p:nvPr/>
        </p:nvSpPr>
        <p:spPr>
          <a:xfrm>
            <a:off x="2256056" y="5233935"/>
            <a:ext cx="1415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00" dirty="0" err="1"/>
              <a:t>AzCopy</a:t>
            </a:r>
            <a:endParaRPr kumimoji="1" lang="en-US" altLang="ja-JP" sz="1000" dirty="0"/>
          </a:p>
        </p:txBody>
      </p:sp>
      <p:sp>
        <p:nvSpPr>
          <p:cNvPr id="161" name="テキスト ボックス 160">
            <a:extLst>
              <a:ext uri="{FF2B5EF4-FFF2-40B4-BE49-F238E27FC236}">
                <a16:creationId xmlns:a16="http://schemas.microsoft.com/office/drawing/2014/main" id="{42A0A8BC-6EF9-F5AD-B88D-5FBB067A09AD}"/>
              </a:ext>
            </a:extLst>
          </p:cNvPr>
          <p:cNvSpPr txBox="1"/>
          <p:nvPr/>
        </p:nvSpPr>
        <p:spPr>
          <a:xfrm>
            <a:off x="2443117" y="4168955"/>
            <a:ext cx="6022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00" dirty="0"/>
              <a:t>FTP</a:t>
            </a:r>
          </a:p>
        </p:txBody>
      </p:sp>
      <p:sp>
        <p:nvSpPr>
          <p:cNvPr id="162" name="テキスト ボックス 161">
            <a:extLst>
              <a:ext uri="{FF2B5EF4-FFF2-40B4-BE49-F238E27FC236}">
                <a16:creationId xmlns:a16="http://schemas.microsoft.com/office/drawing/2014/main" id="{52D8FA41-BCBD-A844-4C4A-F690E2361559}"/>
              </a:ext>
            </a:extLst>
          </p:cNvPr>
          <p:cNvSpPr txBox="1"/>
          <p:nvPr/>
        </p:nvSpPr>
        <p:spPr>
          <a:xfrm>
            <a:off x="3671571" y="3731378"/>
            <a:ext cx="6022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00" dirty="0"/>
              <a:t>FTP</a:t>
            </a:r>
          </a:p>
        </p:txBody>
      </p:sp>
      <p:sp>
        <p:nvSpPr>
          <p:cNvPr id="163" name="テキスト ボックス 162">
            <a:extLst>
              <a:ext uri="{FF2B5EF4-FFF2-40B4-BE49-F238E27FC236}">
                <a16:creationId xmlns:a16="http://schemas.microsoft.com/office/drawing/2014/main" id="{A9824FCB-F166-E1E4-FD03-2A14923DF2E3}"/>
              </a:ext>
            </a:extLst>
          </p:cNvPr>
          <p:cNvSpPr txBox="1"/>
          <p:nvPr/>
        </p:nvSpPr>
        <p:spPr>
          <a:xfrm>
            <a:off x="3728232" y="1353770"/>
            <a:ext cx="6022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00" dirty="0"/>
              <a:t>FTP</a:t>
            </a:r>
          </a:p>
        </p:txBody>
      </p:sp>
      <p:sp>
        <p:nvSpPr>
          <p:cNvPr id="164" name="テキスト ボックス 163">
            <a:extLst>
              <a:ext uri="{FF2B5EF4-FFF2-40B4-BE49-F238E27FC236}">
                <a16:creationId xmlns:a16="http://schemas.microsoft.com/office/drawing/2014/main" id="{1B8F09E9-B4C7-846F-CDD6-6B8EF0EBF9DC}"/>
              </a:ext>
            </a:extLst>
          </p:cNvPr>
          <p:cNvSpPr txBox="1"/>
          <p:nvPr/>
        </p:nvSpPr>
        <p:spPr>
          <a:xfrm>
            <a:off x="5844449" y="2118176"/>
            <a:ext cx="1415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00" dirty="0" err="1"/>
              <a:t>AzCopy</a:t>
            </a:r>
            <a:endParaRPr kumimoji="1" lang="en-US" altLang="ja-JP" sz="1000" dirty="0"/>
          </a:p>
        </p:txBody>
      </p:sp>
      <p:sp>
        <p:nvSpPr>
          <p:cNvPr id="166" name="テキスト ボックス 165">
            <a:extLst>
              <a:ext uri="{FF2B5EF4-FFF2-40B4-BE49-F238E27FC236}">
                <a16:creationId xmlns:a16="http://schemas.microsoft.com/office/drawing/2014/main" id="{2DC77929-7D82-CE91-9E48-E0CB5B34613B}"/>
              </a:ext>
            </a:extLst>
          </p:cNvPr>
          <p:cNvSpPr txBox="1"/>
          <p:nvPr/>
        </p:nvSpPr>
        <p:spPr>
          <a:xfrm>
            <a:off x="682608" y="4301335"/>
            <a:ext cx="6022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00" dirty="0"/>
              <a:t>FTP</a:t>
            </a:r>
          </a:p>
        </p:txBody>
      </p:sp>
      <p:sp>
        <p:nvSpPr>
          <p:cNvPr id="167" name="テキスト ボックス 166">
            <a:extLst>
              <a:ext uri="{FF2B5EF4-FFF2-40B4-BE49-F238E27FC236}">
                <a16:creationId xmlns:a16="http://schemas.microsoft.com/office/drawing/2014/main" id="{A83BC573-F2E6-2C93-A9E1-6EB000A58431}"/>
              </a:ext>
            </a:extLst>
          </p:cNvPr>
          <p:cNvSpPr txBox="1"/>
          <p:nvPr/>
        </p:nvSpPr>
        <p:spPr>
          <a:xfrm>
            <a:off x="713902" y="1734474"/>
            <a:ext cx="6022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00" dirty="0"/>
              <a:t>FTP</a:t>
            </a:r>
          </a:p>
        </p:txBody>
      </p:sp>
      <p:sp>
        <p:nvSpPr>
          <p:cNvPr id="168" name="テキスト ボックス 167">
            <a:extLst>
              <a:ext uri="{FF2B5EF4-FFF2-40B4-BE49-F238E27FC236}">
                <a16:creationId xmlns:a16="http://schemas.microsoft.com/office/drawing/2014/main" id="{E11F21EE-D688-AF0B-2CDB-BFCCA5DA1398}"/>
              </a:ext>
            </a:extLst>
          </p:cNvPr>
          <p:cNvSpPr txBox="1"/>
          <p:nvPr/>
        </p:nvSpPr>
        <p:spPr>
          <a:xfrm>
            <a:off x="373817" y="3480603"/>
            <a:ext cx="15574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全店舗の全データ</a:t>
            </a:r>
            <a:endParaRPr kumimoji="1" lang="en-US" altLang="ja-JP" sz="1000" dirty="0"/>
          </a:p>
        </p:txBody>
      </p:sp>
    </p:spTree>
    <p:extLst>
      <p:ext uri="{BB962C8B-B14F-4D97-AF65-F5344CB8AC3E}">
        <p14:creationId xmlns:p14="http://schemas.microsoft.com/office/powerpoint/2010/main" val="2921295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52AAE-D3A9-0FC8-80FE-64F131777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正方形/長方形 134">
            <a:extLst>
              <a:ext uri="{FF2B5EF4-FFF2-40B4-BE49-F238E27FC236}">
                <a16:creationId xmlns:a16="http://schemas.microsoft.com/office/drawing/2014/main" id="{9E687EF9-D6D4-F405-66F5-98E304644DEE}"/>
              </a:ext>
            </a:extLst>
          </p:cNvPr>
          <p:cNvSpPr/>
          <p:nvPr/>
        </p:nvSpPr>
        <p:spPr>
          <a:xfrm>
            <a:off x="3953822" y="905764"/>
            <a:ext cx="4129474" cy="118886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ja-JP" altLang="en-US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C9FB9D82-E888-55FB-DA2B-309DE407070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3BA266-C45D-4247-AFA2-0456ACADB962}" type="slidenum">
              <a:rPr kumimoji="1" lang="ja-JP" altLang="en-US" smtClean="0"/>
              <a:t>2</a:t>
            </a:fld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C8AEF512-F981-3601-544B-606279EA933F}"/>
              </a:ext>
            </a:extLst>
          </p:cNvPr>
          <p:cNvSpPr/>
          <p:nvPr/>
        </p:nvSpPr>
        <p:spPr>
          <a:xfrm flipH="1">
            <a:off x="4072940" y="5088537"/>
            <a:ext cx="1695474" cy="106537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ja-JP" altLang="en-US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B1C13E0D-8218-9B60-8CFA-5C15BD2C6F6C}"/>
              </a:ext>
            </a:extLst>
          </p:cNvPr>
          <p:cNvSpPr/>
          <p:nvPr/>
        </p:nvSpPr>
        <p:spPr>
          <a:xfrm>
            <a:off x="110732" y="2065211"/>
            <a:ext cx="3436556" cy="208845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ja-JP" altLang="en-US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2079AD1D-B94C-993A-D05D-C04260940734}"/>
              </a:ext>
            </a:extLst>
          </p:cNvPr>
          <p:cNvSpPr/>
          <p:nvPr/>
        </p:nvSpPr>
        <p:spPr>
          <a:xfrm>
            <a:off x="4116870" y="5391980"/>
            <a:ext cx="1575274" cy="642938"/>
          </a:xfrm>
          <a:prstGeom prst="rect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r>
              <a:rPr lang="ja-JP" altLang="en-US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カスミ</a:t>
            </a:r>
            <a:endParaRPr lang="en-US" altLang="ja-JP" sz="11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</a:endParaRPr>
          </a:p>
          <a:p>
            <a:r>
              <a:rPr lang="ja-JP" altLang="en-US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ＭＶＩＦレジ</a:t>
            </a:r>
            <a:endParaRPr lang="en-US" altLang="ja-JP" sz="11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</a:endParaRPr>
          </a:p>
          <a:p>
            <a:r>
              <a:rPr lang="ja-JP" altLang="en-US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スキャンＧＯ</a:t>
            </a:r>
            <a:endParaRPr lang="en-US" altLang="ja-JP" sz="11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</a:endParaRPr>
          </a:p>
        </p:txBody>
      </p:sp>
      <p:pic>
        <p:nvPicPr>
          <p:cNvPr id="48" name="図 30">
            <a:extLst>
              <a:ext uri="{FF2B5EF4-FFF2-40B4-BE49-F238E27FC236}">
                <a16:creationId xmlns:a16="http://schemas.microsoft.com/office/drawing/2014/main" id="{D8D3951C-4A0E-9A23-10DA-57E1B094D4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78287" y="5508018"/>
            <a:ext cx="379413" cy="439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6" name="正方形/長方形 75">
            <a:extLst>
              <a:ext uri="{FF2B5EF4-FFF2-40B4-BE49-F238E27FC236}">
                <a16:creationId xmlns:a16="http://schemas.microsoft.com/office/drawing/2014/main" id="{7865DFFF-3E61-C5E3-D4F1-4C4582E50C0F}"/>
              </a:ext>
            </a:extLst>
          </p:cNvPr>
          <p:cNvSpPr/>
          <p:nvPr/>
        </p:nvSpPr>
        <p:spPr>
          <a:xfrm>
            <a:off x="1890532" y="1980695"/>
            <a:ext cx="856316" cy="4286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1200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アイネス</a:t>
            </a:r>
            <a:endParaRPr lang="en-US" altLang="ja-JP" sz="1200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cxnSp>
        <p:nvCxnSpPr>
          <p:cNvPr id="54" name="直線矢印コネクタ 53">
            <a:extLst>
              <a:ext uri="{FF2B5EF4-FFF2-40B4-BE49-F238E27FC236}">
                <a16:creationId xmlns:a16="http://schemas.microsoft.com/office/drawing/2014/main" id="{A7E4F6FE-3E31-2A52-EC94-0A1A3F3EC403}"/>
              </a:ext>
            </a:extLst>
          </p:cNvPr>
          <p:cNvCxnSpPr>
            <a:cxnSpLocks/>
            <a:stCxn id="67" idx="2"/>
          </p:cNvCxnSpPr>
          <p:nvPr/>
        </p:nvCxnSpPr>
        <p:spPr>
          <a:xfrm>
            <a:off x="1074065" y="1653855"/>
            <a:ext cx="0" cy="1230523"/>
          </a:xfrm>
          <a:prstGeom prst="straightConnector1">
            <a:avLst/>
          </a:prstGeom>
          <a:ln w="127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正方形/長方形 66">
            <a:extLst>
              <a:ext uri="{FF2B5EF4-FFF2-40B4-BE49-F238E27FC236}">
                <a16:creationId xmlns:a16="http://schemas.microsoft.com/office/drawing/2014/main" id="{2F8CA459-79B5-ECE1-CEA9-B3748E1F8553}"/>
              </a:ext>
            </a:extLst>
          </p:cNvPr>
          <p:cNvSpPr/>
          <p:nvPr/>
        </p:nvSpPr>
        <p:spPr>
          <a:xfrm>
            <a:off x="277808" y="1121866"/>
            <a:ext cx="1592514" cy="53198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US" altLang="ja-JP" sz="1100" dirty="0" err="1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OzSearch</a:t>
            </a:r>
            <a:endParaRPr lang="en-US" altLang="ja-JP" sz="1100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pic>
        <p:nvPicPr>
          <p:cNvPr id="70" name="Picture 11">
            <a:extLst>
              <a:ext uri="{FF2B5EF4-FFF2-40B4-BE49-F238E27FC236}">
                <a16:creationId xmlns:a16="http://schemas.microsoft.com/office/drawing/2014/main" id="{D70F661C-291E-73C3-D14C-B1970BD3EDA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321657" y="1149647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2" name="グループ化 31">
            <a:extLst>
              <a:ext uri="{FF2B5EF4-FFF2-40B4-BE49-F238E27FC236}">
                <a16:creationId xmlns:a16="http://schemas.microsoft.com/office/drawing/2014/main" id="{3ECB62E7-E02D-A52F-7D46-F29354C7CBB2}"/>
              </a:ext>
            </a:extLst>
          </p:cNvPr>
          <p:cNvGrpSpPr/>
          <p:nvPr/>
        </p:nvGrpSpPr>
        <p:grpSpPr>
          <a:xfrm>
            <a:off x="7460054" y="4095744"/>
            <a:ext cx="1592514" cy="527844"/>
            <a:chOff x="7460054" y="4095744"/>
            <a:chExt cx="1592514" cy="527844"/>
          </a:xfrm>
        </p:grpSpPr>
        <p:sp>
          <p:nvSpPr>
            <p:cNvPr id="96" name="正方形/長方形 95">
              <a:extLst>
                <a:ext uri="{FF2B5EF4-FFF2-40B4-BE49-F238E27FC236}">
                  <a16:creationId xmlns:a16="http://schemas.microsoft.com/office/drawing/2014/main" id="{A3F2F25E-7F52-E103-320A-4E33FE288ACE}"/>
                </a:ext>
              </a:extLst>
            </p:cNvPr>
            <p:cNvSpPr/>
            <p:nvPr/>
          </p:nvSpPr>
          <p:spPr>
            <a:xfrm>
              <a:off x="7460054" y="4095744"/>
              <a:ext cx="1592514" cy="527844"/>
            </a:xfrm>
            <a:prstGeom prst="rect">
              <a:avLst/>
            </a:prstGeom>
            <a:gradFill>
              <a:gsLst>
                <a:gs pos="0">
                  <a:schemeClr val="tx2">
                    <a:lumMod val="40000"/>
                    <a:lumOff val="60000"/>
                  </a:schemeClr>
                </a:gs>
                <a:gs pos="40000">
                  <a:schemeClr val="accent1"/>
                </a:gs>
                <a:gs pos="100000">
                  <a:schemeClr val="tx2">
                    <a:lumMod val="40000"/>
                    <a:lumOff val="60000"/>
                  </a:schemeClr>
                </a:gs>
              </a:gsLst>
              <a:lin ang="16200000" scaled="1"/>
            </a:gradFill>
            <a:ln w="9525">
              <a:solidFill>
                <a:schemeClr val="accent2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anchor="ctr"/>
            <a:lstStyle/>
            <a:p>
              <a:r>
                <a:rPr lang="en-US" altLang="ja-JP" sz="1100" dirty="0">
                  <a:solidFill>
                    <a:schemeClr val="tx1"/>
                  </a:solidFill>
                  <a:latin typeface="メイリオ" pitchFamily="50" charset="-128"/>
                  <a:ea typeface="メイリオ" pitchFamily="50" charset="-128"/>
                </a:rPr>
                <a:t>Azure</a:t>
              </a:r>
            </a:p>
            <a:p>
              <a:r>
                <a:rPr lang="en-US" altLang="ja-JP" sz="1100" dirty="0">
                  <a:solidFill>
                    <a:schemeClr val="tx1"/>
                  </a:solidFill>
                  <a:latin typeface="メイリオ" pitchFamily="50" charset="-128"/>
                  <a:ea typeface="メイリオ" pitchFamily="50" charset="-128"/>
                </a:rPr>
                <a:t>POS</a:t>
              </a:r>
              <a:r>
                <a:rPr lang="ja-JP" altLang="en-US" sz="1100" dirty="0">
                  <a:solidFill>
                    <a:schemeClr val="tx1"/>
                  </a:solidFill>
                  <a:latin typeface="メイリオ" pitchFamily="50" charset="-128"/>
                  <a:ea typeface="メイリオ" pitchFamily="50" charset="-128"/>
                </a:rPr>
                <a:t>サーバ</a:t>
              </a:r>
              <a:endParaRPr lang="en-US" altLang="ja-JP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endParaRPr>
            </a:p>
            <a:p>
              <a:r>
                <a:rPr lang="ja-JP" altLang="en-US" sz="1100" dirty="0">
                  <a:solidFill>
                    <a:schemeClr val="tx1"/>
                  </a:solidFill>
                  <a:latin typeface="メイリオ" pitchFamily="50" charset="-128"/>
                  <a:ea typeface="メイリオ" pitchFamily="50" charset="-128"/>
                </a:rPr>
                <a:t>ＭＶ関東</a:t>
              </a:r>
              <a:endParaRPr lang="en-US" altLang="ja-JP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endParaRPr>
            </a:p>
          </p:txBody>
        </p:sp>
        <p:pic>
          <p:nvPicPr>
            <p:cNvPr id="97" name="Picture 11">
              <a:extLst>
                <a:ext uri="{FF2B5EF4-FFF2-40B4-BE49-F238E27FC236}">
                  <a16:creationId xmlns:a16="http://schemas.microsoft.com/office/drawing/2014/main" id="{AFD49789-68B2-CDC7-E430-1F4ABD15559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8538760" y="4112707"/>
              <a:ext cx="496568" cy="5042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98" name="正方形/長方形 97">
            <a:extLst>
              <a:ext uri="{FF2B5EF4-FFF2-40B4-BE49-F238E27FC236}">
                <a16:creationId xmlns:a16="http://schemas.microsoft.com/office/drawing/2014/main" id="{303B91DD-2E54-F041-623A-CE07EC8B6CC4}"/>
              </a:ext>
            </a:extLst>
          </p:cNvPr>
          <p:cNvSpPr/>
          <p:nvPr/>
        </p:nvSpPr>
        <p:spPr>
          <a:xfrm>
            <a:off x="4112881" y="1248576"/>
            <a:ext cx="1592514" cy="53198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US" altLang="ja-JP" sz="1100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AWS</a:t>
            </a:r>
            <a:r>
              <a:rPr lang="ja-JP" altLang="en-US" sz="1100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上</a:t>
            </a:r>
            <a:endParaRPr lang="en-US" altLang="ja-JP" sz="1100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r>
              <a:rPr lang="en-US" altLang="ja-JP" sz="1100" dirty="0" err="1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OzCube</a:t>
            </a:r>
            <a:endParaRPr lang="en-US" altLang="ja-JP" sz="1100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pic>
        <p:nvPicPr>
          <p:cNvPr id="99" name="Picture 11">
            <a:extLst>
              <a:ext uri="{FF2B5EF4-FFF2-40B4-BE49-F238E27FC236}">
                <a16:creationId xmlns:a16="http://schemas.microsoft.com/office/drawing/2014/main" id="{8F3AC1CD-861B-C016-3BF4-111CBD05BA3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156730" y="1276357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0" name="正方形/長方形 99">
            <a:extLst>
              <a:ext uri="{FF2B5EF4-FFF2-40B4-BE49-F238E27FC236}">
                <a16:creationId xmlns:a16="http://schemas.microsoft.com/office/drawing/2014/main" id="{DD313224-87AE-316B-2EB3-2E8012667E94}"/>
              </a:ext>
            </a:extLst>
          </p:cNvPr>
          <p:cNvSpPr/>
          <p:nvPr/>
        </p:nvSpPr>
        <p:spPr>
          <a:xfrm>
            <a:off x="3911713" y="851408"/>
            <a:ext cx="856316" cy="4286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1200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ＵＳＭＨ</a:t>
            </a:r>
            <a:endParaRPr lang="en-US" altLang="ja-JP" sz="1200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05" name="正方形/長方形 104">
            <a:extLst>
              <a:ext uri="{FF2B5EF4-FFF2-40B4-BE49-F238E27FC236}">
                <a16:creationId xmlns:a16="http://schemas.microsoft.com/office/drawing/2014/main" id="{85DBA35C-C15E-779E-BD06-5227154BCE6D}"/>
              </a:ext>
            </a:extLst>
          </p:cNvPr>
          <p:cNvSpPr/>
          <p:nvPr/>
        </p:nvSpPr>
        <p:spPr>
          <a:xfrm>
            <a:off x="4014214" y="5033673"/>
            <a:ext cx="856316" cy="4286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1200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店舗環境</a:t>
            </a:r>
            <a:endParaRPr lang="en-US" altLang="ja-JP" sz="1200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10" name="正方形/長方形 109">
            <a:extLst>
              <a:ext uri="{FF2B5EF4-FFF2-40B4-BE49-F238E27FC236}">
                <a16:creationId xmlns:a16="http://schemas.microsoft.com/office/drawing/2014/main" id="{94CD2E87-7755-1627-F416-A2D6811DF6BB}"/>
              </a:ext>
            </a:extLst>
          </p:cNvPr>
          <p:cNvSpPr/>
          <p:nvPr/>
        </p:nvSpPr>
        <p:spPr>
          <a:xfrm flipH="1">
            <a:off x="5768414" y="5088537"/>
            <a:ext cx="1695474" cy="106537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ja-JP" altLang="en-US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11" name="正方形/長方形 110">
            <a:extLst>
              <a:ext uri="{FF2B5EF4-FFF2-40B4-BE49-F238E27FC236}">
                <a16:creationId xmlns:a16="http://schemas.microsoft.com/office/drawing/2014/main" id="{55083844-B243-3BD9-3528-CDB4092F52E3}"/>
              </a:ext>
            </a:extLst>
          </p:cNvPr>
          <p:cNvSpPr/>
          <p:nvPr/>
        </p:nvSpPr>
        <p:spPr>
          <a:xfrm>
            <a:off x="5812344" y="5391980"/>
            <a:ext cx="1575274" cy="642938"/>
          </a:xfrm>
          <a:prstGeom prst="rect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r>
              <a:rPr lang="ja-JP" altLang="en-US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マルエツ</a:t>
            </a:r>
            <a:endParaRPr lang="en-US" altLang="ja-JP" sz="11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</a:endParaRPr>
          </a:p>
          <a:p>
            <a:r>
              <a:rPr lang="ja-JP" altLang="en-US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ＭＶＩＦレジ</a:t>
            </a:r>
            <a:endParaRPr lang="en-US" altLang="ja-JP" sz="11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</a:endParaRPr>
          </a:p>
          <a:p>
            <a:r>
              <a:rPr lang="ja-JP" altLang="en-US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スキャンＧＯ</a:t>
            </a:r>
            <a:endParaRPr lang="en-US" altLang="ja-JP" sz="11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</a:endParaRPr>
          </a:p>
        </p:txBody>
      </p:sp>
      <p:pic>
        <p:nvPicPr>
          <p:cNvPr id="112" name="図 30">
            <a:extLst>
              <a:ext uri="{FF2B5EF4-FFF2-40B4-BE49-F238E27FC236}">
                <a16:creationId xmlns:a16="http://schemas.microsoft.com/office/drawing/2014/main" id="{605795AD-DD17-6977-2951-0FADEBC1FEF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73761" y="5508018"/>
            <a:ext cx="379413" cy="439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3" name="正方形/長方形 112">
            <a:extLst>
              <a:ext uri="{FF2B5EF4-FFF2-40B4-BE49-F238E27FC236}">
                <a16:creationId xmlns:a16="http://schemas.microsoft.com/office/drawing/2014/main" id="{F7A50EB2-6106-4AC7-BEFE-AF3F765ECAF4}"/>
              </a:ext>
            </a:extLst>
          </p:cNvPr>
          <p:cNvSpPr/>
          <p:nvPr/>
        </p:nvSpPr>
        <p:spPr>
          <a:xfrm flipH="1">
            <a:off x="7408574" y="5088537"/>
            <a:ext cx="1695474" cy="106537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ja-JP" altLang="en-US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14" name="正方形/長方形 113">
            <a:extLst>
              <a:ext uri="{FF2B5EF4-FFF2-40B4-BE49-F238E27FC236}">
                <a16:creationId xmlns:a16="http://schemas.microsoft.com/office/drawing/2014/main" id="{BDE58CFB-0E11-7AF4-2EF6-FC5A67F16661}"/>
              </a:ext>
            </a:extLst>
          </p:cNvPr>
          <p:cNvSpPr/>
          <p:nvPr/>
        </p:nvSpPr>
        <p:spPr>
          <a:xfrm>
            <a:off x="7452504" y="5391980"/>
            <a:ext cx="1575274" cy="642938"/>
          </a:xfrm>
          <a:prstGeom prst="rect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r>
              <a:rPr lang="ja-JP" altLang="en-US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ＭＶ関東</a:t>
            </a:r>
            <a:endParaRPr lang="en-US" altLang="ja-JP" sz="11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</a:endParaRPr>
          </a:p>
          <a:p>
            <a:r>
              <a:rPr lang="ja-JP" altLang="en-US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ＭＶＩＦレジ</a:t>
            </a:r>
            <a:endParaRPr lang="en-US" altLang="ja-JP" sz="11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</a:endParaRPr>
          </a:p>
          <a:p>
            <a:r>
              <a:rPr lang="ja-JP" altLang="en-US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スキャンＧＯ</a:t>
            </a:r>
            <a:endParaRPr lang="en-US" altLang="ja-JP" sz="11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</a:endParaRPr>
          </a:p>
        </p:txBody>
      </p:sp>
      <p:pic>
        <p:nvPicPr>
          <p:cNvPr id="115" name="図 30">
            <a:extLst>
              <a:ext uri="{FF2B5EF4-FFF2-40B4-BE49-F238E27FC236}">
                <a16:creationId xmlns:a16="http://schemas.microsoft.com/office/drawing/2014/main" id="{D87708C4-301B-55E9-A7A3-95094EEDF2F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513921" y="5508018"/>
            <a:ext cx="379413" cy="439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18" name="直線矢印コネクタ 117">
            <a:extLst>
              <a:ext uri="{FF2B5EF4-FFF2-40B4-BE49-F238E27FC236}">
                <a16:creationId xmlns:a16="http://schemas.microsoft.com/office/drawing/2014/main" id="{A2021362-C6DB-32AB-6A93-B09FE41B1C0D}"/>
              </a:ext>
            </a:extLst>
          </p:cNvPr>
          <p:cNvCxnSpPr>
            <a:stCxn id="101" idx="2"/>
          </p:cNvCxnSpPr>
          <p:nvPr/>
        </p:nvCxnSpPr>
        <p:spPr>
          <a:xfrm flipH="1">
            <a:off x="7151623" y="1780565"/>
            <a:ext cx="6939" cy="2330959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線矢印コネクタ 118">
            <a:extLst>
              <a:ext uri="{FF2B5EF4-FFF2-40B4-BE49-F238E27FC236}">
                <a16:creationId xmlns:a16="http://schemas.microsoft.com/office/drawing/2014/main" id="{E8AB5378-161B-6D32-4BBC-29A177B884EC}"/>
              </a:ext>
            </a:extLst>
          </p:cNvPr>
          <p:cNvCxnSpPr>
            <a:stCxn id="101" idx="2"/>
          </p:cNvCxnSpPr>
          <p:nvPr/>
        </p:nvCxnSpPr>
        <p:spPr>
          <a:xfrm>
            <a:off x="7158562" y="1780565"/>
            <a:ext cx="590705" cy="2330959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0" name="グループ化 119">
            <a:extLst>
              <a:ext uri="{FF2B5EF4-FFF2-40B4-BE49-F238E27FC236}">
                <a16:creationId xmlns:a16="http://schemas.microsoft.com/office/drawing/2014/main" id="{0314A2B4-ECA4-CF94-7DFA-F5185204CEFE}"/>
              </a:ext>
            </a:extLst>
          </p:cNvPr>
          <p:cNvGrpSpPr/>
          <p:nvPr/>
        </p:nvGrpSpPr>
        <p:grpSpPr>
          <a:xfrm>
            <a:off x="2146354" y="989808"/>
            <a:ext cx="757171" cy="610183"/>
            <a:chOff x="-122746" y="2265909"/>
            <a:chExt cx="757171" cy="610183"/>
          </a:xfrm>
        </p:grpSpPr>
        <p:sp>
          <p:nvSpPr>
            <p:cNvPr id="121" name="フローチャート: 直接アクセス記憶 1">
              <a:extLst>
                <a:ext uri="{FF2B5EF4-FFF2-40B4-BE49-F238E27FC236}">
                  <a16:creationId xmlns:a16="http://schemas.microsoft.com/office/drawing/2014/main" id="{BA59E32B-2306-1B2C-685C-6936D0C3B476}"/>
                </a:ext>
              </a:extLst>
            </p:cNvPr>
            <p:cNvSpPr/>
            <p:nvPr/>
          </p:nvSpPr>
          <p:spPr>
            <a:xfrm rot="16200000">
              <a:off x="-42872" y="2295336"/>
              <a:ext cx="603063" cy="544210"/>
            </a:xfrm>
            <a:prstGeom prst="flowChartMagneticDrum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endParaRPr lang="ja-JP" altLang="en-US" sz="1100" dirty="0">
                <a:solidFill>
                  <a:schemeClr val="dk1"/>
                </a:solidFill>
                <a:latin typeface="メイリオ" pitchFamily="50" charset="-128"/>
                <a:ea typeface="メイリオ" pitchFamily="50" charset="-128"/>
              </a:endParaRPr>
            </a:p>
          </p:txBody>
        </p:sp>
        <p:sp>
          <p:nvSpPr>
            <p:cNvPr id="122" name="正方形/長方形 121">
              <a:extLst>
                <a:ext uri="{FF2B5EF4-FFF2-40B4-BE49-F238E27FC236}">
                  <a16:creationId xmlns:a16="http://schemas.microsoft.com/office/drawing/2014/main" id="{030E8562-41B9-D138-79B5-256979DE273F}"/>
                </a:ext>
              </a:extLst>
            </p:cNvPr>
            <p:cNvSpPr/>
            <p:nvPr/>
          </p:nvSpPr>
          <p:spPr>
            <a:xfrm>
              <a:off x="-122746" y="2344103"/>
              <a:ext cx="757171" cy="531989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800" dirty="0">
                  <a:solidFill>
                    <a:schemeClr val="tx1"/>
                  </a:solidFill>
                </a:rPr>
                <a:t>SG/OD</a:t>
              </a:r>
              <a:r>
                <a:rPr kumimoji="1" lang="ja-JP" altLang="en-US" sz="800" dirty="0">
                  <a:solidFill>
                    <a:schemeClr val="tx1"/>
                  </a:solidFill>
                </a:rPr>
                <a:t>データのみ</a:t>
              </a:r>
            </a:p>
          </p:txBody>
        </p:sp>
      </p:grpSp>
      <p:grpSp>
        <p:nvGrpSpPr>
          <p:cNvPr id="123" name="グループ化 122">
            <a:extLst>
              <a:ext uri="{FF2B5EF4-FFF2-40B4-BE49-F238E27FC236}">
                <a16:creationId xmlns:a16="http://schemas.microsoft.com/office/drawing/2014/main" id="{A21F676F-56FD-CA86-9285-0D8BBCDAF829}"/>
              </a:ext>
            </a:extLst>
          </p:cNvPr>
          <p:cNvGrpSpPr/>
          <p:nvPr/>
        </p:nvGrpSpPr>
        <p:grpSpPr>
          <a:xfrm>
            <a:off x="6301655" y="3416367"/>
            <a:ext cx="757171" cy="610183"/>
            <a:chOff x="1978955" y="2265909"/>
            <a:chExt cx="757171" cy="610183"/>
          </a:xfrm>
        </p:grpSpPr>
        <p:sp>
          <p:nvSpPr>
            <p:cNvPr id="124" name="フローチャート: 直接アクセス記憶 1">
              <a:extLst>
                <a:ext uri="{FF2B5EF4-FFF2-40B4-BE49-F238E27FC236}">
                  <a16:creationId xmlns:a16="http://schemas.microsoft.com/office/drawing/2014/main" id="{421983C7-E32D-DD49-DB78-C1E3BE4379A3}"/>
                </a:ext>
              </a:extLst>
            </p:cNvPr>
            <p:cNvSpPr/>
            <p:nvPr/>
          </p:nvSpPr>
          <p:spPr>
            <a:xfrm rot="16200000">
              <a:off x="2058829" y="2295336"/>
              <a:ext cx="603063" cy="544210"/>
            </a:xfrm>
            <a:prstGeom prst="flowChartMagneticDrum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endParaRPr lang="ja-JP" altLang="en-US" sz="1100" dirty="0">
                <a:solidFill>
                  <a:schemeClr val="dk1"/>
                </a:solidFill>
                <a:latin typeface="メイリオ" pitchFamily="50" charset="-128"/>
                <a:ea typeface="メイリオ" pitchFamily="50" charset="-128"/>
              </a:endParaRPr>
            </a:p>
          </p:txBody>
        </p:sp>
        <p:sp>
          <p:nvSpPr>
            <p:cNvPr id="125" name="正方形/長方形 124">
              <a:extLst>
                <a:ext uri="{FF2B5EF4-FFF2-40B4-BE49-F238E27FC236}">
                  <a16:creationId xmlns:a16="http://schemas.microsoft.com/office/drawing/2014/main" id="{AA188935-D29F-9F2F-1A58-8AECE16FC7B6}"/>
                </a:ext>
              </a:extLst>
            </p:cNvPr>
            <p:cNvSpPr/>
            <p:nvPr/>
          </p:nvSpPr>
          <p:spPr>
            <a:xfrm>
              <a:off x="1978955" y="2344103"/>
              <a:ext cx="757171" cy="531989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800" dirty="0">
                  <a:solidFill>
                    <a:schemeClr val="tx1"/>
                  </a:solidFill>
                </a:rPr>
                <a:t>SG/OD</a:t>
              </a:r>
              <a:r>
                <a:rPr kumimoji="1" lang="ja-JP" altLang="en-US" sz="800" dirty="0">
                  <a:solidFill>
                    <a:schemeClr val="tx1"/>
                  </a:solidFill>
                </a:rPr>
                <a:t>データ</a:t>
              </a:r>
              <a:endParaRPr kumimoji="1" lang="en-US" altLang="ja-JP" sz="800" dirty="0">
                <a:solidFill>
                  <a:schemeClr val="tx1"/>
                </a:solidFill>
              </a:endParaRPr>
            </a:p>
            <a:p>
              <a:pPr algn="ctr"/>
              <a:r>
                <a:rPr lang="ja-JP" altLang="en-US" sz="800" dirty="0">
                  <a:solidFill>
                    <a:schemeClr val="tx1"/>
                  </a:solidFill>
                </a:rPr>
                <a:t>のみ</a:t>
              </a:r>
              <a:endParaRPr kumimoji="1" lang="ja-JP" altLang="en-US" sz="8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26" name="グループ化 125">
            <a:extLst>
              <a:ext uri="{FF2B5EF4-FFF2-40B4-BE49-F238E27FC236}">
                <a16:creationId xmlns:a16="http://schemas.microsoft.com/office/drawing/2014/main" id="{D8C93980-28FB-35FE-E463-0C513FBCB85A}"/>
              </a:ext>
            </a:extLst>
          </p:cNvPr>
          <p:cNvGrpSpPr/>
          <p:nvPr/>
        </p:nvGrpSpPr>
        <p:grpSpPr>
          <a:xfrm>
            <a:off x="7788997" y="3422698"/>
            <a:ext cx="757171" cy="610183"/>
            <a:chOff x="1978955" y="2265909"/>
            <a:chExt cx="757171" cy="610183"/>
          </a:xfrm>
        </p:grpSpPr>
        <p:sp>
          <p:nvSpPr>
            <p:cNvPr id="127" name="フローチャート: 直接アクセス記憶 1">
              <a:extLst>
                <a:ext uri="{FF2B5EF4-FFF2-40B4-BE49-F238E27FC236}">
                  <a16:creationId xmlns:a16="http://schemas.microsoft.com/office/drawing/2014/main" id="{92F1D15C-8BBF-9EF4-DC40-D0CFD08D0701}"/>
                </a:ext>
              </a:extLst>
            </p:cNvPr>
            <p:cNvSpPr/>
            <p:nvPr/>
          </p:nvSpPr>
          <p:spPr>
            <a:xfrm rot="16200000">
              <a:off x="2058829" y="2295336"/>
              <a:ext cx="603063" cy="544210"/>
            </a:xfrm>
            <a:prstGeom prst="flowChartMagneticDrum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endParaRPr lang="ja-JP" altLang="en-US" sz="1100" dirty="0">
                <a:solidFill>
                  <a:schemeClr val="dk1"/>
                </a:solidFill>
                <a:latin typeface="メイリオ" pitchFamily="50" charset="-128"/>
                <a:ea typeface="メイリオ" pitchFamily="50" charset="-128"/>
              </a:endParaRPr>
            </a:p>
          </p:txBody>
        </p:sp>
        <p:sp>
          <p:nvSpPr>
            <p:cNvPr id="128" name="正方形/長方形 127">
              <a:extLst>
                <a:ext uri="{FF2B5EF4-FFF2-40B4-BE49-F238E27FC236}">
                  <a16:creationId xmlns:a16="http://schemas.microsoft.com/office/drawing/2014/main" id="{74667B3E-592B-67FC-807C-760373CE01F6}"/>
                </a:ext>
              </a:extLst>
            </p:cNvPr>
            <p:cNvSpPr/>
            <p:nvPr/>
          </p:nvSpPr>
          <p:spPr>
            <a:xfrm>
              <a:off x="1978955" y="2344103"/>
              <a:ext cx="757171" cy="531989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800" dirty="0">
                  <a:solidFill>
                    <a:schemeClr val="tx1"/>
                  </a:solidFill>
                </a:rPr>
                <a:t>SG/OD</a:t>
              </a:r>
              <a:r>
                <a:rPr kumimoji="1" lang="ja-JP" altLang="en-US" sz="800" dirty="0">
                  <a:solidFill>
                    <a:schemeClr val="tx1"/>
                  </a:solidFill>
                </a:rPr>
                <a:t>データのみ</a:t>
              </a:r>
            </a:p>
          </p:txBody>
        </p:sp>
      </p:grpSp>
      <p:cxnSp>
        <p:nvCxnSpPr>
          <p:cNvPr id="129" name="直線矢印コネクタ 128">
            <a:extLst>
              <a:ext uri="{FF2B5EF4-FFF2-40B4-BE49-F238E27FC236}">
                <a16:creationId xmlns:a16="http://schemas.microsoft.com/office/drawing/2014/main" id="{25DB6ED4-FE52-A899-505A-5CF3A5E11A72}"/>
              </a:ext>
            </a:extLst>
          </p:cNvPr>
          <p:cNvCxnSpPr>
            <a:cxnSpLocks/>
          </p:cNvCxnSpPr>
          <p:nvPr/>
        </p:nvCxnSpPr>
        <p:spPr>
          <a:xfrm flipH="1">
            <a:off x="4920677" y="4111524"/>
            <a:ext cx="8620" cy="1280456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3" name="Picture 11">
            <a:extLst>
              <a:ext uri="{FF2B5EF4-FFF2-40B4-BE49-F238E27FC236}">
                <a16:creationId xmlns:a16="http://schemas.microsoft.com/office/drawing/2014/main" id="{7AED3171-2461-D367-50B0-78493045F81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151646" y="4112707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30" name="直線矢印コネクタ 129">
            <a:extLst>
              <a:ext uri="{FF2B5EF4-FFF2-40B4-BE49-F238E27FC236}">
                <a16:creationId xmlns:a16="http://schemas.microsoft.com/office/drawing/2014/main" id="{0ADF3C7E-0C6C-C73A-4084-1918571E55B1}"/>
              </a:ext>
            </a:extLst>
          </p:cNvPr>
          <p:cNvCxnSpPr>
            <a:cxnSpLocks/>
          </p:cNvCxnSpPr>
          <p:nvPr/>
        </p:nvCxnSpPr>
        <p:spPr>
          <a:xfrm flipH="1">
            <a:off x="6556051" y="4111524"/>
            <a:ext cx="8620" cy="1280456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正方形/長方形 93">
            <a:extLst>
              <a:ext uri="{FF2B5EF4-FFF2-40B4-BE49-F238E27FC236}">
                <a16:creationId xmlns:a16="http://schemas.microsoft.com/office/drawing/2014/main" id="{AEDDFD6D-B511-6B55-9249-A586C0EBBF9A}"/>
              </a:ext>
            </a:extLst>
          </p:cNvPr>
          <p:cNvSpPr/>
          <p:nvPr/>
        </p:nvSpPr>
        <p:spPr>
          <a:xfrm>
            <a:off x="5768414" y="4095744"/>
            <a:ext cx="1592514" cy="527844"/>
          </a:xfrm>
          <a:prstGeom prst="rect">
            <a:avLst/>
          </a:prstGeom>
          <a:gradFill>
            <a:gsLst>
              <a:gs pos="0">
                <a:schemeClr val="tx2">
                  <a:lumMod val="40000"/>
                  <a:lumOff val="60000"/>
                </a:schemeClr>
              </a:gs>
              <a:gs pos="40000">
                <a:schemeClr val="accent1"/>
              </a:gs>
              <a:gs pos="100000">
                <a:schemeClr val="tx2">
                  <a:lumMod val="40000"/>
                  <a:lumOff val="60000"/>
                </a:schemeClr>
              </a:gs>
            </a:gsLst>
            <a:lin ang="16200000" scaled="1"/>
          </a:gradFill>
          <a:ln w="9525">
            <a:solidFill>
              <a:schemeClr val="accent2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r>
              <a:rPr lang="en-US" altLang="ja-JP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Azure</a:t>
            </a:r>
          </a:p>
          <a:p>
            <a:r>
              <a:rPr lang="en-US" altLang="ja-JP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POS</a:t>
            </a:r>
            <a:r>
              <a:rPr lang="ja-JP" altLang="en-US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サーバ</a:t>
            </a:r>
            <a:endParaRPr lang="en-US" altLang="ja-JP" sz="11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</a:endParaRPr>
          </a:p>
          <a:p>
            <a:r>
              <a:rPr lang="ja-JP" altLang="en-US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マルエツ</a:t>
            </a:r>
            <a:endParaRPr lang="en-US" altLang="ja-JP" sz="11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</a:endParaRPr>
          </a:p>
        </p:txBody>
      </p:sp>
      <p:pic>
        <p:nvPicPr>
          <p:cNvPr id="95" name="Picture 11">
            <a:extLst>
              <a:ext uri="{FF2B5EF4-FFF2-40B4-BE49-F238E27FC236}">
                <a16:creationId xmlns:a16="http://schemas.microsoft.com/office/drawing/2014/main" id="{9DA536AE-BF30-4015-B823-BA91056C93B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847120" y="4112707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32" name="直線矢印コネクタ 131">
            <a:extLst>
              <a:ext uri="{FF2B5EF4-FFF2-40B4-BE49-F238E27FC236}">
                <a16:creationId xmlns:a16="http://schemas.microsoft.com/office/drawing/2014/main" id="{FA9DA0BE-78FC-8392-D698-F33E92B8326F}"/>
              </a:ext>
            </a:extLst>
          </p:cNvPr>
          <p:cNvCxnSpPr>
            <a:cxnSpLocks/>
          </p:cNvCxnSpPr>
          <p:nvPr/>
        </p:nvCxnSpPr>
        <p:spPr>
          <a:xfrm>
            <a:off x="8158241" y="4623588"/>
            <a:ext cx="0" cy="768392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線矢印コネクタ 133">
            <a:extLst>
              <a:ext uri="{FF2B5EF4-FFF2-40B4-BE49-F238E27FC236}">
                <a16:creationId xmlns:a16="http://schemas.microsoft.com/office/drawing/2014/main" id="{D7B145B5-2D37-2B8E-11FE-C6D8F2A57C25}"/>
              </a:ext>
            </a:extLst>
          </p:cNvPr>
          <p:cNvCxnSpPr>
            <a:cxnSpLocks/>
          </p:cNvCxnSpPr>
          <p:nvPr/>
        </p:nvCxnSpPr>
        <p:spPr>
          <a:xfrm>
            <a:off x="5705395" y="1514570"/>
            <a:ext cx="1016732" cy="0"/>
          </a:xfrm>
          <a:prstGeom prst="straightConnector1">
            <a:avLst/>
          </a:prstGeom>
          <a:ln w="22225">
            <a:solidFill>
              <a:schemeClr val="accent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正方形/長方形 100">
            <a:extLst>
              <a:ext uri="{FF2B5EF4-FFF2-40B4-BE49-F238E27FC236}">
                <a16:creationId xmlns:a16="http://schemas.microsoft.com/office/drawing/2014/main" id="{AF3466FC-4235-BC12-7D76-146EE535757B}"/>
              </a:ext>
            </a:extLst>
          </p:cNvPr>
          <p:cNvSpPr/>
          <p:nvPr/>
        </p:nvSpPr>
        <p:spPr>
          <a:xfrm>
            <a:off x="6362305" y="1248576"/>
            <a:ext cx="1592514" cy="531989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US" altLang="ja-JP" sz="1100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Azure</a:t>
            </a:r>
            <a:r>
              <a:rPr lang="ja-JP" altLang="en-US" sz="1100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上</a:t>
            </a:r>
            <a:endParaRPr lang="en-US" altLang="ja-JP" sz="1100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r>
              <a:rPr lang="ja-JP" altLang="en-US" sz="1100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共通</a:t>
            </a:r>
            <a:r>
              <a:rPr lang="en-US" altLang="ja-JP" sz="1100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DB</a:t>
            </a:r>
          </a:p>
        </p:txBody>
      </p:sp>
      <p:pic>
        <p:nvPicPr>
          <p:cNvPr id="102" name="Picture 11">
            <a:extLst>
              <a:ext uri="{FF2B5EF4-FFF2-40B4-BE49-F238E27FC236}">
                <a16:creationId xmlns:a16="http://schemas.microsoft.com/office/drawing/2014/main" id="{8EF45DD9-0041-6C35-370B-83C15820C02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406154" y="1276357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2" name="正方形/長方形 71">
            <a:extLst>
              <a:ext uri="{FF2B5EF4-FFF2-40B4-BE49-F238E27FC236}">
                <a16:creationId xmlns:a16="http://schemas.microsoft.com/office/drawing/2014/main" id="{6C0631BE-4317-B464-4C8D-B96EB025EA53}"/>
              </a:ext>
            </a:extLst>
          </p:cNvPr>
          <p:cNvSpPr/>
          <p:nvPr/>
        </p:nvSpPr>
        <p:spPr>
          <a:xfrm>
            <a:off x="39797" y="91440"/>
            <a:ext cx="7366358" cy="5394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r>
              <a:rPr kumimoji="1" lang="ja-JP" altLang="en-US" sz="2000">
                <a:latin typeface="HG丸ｺﾞｼｯｸM-PRO"/>
                <a:ea typeface="HG丸ｺﾞｼｯｸM-PRO"/>
              </a:rPr>
              <a:t>ＰＯＳ</a:t>
            </a:r>
            <a:r>
              <a:rPr lang="ja-JP" altLang="en-US" sz="2000">
                <a:latin typeface="HG丸ｺﾞｼｯｸM-PRO"/>
                <a:ea typeface="HG丸ｺﾞｼｯｸM-PRO"/>
              </a:rPr>
              <a:t>データ加工サーバー連携図（新システム）</a:t>
            </a:r>
            <a:endParaRPr kumimoji="1" lang="ja-JP" altLang="en-US" sz="2000" dirty="0">
              <a:latin typeface="HG丸ｺﾞｼｯｸM-PRO" pitchFamily="50" charset="-128"/>
              <a:ea typeface="HG丸ｺﾞｼｯｸM-PRO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681684A-04FE-49B5-4A5B-13D4BDF8CD93}"/>
              </a:ext>
            </a:extLst>
          </p:cNvPr>
          <p:cNvSpPr txBox="1"/>
          <p:nvPr/>
        </p:nvSpPr>
        <p:spPr>
          <a:xfrm>
            <a:off x="6821796" y="2755226"/>
            <a:ext cx="1415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通信は</a:t>
            </a:r>
            <a:r>
              <a:rPr kumimoji="1" lang="en-US" altLang="ja-JP" sz="1000" dirty="0" err="1"/>
              <a:t>AzCopy</a:t>
            </a:r>
            <a:r>
              <a:rPr kumimoji="1" lang="ja-JP" altLang="en-US" sz="1000" dirty="0"/>
              <a:t>を利用</a:t>
            </a:r>
            <a:endParaRPr kumimoji="1" lang="en-US" altLang="ja-JP" sz="1000" dirty="0"/>
          </a:p>
        </p:txBody>
      </p:sp>
      <p:sp>
        <p:nvSpPr>
          <p:cNvPr id="74" name="テキスト ボックス 73">
            <a:extLst>
              <a:ext uri="{FF2B5EF4-FFF2-40B4-BE49-F238E27FC236}">
                <a16:creationId xmlns:a16="http://schemas.microsoft.com/office/drawing/2014/main" id="{C1A2B324-0E12-2FBA-3DB7-BBF32DF21F44}"/>
              </a:ext>
            </a:extLst>
          </p:cNvPr>
          <p:cNvSpPr txBox="1"/>
          <p:nvPr/>
        </p:nvSpPr>
        <p:spPr>
          <a:xfrm>
            <a:off x="6887921" y="3087134"/>
            <a:ext cx="12832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00" dirty="0"/>
              <a:t>SG/OD</a:t>
            </a:r>
            <a:r>
              <a:rPr kumimoji="1" lang="ja-JP" altLang="en-US" sz="1000" dirty="0"/>
              <a:t>データのみ</a:t>
            </a:r>
            <a:endParaRPr kumimoji="1" lang="en-US" altLang="ja-JP" sz="1000" dirty="0"/>
          </a:p>
          <a:p>
            <a:r>
              <a:rPr kumimoji="1" lang="ja-JP" altLang="en-US" sz="1000" dirty="0"/>
              <a:t>送信</a:t>
            </a:r>
            <a:endParaRPr kumimoji="1" lang="en-US" altLang="ja-JP" sz="1000" dirty="0"/>
          </a:p>
        </p:txBody>
      </p: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BBC9567A-F88E-3841-7FC4-02838CF69502}"/>
              </a:ext>
            </a:extLst>
          </p:cNvPr>
          <p:cNvSpPr txBox="1"/>
          <p:nvPr/>
        </p:nvSpPr>
        <p:spPr>
          <a:xfrm>
            <a:off x="2146354" y="1564725"/>
            <a:ext cx="15574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00" dirty="0"/>
              <a:t>SG/OD</a:t>
            </a:r>
            <a:r>
              <a:rPr kumimoji="1" lang="ja-JP" altLang="en-US" sz="1000" dirty="0"/>
              <a:t>データのみ</a:t>
            </a:r>
            <a:endParaRPr kumimoji="1" lang="en-US" altLang="ja-JP" sz="1000" dirty="0"/>
          </a:p>
          <a:p>
            <a:r>
              <a:rPr lang="ja-JP" altLang="en-US" sz="1000" dirty="0"/>
              <a:t>抽出して送信</a:t>
            </a:r>
            <a:endParaRPr kumimoji="1" lang="en-US" altLang="ja-JP" sz="1000" dirty="0"/>
          </a:p>
        </p:txBody>
      </p:sp>
      <p:sp>
        <p:nvSpPr>
          <p:cNvPr id="4" name="フリーフォーム: 図形 3">
            <a:extLst>
              <a:ext uri="{FF2B5EF4-FFF2-40B4-BE49-F238E27FC236}">
                <a16:creationId xmlns:a16="http://schemas.microsoft.com/office/drawing/2014/main" id="{0277D271-C831-8B23-A418-2466D7740D75}"/>
              </a:ext>
            </a:extLst>
          </p:cNvPr>
          <p:cNvSpPr/>
          <p:nvPr/>
        </p:nvSpPr>
        <p:spPr>
          <a:xfrm>
            <a:off x="1883802" y="1509369"/>
            <a:ext cx="5107283" cy="1005093"/>
          </a:xfrm>
          <a:custGeom>
            <a:avLst/>
            <a:gdLst>
              <a:gd name="connsiteX0" fmla="*/ 0 w 5133315"/>
              <a:gd name="connsiteY0" fmla="*/ 0 h 1008278"/>
              <a:gd name="connsiteX1" fmla="*/ 3485585 w 5133315"/>
              <a:gd name="connsiteY1" fmla="*/ 1004934 h 1008278"/>
              <a:gd name="connsiteX2" fmla="*/ 5133315 w 5133315"/>
              <a:gd name="connsiteY2" fmla="*/ 262550 h 1008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33315" h="1008278">
                <a:moveTo>
                  <a:pt x="0" y="0"/>
                </a:moveTo>
                <a:cubicBezTo>
                  <a:pt x="1315016" y="480588"/>
                  <a:pt x="2630033" y="961176"/>
                  <a:pt x="3485585" y="1004934"/>
                </a:cubicBezTo>
                <a:cubicBezTo>
                  <a:pt x="4341137" y="1048692"/>
                  <a:pt x="4737226" y="655621"/>
                  <a:pt x="5133315" y="262550"/>
                </a:cubicBezTo>
              </a:path>
            </a:pathLst>
          </a:custGeom>
          <a:noFill/>
          <a:ln>
            <a:solidFill>
              <a:schemeClr val="accent1"/>
            </a:solidFill>
            <a:tailEnd type="triangle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47" name="グループ化 146">
            <a:extLst>
              <a:ext uri="{FF2B5EF4-FFF2-40B4-BE49-F238E27FC236}">
                <a16:creationId xmlns:a16="http://schemas.microsoft.com/office/drawing/2014/main" id="{2D9D9F83-4C3D-5429-C0D4-CC2FBC0F57B1}"/>
              </a:ext>
            </a:extLst>
          </p:cNvPr>
          <p:cNvGrpSpPr/>
          <p:nvPr/>
        </p:nvGrpSpPr>
        <p:grpSpPr>
          <a:xfrm>
            <a:off x="579233" y="1981643"/>
            <a:ext cx="963333" cy="574946"/>
            <a:chOff x="1633927" y="2205683"/>
            <a:chExt cx="1090362" cy="670409"/>
          </a:xfrm>
        </p:grpSpPr>
        <p:sp>
          <p:nvSpPr>
            <p:cNvPr id="149" name="フローチャート: 直接アクセス記憶 1">
              <a:extLst>
                <a:ext uri="{FF2B5EF4-FFF2-40B4-BE49-F238E27FC236}">
                  <a16:creationId xmlns:a16="http://schemas.microsoft.com/office/drawing/2014/main" id="{85525041-08F0-1B61-044E-F0F93682956F}"/>
                </a:ext>
              </a:extLst>
            </p:cNvPr>
            <p:cNvSpPr/>
            <p:nvPr/>
          </p:nvSpPr>
          <p:spPr>
            <a:xfrm rot="16200000">
              <a:off x="1859616" y="2043385"/>
              <a:ext cx="670409" cy="995006"/>
            </a:xfrm>
            <a:prstGeom prst="flowChartMagneticDrum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endParaRPr lang="ja-JP" altLang="en-US" sz="1100" dirty="0">
                <a:solidFill>
                  <a:schemeClr val="dk1"/>
                </a:solidFill>
                <a:latin typeface="メイリオ" pitchFamily="50" charset="-128"/>
                <a:ea typeface="メイリオ" pitchFamily="50" charset="-128"/>
              </a:endParaRPr>
            </a:p>
          </p:txBody>
        </p:sp>
        <p:sp>
          <p:nvSpPr>
            <p:cNvPr id="150" name="正方形/長方形 149">
              <a:extLst>
                <a:ext uri="{FF2B5EF4-FFF2-40B4-BE49-F238E27FC236}">
                  <a16:creationId xmlns:a16="http://schemas.microsoft.com/office/drawing/2014/main" id="{3AE6C74F-56A4-A2E7-41CA-EB5C39E481D2}"/>
                </a:ext>
              </a:extLst>
            </p:cNvPr>
            <p:cNvSpPr/>
            <p:nvPr/>
          </p:nvSpPr>
          <p:spPr>
            <a:xfrm>
              <a:off x="1633927" y="2251197"/>
              <a:ext cx="1090362" cy="624895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800" dirty="0"/>
                <a:t>分析用</a:t>
              </a:r>
              <a:r>
                <a:rPr kumimoji="1" lang="en-US" altLang="ja-JP" sz="800" dirty="0"/>
                <a:t>POS</a:t>
              </a:r>
              <a:r>
                <a:rPr kumimoji="1" lang="ja-JP" altLang="en-US" sz="800" dirty="0"/>
                <a:t>データ</a:t>
              </a:r>
              <a:endParaRPr kumimoji="1" lang="en-US" altLang="ja-JP" sz="800" dirty="0"/>
            </a:p>
            <a:p>
              <a:pPr algn="ctr"/>
              <a:r>
                <a:rPr lang="en-US" altLang="ja-JP" sz="800" dirty="0"/>
                <a:t>(</a:t>
              </a:r>
              <a:r>
                <a:rPr lang="ja-JP" altLang="en-US" sz="800" dirty="0"/>
                <a:t>ｲｸﾞﾆｶﾏﾈｰ</a:t>
              </a:r>
              <a:endParaRPr lang="en-US" altLang="ja-JP" sz="800" dirty="0"/>
            </a:p>
            <a:p>
              <a:pPr algn="ctr"/>
              <a:r>
                <a:rPr lang="ja-JP" altLang="en-US" sz="800" dirty="0"/>
                <a:t>支払情報</a:t>
              </a:r>
              <a:r>
                <a:rPr lang="ja-JP" altLang="en-US" sz="800" b="1" dirty="0">
                  <a:solidFill>
                    <a:srgbClr val="FF0000"/>
                  </a:solidFill>
                </a:rPr>
                <a:t>アリ</a:t>
              </a:r>
              <a:r>
                <a:rPr lang="ja-JP" altLang="en-US" sz="800" dirty="0"/>
                <a:t>）</a:t>
              </a:r>
              <a:endParaRPr kumimoji="1" lang="en-US" altLang="ja-JP" sz="800" dirty="0"/>
            </a:p>
          </p:txBody>
        </p:sp>
      </p:grp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47101D3B-2C77-ED2B-28F6-3967E9E341AD}"/>
              </a:ext>
            </a:extLst>
          </p:cNvPr>
          <p:cNvCxnSpPr>
            <a:cxnSpLocks/>
          </p:cNvCxnSpPr>
          <p:nvPr/>
        </p:nvCxnSpPr>
        <p:spPr>
          <a:xfrm flipH="1" flipV="1">
            <a:off x="3400862" y="3377122"/>
            <a:ext cx="1122082" cy="27327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正方形/長方形 91">
            <a:extLst>
              <a:ext uri="{FF2B5EF4-FFF2-40B4-BE49-F238E27FC236}">
                <a16:creationId xmlns:a16="http://schemas.microsoft.com/office/drawing/2014/main" id="{C17E042F-8FF7-CC76-0925-889992168F65}"/>
              </a:ext>
            </a:extLst>
          </p:cNvPr>
          <p:cNvSpPr/>
          <p:nvPr/>
        </p:nvSpPr>
        <p:spPr>
          <a:xfrm>
            <a:off x="4072940" y="4095744"/>
            <a:ext cx="1592514" cy="527844"/>
          </a:xfrm>
          <a:prstGeom prst="rect">
            <a:avLst/>
          </a:prstGeom>
          <a:gradFill>
            <a:gsLst>
              <a:gs pos="0">
                <a:schemeClr val="tx2">
                  <a:lumMod val="40000"/>
                  <a:lumOff val="60000"/>
                </a:schemeClr>
              </a:gs>
              <a:gs pos="40000">
                <a:schemeClr val="accent1"/>
              </a:gs>
              <a:gs pos="100000">
                <a:schemeClr val="tx2">
                  <a:lumMod val="40000"/>
                  <a:lumOff val="60000"/>
                </a:schemeClr>
              </a:gs>
            </a:gsLst>
            <a:lin ang="16200000" scaled="1"/>
          </a:gradFill>
          <a:ln w="9525">
            <a:solidFill>
              <a:schemeClr val="accent2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r>
              <a:rPr lang="en-US" altLang="ja-JP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Azure</a:t>
            </a:r>
          </a:p>
          <a:p>
            <a:r>
              <a:rPr lang="en-US" altLang="ja-JP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POS</a:t>
            </a:r>
            <a:r>
              <a:rPr lang="ja-JP" altLang="en-US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サーバ</a:t>
            </a:r>
            <a:endParaRPr lang="en-US" altLang="ja-JP" sz="11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</a:endParaRPr>
          </a:p>
          <a:p>
            <a:r>
              <a:rPr lang="ja-JP" altLang="en-US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カスミ</a:t>
            </a:r>
            <a:endParaRPr lang="en-US" altLang="ja-JP" sz="11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7E0C6A2-CCD3-FCFB-DD7B-A994EAE8A636}"/>
              </a:ext>
            </a:extLst>
          </p:cNvPr>
          <p:cNvSpPr txBox="1"/>
          <p:nvPr/>
        </p:nvSpPr>
        <p:spPr>
          <a:xfrm>
            <a:off x="3441581" y="1907180"/>
            <a:ext cx="26228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100" b="1" dirty="0">
                <a:solidFill>
                  <a:srgbClr val="FF0000"/>
                </a:solidFill>
              </a:rPr>
              <a:t>※</a:t>
            </a:r>
            <a:r>
              <a:rPr lang="ja-JP" altLang="en-US" sz="1100" b="1" dirty="0">
                <a:solidFill>
                  <a:srgbClr val="FF0000"/>
                </a:solidFill>
              </a:rPr>
              <a:t>カスミの</a:t>
            </a:r>
            <a:r>
              <a:rPr lang="en-US" altLang="ja-JP" sz="1100" b="1" dirty="0">
                <a:solidFill>
                  <a:srgbClr val="FF0000"/>
                </a:solidFill>
              </a:rPr>
              <a:t>SG/OD</a:t>
            </a:r>
            <a:r>
              <a:rPr lang="ja-JP" altLang="en-US" sz="1100" b="1" dirty="0">
                <a:solidFill>
                  <a:srgbClr val="FF0000"/>
                </a:solidFill>
              </a:rPr>
              <a:t>データは、</a:t>
            </a:r>
            <a:endParaRPr lang="en-US" altLang="ja-JP" sz="1100" b="1" dirty="0">
              <a:solidFill>
                <a:srgbClr val="FF0000"/>
              </a:solidFill>
            </a:endParaRPr>
          </a:p>
          <a:p>
            <a:r>
              <a:rPr lang="ja-JP" altLang="en-US" sz="1100" b="1" dirty="0">
                <a:solidFill>
                  <a:srgbClr val="FF0000"/>
                </a:solidFill>
              </a:rPr>
              <a:t>　</a:t>
            </a:r>
            <a:r>
              <a:rPr lang="en-US" altLang="ja-JP" sz="1100" b="1" dirty="0" err="1">
                <a:solidFill>
                  <a:srgbClr val="FF0000"/>
                </a:solidFill>
              </a:rPr>
              <a:t>OzSearch</a:t>
            </a:r>
            <a:r>
              <a:rPr lang="ja-JP" altLang="en-US" sz="1100" b="1" dirty="0">
                <a:solidFill>
                  <a:srgbClr val="FF0000"/>
                </a:solidFill>
              </a:rPr>
              <a:t>から抽出したものを使用する。</a:t>
            </a:r>
            <a:endParaRPr lang="en-US" altLang="ja-JP" sz="1100" b="1" dirty="0">
              <a:solidFill>
                <a:srgbClr val="FF0000"/>
              </a:solidFill>
            </a:endParaRPr>
          </a:p>
        </p:txBody>
      </p:sp>
      <p:sp>
        <p:nvSpPr>
          <p:cNvPr id="16" name="吹き出し: 折線 15">
            <a:extLst>
              <a:ext uri="{FF2B5EF4-FFF2-40B4-BE49-F238E27FC236}">
                <a16:creationId xmlns:a16="http://schemas.microsoft.com/office/drawing/2014/main" id="{5AB4EC10-1346-68E4-284C-1990E8B2F15A}"/>
              </a:ext>
            </a:extLst>
          </p:cNvPr>
          <p:cNvSpPr/>
          <p:nvPr/>
        </p:nvSpPr>
        <p:spPr>
          <a:xfrm>
            <a:off x="6269267" y="942803"/>
            <a:ext cx="882356" cy="269289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218798"/>
              <a:gd name="adj6" fmla="val -34051"/>
            </a:avLst>
          </a:prstGeom>
          <a:ln w="15875">
            <a:solidFill>
              <a:srgbClr val="FF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/>
              <a:t>月一手作業</a:t>
            </a: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8E88852E-64F9-412E-3A8F-500DB1C1F42B}"/>
              </a:ext>
            </a:extLst>
          </p:cNvPr>
          <p:cNvSpPr/>
          <p:nvPr/>
        </p:nvSpPr>
        <p:spPr>
          <a:xfrm>
            <a:off x="268366" y="4573194"/>
            <a:ext cx="1592514" cy="53198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US" altLang="ja-JP" sz="1100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WAON</a:t>
            </a:r>
            <a:r>
              <a:rPr lang="ja-JP" altLang="en-US" sz="1100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ポイント</a:t>
            </a:r>
            <a:endParaRPr lang="en-US" altLang="ja-JP" sz="1100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r>
              <a:rPr lang="ja-JP" altLang="en-US" sz="1100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集計</a:t>
            </a:r>
            <a:endParaRPr lang="en-US" altLang="ja-JP" sz="1100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pic>
        <p:nvPicPr>
          <p:cNvPr id="35" name="Picture 11">
            <a:extLst>
              <a:ext uri="{FF2B5EF4-FFF2-40B4-BE49-F238E27FC236}">
                <a16:creationId xmlns:a16="http://schemas.microsoft.com/office/drawing/2014/main" id="{3BF65917-7B09-A7F9-5A7E-095D901D52B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363456" y="4587084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88EDC7A2-D9CE-9FEF-97D9-F28D402DF067}"/>
              </a:ext>
            </a:extLst>
          </p:cNvPr>
          <p:cNvSpPr/>
          <p:nvPr/>
        </p:nvSpPr>
        <p:spPr>
          <a:xfrm>
            <a:off x="2105593" y="4587084"/>
            <a:ext cx="1592514" cy="53198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US" altLang="ja-JP" sz="1100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AWS</a:t>
            </a:r>
          </a:p>
          <a:p>
            <a:pPr>
              <a:defRPr/>
            </a:pPr>
            <a:r>
              <a:rPr lang="ja-JP" altLang="en-US" sz="1100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データ連携</a:t>
            </a:r>
            <a:endParaRPr lang="en-US" altLang="ja-JP" sz="1100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pic>
        <p:nvPicPr>
          <p:cNvPr id="40" name="Picture 11">
            <a:extLst>
              <a:ext uri="{FF2B5EF4-FFF2-40B4-BE49-F238E27FC236}">
                <a16:creationId xmlns:a16="http://schemas.microsoft.com/office/drawing/2014/main" id="{A2C54450-0F26-9174-C934-7291F9FC5E7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189197" y="4614865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C553C61C-C632-8392-DDA5-AD8B16F7F79F}"/>
              </a:ext>
            </a:extLst>
          </p:cNvPr>
          <p:cNvGrpSpPr/>
          <p:nvPr/>
        </p:nvGrpSpPr>
        <p:grpSpPr>
          <a:xfrm>
            <a:off x="2292836" y="2837237"/>
            <a:ext cx="963333" cy="574946"/>
            <a:chOff x="1633927" y="2205683"/>
            <a:chExt cx="1090362" cy="670409"/>
          </a:xfrm>
        </p:grpSpPr>
        <p:sp>
          <p:nvSpPr>
            <p:cNvPr id="26" name="フローチャート: 直接アクセス記憶 1">
              <a:extLst>
                <a:ext uri="{FF2B5EF4-FFF2-40B4-BE49-F238E27FC236}">
                  <a16:creationId xmlns:a16="http://schemas.microsoft.com/office/drawing/2014/main" id="{2E95C093-72F5-E1FC-3019-BF4CF8095168}"/>
                </a:ext>
              </a:extLst>
            </p:cNvPr>
            <p:cNvSpPr/>
            <p:nvPr/>
          </p:nvSpPr>
          <p:spPr>
            <a:xfrm rot="16200000">
              <a:off x="1859616" y="2043385"/>
              <a:ext cx="670409" cy="995006"/>
            </a:xfrm>
            <a:prstGeom prst="flowChartMagneticDrum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endParaRPr lang="ja-JP" altLang="en-US" sz="1100" dirty="0">
                <a:solidFill>
                  <a:schemeClr val="dk1"/>
                </a:solidFill>
                <a:latin typeface="メイリオ" pitchFamily="50" charset="-128"/>
                <a:ea typeface="メイリオ" pitchFamily="50" charset="-128"/>
              </a:endParaRPr>
            </a:p>
          </p:txBody>
        </p:sp>
        <p:sp>
          <p:nvSpPr>
            <p:cNvPr id="27" name="正方形/長方形 26">
              <a:extLst>
                <a:ext uri="{FF2B5EF4-FFF2-40B4-BE49-F238E27FC236}">
                  <a16:creationId xmlns:a16="http://schemas.microsoft.com/office/drawing/2014/main" id="{DEE42B08-CF6F-CF1C-EE87-753422ECCC49}"/>
                </a:ext>
              </a:extLst>
            </p:cNvPr>
            <p:cNvSpPr/>
            <p:nvPr/>
          </p:nvSpPr>
          <p:spPr>
            <a:xfrm>
              <a:off x="1633927" y="2251197"/>
              <a:ext cx="1090362" cy="624895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800" dirty="0"/>
                <a:t>分析用</a:t>
              </a:r>
              <a:r>
                <a:rPr kumimoji="1" lang="en-US" altLang="ja-JP" sz="800" dirty="0"/>
                <a:t>POS</a:t>
              </a:r>
              <a:r>
                <a:rPr kumimoji="1" lang="ja-JP" altLang="en-US" sz="800" dirty="0"/>
                <a:t>データ</a:t>
              </a:r>
              <a:endParaRPr kumimoji="1" lang="en-US" altLang="ja-JP" sz="800" dirty="0"/>
            </a:p>
            <a:p>
              <a:pPr algn="ctr"/>
              <a:r>
                <a:rPr lang="en-US" altLang="ja-JP" sz="800" dirty="0"/>
                <a:t>(</a:t>
              </a:r>
              <a:r>
                <a:rPr lang="ja-JP" altLang="en-US" sz="800" dirty="0"/>
                <a:t>ｲｸﾞﾆｶﾏﾈｰ</a:t>
              </a:r>
              <a:endParaRPr lang="en-US" altLang="ja-JP" sz="800" dirty="0"/>
            </a:p>
            <a:p>
              <a:pPr algn="ctr"/>
              <a:r>
                <a:rPr lang="ja-JP" altLang="en-US" sz="800" dirty="0"/>
                <a:t>支払情報</a:t>
              </a:r>
              <a:r>
                <a:rPr lang="ja-JP" altLang="en-US" sz="800" b="1" dirty="0"/>
                <a:t>ナシ</a:t>
              </a:r>
              <a:r>
                <a:rPr lang="ja-JP" altLang="en-US" sz="800" dirty="0"/>
                <a:t>）</a:t>
              </a:r>
              <a:endParaRPr kumimoji="1" lang="en-US" altLang="ja-JP" sz="800" dirty="0"/>
            </a:p>
          </p:txBody>
        </p:sp>
      </p:grpSp>
      <p:cxnSp>
        <p:nvCxnSpPr>
          <p:cNvPr id="50" name="直線矢印コネクタ 49">
            <a:extLst>
              <a:ext uri="{FF2B5EF4-FFF2-40B4-BE49-F238E27FC236}">
                <a16:creationId xmlns:a16="http://schemas.microsoft.com/office/drawing/2014/main" id="{A6D4C246-9A69-EE79-1C8A-C3FBA461EE4C}"/>
              </a:ext>
            </a:extLst>
          </p:cNvPr>
          <p:cNvCxnSpPr>
            <a:cxnSpLocks/>
            <a:stCxn id="26" idx="1"/>
            <a:endCxn id="39" idx="0"/>
          </p:cNvCxnSpPr>
          <p:nvPr/>
        </p:nvCxnSpPr>
        <p:spPr>
          <a:xfrm>
            <a:off x="2788384" y="3412183"/>
            <a:ext cx="113466" cy="117490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矢印コネクタ 65">
            <a:extLst>
              <a:ext uri="{FF2B5EF4-FFF2-40B4-BE49-F238E27FC236}">
                <a16:creationId xmlns:a16="http://schemas.microsoft.com/office/drawing/2014/main" id="{D4401723-F87D-F8E4-4A08-012EFAE85829}"/>
              </a:ext>
            </a:extLst>
          </p:cNvPr>
          <p:cNvCxnSpPr>
            <a:cxnSpLocks/>
            <a:stCxn id="34" idx="0"/>
          </p:cNvCxnSpPr>
          <p:nvPr/>
        </p:nvCxnSpPr>
        <p:spPr>
          <a:xfrm flipV="1">
            <a:off x="1064623" y="3416367"/>
            <a:ext cx="9442" cy="1156827"/>
          </a:xfrm>
          <a:prstGeom prst="straightConnector1">
            <a:avLst/>
          </a:prstGeom>
          <a:ln w="127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0" name="グループ化 59">
            <a:extLst>
              <a:ext uri="{FF2B5EF4-FFF2-40B4-BE49-F238E27FC236}">
                <a16:creationId xmlns:a16="http://schemas.microsoft.com/office/drawing/2014/main" id="{3805CEBB-5399-CF4B-91AC-4869C6EA383C}"/>
              </a:ext>
            </a:extLst>
          </p:cNvPr>
          <p:cNvGrpSpPr/>
          <p:nvPr/>
        </p:nvGrpSpPr>
        <p:grpSpPr>
          <a:xfrm>
            <a:off x="581981" y="3687791"/>
            <a:ext cx="963333" cy="574946"/>
            <a:chOff x="1633927" y="2205683"/>
            <a:chExt cx="1090362" cy="670409"/>
          </a:xfrm>
        </p:grpSpPr>
        <p:sp>
          <p:nvSpPr>
            <p:cNvPr id="61" name="フローチャート: 直接アクセス記憶 1">
              <a:extLst>
                <a:ext uri="{FF2B5EF4-FFF2-40B4-BE49-F238E27FC236}">
                  <a16:creationId xmlns:a16="http://schemas.microsoft.com/office/drawing/2014/main" id="{A8F7B6F0-491E-3706-3A23-7B4A1B46707D}"/>
                </a:ext>
              </a:extLst>
            </p:cNvPr>
            <p:cNvSpPr/>
            <p:nvPr/>
          </p:nvSpPr>
          <p:spPr>
            <a:xfrm rot="16200000">
              <a:off x="1859616" y="2043385"/>
              <a:ext cx="670409" cy="995006"/>
            </a:xfrm>
            <a:prstGeom prst="flowChartMagneticDrum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endParaRPr lang="ja-JP" altLang="en-US" sz="1100" dirty="0">
                <a:solidFill>
                  <a:schemeClr val="dk1"/>
                </a:solidFill>
                <a:latin typeface="メイリオ" pitchFamily="50" charset="-128"/>
                <a:ea typeface="メイリオ" pitchFamily="50" charset="-128"/>
              </a:endParaRPr>
            </a:p>
          </p:txBody>
        </p:sp>
        <p:sp>
          <p:nvSpPr>
            <p:cNvPr id="62" name="正方形/長方形 61">
              <a:extLst>
                <a:ext uri="{FF2B5EF4-FFF2-40B4-BE49-F238E27FC236}">
                  <a16:creationId xmlns:a16="http://schemas.microsoft.com/office/drawing/2014/main" id="{C8BDF05A-8C80-5A54-8290-23E3A643181A}"/>
                </a:ext>
              </a:extLst>
            </p:cNvPr>
            <p:cNvSpPr/>
            <p:nvPr/>
          </p:nvSpPr>
          <p:spPr>
            <a:xfrm>
              <a:off x="1633927" y="2251197"/>
              <a:ext cx="1090362" cy="624895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800" dirty="0"/>
                <a:t>WAON</a:t>
              </a:r>
            </a:p>
            <a:p>
              <a:pPr algn="ctr"/>
              <a:r>
                <a:rPr lang="ja-JP" altLang="en-US" sz="800" dirty="0"/>
                <a:t>ポイントデータ</a:t>
              </a:r>
              <a:endParaRPr kumimoji="1" lang="en-US" altLang="ja-JP" sz="800" dirty="0"/>
            </a:p>
          </p:txBody>
        </p:sp>
      </p:grpSp>
      <p:pic>
        <p:nvPicPr>
          <p:cNvPr id="117" name="Picture 11">
            <a:extLst>
              <a:ext uri="{FF2B5EF4-FFF2-40B4-BE49-F238E27FC236}">
                <a16:creationId xmlns:a16="http://schemas.microsoft.com/office/drawing/2014/main" id="{3A917315-7DA2-4897-A3BE-FC84006EAA1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163657" y="4112707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7" name="Picture 27" descr="ICON_Cloud_Q308">
            <a:extLst>
              <a:ext uri="{FF2B5EF4-FFF2-40B4-BE49-F238E27FC236}">
                <a16:creationId xmlns:a16="http://schemas.microsoft.com/office/drawing/2014/main" id="{17F434EE-2C70-C90D-BD75-16563CF447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264580" y="5621224"/>
            <a:ext cx="1275763" cy="82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8" name="テキスト ボックス 7">
            <a:extLst>
              <a:ext uri="{FF2B5EF4-FFF2-40B4-BE49-F238E27FC236}">
                <a16:creationId xmlns:a16="http://schemas.microsoft.com/office/drawing/2014/main" id="{FB420D1D-898C-E39B-D369-F4DA56825DA6}"/>
              </a:ext>
            </a:extLst>
          </p:cNvPr>
          <p:cNvSpPr txBox="1"/>
          <p:nvPr/>
        </p:nvSpPr>
        <p:spPr>
          <a:xfrm>
            <a:off x="2555259" y="5841240"/>
            <a:ext cx="992029" cy="38201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1100" dirty="0"/>
              <a:t>Azure</a:t>
            </a:r>
          </a:p>
          <a:p>
            <a:r>
              <a:rPr kumimoji="1" lang="ja-JP" altLang="en-US" sz="1100" dirty="0"/>
              <a:t>イオン</a:t>
            </a:r>
            <a:r>
              <a:rPr kumimoji="1" lang="en-US" altLang="ja-JP" sz="1100" dirty="0"/>
              <a:t>DIC</a:t>
            </a:r>
            <a:endParaRPr kumimoji="1" lang="ja-JP" altLang="en-US" sz="1100" dirty="0"/>
          </a:p>
        </p:txBody>
      </p:sp>
      <p:cxnSp>
        <p:nvCxnSpPr>
          <p:cNvPr id="139" name="直線矢印コネクタ 138">
            <a:extLst>
              <a:ext uri="{FF2B5EF4-FFF2-40B4-BE49-F238E27FC236}">
                <a16:creationId xmlns:a16="http://schemas.microsoft.com/office/drawing/2014/main" id="{6D577493-A18C-9B22-275F-B01C444713DE}"/>
              </a:ext>
            </a:extLst>
          </p:cNvPr>
          <p:cNvCxnSpPr>
            <a:cxnSpLocks/>
            <a:stCxn id="39" idx="2"/>
            <a:endCxn id="137" idx="0"/>
          </p:cNvCxnSpPr>
          <p:nvPr/>
        </p:nvCxnSpPr>
        <p:spPr>
          <a:xfrm>
            <a:off x="2901850" y="5119073"/>
            <a:ext cx="612" cy="50215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線矢印コネクタ 155">
            <a:extLst>
              <a:ext uri="{FF2B5EF4-FFF2-40B4-BE49-F238E27FC236}">
                <a16:creationId xmlns:a16="http://schemas.microsoft.com/office/drawing/2014/main" id="{202E7157-BB3F-2268-93E1-8E16E75CF1D3}"/>
              </a:ext>
            </a:extLst>
          </p:cNvPr>
          <p:cNvCxnSpPr>
            <a:cxnSpLocks/>
            <a:stCxn id="26" idx="4"/>
            <a:endCxn id="98" idx="1"/>
          </p:cNvCxnSpPr>
          <p:nvPr/>
        </p:nvCxnSpPr>
        <p:spPr>
          <a:xfrm flipV="1">
            <a:off x="2788384" y="1514571"/>
            <a:ext cx="1324497" cy="132266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テキスト ボックス 159">
            <a:extLst>
              <a:ext uri="{FF2B5EF4-FFF2-40B4-BE49-F238E27FC236}">
                <a16:creationId xmlns:a16="http://schemas.microsoft.com/office/drawing/2014/main" id="{9FD184AE-91B9-B7B2-C1CF-C210947209F6}"/>
              </a:ext>
            </a:extLst>
          </p:cNvPr>
          <p:cNvSpPr txBox="1"/>
          <p:nvPr/>
        </p:nvSpPr>
        <p:spPr>
          <a:xfrm>
            <a:off x="2256056" y="5233935"/>
            <a:ext cx="1415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00" dirty="0" err="1"/>
              <a:t>AzCopy</a:t>
            </a:r>
            <a:endParaRPr kumimoji="1" lang="en-US" altLang="ja-JP" sz="1000" dirty="0"/>
          </a:p>
        </p:txBody>
      </p:sp>
      <p:sp>
        <p:nvSpPr>
          <p:cNvPr id="161" name="テキスト ボックス 160">
            <a:extLst>
              <a:ext uri="{FF2B5EF4-FFF2-40B4-BE49-F238E27FC236}">
                <a16:creationId xmlns:a16="http://schemas.microsoft.com/office/drawing/2014/main" id="{3D4E6D7B-04A8-35E7-7CFE-7974ACA23FA3}"/>
              </a:ext>
            </a:extLst>
          </p:cNvPr>
          <p:cNvSpPr txBox="1"/>
          <p:nvPr/>
        </p:nvSpPr>
        <p:spPr>
          <a:xfrm>
            <a:off x="2443117" y="4168955"/>
            <a:ext cx="6022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00" dirty="0"/>
              <a:t>FTP</a:t>
            </a:r>
          </a:p>
        </p:txBody>
      </p:sp>
      <p:sp>
        <p:nvSpPr>
          <p:cNvPr id="162" name="テキスト ボックス 161">
            <a:extLst>
              <a:ext uri="{FF2B5EF4-FFF2-40B4-BE49-F238E27FC236}">
                <a16:creationId xmlns:a16="http://schemas.microsoft.com/office/drawing/2014/main" id="{78C888D7-7892-401D-955D-6966A0974CA9}"/>
              </a:ext>
            </a:extLst>
          </p:cNvPr>
          <p:cNvSpPr txBox="1"/>
          <p:nvPr/>
        </p:nvSpPr>
        <p:spPr>
          <a:xfrm>
            <a:off x="3671571" y="3731378"/>
            <a:ext cx="6022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00" dirty="0"/>
              <a:t>FTP</a:t>
            </a:r>
          </a:p>
        </p:txBody>
      </p:sp>
      <p:sp>
        <p:nvSpPr>
          <p:cNvPr id="163" name="テキスト ボックス 162">
            <a:extLst>
              <a:ext uri="{FF2B5EF4-FFF2-40B4-BE49-F238E27FC236}">
                <a16:creationId xmlns:a16="http://schemas.microsoft.com/office/drawing/2014/main" id="{36449BD3-BBEE-04A8-32A3-F1B53195E45E}"/>
              </a:ext>
            </a:extLst>
          </p:cNvPr>
          <p:cNvSpPr txBox="1"/>
          <p:nvPr/>
        </p:nvSpPr>
        <p:spPr>
          <a:xfrm>
            <a:off x="3728232" y="1353770"/>
            <a:ext cx="6022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00" dirty="0"/>
              <a:t>FTP</a:t>
            </a:r>
          </a:p>
        </p:txBody>
      </p:sp>
      <p:sp>
        <p:nvSpPr>
          <p:cNvPr id="164" name="テキスト ボックス 163">
            <a:extLst>
              <a:ext uri="{FF2B5EF4-FFF2-40B4-BE49-F238E27FC236}">
                <a16:creationId xmlns:a16="http://schemas.microsoft.com/office/drawing/2014/main" id="{3293FE94-5E5A-5B88-F919-295EC9639995}"/>
              </a:ext>
            </a:extLst>
          </p:cNvPr>
          <p:cNvSpPr txBox="1"/>
          <p:nvPr/>
        </p:nvSpPr>
        <p:spPr>
          <a:xfrm>
            <a:off x="5844449" y="2118176"/>
            <a:ext cx="1415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00" dirty="0" err="1"/>
              <a:t>AzCopy</a:t>
            </a:r>
            <a:endParaRPr kumimoji="1" lang="en-US" altLang="ja-JP" sz="1000" dirty="0"/>
          </a:p>
        </p:txBody>
      </p:sp>
      <p:sp>
        <p:nvSpPr>
          <p:cNvPr id="166" name="テキスト ボックス 165">
            <a:extLst>
              <a:ext uri="{FF2B5EF4-FFF2-40B4-BE49-F238E27FC236}">
                <a16:creationId xmlns:a16="http://schemas.microsoft.com/office/drawing/2014/main" id="{8DCB564E-BB07-7598-F625-61E024AD51AA}"/>
              </a:ext>
            </a:extLst>
          </p:cNvPr>
          <p:cNvSpPr txBox="1"/>
          <p:nvPr/>
        </p:nvSpPr>
        <p:spPr>
          <a:xfrm>
            <a:off x="264645" y="4267216"/>
            <a:ext cx="6022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00" dirty="0"/>
              <a:t>FTP</a:t>
            </a:r>
          </a:p>
        </p:txBody>
      </p:sp>
      <p:sp>
        <p:nvSpPr>
          <p:cNvPr id="167" name="テキスト ボックス 166">
            <a:extLst>
              <a:ext uri="{FF2B5EF4-FFF2-40B4-BE49-F238E27FC236}">
                <a16:creationId xmlns:a16="http://schemas.microsoft.com/office/drawing/2014/main" id="{5DE2A8EE-4D74-17BB-F75F-147F7704DA4E}"/>
              </a:ext>
            </a:extLst>
          </p:cNvPr>
          <p:cNvSpPr txBox="1"/>
          <p:nvPr/>
        </p:nvSpPr>
        <p:spPr>
          <a:xfrm>
            <a:off x="713902" y="1734474"/>
            <a:ext cx="6022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00" dirty="0"/>
              <a:t>FTP</a:t>
            </a:r>
          </a:p>
        </p:txBody>
      </p:sp>
      <p:sp>
        <p:nvSpPr>
          <p:cNvPr id="168" name="テキスト ボックス 167">
            <a:extLst>
              <a:ext uri="{FF2B5EF4-FFF2-40B4-BE49-F238E27FC236}">
                <a16:creationId xmlns:a16="http://schemas.microsoft.com/office/drawing/2014/main" id="{F437C1D4-2A70-BC90-4F23-21E13316C69C}"/>
              </a:ext>
            </a:extLst>
          </p:cNvPr>
          <p:cNvSpPr txBox="1"/>
          <p:nvPr/>
        </p:nvSpPr>
        <p:spPr>
          <a:xfrm>
            <a:off x="373817" y="3480603"/>
            <a:ext cx="15574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全店舗の全データ</a:t>
            </a:r>
            <a:endParaRPr kumimoji="1" lang="en-US" altLang="ja-JP" sz="1000" dirty="0"/>
          </a:p>
        </p:txBody>
      </p:sp>
      <p:grpSp>
        <p:nvGrpSpPr>
          <p:cNvPr id="5" name="グループ化 146">
            <a:extLst>
              <a:ext uri="{FF2B5EF4-FFF2-40B4-BE49-F238E27FC236}">
                <a16:creationId xmlns:a16="http://schemas.microsoft.com/office/drawing/2014/main" id="{4EDA95B4-65FF-6AF7-8EA8-AE3AD705B0B0}"/>
              </a:ext>
            </a:extLst>
          </p:cNvPr>
          <p:cNvGrpSpPr/>
          <p:nvPr/>
        </p:nvGrpSpPr>
        <p:grpSpPr>
          <a:xfrm>
            <a:off x="3964082" y="3080492"/>
            <a:ext cx="963333" cy="574946"/>
            <a:chOff x="1633927" y="2205683"/>
            <a:chExt cx="1090362" cy="670409"/>
          </a:xfrm>
        </p:grpSpPr>
        <p:sp>
          <p:nvSpPr>
            <p:cNvPr id="6" name="フローチャート: 直接アクセス記憶 1">
              <a:extLst>
                <a:ext uri="{FF2B5EF4-FFF2-40B4-BE49-F238E27FC236}">
                  <a16:creationId xmlns:a16="http://schemas.microsoft.com/office/drawing/2014/main" id="{4972C921-BC0E-4AB6-5279-EE2A32843D71}"/>
                </a:ext>
              </a:extLst>
            </p:cNvPr>
            <p:cNvSpPr/>
            <p:nvPr/>
          </p:nvSpPr>
          <p:spPr>
            <a:xfrm rot="16200000">
              <a:off x="1859616" y="2043385"/>
              <a:ext cx="670409" cy="995006"/>
            </a:xfrm>
            <a:prstGeom prst="flowChartMagneticDrum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endParaRPr lang="ja-JP" altLang="en-US" sz="1100" dirty="0">
                <a:solidFill>
                  <a:schemeClr val="dk1"/>
                </a:solidFill>
                <a:latin typeface="メイリオ" pitchFamily="50" charset="-128"/>
                <a:ea typeface="メイリオ" pitchFamily="50" charset="-128"/>
              </a:endParaRPr>
            </a:p>
          </p:txBody>
        </p:sp>
        <p:sp>
          <p:nvSpPr>
            <p:cNvPr id="11" name="正方形/長方形 149">
              <a:extLst>
                <a:ext uri="{FF2B5EF4-FFF2-40B4-BE49-F238E27FC236}">
                  <a16:creationId xmlns:a16="http://schemas.microsoft.com/office/drawing/2014/main" id="{60AFACFC-F1D5-0C8C-F460-037A5B378213}"/>
                </a:ext>
              </a:extLst>
            </p:cNvPr>
            <p:cNvSpPr/>
            <p:nvPr/>
          </p:nvSpPr>
          <p:spPr>
            <a:xfrm>
              <a:off x="1633927" y="2251197"/>
              <a:ext cx="1090362" cy="624895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800" dirty="0"/>
                <a:t>分析用</a:t>
              </a:r>
              <a:r>
                <a:rPr kumimoji="1" lang="en-US" altLang="ja-JP" sz="800" dirty="0"/>
                <a:t>POS</a:t>
              </a:r>
              <a:r>
                <a:rPr kumimoji="1" lang="ja-JP" altLang="en-US" sz="800" dirty="0"/>
                <a:t>データ</a:t>
              </a:r>
              <a:endParaRPr kumimoji="1" lang="en-US" altLang="ja-JP" sz="800" dirty="0"/>
            </a:p>
            <a:p>
              <a:pPr algn="ctr"/>
              <a:r>
                <a:rPr lang="en-US" altLang="ja-JP" sz="800" dirty="0"/>
                <a:t>(</a:t>
              </a:r>
              <a:r>
                <a:rPr lang="ja-JP" altLang="en-US" sz="800" dirty="0"/>
                <a:t>ｲｸﾞﾆｶﾏﾈｰ</a:t>
              </a:r>
              <a:endParaRPr lang="en-US" altLang="ja-JP" sz="800" dirty="0"/>
            </a:p>
            <a:p>
              <a:pPr algn="ctr"/>
              <a:r>
                <a:rPr lang="ja-JP" altLang="en-US" sz="800" dirty="0"/>
                <a:t>支払情報</a:t>
              </a:r>
              <a:r>
                <a:rPr lang="ja-JP" altLang="en-US" sz="800" b="1" dirty="0">
                  <a:solidFill>
                    <a:srgbClr val="FF0000"/>
                  </a:solidFill>
                </a:rPr>
                <a:t>アリ</a:t>
              </a:r>
              <a:r>
                <a:rPr lang="ja-JP" altLang="en-US" sz="800" dirty="0"/>
                <a:t>）</a:t>
              </a:r>
              <a:endParaRPr kumimoji="1" lang="en-US" altLang="ja-JP" sz="800" dirty="0"/>
            </a:p>
          </p:txBody>
        </p:sp>
      </p:grpSp>
      <p:grpSp>
        <p:nvGrpSpPr>
          <p:cNvPr id="12" name="グループ化 24">
            <a:extLst>
              <a:ext uri="{FF2B5EF4-FFF2-40B4-BE49-F238E27FC236}">
                <a16:creationId xmlns:a16="http://schemas.microsoft.com/office/drawing/2014/main" id="{9FBAC994-3098-4735-2FA6-9BEF7C45A59D}"/>
              </a:ext>
            </a:extLst>
          </p:cNvPr>
          <p:cNvGrpSpPr/>
          <p:nvPr/>
        </p:nvGrpSpPr>
        <p:grpSpPr>
          <a:xfrm>
            <a:off x="4912415" y="3082516"/>
            <a:ext cx="963333" cy="574946"/>
            <a:chOff x="1633927" y="2205683"/>
            <a:chExt cx="1090362" cy="670409"/>
          </a:xfrm>
        </p:grpSpPr>
        <p:sp>
          <p:nvSpPr>
            <p:cNvPr id="13" name="フローチャート: 直接アクセス記憶 1">
              <a:extLst>
                <a:ext uri="{FF2B5EF4-FFF2-40B4-BE49-F238E27FC236}">
                  <a16:creationId xmlns:a16="http://schemas.microsoft.com/office/drawing/2014/main" id="{D6456586-7502-E1EE-C8FA-7FE6D43C1913}"/>
                </a:ext>
              </a:extLst>
            </p:cNvPr>
            <p:cNvSpPr/>
            <p:nvPr/>
          </p:nvSpPr>
          <p:spPr>
            <a:xfrm rot="16200000">
              <a:off x="1859616" y="2043385"/>
              <a:ext cx="670409" cy="995006"/>
            </a:xfrm>
            <a:prstGeom prst="flowChartMagneticDrum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endParaRPr lang="ja-JP" altLang="en-US" sz="1100" dirty="0">
                <a:solidFill>
                  <a:schemeClr val="dk1"/>
                </a:solidFill>
                <a:latin typeface="メイリオ" pitchFamily="50" charset="-128"/>
                <a:ea typeface="メイリオ" pitchFamily="50" charset="-128"/>
              </a:endParaRPr>
            </a:p>
          </p:txBody>
        </p:sp>
        <p:sp>
          <p:nvSpPr>
            <p:cNvPr id="14" name="正方形/長方形 26">
              <a:extLst>
                <a:ext uri="{FF2B5EF4-FFF2-40B4-BE49-F238E27FC236}">
                  <a16:creationId xmlns:a16="http://schemas.microsoft.com/office/drawing/2014/main" id="{5A74652F-870C-BC3A-C3DC-13B1C929868F}"/>
                </a:ext>
              </a:extLst>
            </p:cNvPr>
            <p:cNvSpPr/>
            <p:nvPr/>
          </p:nvSpPr>
          <p:spPr>
            <a:xfrm>
              <a:off x="1633927" y="2251197"/>
              <a:ext cx="1090362" cy="624895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800" dirty="0"/>
                <a:t>分析用</a:t>
              </a:r>
              <a:r>
                <a:rPr kumimoji="1" lang="en-US" altLang="ja-JP" sz="800" dirty="0"/>
                <a:t>POS</a:t>
              </a:r>
              <a:r>
                <a:rPr kumimoji="1" lang="ja-JP" altLang="en-US" sz="800" dirty="0"/>
                <a:t>データ</a:t>
              </a:r>
              <a:endParaRPr kumimoji="1" lang="en-US" altLang="ja-JP" sz="800" dirty="0"/>
            </a:p>
            <a:p>
              <a:pPr algn="ctr"/>
              <a:r>
                <a:rPr lang="en-US" altLang="ja-JP" sz="800" dirty="0"/>
                <a:t>(</a:t>
              </a:r>
              <a:r>
                <a:rPr lang="ja-JP" altLang="en-US" sz="800" dirty="0"/>
                <a:t>ｲｸﾞﾆｶﾏﾈｰ</a:t>
              </a:r>
              <a:endParaRPr lang="en-US" altLang="ja-JP" sz="800" dirty="0"/>
            </a:p>
            <a:p>
              <a:pPr algn="ctr"/>
              <a:r>
                <a:rPr lang="ja-JP" altLang="en-US" sz="800" dirty="0"/>
                <a:t>支払情報</a:t>
              </a:r>
              <a:r>
                <a:rPr lang="ja-JP" altLang="en-US" sz="800" b="1" dirty="0"/>
                <a:t>ナシ</a:t>
              </a:r>
              <a:r>
                <a:rPr lang="ja-JP" altLang="en-US" sz="800" dirty="0"/>
                <a:t>）</a:t>
              </a:r>
              <a:endParaRPr kumimoji="1" lang="en-US" altLang="ja-JP" sz="800" dirty="0"/>
            </a:p>
          </p:txBody>
        </p:sp>
      </p:grpSp>
      <p:grpSp>
        <p:nvGrpSpPr>
          <p:cNvPr id="15" name="グループ化 59">
            <a:extLst>
              <a:ext uri="{FF2B5EF4-FFF2-40B4-BE49-F238E27FC236}">
                <a16:creationId xmlns:a16="http://schemas.microsoft.com/office/drawing/2014/main" id="{D5E6DA42-6D45-5F42-2760-442B5CB8ACA0}"/>
              </a:ext>
            </a:extLst>
          </p:cNvPr>
          <p:cNvGrpSpPr/>
          <p:nvPr/>
        </p:nvGrpSpPr>
        <p:grpSpPr>
          <a:xfrm>
            <a:off x="4437766" y="3530812"/>
            <a:ext cx="963333" cy="574946"/>
            <a:chOff x="1633927" y="2205683"/>
            <a:chExt cx="1090362" cy="670409"/>
          </a:xfrm>
        </p:grpSpPr>
        <p:sp>
          <p:nvSpPr>
            <p:cNvPr id="17" name="フローチャート: 直接アクセス記憶 1">
              <a:extLst>
                <a:ext uri="{FF2B5EF4-FFF2-40B4-BE49-F238E27FC236}">
                  <a16:creationId xmlns:a16="http://schemas.microsoft.com/office/drawing/2014/main" id="{F015548E-2DC3-B005-598D-D6BB163D2CF8}"/>
                </a:ext>
              </a:extLst>
            </p:cNvPr>
            <p:cNvSpPr/>
            <p:nvPr/>
          </p:nvSpPr>
          <p:spPr>
            <a:xfrm rot="16200000">
              <a:off x="1859616" y="2043385"/>
              <a:ext cx="670409" cy="995006"/>
            </a:xfrm>
            <a:prstGeom prst="flowChartMagneticDrum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endParaRPr lang="ja-JP" altLang="en-US" sz="1100" dirty="0">
                <a:solidFill>
                  <a:schemeClr val="dk1"/>
                </a:solidFill>
                <a:latin typeface="メイリオ" pitchFamily="50" charset="-128"/>
                <a:ea typeface="メイリオ" pitchFamily="50" charset="-128"/>
              </a:endParaRPr>
            </a:p>
          </p:txBody>
        </p:sp>
        <p:sp>
          <p:nvSpPr>
            <p:cNvPr id="18" name="正方形/長方形 61">
              <a:extLst>
                <a:ext uri="{FF2B5EF4-FFF2-40B4-BE49-F238E27FC236}">
                  <a16:creationId xmlns:a16="http://schemas.microsoft.com/office/drawing/2014/main" id="{F9A037E0-5A45-C723-A411-0AADCA803C59}"/>
                </a:ext>
              </a:extLst>
            </p:cNvPr>
            <p:cNvSpPr/>
            <p:nvPr/>
          </p:nvSpPr>
          <p:spPr>
            <a:xfrm>
              <a:off x="1633927" y="2251197"/>
              <a:ext cx="1090362" cy="624895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800" dirty="0"/>
                <a:t>WAON</a:t>
              </a:r>
            </a:p>
            <a:p>
              <a:pPr algn="ctr"/>
              <a:r>
                <a:rPr lang="ja-JP" altLang="en-US" sz="800" dirty="0"/>
                <a:t>ポイントデータ</a:t>
              </a:r>
              <a:endParaRPr kumimoji="1" lang="en-US" altLang="ja-JP" sz="800" dirty="0"/>
            </a:p>
          </p:txBody>
        </p:sp>
      </p:grpSp>
    </p:spTree>
    <p:extLst>
      <p:ext uri="{BB962C8B-B14F-4D97-AF65-F5344CB8AC3E}">
        <p14:creationId xmlns:p14="http://schemas.microsoft.com/office/powerpoint/2010/main" val="2015774473"/>
      </p:ext>
    </p:extLst>
  </p:cSld>
  <p:clrMapOvr>
    <a:masterClrMapping/>
  </p:clrMapOvr>
</p:sld>
</file>

<file path=ppt/theme/theme1.xml><?xml version="1.0" encoding="utf-8"?>
<a:theme xmlns:a="http://schemas.openxmlformats.org/drawingml/2006/main" name="agetech201505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USMH FONT STYLE">
      <a:majorFont>
        <a:latin typeface="Microsoft JhengHei"/>
        <a:ea typeface="Meiryo UI"/>
        <a:cs typeface=""/>
      </a:majorFont>
      <a:minorFont>
        <a:latin typeface="Microsoft JhengHe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kumimoji="1"/>
        </a:defPPr>
      </a:lstStyle>
      <a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USMH2019N.potx" id="{8B640AAC-7025-4808-AAD7-EA206A7FBAA8}" vid="{C7760CB1-FDC6-4E41-A3DC-A50FF0DF5238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8AB003DB5A4D644C9FB3BD19B5C7E000" ma:contentTypeVersion="11" ma:contentTypeDescription="新しいドキュメントを作成します。" ma:contentTypeScope="" ma:versionID="14213891138059eb724b9e737fafccea">
  <xsd:schema xmlns:xsd="http://www.w3.org/2001/XMLSchema" xmlns:xs="http://www.w3.org/2001/XMLSchema" xmlns:p="http://schemas.microsoft.com/office/2006/metadata/properties" xmlns:ns2="74a0992f-8328-4daf-870b-3d2b13d3e940" xmlns:ns3="4a37abda-15dd-4e37-8275-3b7fb2897b65" targetNamespace="http://schemas.microsoft.com/office/2006/metadata/properties" ma:root="true" ma:fieldsID="c0714e9ec9c019f03b39320eca5a0ecc" ns2:_="" ns3:_="">
    <xsd:import namespace="74a0992f-8328-4daf-870b-3d2b13d3e940"/>
    <xsd:import namespace="4a37abda-15dd-4e37-8275-3b7fb2897b6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a0992f-8328-4daf-870b-3d2b13d3e9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画像タグ" ma:readOnly="false" ma:fieldId="{5cf76f15-5ced-4ddc-b409-7134ff3c332f}" ma:taxonomyMulti="true" ma:sspId="e6619b5c-6674-40b7-9c01-33e12ba1bd7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a37abda-15dd-4e37-8275-3b7fb2897b65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f2a2e70a-4904-448e-b588-7989bbdb9dd5}" ma:internalName="TaxCatchAll" ma:showField="CatchAllData" ma:web="4a37abda-15dd-4e37-8275-3b7fb2897b6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4a0992f-8328-4daf-870b-3d2b13d3e940">
      <Terms xmlns="http://schemas.microsoft.com/office/infopath/2007/PartnerControls"/>
    </lcf76f155ced4ddcb4097134ff3c332f>
    <TaxCatchAll xmlns="4a37abda-15dd-4e37-8275-3b7fb2897b65" xsi:nil="true"/>
  </documentManagement>
</p:properties>
</file>

<file path=customXml/itemProps1.xml><?xml version="1.0" encoding="utf-8"?>
<ds:datastoreItem xmlns:ds="http://schemas.openxmlformats.org/officeDocument/2006/customXml" ds:itemID="{3FADF2AF-4FE8-45DE-9BF2-4B14D5AE63F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89C3CC6-C59B-4AEB-9CE4-42D64D5A30C4}"/>
</file>

<file path=customXml/itemProps3.xml><?xml version="1.0" encoding="utf-8"?>
<ds:datastoreItem xmlns:ds="http://schemas.openxmlformats.org/officeDocument/2006/customXml" ds:itemID="{BDE717C8-42EE-4445-B0A4-28E704A2BC78}">
  <ds:schemaRefs>
    <ds:schemaRef ds:uri="http://schemas.microsoft.com/office/infopath/2007/PartnerControls"/>
    <ds:schemaRef ds:uri="http://schemas.microsoft.com/office/2006/metadata/properties"/>
    <ds:schemaRef ds:uri="http://purl.org/dc/terms/"/>
    <ds:schemaRef ds:uri="http://purl.org/dc/elements/1.1/"/>
    <ds:schemaRef ds:uri="http://schemas.microsoft.com/office/2006/documentManagement/types"/>
    <ds:schemaRef ds:uri="http://www.w3.org/XML/1998/namespace"/>
    <ds:schemaRef ds:uri="3eb72391-dd13-4798-b147-b3124b0c6f21"/>
    <ds:schemaRef ds:uri="http://schemas.openxmlformats.org/package/2006/metadata/core-properties"/>
    <ds:schemaRef ds:uri="http://purl.org/dc/dcmitype/"/>
    <ds:schemaRef ds:uri="c25985f6-738a-4fbb-ade1-fdbe81c9268b"/>
    <ds:schemaRef ds:uri="2dd5972e-fc8f-47aa-916d-ced3529f73a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USMH2019N</Template>
  <TotalTime>1156</TotalTime>
  <Words>158</Words>
  <Application>Microsoft Office PowerPoint</Application>
  <PresentationFormat>On-screen Show (4:3)</PresentationFormat>
  <Paragraphs>140</Paragraphs>
  <Slides>2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agetech201505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開発ロードマップと機能イメージについて</dc:title>
  <dc:creator>山本  慎一郎</dc:creator>
  <cp:lastModifiedBy>山口 明彦</cp:lastModifiedBy>
  <cp:revision>130</cp:revision>
  <dcterms:created xsi:type="dcterms:W3CDTF">2019-04-14T12:53:25Z</dcterms:created>
  <dcterms:modified xsi:type="dcterms:W3CDTF">2025-03-04T05:26:30Z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0x0101008AB003DB5A4D644C9FB3BD19B5C7E000</vt:lpwstr>
  </property>
  <property fmtid="{D5CDD505-2E9C-101B-9397-08002B2CF9AE}" pid="3" name="MediaServiceImageTags">
    <vt:lpwstr/>
  </property>
</Properties>
</file>