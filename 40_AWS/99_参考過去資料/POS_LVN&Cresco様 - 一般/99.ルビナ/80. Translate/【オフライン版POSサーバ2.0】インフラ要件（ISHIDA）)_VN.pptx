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5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66E4AB-057C-70EB-F2FC-47AB33E54463}" v="2" dt="2025-12-16T09:06:42.392"/>
  </p1510:revLst>
</p1510:revInfo>
</file>

<file path=ppt/tableStyles.xml><?xml version="1.0" encoding="utf-8"?>
<a:tblStyleLst xmlns:a="http://schemas.openxmlformats.org/drawingml/2006/main" def="{87A281C8-0844-4F7E-8F5C-31C3930F0FE5}">
  <a:tblStyle styleId="{87A281C8-0844-4F7E-8F5C-31C3930F0FE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an Van Dat" userId="S::tranvandat@luvina.net::ffc2b4b9-8117-43b9-bb61-f63429645f94" providerId="AD" clId="Web-{6B753201-F8B2-20C9-9BDE-7723FA7E350D}"/>
    <pc:docChg chg="modSld">
      <pc:chgData name="Tran Van Dat" userId="S::tranvandat@luvina.net::ffc2b4b9-8117-43b9-bb61-f63429645f94" providerId="AD" clId="Web-{6B753201-F8B2-20C9-9BDE-7723FA7E350D}" dt="2025-12-09T07:58:25.930" v="0"/>
      <pc:docMkLst>
        <pc:docMk/>
      </pc:docMkLst>
      <pc:sldChg chg="modSp">
        <pc:chgData name="Tran Van Dat" userId="S::tranvandat@luvina.net::ffc2b4b9-8117-43b9-bb61-f63429645f94" providerId="AD" clId="Web-{6B753201-F8B2-20C9-9BDE-7723FA7E350D}" dt="2025-12-09T07:58:25.930" v="0"/>
        <pc:sldMkLst>
          <pc:docMk/>
          <pc:sldMk cId="0" sldId="274"/>
        </pc:sldMkLst>
        <pc:graphicFrameChg chg="modGraphic">
          <ac:chgData name="Tran Van Dat" userId="S::tranvandat@luvina.net::ffc2b4b9-8117-43b9-bb61-f63429645f94" providerId="AD" clId="Web-{6B753201-F8B2-20C9-9BDE-7723FA7E350D}" dt="2025-12-09T07:58:25.930" v="0"/>
          <ac:graphicFrameMkLst>
            <pc:docMk/>
            <pc:sldMk cId="0" sldId="274"/>
            <ac:graphicFrameMk id="199" creationId="{00000000-0000-0000-0000-000000000000}"/>
          </ac:graphicFrameMkLst>
        </pc:graphicFrameChg>
      </pc:sldChg>
    </pc:docChg>
  </pc:docChgLst>
  <pc:docChgLst>
    <pc:chgData name="Le Duc Nang" userId="S::leducnang@luvina.net::f5964a96-f4a0-431e-91f6-2959737f4459" providerId="AD" clId="Web-{3F66E4AB-057C-70EB-F2FC-47AB33E54463}"/>
    <pc:docChg chg="modSld">
      <pc:chgData name="Le Duc Nang" userId="S::leducnang@luvina.net::f5964a96-f4a0-431e-91f6-2959737f4459" providerId="AD" clId="Web-{3F66E4AB-057C-70EB-F2FC-47AB33E54463}" dt="2025-12-16T09:06:42.392" v="1" actId="1076"/>
      <pc:docMkLst>
        <pc:docMk/>
      </pc:docMkLst>
      <pc:sldChg chg="modSp">
        <pc:chgData name="Le Duc Nang" userId="S::leducnang@luvina.net::f5964a96-f4a0-431e-91f6-2959737f4459" providerId="AD" clId="Web-{3F66E4AB-057C-70EB-F2FC-47AB33E54463}" dt="2025-12-16T09:06:42.392" v="1" actId="1076"/>
        <pc:sldMkLst>
          <pc:docMk/>
          <pc:sldMk cId="0" sldId="259"/>
        </pc:sldMkLst>
        <pc:picChg chg="mod">
          <ac:chgData name="Le Duc Nang" userId="S::leducnang@luvina.net::f5964a96-f4a0-431e-91f6-2959737f4459" providerId="AD" clId="Web-{3F66E4AB-057C-70EB-F2FC-47AB33E54463}" dt="2025-12-16T09:06:42.392" v="1" actId="1076"/>
          <ac:picMkLst>
            <pc:docMk/>
            <pc:sldMk cId="0" sldId="259"/>
            <ac:picMk id="81"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580465b63b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80465b63b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580465b63b_1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580465b63b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5a41f27a4c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5a41f27a4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5a41f27a4c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5a41f27a4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5854b8902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5854b8902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35f10c478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35f10c478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58e663a06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58e663a06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58e542b3e9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8e542b3e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58e663a064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58e663a06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5819f38e9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5819f38e9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36961fd0f9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6961fd0f9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36961fd0f9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36961fd0f9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5f10d63be7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5f10d63be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5819f38e9d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5819f38e9d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5a8d5f1f08_1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5a8d5f1f08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5c9bdf6aa1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5c9bdf6aa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5f10d63be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5f10d63be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57d6c63f5e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57d6c63f5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602daf69e8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602daf69e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580465b63b_1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580465b63b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5a8d5f1f08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5a8d5f1f08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580465b63b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580465b63b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57d6c63f5e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57d6c63f5e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57d6c63f5e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57d6c63f5e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3d03c4fbb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3d03c4fbb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620cf38abb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620cf38ab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69d6be0b11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69d6be0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611618eb3d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611618eb3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611618eb3d_3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611618eb3d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66ce92774d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66ce92774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658f1f93ba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658f1f93ba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58eae04b7f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58eae04b7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691c57d911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691c57d911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6c084a7dfa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6c084a7df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67cdfeb92f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67cdfeb92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6693086371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669308637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65a1995b16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65a1995b16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35f20b5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35f20b5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5833b9174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5833b9174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5c9bdf6aa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5c9bdf6aa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3d03c4fbb9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3d03c4fbb9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6bc0e9633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6bc0e9633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696d7e09d4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696d7e09d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6b9103167a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36b9103167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6ba1309578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36ba130957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6d2371e6aa_3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36d2371e6aa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449644d75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3449644d75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449644d758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3449644d75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0" y="540275"/>
            <a:ext cx="9144000" cy="19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 sz="2600"/>
              <a:t>Máy chủ POS ngoại tuyến 2.0</a:t>
            </a:r>
            <a:endParaRPr sz="2600"/>
          </a:p>
          <a:p>
            <a:pPr marL="0" lvl="0" indent="0" algn="ctr" rtl="0">
              <a:spcBef>
                <a:spcPts val="0"/>
              </a:spcBef>
              <a:spcAft>
                <a:spcPts val="0"/>
              </a:spcAft>
              <a:buNone/>
            </a:pPr>
            <a:r>
              <a:rPr lang="vi" sz="2600"/>
              <a:t>ignica POS</a:t>
            </a:r>
            <a:endParaRPr sz="2600"/>
          </a:p>
          <a:p>
            <a:pPr marL="0" lvl="0" indent="0" algn="ctr" rtl="0">
              <a:spcBef>
                <a:spcPts val="0"/>
              </a:spcBef>
              <a:spcAft>
                <a:spcPts val="0"/>
              </a:spcAft>
              <a:buNone/>
            </a:pPr>
            <a:r>
              <a:rPr lang="vi" sz="2600"/>
              <a:t>Yêu cầu về cơ sở hạ tầng</a:t>
            </a:r>
            <a:endParaRPr sz="2600"/>
          </a:p>
          <a:p>
            <a:pPr marL="0" lvl="0" indent="0" algn="ctr" rtl="0">
              <a:spcBef>
                <a:spcPts val="0"/>
              </a:spcBef>
              <a:spcAft>
                <a:spcPts val="0"/>
              </a:spcAft>
              <a:buNone/>
            </a:pPr>
            <a:r>
              <a:rPr lang="vi" sz="2600"/>
              <a:t>&lt;Tương thích với nhãn kệ điện tử ISHIDA của Kasumi&gt;</a:t>
            </a:r>
            <a:endParaRPr sz="2600"/>
          </a:p>
        </p:txBody>
      </p:sp>
      <p:sp>
        <p:nvSpPr>
          <p:cNvPr id="55" name="Google Shape;55;p13"/>
          <p:cNvSpPr txBox="1">
            <a:spLocks noGrp="1"/>
          </p:cNvSpPr>
          <p:nvPr>
            <p:ph type="ctrTitle"/>
          </p:nvPr>
        </p:nvSpPr>
        <p:spPr>
          <a:xfrm>
            <a:off x="0" y="3364225"/>
            <a:ext cx="9144000" cy="12990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SzPts val="990"/>
              <a:buNone/>
            </a:pPr>
            <a:r>
              <a:rPr lang="vi" sz="1820"/>
              <a:t>Ngày 9 tháng 7 năm 2025</a:t>
            </a:r>
            <a:endParaRPr sz="1820"/>
          </a:p>
          <a:p>
            <a:pPr marL="0" lvl="0" indent="0" algn="ctr" rtl="0">
              <a:spcBef>
                <a:spcPts val="0"/>
              </a:spcBef>
              <a:spcAft>
                <a:spcPts val="0"/>
              </a:spcAft>
              <a:buSzPts val="990"/>
              <a:buNone/>
            </a:pPr>
            <a:r>
              <a:rPr lang="vi" sz="1820"/>
              <a:t>Công ty Cổ phần Phần mềm Luvina</a:t>
            </a:r>
            <a:endParaRPr sz="1820"/>
          </a:p>
          <a:p>
            <a:pPr marL="0" lvl="0" indent="0" algn="ctr" rtl="0">
              <a:spcBef>
                <a:spcPts val="0"/>
              </a:spcBef>
              <a:spcAft>
                <a:spcPts val="0"/>
              </a:spcAft>
              <a:buSzPts val="990"/>
              <a:buNone/>
            </a:pPr>
            <a:r>
              <a:rPr lang="vi" sz="1820"/>
              <a:t>Masami Otani</a:t>
            </a:r>
            <a:endParaRPr sz="1820"/>
          </a:p>
        </p:txBody>
      </p:sp>
      <p:pic>
        <p:nvPicPr>
          <p:cNvPr id="56" name="Google Shape;56;p1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57" name="Google Shape;57;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a:t>
            </a:fld>
            <a:endParaRPr/>
          </a:p>
        </p:txBody>
      </p:sp>
      <p:sp>
        <p:nvSpPr>
          <p:cNvPr id="58" name="Google Shape;58;p13"/>
          <p:cNvSpPr txBox="1">
            <a:spLocks noGrp="1"/>
          </p:cNvSpPr>
          <p:nvPr>
            <p:ph type="ctrTitle"/>
          </p:nvPr>
        </p:nvSpPr>
        <p:spPr>
          <a:xfrm>
            <a:off x="0" y="2787300"/>
            <a:ext cx="9144000" cy="4707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vi" sz="2020"/>
              <a:t>Phiên bản 1.0</a:t>
            </a:r>
            <a:endParaRPr sz="202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pic>
        <p:nvPicPr>
          <p:cNvPr id="63" name="Google Shape;63;p1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64" name="Google Shape;6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a:t>
            </a:fld>
            <a:endParaRPr/>
          </a:p>
        </p:txBody>
      </p:sp>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t>mục lục</a:t>
            </a:r>
            <a:endParaRPr/>
          </a:p>
        </p:txBody>
      </p:sp>
      <p:sp>
        <p:nvSpPr>
          <p:cNvPr id="66" name="Google Shape;66;p14"/>
          <p:cNvSpPr txBox="1">
            <a:spLocks noGrp="1"/>
          </p:cNvSpPr>
          <p:nvPr>
            <p:ph type="body" idx="1"/>
          </p:nvPr>
        </p:nvSpPr>
        <p:spPr>
          <a:xfrm>
            <a:off x="468400" y="1152475"/>
            <a:ext cx="8136000" cy="3416400"/>
          </a:xfrm>
          <a:prstGeom prst="rect">
            <a:avLst/>
          </a:prstGeom>
        </p:spPr>
        <p:txBody>
          <a:bodyPr spcFirstLastPara="1" wrap="square" lIns="91425" tIns="91425" rIns="91425" bIns="91425" anchor="t" anchorCtr="0">
            <a:normAutofit lnSpcReduction="20000"/>
          </a:bodyPr>
          <a:lstStyle/>
          <a:p>
            <a:pPr marL="457200" lvl="0" indent="-342900" algn="l" rtl="0">
              <a:spcBef>
                <a:spcPts val="0"/>
              </a:spcBef>
              <a:spcAft>
                <a:spcPts val="0"/>
              </a:spcAft>
              <a:buSzPts val="1800"/>
              <a:buAutoNum type="arabicPeriod"/>
            </a:pPr>
            <a:r>
              <a:rPr lang="vi"/>
              <a:t>Định vị POS Server ngoại tuyến 2.0</a:t>
            </a:r>
            <a:endParaRPr/>
          </a:p>
          <a:p>
            <a:pPr marL="457200" lvl="0" indent="-342900" algn="l" rtl="0">
              <a:spcBef>
                <a:spcPts val="0"/>
              </a:spcBef>
              <a:spcAft>
                <a:spcPts val="0"/>
              </a:spcAft>
              <a:buSzPts val="1800"/>
              <a:buAutoNum type="arabicPeriod"/>
            </a:pPr>
            <a:r>
              <a:rPr lang="vi"/>
              <a:t>Chính sách thiết kế cơ sở hạ tầng</a:t>
            </a:r>
            <a:endParaRPr/>
          </a:p>
          <a:p>
            <a:pPr marL="457200" lvl="0" indent="-342900" algn="l" rtl="0">
              <a:spcBef>
                <a:spcPts val="0"/>
              </a:spcBef>
              <a:spcAft>
                <a:spcPts val="0"/>
              </a:spcAft>
              <a:buSzPts val="1800"/>
              <a:buAutoNum type="arabicPeriod"/>
            </a:pPr>
            <a:r>
              <a:rPr lang="vi"/>
              <a:t>Thiết kế tài khoản AWS</a:t>
            </a:r>
            <a:endParaRPr/>
          </a:p>
          <a:p>
            <a:pPr marL="457200" lvl="0" indent="-342900" algn="l" rtl="0">
              <a:spcBef>
                <a:spcPts val="0"/>
              </a:spcBef>
              <a:spcAft>
                <a:spcPts val="0"/>
              </a:spcAft>
              <a:buSzPts val="1800"/>
              <a:buAutoNum type="arabicPeriod"/>
            </a:pPr>
            <a:r>
              <a:rPr lang="vi"/>
              <a:t>Cấu hình mạng (máy chủ POS trực tuyến hiện có)</a:t>
            </a:r>
            <a:endParaRPr/>
          </a:p>
          <a:p>
            <a:pPr marL="457200" lvl="0" indent="-342900" algn="l" rtl="0">
              <a:spcBef>
                <a:spcPts val="0"/>
              </a:spcBef>
              <a:spcAft>
                <a:spcPts val="0"/>
              </a:spcAft>
              <a:buSzPts val="1800"/>
              <a:buAutoNum type="arabicPeriod"/>
            </a:pPr>
            <a:r>
              <a:rPr lang="vi"/>
              <a:t>Cấu hình mạng (máy chủ POS ngoại tuyến và mạng kín USMH)</a:t>
            </a:r>
            <a:endParaRPr/>
          </a:p>
          <a:p>
            <a:pPr marL="457200" lvl="0" indent="-342900" algn="l" rtl="0">
              <a:spcBef>
                <a:spcPts val="0"/>
              </a:spcBef>
              <a:spcAft>
                <a:spcPts val="0"/>
              </a:spcAft>
              <a:buSzPts val="1800"/>
              <a:buAutoNum type="arabicPeriod"/>
            </a:pPr>
            <a:r>
              <a:rPr lang="vi"/>
              <a:t>Cấu hình mạng (Văn phòng Rubina)</a:t>
            </a:r>
            <a:endParaRPr/>
          </a:p>
          <a:p>
            <a:pPr marL="457200" lvl="0" indent="-342900" algn="l" rtl="0">
              <a:spcBef>
                <a:spcPts val="0"/>
              </a:spcBef>
              <a:spcAft>
                <a:spcPts val="0"/>
              </a:spcAft>
              <a:buSzPts val="1800"/>
              <a:buAutoNum type="arabicPeriod"/>
            </a:pPr>
            <a:r>
              <a:rPr lang="vi"/>
              <a:t>Quản lý tài khoản AWS</a:t>
            </a:r>
            <a:endParaRPr/>
          </a:p>
          <a:p>
            <a:pPr marL="457200" lvl="0" indent="-342900" algn="l" rtl="0">
              <a:spcBef>
                <a:spcPts val="0"/>
              </a:spcBef>
              <a:spcAft>
                <a:spcPts val="0"/>
              </a:spcAft>
              <a:buSzPts val="1800"/>
              <a:buAutoNum type="arabicPeriod"/>
            </a:pPr>
            <a:r>
              <a:rPr lang="vi"/>
              <a:t>Cấu hình hệ thống</a:t>
            </a:r>
            <a:endParaRPr/>
          </a:p>
          <a:p>
            <a:pPr marL="457200" lvl="0" indent="-342900" algn="l" rtl="0">
              <a:spcBef>
                <a:spcPts val="0"/>
              </a:spcBef>
              <a:spcAft>
                <a:spcPts val="0"/>
              </a:spcAft>
              <a:buSzPts val="1800"/>
              <a:buAutoNum type="arabicPeriod"/>
            </a:pPr>
            <a:r>
              <a:rPr lang="vi"/>
              <a:t>Chung cho tất cả các dịch vụ AWS</a:t>
            </a:r>
            <a:endParaRPr/>
          </a:p>
          <a:p>
            <a:pPr marL="457200" lvl="0" indent="-342900" algn="l" rtl="0">
              <a:spcBef>
                <a:spcPts val="0"/>
              </a:spcBef>
              <a:spcAft>
                <a:spcPts val="0"/>
              </a:spcAft>
              <a:buSzPts val="1800"/>
              <a:buAutoNum type="arabicPeriod"/>
            </a:pPr>
            <a:r>
              <a:rPr lang="vi"/>
              <a:t>Giám sát</a:t>
            </a:r>
            <a:endParaRPr/>
          </a:p>
          <a:p>
            <a:pPr marL="457200" lvl="0" indent="-342900" algn="l" rtl="0">
              <a:spcBef>
                <a:spcPts val="0"/>
              </a:spcBef>
              <a:spcAft>
                <a:spcPts val="0"/>
              </a:spcAft>
              <a:buSzPts val="1800"/>
              <a:buAutoNum type="arabicPeriod"/>
            </a:pPr>
            <a:r>
              <a:rPr lang="vi"/>
              <a:t>Các biện pháp an ninh</a:t>
            </a:r>
            <a:endParaRPr/>
          </a:p>
          <a:p>
            <a:pPr marL="457200" lvl="0" indent="-342900" algn="l" rtl="0">
              <a:spcBef>
                <a:spcPts val="0"/>
              </a:spcBef>
              <a:spcAft>
                <a:spcPts val="0"/>
              </a:spcAft>
              <a:buSzPts val="1800"/>
              <a:buAutoNum type="arabicPeriod"/>
            </a:pPr>
            <a:r>
              <a:rPr lang="vi"/>
              <a:t>CICD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vi" sz="3000">
                <a:highlight>
                  <a:srgbClr val="FFFFFF"/>
                </a:highlight>
              </a:rPr>
              <a:t>1. Phiên bản ngoại tuyến của POS Server 2.0</a:t>
            </a:r>
            <a:endParaRPr sz="3000">
              <a:highlight>
                <a:srgbClr val="FFFFFF"/>
              </a:highlight>
            </a:endParaRPr>
          </a:p>
          <a:p>
            <a:pPr marL="0" lvl="0" indent="0" algn="ctr" rtl="0">
              <a:spcBef>
                <a:spcPts val="0"/>
              </a:spcBef>
              <a:spcAft>
                <a:spcPts val="0"/>
              </a:spcAft>
              <a:buNone/>
            </a:pPr>
            <a:r>
              <a:rPr lang="vi" sz="3000">
                <a:highlight>
                  <a:srgbClr val="FFFFFF"/>
                </a:highlight>
              </a:rPr>
              <a:t>Định vị</a:t>
            </a:r>
            <a:endParaRPr sz="3000">
              <a:highlight>
                <a:srgbClr val="FFFFFF"/>
              </a:highlight>
            </a:endParaRPr>
          </a:p>
        </p:txBody>
      </p:sp>
      <p:pic>
        <p:nvPicPr>
          <p:cNvPr id="72" name="Google Shape;72;p1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73" name="Google Shape;7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1-1. Vai trò của Máy chủ POS ngoại tuyến 2.0</a:t>
            </a:r>
            <a:endParaRPr>
              <a:highlight>
                <a:srgbClr val="D9D9D9"/>
              </a:highlight>
            </a:endParaRPr>
          </a:p>
        </p:txBody>
      </p:sp>
      <p:pic>
        <p:nvPicPr>
          <p:cNvPr id="79" name="Google Shape;79;p1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0" name="Google Shape;80;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a:t>
            </a:fld>
            <a:endParaRPr/>
          </a:p>
        </p:txBody>
      </p:sp>
      <p:pic>
        <p:nvPicPr>
          <p:cNvPr id="81" name="Google Shape;81;p16" title="【POS】infra_ishida-1-1.drawio.png"/>
          <p:cNvPicPr preferRelativeResize="0"/>
          <p:nvPr/>
        </p:nvPicPr>
        <p:blipFill>
          <a:blip r:embed="rId4">
            <a:alphaModFix/>
          </a:blip>
          <a:stretch>
            <a:fillRect/>
          </a:stretch>
        </p:blipFill>
        <p:spPr>
          <a:xfrm>
            <a:off x="1058650" y="1465550"/>
            <a:ext cx="6457950" cy="2876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1-2. Tiếp tục kinh doanh trong trường hợp xảy ra lỗi giao tiếp</a:t>
            </a:r>
            <a:endParaRPr>
              <a:highlight>
                <a:srgbClr val="D9D9D9"/>
              </a:highlight>
            </a:endParaRPr>
          </a:p>
        </p:txBody>
      </p:sp>
      <p:pic>
        <p:nvPicPr>
          <p:cNvPr id="87" name="Google Shape;87;p1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8" name="Google Shape;88;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a:t>
            </a:fld>
            <a:endParaRPr/>
          </a:p>
        </p:txBody>
      </p:sp>
      <p:pic>
        <p:nvPicPr>
          <p:cNvPr id="89" name="Google Shape;89;p17" title="【POS】infra_ishida-1-2.drawio.png"/>
          <p:cNvPicPr preferRelativeResize="0"/>
          <p:nvPr/>
        </p:nvPicPr>
        <p:blipFill>
          <a:blip r:embed="rId4">
            <a:alphaModFix/>
          </a:blip>
          <a:stretch>
            <a:fillRect/>
          </a:stretch>
        </p:blipFill>
        <p:spPr>
          <a:xfrm>
            <a:off x="453565" y="1359449"/>
            <a:ext cx="8035136" cy="2806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2. Chính sách thiết kế cơ sở hạ tầng</a:t>
            </a:r>
            <a:endParaRPr sz="3000">
              <a:highlight>
                <a:srgbClr val="FFFFFF"/>
              </a:highlight>
            </a:endParaRPr>
          </a:p>
        </p:txBody>
      </p:sp>
      <p:pic>
        <p:nvPicPr>
          <p:cNvPr id="95" name="Google Shape;95;p1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2-1. Chính sách thiết kế</a:t>
            </a:r>
            <a:endParaRPr>
              <a:highlight>
                <a:srgbClr val="D9D9D9"/>
              </a:highlight>
            </a:endParaRPr>
          </a:p>
        </p:txBody>
      </p:sp>
      <p:sp>
        <p:nvSpPr>
          <p:cNvPr id="102" name="Google Shape;102;p19"/>
          <p:cNvSpPr txBox="1">
            <a:spLocks noGrp="1"/>
          </p:cNvSpPr>
          <p:nvPr>
            <p:ph type="body" idx="1"/>
          </p:nvPr>
        </p:nvSpPr>
        <p:spPr>
          <a:xfrm>
            <a:off x="311700" y="1152475"/>
            <a:ext cx="8520600" cy="35109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vi" sz="1900"/>
              <a:t>Tên cửa hàng (Inageya, Kasumi, Maruetsu, MV Kanto) không bị ảnh hưởng bởi toàn bộ tên cửa hàng.</a:t>
            </a:r>
            <a:endParaRPr sz="1900"/>
          </a:p>
          <a:p>
            <a:pPr marL="914400" lvl="1" indent="-349250" algn="l" rtl="0">
              <a:spcBef>
                <a:spcPts val="0"/>
              </a:spcBef>
              <a:spcAft>
                <a:spcPts val="0"/>
              </a:spcAft>
              <a:buSzPts val="1900"/>
              <a:buChar char="○"/>
            </a:pPr>
            <a:r>
              <a:rPr lang="vi" sz="1900"/>
              <a:t>Tuy nhiên, một số thành phần (ví dụ: điểm cuối) được chia sẻ.</a:t>
            </a:r>
            <a:endParaRPr sz="1900"/>
          </a:p>
          <a:p>
            <a:pPr marL="457200" lvl="0" indent="-349250" algn="l" rtl="0">
              <a:spcBef>
                <a:spcPts val="0"/>
              </a:spcBef>
              <a:spcAft>
                <a:spcPts val="0"/>
              </a:spcAft>
              <a:buSzPts val="1900"/>
              <a:buChar char="●"/>
            </a:pPr>
            <a:r>
              <a:rPr lang="vi" sz="1900"/>
              <a:t>Nếu có thêm tên cửa hàng trong tương lai, bạn có thể thêm một cách linh hoạt.</a:t>
            </a:r>
            <a:endParaRPr sz="1900"/>
          </a:p>
          <a:p>
            <a:pPr marL="457200" lvl="0" indent="-349250" algn="l" rtl="0">
              <a:spcBef>
                <a:spcPts val="0"/>
              </a:spcBef>
              <a:spcAft>
                <a:spcPts val="0"/>
              </a:spcAft>
              <a:buSzPts val="1900"/>
              <a:buChar char="●"/>
            </a:pPr>
            <a:r>
              <a:rPr lang="vi" sz="1900"/>
              <a:t>Cấu hình hệ thống nhằm mục đích chuẩn hóa tên thương mại</a:t>
            </a:r>
            <a:endParaRPr sz="1900"/>
          </a:p>
          <a:p>
            <a:pPr marL="457200" lvl="0" indent="-349250" algn="l" rtl="0">
              <a:spcBef>
                <a:spcPts val="0"/>
              </a:spcBef>
              <a:spcAft>
                <a:spcPts val="0"/>
              </a:spcAft>
              <a:buSzPts val="1900"/>
              <a:buChar char="●"/>
            </a:pPr>
            <a:r>
              <a:rPr lang="vi" sz="1900"/>
              <a:t>Hỗ trợ cấu hình lỏng lẻo các ứng dụng theo mục đích của chúng</a:t>
            </a:r>
            <a:endParaRPr sz="1900"/>
          </a:p>
        </p:txBody>
      </p:sp>
      <p:pic>
        <p:nvPicPr>
          <p:cNvPr id="103" name="Google Shape;103;p1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04" name="Google Shape;104;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3. Thiết kế tài khoản AWS</a:t>
            </a:r>
            <a:endParaRPr sz="3000">
              <a:highlight>
                <a:srgbClr val="FFFFFF"/>
              </a:highlight>
            </a:endParaRPr>
          </a:p>
        </p:txBody>
      </p:sp>
      <p:pic>
        <p:nvPicPr>
          <p:cNvPr id="110" name="Google Shape;110;p2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11" name="Google Shape;111;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3-1. Chia tách tài khoản AWS</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117" name="Google Shape;117;p2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18" name="Google Shape;118;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9</a:t>
            </a:fld>
            <a:endParaRPr/>
          </a:p>
        </p:txBody>
      </p:sp>
      <p:graphicFrame>
        <p:nvGraphicFramePr>
          <p:cNvPr id="119" name="Google Shape;119;p21"/>
          <p:cNvGraphicFramePr/>
          <p:nvPr/>
        </p:nvGraphicFramePr>
        <p:xfrm>
          <a:off x="680175" y="1279375"/>
          <a:ext cx="7783650" cy="1704430"/>
        </p:xfrm>
        <a:graphic>
          <a:graphicData uri="http://schemas.openxmlformats.org/drawingml/2006/table">
            <a:tbl>
              <a:tblPr>
                <a:noFill/>
                <a:tableStyleId>{87A281C8-0844-4F7E-8F5C-31C3930F0FE5}</a:tableStyleId>
              </a:tblPr>
              <a:tblGrid>
                <a:gridCol w="915550">
                  <a:extLst>
                    <a:ext uri="{9D8B030D-6E8A-4147-A177-3AD203B41FA5}">
                      <a16:colId xmlns:a16="http://schemas.microsoft.com/office/drawing/2014/main" val="20000"/>
                    </a:ext>
                  </a:extLst>
                </a:gridCol>
                <a:gridCol w="1760975">
                  <a:extLst>
                    <a:ext uri="{9D8B030D-6E8A-4147-A177-3AD203B41FA5}">
                      <a16:colId xmlns:a16="http://schemas.microsoft.com/office/drawing/2014/main" val="20001"/>
                    </a:ext>
                  </a:extLst>
                </a:gridCol>
                <a:gridCol w="5107125">
                  <a:extLst>
                    <a:ext uri="{9D8B030D-6E8A-4147-A177-3AD203B41FA5}">
                      <a16:colId xmlns:a16="http://schemas.microsoft.com/office/drawing/2014/main" val="20002"/>
                    </a:ext>
                  </a:extLst>
                </a:gridCol>
              </a:tblGrid>
              <a:tr h="516950">
                <a:tc>
                  <a:txBody>
                    <a:bodyPr/>
                    <a:lstStyle/>
                    <a:p>
                      <a:pPr marL="0" lvl="0" indent="0" algn="l" rtl="0">
                        <a:spcBef>
                          <a:spcPts val="0"/>
                        </a:spcBef>
                        <a:spcAft>
                          <a:spcPts val="0"/>
                        </a:spcAft>
                        <a:buNone/>
                      </a:pPr>
                      <a:r>
                        <a:rPr lang="vi" sz="1600" b="1">
                          <a:solidFill>
                            <a:schemeClr val="dk2"/>
                          </a:solidFill>
                        </a:rPr>
                        <a:t>KHÔNG</a:t>
                      </a:r>
                      <a:endParaRPr sz="1600" b="1">
                        <a:solidFill>
                          <a:schemeClr val="dk2"/>
                        </a:solidFill>
                      </a:endParaRPr>
                    </a:p>
                  </a:txBody>
                  <a:tcPr marL="91425" marR="91425" marT="91425" marB="91425">
                    <a:solidFill>
                      <a:schemeClr val="lt2"/>
                    </a:solidFill>
                  </a:tcPr>
                </a:tc>
                <a:tc gridSpan="2">
                  <a:txBody>
                    <a:bodyPr/>
                    <a:lstStyle/>
                    <a:p>
                      <a:pPr marL="0" lvl="0" indent="0" algn="l" rtl="0">
                        <a:spcBef>
                          <a:spcPts val="0"/>
                        </a:spcBef>
                        <a:spcAft>
                          <a:spcPts val="0"/>
                        </a:spcAft>
                        <a:buNone/>
                      </a:pPr>
                      <a:r>
                        <a:rPr lang="vi" sz="1600" b="1">
                          <a:solidFill>
                            <a:schemeClr val="dk2"/>
                          </a:solidFill>
                        </a:rPr>
                        <a:t>Một tài khoản AWS</a:t>
                      </a:r>
                      <a:endParaRPr sz="1600" b="1">
                        <a:solidFill>
                          <a:schemeClr val="dk2"/>
                        </a:solidFill>
                      </a:endParaRPr>
                    </a:p>
                  </a:txBody>
                  <a:tcPr marL="91425" marR="91425" marT="91425" marB="91425">
                    <a:solidFill>
                      <a:schemeClr val="lt2"/>
                    </a:solidFill>
                  </a:tcPr>
                </a:tc>
                <a:tc hMerge="1">
                  <a:txBody>
                    <a:bodyPr/>
                    <a:lstStyle/>
                    <a:p>
                      <a:endParaRPr lang="en-US"/>
                    </a:p>
                  </a:txBody>
                  <a:tcPr/>
                </a:tc>
                <a:extLst>
                  <a:ext uri="{0D108BD9-81ED-4DB2-BD59-A6C34878D82A}">
                    <a16:rowId xmlns:a16="http://schemas.microsoft.com/office/drawing/2014/main" val="10000"/>
                  </a:ext>
                </a:extLst>
              </a:tr>
              <a:tr h="516950">
                <a:tc>
                  <a:txBody>
                    <a:bodyPr/>
                    <a:lstStyle/>
                    <a:p>
                      <a:pPr marL="0" lvl="0" indent="0" algn="l" rtl="0">
                        <a:spcBef>
                          <a:spcPts val="0"/>
                        </a:spcBef>
                        <a:spcAft>
                          <a:spcPts val="0"/>
                        </a:spcAft>
                        <a:buNone/>
                      </a:pPr>
                      <a:r>
                        <a:rPr lang="vi" sz="1600">
                          <a:solidFill>
                            <a:schemeClr val="dk2"/>
                          </a:solidFill>
                        </a:rPr>
                        <a:t>1</a:t>
                      </a:r>
                      <a:endParaRPr sz="1600">
                        <a:solidFill>
                          <a:schemeClr val="dk2"/>
                        </a:solidFill>
                      </a:endParaRPr>
                    </a:p>
                  </a:txBody>
                  <a:tcPr marL="91425" marR="91425" marT="91425" marB="91425"/>
                </a:tc>
                <a:tc rowSpan="2">
                  <a:txBody>
                    <a:bodyPr/>
                    <a:lstStyle/>
                    <a:p>
                      <a:pPr marL="0" lvl="0" indent="0" algn="l" rtl="0">
                        <a:spcBef>
                          <a:spcPts val="0"/>
                        </a:spcBef>
                        <a:spcAft>
                          <a:spcPts val="0"/>
                        </a:spcAft>
                        <a:buNone/>
                      </a:pPr>
                      <a:r>
                        <a:rPr lang="vi" sz="1600">
                          <a:solidFill>
                            <a:schemeClr val="dk2"/>
                          </a:solidFill>
                        </a:rPr>
                        <a:t>Tên cửa hàng thông dụng</a:t>
                      </a:r>
                      <a:endParaRPr sz="1600">
                        <a:solidFill>
                          <a:schemeClr val="dk2"/>
                        </a:solidFill>
                      </a:endParaRPr>
                    </a:p>
                    <a:p>
                      <a:pPr marL="0" lvl="0" indent="0" algn="l" rtl="0">
                        <a:spcBef>
                          <a:spcPts val="0"/>
                        </a:spcBef>
                        <a:spcAft>
                          <a:spcPts val="0"/>
                        </a:spcAft>
                        <a:buNone/>
                      </a:pPr>
                      <a:endParaRPr sz="16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 sz="1600">
                          <a:solidFill>
                            <a:schemeClr val="dk2"/>
                          </a:solidFill>
                        </a:rPr>
                        <a:t>Môi trường sản xuất</a:t>
                      </a:r>
                      <a:endParaRPr sz="1600">
                        <a:solidFill>
                          <a:schemeClr val="dk2"/>
                        </a:solidFill>
                      </a:endParaRPr>
                    </a:p>
                  </a:txBody>
                  <a:tcPr marL="91425" marR="91425" marT="91425" marB="91425"/>
                </a:tc>
                <a:extLst>
                  <a:ext uri="{0D108BD9-81ED-4DB2-BD59-A6C34878D82A}">
                    <a16:rowId xmlns:a16="http://schemas.microsoft.com/office/drawing/2014/main" val="10001"/>
                  </a:ext>
                </a:extLst>
              </a:tr>
              <a:tr h="516950">
                <a:tc>
                  <a:txBody>
                    <a:bodyPr/>
                    <a:lstStyle/>
                    <a:p>
                      <a:pPr marL="0" lvl="0" indent="0" algn="l" rtl="0">
                        <a:spcBef>
                          <a:spcPts val="0"/>
                        </a:spcBef>
                        <a:spcAft>
                          <a:spcPts val="0"/>
                        </a:spcAft>
                        <a:buNone/>
                      </a:pPr>
                      <a:r>
                        <a:rPr lang="vi" sz="1600">
                          <a:solidFill>
                            <a:schemeClr val="dk2"/>
                          </a:solidFill>
                        </a:rPr>
                        <a:t>2</a:t>
                      </a:r>
                      <a:endParaRPr sz="1600">
                        <a:solidFill>
                          <a:schemeClr val="dk2"/>
                        </a:solidFill>
                      </a:endParaRPr>
                    </a:p>
                  </a:txBody>
                  <a:tcPr marL="91425" marR="91425" marT="91425" marB="91425"/>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vi" sz="1600">
                          <a:solidFill>
                            <a:schemeClr val="dk2"/>
                          </a:solidFill>
                        </a:rPr>
                        <a:t>Môi trường dàn dựng</a:t>
                      </a:r>
                      <a:endParaRPr sz="1600">
                        <a:solidFill>
                          <a:schemeClr val="dk2"/>
                        </a:solidFill>
                      </a:endParaRPr>
                    </a:p>
                  </a:txBody>
                  <a:tcPr marL="91425" marR="91425" marT="91425" marB="91425"/>
                </a:tc>
                <a:extLst>
                  <a:ext uri="{0D108BD9-81ED-4DB2-BD59-A6C34878D82A}">
                    <a16:rowId xmlns:a16="http://schemas.microsoft.com/office/drawing/2014/main" val="10002"/>
                  </a:ext>
                </a:extLst>
              </a:tr>
            </a:tbl>
          </a:graphicData>
        </a:graphic>
      </p:graphicFrame>
      <p:sp>
        <p:nvSpPr>
          <p:cNvPr id="120" name="Google Shape;120;p21"/>
          <p:cNvSpPr/>
          <p:nvPr/>
        </p:nvSpPr>
        <p:spPr>
          <a:xfrm>
            <a:off x="746150" y="3273125"/>
            <a:ext cx="7742700" cy="1074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vi" sz="1800">
                <a:solidFill>
                  <a:schemeClr val="dk2"/>
                </a:solidFill>
              </a:rPr>
              <a:t>Do những hạn chế của Cổng kết nối trực tiếp ở phía USMH,</a:t>
            </a:r>
            <a:endParaRPr sz="1800">
              <a:solidFill>
                <a:schemeClr val="dk2"/>
              </a:solidFill>
            </a:endParaRPr>
          </a:p>
          <a:p>
            <a:pPr marL="0" lvl="0" indent="0" algn="l" rtl="0">
              <a:spcBef>
                <a:spcPts val="0"/>
              </a:spcBef>
              <a:spcAft>
                <a:spcPts val="0"/>
              </a:spcAft>
              <a:buNone/>
            </a:pPr>
            <a:r>
              <a:rPr lang="vi" sz="1800">
                <a:solidFill>
                  <a:schemeClr val="dk2"/>
                </a:solidFill>
              </a:rPr>
              <a:t>Không tạo tài khoản AWS riêng cho từng tên doanh nghiệp</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3-2. Lý do chia tách tài khoản AWS</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126" name="Google Shape;126;p2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27" name="Google Shape;127;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10</a:t>
            </a:fld>
            <a:endParaRPr/>
          </a:p>
        </p:txBody>
      </p:sp>
      <p:sp>
        <p:nvSpPr>
          <p:cNvPr id="128" name="Google Shape;128;p22"/>
          <p:cNvSpPr txBox="1">
            <a:spLocks noGrp="1"/>
          </p:cNvSpPr>
          <p:nvPr>
            <p:ph type="body" idx="1"/>
          </p:nvPr>
        </p:nvSpPr>
        <p:spPr>
          <a:xfrm>
            <a:off x="311700" y="1152475"/>
            <a:ext cx="8263800" cy="34137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vi" sz="1900"/>
              <a:t>Ngăn ngừa tai nạn do giới hạn tài nguyên trên mỗi tài khoản</a:t>
            </a:r>
            <a:endParaRPr sz="1900"/>
          </a:p>
          <a:p>
            <a:pPr marL="457200" lvl="0" indent="-349250" algn="l" rtl="0">
              <a:spcBef>
                <a:spcPts val="0"/>
              </a:spcBef>
              <a:spcAft>
                <a:spcPts val="0"/>
              </a:spcAft>
              <a:buSzPts val="1900"/>
              <a:buChar char="●"/>
            </a:pPr>
            <a:r>
              <a:rPr lang="vi" sz="1900"/>
              <a:t>Ngăn ngừa tai nạn do lỗi vận hành</a:t>
            </a:r>
            <a:endParaRPr sz="1900"/>
          </a:p>
          <a:p>
            <a:pPr marL="457200" lvl="0" indent="-349250" algn="l" rtl="0">
              <a:spcBef>
                <a:spcPts val="0"/>
              </a:spcBef>
              <a:spcAft>
                <a:spcPts val="0"/>
              </a:spcAft>
              <a:buSzPts val="1900"/>
              <a:buChar char="●"/>
            </a:pPr>
            <a:r>
              <a:rPr lang="vi" sz="1900"/>
              <a:t>Ủy quyền phù hợp tăng cường bảo mật</a:t>
            </a:r>
            <a:endParaRPr sz="1900"/>
          </a:p>
          <a:p>
            <a:pPr marL="457200" lvl="0" indent="-349250" algn="l" rtl="0">
              <a:spcBef>
                <a:spcPts val="0"/>
              </a:spcBef>
              <a:spcAft>
                <a:spcPts val="0"/>
              </a:spcAft>
              <a:buSzPts val="1900"/>
              <a:buChar char="●"/>
            </a:pPr>
            <a:r>
              <a:rPr lang="vi" sz="1900"/>
              <a:t>Chi phí cho từng môi trường có thể dễ dàng hiểu được</a:t>
            </a:r>
            <a:endParaRPr sz="1167"/>
          </a:p>
          <a:p>
            <a:pPr marL="0" lvl="0" indent="0" algn="l" rtl="0">
              <a:lnSpc>
                <a:spcPct val="160000"/>
              </a:lnSpc>
              <a:spcBef>
                <a:spcPts val="3000"/>
              </a:spcBef>
              <a:spcAft>
                <a:spcPts val="0"/>
              </a:spcAft>
              <a:buClr>
                <a:schemeClr val="dk1"/>
              </a:buClr>
              <a:buSzPts val="1100"/>
              <a:buFont typeface="Arial"/>
              <a:buNone/>
            </a:pPr>
            <a:endParaRPr sz="1700" b="1">
              <a:solidFill>
                <a:schemeClr val="dk1"/>
              </a:solidFill>
              <a:highlight>
                <a:srgbClr val="FFFFFF"/>
              </a:highlight>
              <a:latin typeface="Meiryo"/>
              <a:ea typeface="Meiryo"/>
              <a:cs typeface="Meiryo"/>
              <a:sym typeface="Meiryo"/>
            </a:endParaRPr>
          </a:p>
          <a:p>
            <a:pPr marL="0" lvl="0" indent="0" algn="l" rtl="0">
              <a:spcBef>
                <a:spcPts val="1200"/>
              </a:spcBef>
              <a:spcAft>
                <a:spcPts val="1200"/>
              </a:spcAft>
              <a:buNone/>
            </a:pP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 sz="3000">
                <a:highlight>
                  <a:srgbClr val="FFFFFF"/>
                </a:highlight>
              </a:rPr>
              <a:t>4. Cấu hình mạng</a:t>
            </a:r>
            <a:endParaRPr sz="3000">
              <a:highlight>
                <a:srgbClr val="FFFFFF"/>
              </a:highlight>
            </a:endParaRPr>
          </a:p>
          <a:p>
            <a:pPr marL="0" lvl="0" indent="0" algn="ctr" rtl="0">
              <a:spcBef>
                <a:spcPts val="0"/>
              </a:spcBef>
              <a:spcAft>
                <a:spcPts val="0"/>
              </a:spcAft>
              <a:buNone/>
            </a:pPr>
            <a:r>
              <a:rPr lang="vi" sz="3000">
                <a:highlight>
                  <a:srgbClr val="FFFFFF"/>
                </a:highlight>
              </a:rPr>
              <a:t>(Máy chủ POS trực tuyến hiện có)</a:t>
            </a:r>
            <a:endParaRPr sz="3000">
              <a:highlight>
                <a:srgbClr val="FFFFFF"/>
              </a:highlight>
            </a:endParaRPr>
          </a:p>
        </p:txBody>
      </p:sp>
      <p:pic>
        <p:nvPicPr>
          <p:cNvPr id="134" name="Google Shape;134;p2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35" name="Google Shape;135;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4-1. Máy chủ POS trực tuyến</a:t>
            </a:r>
            <a:endParaRPr>
              <a:highlight>
                <a:srgbClr val="D9D9D9"/>
              </a:highlight>
            </a:endParaRPr>
          </a:p>
        </p:txBody>
      </p:sp>
      <p:pic>
        <p:nvPicPr>
          <p:cNvPr id="141" name="Google Shape;141;p2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42" name="Google Shape;14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12</a:t>
            </a:fld>
            <a:endParaRPr/>
          </a:p>
        </p:txBody>
      </p:sp>
      <p:sp>
        <p:nvSpPr>
          <p:cNvPr id="143" name="Google Shape;143;p24"/>
          <p:cNvSpPr txBox="1">
            <a:spLocks noGrp="1"/>
          </p:cNvSpPr>
          <p:nvPr>
            <p:ph type="body" idx="1"/>
          </p:nvPr>
        </p:nvSpPr>
        <p:spPr>
          <a:xfrm>
            <a:off x="452550" y="1017725"/>
            <a:ext cx="3689100" cy="3629100"/>
          </a:xfrm>
          <a:prstGeom prst="rect">
            <a:avLst/>
          </a:prstGeom>
        </p:spPr>
        <p:txBody>
          <a:bodyPr spcFirstLastPara="1" wrap="square" lIns="91425" tIns="91425" rIns="91425" bIns="91425" anchor="t" anchorCtr="0">
            <a:noAutofit/>
          </a:bodyPr>
          <a:lstStyle/>
          <a:p>
            <a:pPr marL="457200" lvl="0" indent="-323850" algn="l" rtl="0">
              <a:lnSpc>
                <a:spcPct val="105000"/>
              </a:lnSpc>
              <a:spcBef>
                <a:spcPts val="0"/>
              </a:spcBef>
              <a:spcAft>
                <a:spcPts val="0"/>
              </a:spcAft>
              <a:buSzPts val="1500"/>
              <a:buChar char="●"/>
            </a:pPr>
            <a:r>
              <a:rPr lang="vi" sz="1500"/>
              <a:t>Được Maruetsu, Kasumi và MV Kanto sử dụng làm máy tính tiền cho thanh toán kỹ thuật số</a:t>
            </a:r>
            <a:endParaRPr sz="1500"/>
          </a:p>
          <a:p>
            <a:pPr marL="457200" lvl="0" indent="-323850" algn="l" rtl="0">
              <a:lnSpc>
                <a:spcPct val="105000"/>
              </a:lnSpc>
              <a:spcBef>
                <a:spcPts val="0"/>
              </a:spcBef>
              <a:spcAft>
                <a:spcPts val="0"/>
              </a:spcAft>
              <a:buSzPts val="1500"/>
              <a:buChar char="●"/>
            </a:pPr>
            <a:r>
              <a:rPr lang="vi" sz="1500"/>
              <a:t>Truy cập nhiều lần trong ngày</a:t>
            </a:r>
            <a:endParaRPr sz="1500"/>
          </a:p>
          <a:p>
            <a:pPr marL="457200" lvl="0" indent="-323850" algn="l" rtl="0">
              <a:lnSpc>
                <a:spcPct val="105000"/>
              </a:lnSpc>
              <a:spcBef>
                <a:spcPts val="0"/>
              </a:spcBef>
              <a:spcAft>
                <a:spcPts val="0"/>
              </a:spcAft>
              <a:buSzPts val="1500"/>
              <a:buChar char="●"/>
            </a:pPr>
            <a:r>
              <a:rPr lang="vi" sz="1500"/>
              <a:t>API và DB có cùng tên</a:t>
            </a:r>
            <a:endParaRPr sz="1500"/>
          </a:p>
          <a:p>
            <a:pPr marL="457200" lvl="0" indent="-323850" algn="l" rtl="0">
              <a:lnSpc>
                <a:spcPct val="105000"/>
              </a:lnSpc>
              <a:spcBef>
                <a:spcPts val="0"/>
              </a:spcBef>
              <a:spcAft>
                <a:spcPts val="0"/>
              </a:spcAft>
              <a:buSzPts val="1500"/>
              <a:buChar char="●"/>
            </a:pPr>
            <a:r>
              <a:rPr lang="vi" sz="1500"/>
              <a:t>Được vận hành tại AWS và các trung tâm dữ liệu</a:t>
            </a:r>
            <a:endParaRPr sz="1500"/>
          </a:p>
          <a:p>
            <a:pPr marL="457200" lvl="0" indent="-323850" algn="l" rtl="0">
              <a:lnSpc>
                <a:spcPct val="105000"/>
              </a:lnSpc>
              <a:spcBef>
                <a:spcPts val="0"/>
              </a:spcBef>
              <a:spcAft>
                <a:spcPts val="0"/>
              </a:spcAft>
              <a:buSzPts val="1500"/>
              <a:buChar char="●"/>
            </a:pPr>
            <a:r>
              <a:rPr lang="vi" sz="1500"/>
              <a:t>Không phụ thuộc vào POS Server 2.0 ngoại tuyến</a:t>
            </a:r>
            <a:endParaRPr sz="1500"/>
          </a:p>
          <a:p>
            <a:pPr marL="457200" lvl="0" indent="-323850" algn="l" rtl="0">
              <a:lnSpc>
                <a:spcPct val="105000"/>
              </a:lnSpc>
              <a:spcBef>
                <a:spcPts val="0"/>
              </a:spcBef>
              <a:spcAft>
                <a:spcPts val="0"/>
              </a:spcAft>
              <a:buSzPts val="1500"/>
              <a:buChar char="●"/>
            </a:pPr>
            <a:r>
              <a:rPr lang="vi" sz="1500"/>
              <a:t>AWS</a:t>
            </a:r>
            <a:endParaRPr sz="1500"/>
          </a:p>
          <a:p>
            <a:pPr marL="914400" lvl="1" indent="-323850" algn="l" rtl="0">
              <a:lnSpc>
                <a:spcPct val="105000"/>
              </a:lnSpc>
              <a:spcBef>
                <a:spcPts val="0"/>
              </a:spcBef>
              <a:spcAft>
                <a:spcPts val="0"/>
              </a:spcAft>
              <a:buSzPts val="1500"/>
              <a:buChar char="○"/>
            </a:pPr>
            <a:r>
              <a:rPr lang="vi" sz="1500"/>
              <a:t>Rubina là chủ sở hữu tài khoản AWS</a:t>
            </a:r>
            <a:endParaRPr sz="1500"/>
          </a:p>
          <a:p>
            <a:pPr marL="914400" lvl="1" indent="-323850" algn="l" rtl="0">
              <a:lnSpc>
                <a:spcPct val="105000"/>
              </a:lnSpc>
              <a:spcBef>
                <a:spcPts val="0"/>
              </a:spcBef>
              <a:spcAft>
                <a:spcPts val="0"/>
              </a:spcAft>
              <a:buSzPts val="1500"/>
              <a:buChar char="○"/>
            </a:pPr>
            <a:r>
              <a:rPr lang="vi" sz="1500"/>
              <a:t>Tên VPC là AndroidPOS.</a:t>
            </a:r>
            <a:endParaRPr sz="1500"/>
          </a:p>
          <a:p>
            <a:pPr marL="457200" lvl="0" indent="-323850" algn="l" rtl="0">
              <a:lnSpc>
                <a:spcPct val="105000"/>
              </a:lnSpc>
              <a:spcBef>
                <a:spcPts val="0"/>
              </a:spcBef>
              <a:spcAft>
                <a:spcPts val="0"/>
              </a:spcAft>
              <a:buSzPts val="1500"/>
              <a:buChar char="●"/>
            </a:pPr>
            <a:r>
              <a:rPr lang="vi" sz="1500"/>
              <a:t>Trung tâm dữ liệu</a:t>
            </a:r>
            <a:endParaRPr sz="1500"/>
          </a:p>
          <a:p>
            <a:pPr marL="914400" lvl="1" indent="-323850" algn="l" rtl="0">
              <a:lnSpc>
                <a:spcPct val="105000"/>
              </a:lnSpc>
              <a:spcBef>
                <a:spcPts val="0"/>
              </a:spcBef>
              <a:spcAft>
                <a:spcPts val="0"/>
              </a:spcAft>
              <a:buSzPts val="1500"/>
              <a:buChar char="○"/>
            </a:pPr>
            <a:r>
              <a:rPr lang="vi" sz="1500"/>
              <a:t>Có kế hoạch chuyển sang AWS (AndroidPOS) trong tương lai</a:t>
            </a:r>
            <a:endParaRPr sz="1500"/>
          </a:p>
          <a:p>
            <a:pPr marL="0" lvl="0" indent="0" algn="l" rtl="0">
              <a:lnSpc>
                <a:spcPct val="105000"/>
              </a:lnSpc>
              <a:spcBef>
                <a:spcPts val="1200"/>
              </a:spcBef>
              <a:spcAft>
                <a:spcPts val="0"/>
              </a:spcAft>
              <a:buNone/>
            </a:pPr>
            <a:endParaRPr sz="1500"/>
          </a:p>
          <a:p>
            <a:pPr marL="0" lvl="0" indent="0" algn="l" rtl="0">
              <a:lnSpc>
                <a:spcPct val="105000"/>
              </a:lnSpc>
              <a:spcBef>
                <a:spcPts val="1200"/>
              </a:spcBef>
              <a:spcAft>
                <a:spcPts val="1200"/>
              </a:spcAft>
              <a:buNone/>
            </a:pPr>
            <a:endParaRPr sz="1500"/>
          </a:p>
        </p:txBody>
      </p:sp>
      <p:pic>
        <p:nvPicPr>
          <p:cNvPr id="144" name="Google Shape;144;p24" title="【POS】infra_ishida-4-1.drawio.png"/>
          <p:cNvPicPr preferRelativeResize="0"/>
          <p:nvPr/>
        </p:nvPicPr>
        <p:blipFill>
          <a:blip r:embed="rId4">
            <a:alphaModFix/>
          </a:blip>
          <a:stretch>
            <a:fillRect/>
          </a:stretch>
        </p:blipFill>
        <p:spPr>
          <a:xfrm>
            <a:off x="4294050" y="1170125"/>
            <a:ext cx="4650140" cy="334069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 sz="3000">
                <a:highlight>
                  <a:srgbClr val="FFFFFF"/>
                </a:highlight>
              </a:rPr>
              <a:t>5. Cấu hình mạng</a:t>
            </a:r>
            <a:endParaRPr sz="3000">
              <a:highlight>
                <a:srgbClr val="FFFFFF"/>
              </a:highlight>
            </a:endParaRPr>
          </a:p>
          <a:p>
            <a:pPr marL="0" lvl="0" indent="0" algn="ctr" rtl="0">
              <a:spcBef>
                <a:spcPts val="0"/>
              </a:spcBef>
              <a:spcAft>
                <a:spcPts val="0"/>
              </a:spcAft>
              <a:buNone/>
            </a:pPr>
            <a:r>
              <a:rPr lang="vi" sz="3000">
                <a:highlight>
                  <a:srgbClr val="FFFFFF"/>
                </a:highlight>
              </a:rPr>
              <a:t>(Máy chủ POS ngoại tuyến và mạng kín USHM)</a:t>
            </a:r>
            <a:endParaRPr sz="3000">
              <a:highlight>
                <a:srgbClr val="FFFFFF"/>
              </a:highlight>
            </a:endParaRPr>
          </a:p>
        </p:txBody>
      </p:sp>
      <p:pic>
        <p:nvPicPr>
          <p:cNvPr id="150" name="Google Shape;150;p2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51" name="Google Shape;151;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5-1.Môi trường đột biến</a:t>
            </a:r>
            <a:endParaRPr>
              <a:highlight>
                <a:srgbClr val="D9D9D9"/>
              </a:highlight>
            </a:endParaRPr>
          </a:p>
        </p:txBody>
      </p:sp>
      <p:sp>
        <p:nvSpPr>
          <p:cNvPr id="157" name="Google Shape;157;p26"/>
          <p:cNvSpPr txBox="1">
            <a:spLocks noGrp="1"/>
          </p:cNvSpPr>
          <p:nvPr>
            <p:ph type="body" idx="1"/>
          </p:nvPr>
        </p:nvSpPr>
        <p:spPr>
          <a:xfrm>
            <a:off x="341400" y="1051500"/>
            <a:ext cx="4298700" cy="3388200"/>
          </a:xfrm>
          <a:prstGeom prst="rect">
            <a:avLst/>
          </a:prstGeom>
        </p:spPr>
        <p:txBody>
          <a:bodyPr spcFirstLastPara="1" wrap="square" lIns="91425" tIns="91425" rIns="91425" bIns="91425" anchor="t" anchorCtr="0">
            <a:noAutofit/>
          </a:bodyPr>
          <a:lstStyle/>
          <a:p>
            <a:pPr marL="457200" lvl="0" indent="-324961" algn="l" rtl="0">
              <a:spcBef>
                <a:spcPts val="0"/>
              </a:spcBef>
              <a:spcAft>
                <a:spcPts val="0"/>
              </a:spcAft>
              <a:buClr>
                <a:srgbClr val="333333"/>
              </a:buClr>
              <a:buSzPts val="1518"/>
              <a:buChar char="●"/>
            </a:pPr>
            <a:r>
              <a:rPr lang="vi" sz="1517">
                <a:solidFill>
                  <a:srgbClr val="333333"/>
                </a:solidFill>
              </a:rPr>
              <a:t>Sử dụng tài khoản AWS của máy chủ POS trực tuyến để tạo môi trường đột biến cho máy chủ POS ngoại tuyến 2.0.</a:t>
            </a:r>
            <a:endParaRPr sz="1517">
              <a:solidFill>
                <a:srgbClr val="333333"/>
              </a:solidFill>
            </a:endParaRPr>
          </a:p>
          <a:p>
            <a:pPr marL="457200" lvl="0" indent="-324961" algn="l" rtl="0">
              <a:spcBef>
                <a:spcPts val="0"/>
              </a:spcBef>
              <a:spcAft>
                <a:spcPts val="0"/>
              </a:spcAft>
              <a:buClr>
                <a:srgbClr val="333333"/>
              </a:buClr>
              <a:buSzPts val="1518"/>
              <a:buChar char="●"/>
            </a:pPr>
            <a:r>
              <a:rPr lang="vi" sz="1517">
                <a:solidFill>
                  <a:srgbClr val="333333"/>
                </a:solidFill>
              </a:rPr>
              <a:t>Cho phép xác thực nhanh chóng cho các nhóm phát triển và cơ sở hạ tầng</a:t>
            </a:r>
            <a:endParaRPr sz="1517">
              <a:solidFill>
                <a:srgbClr val="333333"/>
              </a:solidFill>
            </a:endParaRPr>
          </a:p>
          <a:p>
            <a:pPr marL="457200" lvl="0" indent="-324961" algn="l" rtl="0">
              <a:spcBef>
                <a:spcPts val="0"/>
              </a:spcBef>
              <a:spcAft>
                <a:spcPts val="0"/>
              </a:spcAft>
              <a:buClr>
                <a:srgbClr val="333333"/>
              </a:buClr>
              <a:buSzPts val="1518"/>
              <a:buChar char="●"/>
            </a:pPr>
            <a:r>
              <a:rPr lang="vi" sz="1517">
                <a:solidFill>
                  <a:srgbClr val="333333"/>
                </a:solidFill>
              </a:rPr>
              <a:t>Tách AndroidPOS ở cấp độ mạng để tránh nhiễu</a:t>
            </a:r>
            <a:endParaRPr sz="1517">
              <a:solidFill>
                <a:srgbClr val="333333"/>
              </a:solidFill>
            </a:endParaRPr>
          </a:p>
          <a:p>
            <a:pPr marL="457200" lvl="0" indent="-324961" algn="l" rtl="0">
              <a:spcBef>
                <a:spcPts val="0"/>
              </a:spcBef>
              <a:spcAft>
                <a:spcPts val="0"/>
              </a:spcAft>
              <a:buClr>
                <a:srgbClr val="333333"/>
              </a:buClr>
              <a:buSzPts val="1518"/>
              <a:buChar char="●"/>
            </a:pPr>
            <a:r>
              <a:rPr lang="vi" sz="1517">
                <a:solidFill>
                  <a:srgbClr val="333333"/>
                </a:solidFill>
              </a:rPr>
              <a:t>Môi trường Spike sẽ vẫn là môi trường thử nghiệm cho Rubyna trong tương lai.</a:t>
            </a:r>
            <a:endParaRPr sz="1517">
              <a:solidFill>
                <a:srgbClr val="333333"/>
              </a:solidFill>
            </a:endParaRPr>
          </a:p>
          <a:p>
            <a:pPr marL="457200" lvl="0" indent="-324961" algn="l" rtl="0">
              <a:spcBef>
                <a:spcPts val="0"/>
              </a:spcBef>
              <a:spcAft>
                <a:spcPts val="0"/>
              </a:spcAft>
              <a:buClr>
                <a:srgbClr val="333333"/>
              </a:buClr>
              <a:buSzPts val="1518"/>
              <a:buChar char="●"/>
            </a:pPr>
            <a:r>
              <a:rPr lang="vi" sz="1517">
                <a:solidFill>
                  <a:srgbClr val="333333"/>
                </a:solidFill>
              </a:rPr>
              <a:t>Hiện tại, chính sách không phải là nhận dữ liệu chính từ máy chủ OC hoặc máy chủ chuyển tiếp hoặc gửi dữ liệu chính đến máy chủ nhãn kệ điện tử ISHIDA.</a:t>
            </a:r>
            <a:endParaRPr sz="1517">
              <a:solidFill>
                <a:srgbClr val="333333"/>
              </a:solidFill>
            </a:endParaRPr>
          </a:p>
        </p:txBody>
      </p:sp>
      <p:pic>
        <p:nvPicPr>
          <p:cNvPr id="158" name="Google Shape;158;p2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59" name="Google Shape;15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14</a:t>
            </a:fld>
            <a:endParaRPr/>
          </a:p>
        </p:txBody>
      </p:sp>
      <p:pic>
        <p:nvPicPr>
          <p:cNvPr id="160" name="Google Shape;160;p26" title="【POS】Infra-5-3.drawio.png"/>
          <p:cNvPicPr preferRelativeResize="0"/>
          <p:nvPr/>
        </p:nvPicPr>
        <p:blipFill>
          <a:blip r:embed="rId4">
            <a:alphaModFix/>
          </a:blip>
          <a:stretch>
            <a:fillRect/>
          </a:stretch>
        </p:blipFill>
        <p:spPr>
          <a:xfrm>
            <a:off x="4895375" y="1098900"/>
            <a:ext cx="3730301" cy="334069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5-2. Máy chủ POS ngoại tuyến 2.0 và Mạng kín USMH</a:t>
            </a:r>
            <a:endParaRPr>
              <a:highlight>
                <a:srgbClr val="D9D9D9"/>
              </a:highlight>
            </a:endParaRPr>
          </a:p>
        </p:txBody>
      </p:sp>
      <p:pic>
        <p:nvPicPr>
          <p:cNvPr id="166" name="Google Shape;166;p2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67" name="Google Shape;167;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15</a:t>
            </a:fld>
            <a:endParaRPr/>
          </a:p>
        </p:txBody>
      </p:sp>
      <p:pic>
        <p:nvPicPr>
          <p:cNvPr id="168" name="Google Shape;168;p27" title="【POS】infra_ishida-5-2帯域.drawio.png"/>
          <p:cNvPicPr preferRelativeResize="0"/>
          <p:nvPr/>
        </p:nvPicPr>
        <p:blipFill>
          <a:blip r:embed="rId4">
            <a:alphaModFix/>
          </a:blip>
          <a:stretch>
            <a:fillRect/>
          </a:stretch>
        </p:blipFill>
        <p:spPr>
          <a:xfrm>
            <a:off x="1188700" y="1017725"/>
            <a:ext cx="6527224" cy="3876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5-3.Trạng thái giao thông kết nối trực tiếp (30 tháng 5 năm 2025)</a:t>
            </a:r>
            <a:endParaRPr>
              <a:highlight>
                <a:srgbClr val="D9D9D9"/>
              </a:highlight>
            </a:endParaRPr>
          </a:p>
        </p:txBody>
      </p:sp>
      <p:pic>
        <p:nvPicPr>
          <p:cNvPr id="174" name="Google Shape;174;p2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75" name="Google Shape;175;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16</a:t>
            </a:fld>
            <a:endParaRPr/>
          </a:p>
        </p:txBody>
      </p:sp>
      <p:sp>
        <p:nvSpPr>
          <p:cNvPr id="176" name="Google Shape;176;p28"/>
          <p:cNvSpPr txBox="1">
            <a:spLocks noGrp="1"/>
          </p:cNvSpPr>
          <p:nvPr>
            <p:ph type="body" idx="1"/>
          </p:nvPr>
        </p:nvSpPr>
        <p:spPr>
          <a:xfrm>
            <a:off x="311700" y="1091075"/>
            <a:ext cx="8224800" cy="3619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vi" sz="1217">
                <a:solidFill>
                  <a:srgbClr val="333333"/>
                </a:solidFill>
              </a:rPr>
              <a:t>Thông tin được cung cấp bởi Shinkawa của USMH</a:t>
            </a:r>
            <a:endParaRPr sz="1217">
              <a:solidFill>
                <a:srgbClr val="333333"/>
              </a:solidFill>
            </a:endParaRPr>
          </a:p>
          <a:p>
            <a:pPr marL="457200" lvl="0" indent="-323850" algn="l" rtl="0">
              <a:spcBef>
                <a:spcPts val="1200"/>
              </a:spcBef>
              <a:spcAft>
                <a:spcPts val="0"/>
              </a:spcAft>
              <a:buClr>
                <a:srgbClr val="434343"/>
              </a:buClr>
              <a:buSzPts val="1500"/>
              <a:buChar char="●"/>
            </a:pPr>
            <a:r>
              <a:rPr lang="vi" sz="1500">
                <a:solidFill>
                  <a:srgbClr val="434343"/>
                </a:solidFill>
              </a:rPr>
              <a:t>Mạng USMH - AWS (100Mbps)</a:t>
            </a:r>
            <a:endParaRPr sz="1500">
              <a:solidFill>
                <a:srgbClr val="434343"/>
              </a:solidFill>
            </a:endParaRPr>
          </a:p>
          <a:p>
            <a:pPr marL="914400" lvl="1" indent="-323850" algn="l" rtl="0">
              <a:spcBef>
                <a:spcPts val="0"/>
              </a:spcBef>
              <a:spcAft>
                <a:spcPts val="0"/>
              </a:spcAft>
              <a:buClr>
                <a:srgbClr val="434343"/>
              </a:buClr>
              <a:buSzPts val="1500"/>
              <a:buChar char="○"/>
            </a:pPr>
            <a:r>
              <a:rPr lang="vi" sz="1500">
                <a:solidFill>
                  <a:srgbClr val="434343"/>
                </a:solidFill>
              </a:rPr>
              <a:t>Không có điểm đột biến nổi bật nào khi nhìn vào toàn bộ mạng lưới.</a:t>
            </a:r>
            <a:endParaRPr sz="1500">
              <a:solidFill>
                <a:srgbClr val="434343"/>
              </a:solidFill>
            </a:endParaRPr>
          </a:p>
          <a:p>
            <a:pPr marL="914400" lvl="1" indent="-323850" algn="l" rtl="0">
              <a:spcBef>
                <a:spcPts val="0"/>
              </a:spcBef>
              <a:spcAft>
                <a:spcPts val="0"/>
              </a:spcAft>
              <a:buClr>
                <a:srgbClr val="434343"/>
              </a:buClr>
              <a:buSzPts val="1500"/>
              <a:buChar char="○"/>
            </a:pPr>
            <a:r>
              <a:rPr lang="vi" sz="1500">
                <a:solidFill>
                  <a:srgbClr val="434343"/>
                </a:solidFill>
              </a:rPr>
              <a:t>Giá trị MAX (tốc độ gió tối đa tức thời) </a:t>
            </a:r>
            <a:r>
              <a:rPr lang="vi" sz="1500">
                <a:solidFill>
                  <a:srgbClr val="FF0000"/>
                </a:solidFill>
              </a:rPr>
              <a:t>22 </a:t>
            </a:r>
            <a:r>
              <a:rPr lang="vi" sz="1500">
                <a:solidFill>
                  <a:srgbClr val="434343"/>
                </a:solidFill>
              </a:rPr>
              <a:t>%</a:t>
            </a:r>
            <a:endParaRPr sz="1500">
              <a:solidFill>
                <a:srgbClr val="434343"/>
              </a:solidFill>
            </a:endParaRPr>
          </a:p>
          <a:p>
            <a:pPr marL="457200" lvl="0" indent="-323850" algn="l" rtl="0">
              <a:spcBef>
                <a:spcPts val="0"/>
              </a:spcBef>
              <a:spcAft>
                <a:spcPts val="0"/>
              </a:spcAft>
              <a:buClr>
                <a:srgbClr val="434343"/>
              </a:buClr>
              <a:buSzPts val="1500"/>
              <a:buChar char="●"/>
            </a:pPr>
            <a:r>
              <a:rPr lang="vi" sz="1500">
                <a:solidFill>
                  <a:srgbClr val="434343"/>
                </a:solidFill>
              </a:rPr>
              <a:t>Mạng Inageya USMH (50Mbps)</a:t>
            </a:r>
            <a:endParaRPr sz="1500">
              <a:solidFill>
                <a:srgbClr val="434343"/>
              </a:solidFill>
            </a:endParaRPr>
          </a:p>
          <a:p>
            <a:pPr marL="914400" lvl="1" indent="-323850" algn="l" rtl="0">
              <a:spcBef>
                <a:spcPts val="0"/>
              </a:spcBef>
              <a:spcAft>
                <a:spcPts val="0"/>
              </a:spcAft>
              <a:buClr>
                <a:srgbClr val="434343"/>
              </a:buClr>
              <a:buSzPts val="1500"/>
              <a:buChar char="○"/>
            </a:pPr>
            <a:r>
              <a:rPr lang="vi" sz="1500">
                <a:solidFill>
                  <a:srgbClr val="434343"/>
                </a:solidFill>
              </a:rPr>
              <a:t>Không có điểm đột biến nổi bật nào khi nhìn vào toàn bộ mạng lưới.</a:t>
            </a:r>
            <a:endParaRPr sz="1500">
              <a:solidFill>
                <a:srgbClr val="434343"/>
              </a:solidFill>
            </a:endParaRPr>
          </a:p>
          <a:p>
            <a:pPr marL="914400" lvl="1" indent="-323850" algn="l" rtl="0">
              <a:spcBef>
                <a:spcPts val="0"/>
              </a:spcBef>
              <a:spcAft>
                <a:spcPts val="0"/>
              </a:spcAft>
              <a:buClr>
                <a:srgbClr val="434343"/>
              </a:buClr>
              <a:buSzPts val="1500"/>
              <a:buChar char="○"/>
            </a:pPr>
            <a:r>
              <a:rPr lang="vi" sz="1500">
                <a:solidFill>
                  <a:srgbClr val="434343"/>
                </a:solidFill>
              </a:rPr>
              <a:t>Giá trị MAX (tốc độ gió tối đa tức thời) </a:t>
            </a:r>
            <a:r>
              <a:rPr lang="vi" sz="1500">
                <a:solidFill>
                  <a:srgbClr val="FF0000"/>
                </a:solidFill>
              </a:rPr>
              <a:t>2,4 </a:t>
            </a:r>
            <a:r>
              <a:rPr lang="vi" sz="1500">
                <a:solidFill>
                  <a:srgbClr val="434343"/>
                </a:solidFill>
              </a:rPr>
              <a:t>%</a:t>
            </a:r>
            <a:endParaRPr sz="1500">
              <a:solidFill>
                <a:srgbClr val="434343"/>
              </a:solidFill>
            </a:endParaRPr>
          </a:p>
          <a:p>
            <a:pPr marL="457200" lvl="0" indent="-323850" algn="l" rtl="0">
              <a:spcBef>
                <a:spcPts val="0"/>
              </a:spcBef>
              <a:spcAft>
                <a:spcPts val="0"/>
              </a:spcAft>
              <a:buClr>
                <a:srgbClr val="434343"/>
              </a:buClr>
              <a:buSzPts val="1500"/>
              <a:buChar char="●"/>
            </a:pPr>
            <a:r>
              <a:rPr lang="vi" sz="1500">
                <a:solidFill>
                  <a:srgbClr val="FF0000"/>
                </a:solidFill>
              </a:rPr>
              <a:t>mỗi ngày vào khoảng 5 giờ sáng</a:t>
            </a:r>
            <a:endParaRPr sz="1500">
              <a:solidFill>
                <a:srgbClr val="434343"/>
              </a:solidFill>
            </a:endParaRPr>
          </a:p>
          <a:p>
            <a:pPr marL="914400" lvl="1" indent="-323850" algn="l" rtl="0">
              <a:spcBef>
                <a:spcPts val="0"/>
              </a:spcBef>
              <a:spcAft>
                <a:spcPts val="0"/>
              </a:spcAft>
              <a:buClr>
                <a:srgbClr val="434343"/>
              </a:buClr>
              <a:buSzPts val="1500"/>
              <a:buChar char="○"/>
            </a:pPr>
            <a:r>
              <a:rPr lang="vi" sz="1500">
                <a:solidFill>
                  <a:srgbClr val="434343"/>
                </a:solidFill>
              </a:rPr>
              <a:t>Khoảng thời gian khi dữ liệu như dữ liệu chính của sản phẩm cho 16 cửa hàng được gửi từ Máy chủ POS của Inageya đến Scan &amp; Go.</a:t>
            </a:r>
            <a:endParaRPr sz="1500">
              <a:solidFill>
                <a:srgbClr val="434343"/>
              </a:solidFill>
            </a:endParaRPr>
          </a:p>
          <a:p>
            <a:pPr marL="457200" lvl="0" indent="0" algn="l" rtl="0">
              <a:spcBef>
                <a:spcPts val="1200"/>
              </a:spcBef>
              <a:spcAft>
                <a:spcPts val="1200"/>
              </a:spcAft>
              <a:buNone/>
            </a:pPr>
            <a:endParaRPr sz="1817">
              <a:solidFill>
                <a:srgbClr val="33333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5-4. Xác minh băng thông</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182" name="Google Shape;182;p2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83" name="Google Shape;183;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17</a:t>
            </a:fld>
            <a:endParaRPr/>
          </a:p>
        </p:txBody>
      </p:sp>
      <p:sp>
        <p:nvSpPr>
          <p:cNvPr id="184" name="Google Shape;184;p29"/>
          <p:cNvSpPr txBox="1">
            <a:spLocks noGrp="1"/>
          </p:cNvSpPr>
          <p:nvPr>
            <p:ph type="body" idx="1"/>
          </p:nvPr>
        </p:nvSpPr>
        <p:spPr>
          <a:xfrm>
            <a:off x="311700" y="1092450"/>
            <a:ext cx="81609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vi"/>
              <a:t>Dự kiến thời gian chuẩn bị tối đa là một tháng để mở rộng băng thông</a:t>
            </a:r>
            <a:endParaRPr/>
          </a:p>
          <a:p>
            <a:pPr marL="457200" lvl="0" indent="-342900" algn="l" rtl="0">
              <a:spcBef>
                <a:spcPts val="0"/>
              </a:spcBef>
              <a:spcAft>
                <a:spcPts val="0"/>
              </a:spcAft>
              <a:buSzPts val="1800"/>
              <a:buChar char="●"/>
            </a:pPr>
            <a:r>
              <a:rPr lang="vi"/>
              <a:t>Sử dụng </a:t>
            </a:r>
            <a:endParaRPr/>
          </a:p>
          <a:p>
            <a:pPr marL="0" lvl="0" indent="0" algn="l" rtl="0">
              <a:spcBef>
                <a:spcPts val="1200"/>
              </a:spcBef>
              <a:spcAft>
                <a:spcPts val="12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 sz="3000">
                <a:highlight>
                  <a:srgbClr val="FFFFFF"/>
                </a:highlight>
              </a:rPr>
              <a:t>6. Cấu hình mạng</a:t>
            </a:r>
            <a:endParaRPr sz="3000">
              <a:highlight>
                <a:srgbClr val="FFFFFF"/>
              </a:highlight>
            </a:endParaRPr>
          </a:p>
          <a:p>
            <a:pPr marL="0" lvl="0" indent="0" algn="ctr" rtl="0">
              <a:spcBef>
                <a:spcPts val="0"/>
              </a:spcBef>
              <a:spcAft>
                <a:spcPts val="0"/>
              </a:spcAft>
              <a:buNone/>
            </a:pPr>
            <a:r>
              <a:rPr lang="vi" sz="3000">
                <a:highlight>
                  <a:srgbClr val="FFFFFF"/>
                </a:highlight>
              </a:rPr>
              <a:t>(Văn phòng Rubina)</a:t>
            </a:r>
            <a:endParaRPr sz="3000">
              <a:highlight>
                <a:srgbClr val="FFFFFF"/>
              </a:highlight>
            </a:endParaRPr>
          </a:p>
        </p:txBody>
      </p:sp>
      <p:pic>
        <p:nvPicPr>
          <p:cNvPr id="190" name="Google Shape;190;p3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91" name="Google Shape;191;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6-1. Kết nối từ Văn phòng Rubina</a:t>
            </a:r>
            <a:endParaRPr>
              <a:highlight>
                <a:srgbClr val="D9D9D9"/>
              </a:highlight>
            </a:endParaRPr>
          </a:p>
        </p:txBody>
      </p:sp>
      <p:pic>
        <p:nvPicPr>
          <p:cNvPr id="197" name="Google Shape;197;p3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98" name="Google Shape;198;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19</a:t>
            </a:fld>
            <a:endParaRPr/>
          </a:p>
        </p:txBody>
      </p:sp>
      <p:graphicFrame>
        <p:nvGraphicFramePr>
          <p:cNvPr id="199" name="Google Shape;199;p31"/>
          <p:cNvGraphicFramePr/>
          <p:nvPr>
            <p:extLst>
              <p:ext uri="{D42A27DB-BD31-4B8C-83A1-F6EECF244321}">
                <p14:modId xmlns:p14="http://schemas.microsoft.com/office/powerpoint/2010/main" val="2882127005"/>
              </p:ext>
            </p:extLst>
          </p:nvPr>
        </p:nvGraphicFramePr>
        <p:xfrm>
          <a:off x="858825" y="1291325"/>
          <a:ext cx="7581150" cy="2803117"/>
        </p:xfrm>
        <a:graphic>
          <a:graphicData uri="http://schemas.openxmlformats.org/drawingml/2006/table">
            <a:tbl>
              <a:tblPr>
                <a:noFill/>
                <a:tableStyleId>{87A281C8-0844-4F7E-8F5C-31C3930F0FE5}</a:tableStyleId>
              </a:tblPr>
              <a:tblGrid>
                <a:gridCol w="1891325">
                  <a:extLst>
                    <a:ext uri="{9D8B030D-6E8A-4147-A177-3AD203B41FA5}">
                      <a16:colId xmlns:a16="http://schemas.microsoft.com/office/drawing/2014/main" val="20000"/>
                    </a:ext>
                  </a:extLst>
                </a:gridCol>
                <a:gridCol w="5689825">
                  <a:extLst>
                    <a:ext uri="{9D8B030D-6E8A-4147-A177-3AD203B41FA5}">
                      <a16:colId xmlns:a16="http://schemas.microsoft.com/office/drawing/2014/main" val="20001"/>
                    </a:ext>
                  </a:extLst>
                </a:gridCol>
              </a:tblGrid>
              <a:tr h="547687">
                <a:tc>
                  <a:txBody>
                    <a:bodyPr/>
                    <a:lstStyle/>
                    <a:p>
                      <a:pPr marL="0" lvl="0" indent="0" algn="l" rtl="0">
                        <a:spcBef>
                          <a:spcPts val="0"/>
                        </a:spcBef>
                        <a:spcAft>
                          <a:spcPts val="0"/>
                        </a:spcAft>
                        <a:buNone/>
                      </a:pPr>
                      <a:r>
                        <a:rPr lang="vi" b="1" dirty="0">
                          <a:solidFill>
                            <a:schemeClr val="dk2"/>
                          </a:solidFill>
                        </a:rPr>
                        <a:t>Nguồn</a:t>
                      </a:r>
                      <a:endParaRPr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b="1" dirty="0">
                          <a:solidFill>
                            <a:schemeClr val="dk2"/>
                          </a:solidFill>
                        </a:rPr>
                        <a:t>Điểm đến kết nối</a:t>
                      </a:r>
                      <a:endParaRPr b="1" dirty="0">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dirty="0"/>
                        <a:t>Thiết bị đầu cuối POS xác minh</a:t>
                      </a:r>
                      <a:endParaRPr dirty="0"/>
                    </a:p>
                  </a:txBody>
                  <a:tcPr marL="91425" marR="91425" marT="91425" marB="91425"/>
                </a:tc>
                <a:tc>
                  <a:txBody>
                    <a:bodyPr/>
                    <a:lstStyle/>
                    <a:p>
                      <a:pPr marL="0" lvl="0" indent="0" algn="l" rtl="0">
                        <a:spcBef>
                          <a:spcPts val="0"/>
                        </a:spcBef>
                        <a:spcAft>
                          <a:spcPts val="0"/>
                        </a:spcAft>
                        <a:buNone/>
                      </a:pPr>
                      <a:r>
                        <a:rPr lang="vi" dirty="0"/>
                        <a:t>Các dịch vụ bên ngoài như Tín dụng thanh toán </a:t>
                      </a:r>
                      <a:r>
                        <a:rPr lang="vi" dirty="0" err="1"/>
                        <a:t>Seiko</a:t>
                      </a:r>
                      <a:r>
                        <a:rPr lang="vi" dirty="0"/>
                        <a:t> trong mạng lưới khép kín của </a:t>
                      </a:r>
                      <a:r>
                        <a:rPr lang="vi" dirty="0" err="1"/>
                        <a:t>Inageya</a:t>
                      </a:r>
                      <a:endParaRPr dirty="0" err="1"/>
                    </a:p>
                    <a:p>
                      <a:pPr marL="0" lvl="0" indent="0" algn="l" rtl="0">
                        <a:spcBef>
                          <a:spcPts val="0"/>
                        </a:spcBef>
                        <a:spcAft>
                          <a:spcPts val="0"/>
                        </a:spcAft>
                        <a:buNone/>
                      </a:pPr>
                      <a:r>
                        <a:rPr lang="vi" dirty="0"/>
                        <a:t>*Kết nối VPN </a:t>
                      </a:r>
                      <a:r>
                        <a:rPr lang="vi" dirty="0" err="1"/>
                        <a:t>site</a:t>
                      </a:r>
                      <a:r>
                        <a:rPr lang="vi" dirty="0"/>
                        <a:t>-to-</a:t>
                      </a:r>
                      <a:r>
                        <a:rPr lang="vi" dirty="0" err="1"/>
                        <a:t>site</a:t>
                      </a:r>
                      <a:r>
                        <a:rPr lang="vi" dirty="0"/>
                        <a:t> là yêu cầu của hệ thống</a:t>
                      </a:r>
                      <a:endParaRPr dirty="0"/>
                    </a:p>
                    <a:p>
                      <a:pPr marL="0" lvl="0" indent="0" algn="l" rtl="0">
                        <a:spcBef>
                          <a:spcPts val="0"/>
                        </a:spcBef>
                        <a:spcAft>
                          <a:spcPts val="0"/>
                        </a:spcAft>
                        <a:buNone/>
                      </a:pPr>
                      <a:r>
                        <a:rPr lang="vi" dirty="0"/>
                        <a:t>*Tuyến đường sẽ giống với tuyến đường </a:t>
                      </a:r>
                      <a:r>
                        <a:rPr lang="vi" dirty="0" err="1"/>
                        <a:t>Android</a:t>
                      </a:r>
                      <a:r>
                        <a:rPr lang="vi" dirty="0"/>
                        <a:t> POS hiện tại.</a:t>
                      </a:r>
                      <a:endParaRPr dirty="0"/>
                    </a:p>
                  </a:txBody>
                  <a:tcPr marL="91425" marR="91425" marT="91425" marB="91425"/>
                </a:tc>
                <a:extLst>
                  <a:ext uri="{0D108BD9-81ED-4DB2-BD59-A6C34878D82A}">
                    <a16:rowId xmlns:a16="http://schemas.microsoft.com/office/drawing/2014/main" val="10001"/>
                  </a:ext>
                </a:extLst>
              </a:tr>
              <a:tr h="381000">
                <a:tc rowSpan="2">
                  <a:txBody>
                    <a:bodyPr/>
                    <a:lstStyle/>
                    <a:p>
                      <a:pPr marL="0" lvl="0" indent="0" algn="l" rtl="0">
                        <a:spcBef>
                          <a:spcPts val="0"/>
                        </a:spcBef>
                        <a:spcAft>
                          <a:spcPts val="0"/>
                        </a:spcAft>
                        <a:buNone/>
                      </a:pPr>
                      <a:r>
                        <a:rPr lang="vi" dirty="0"/>
                        <a:t>Thiết bị đầu cuối PC dành cho nhà phát triển</a:t>
                      </a:r>
                      <a:endParaRPr dirty="0"/>
                    </a:p>
                  </a:txBody>
                  <a:tcPr marL="91425" marR="91425" marT="91425" marB="91425"/>
                </a:tc>
                <a:tc>
                  <a:txBody>
                    <a:bodyPr/>
                    <a:lstStyle/>
                    <a:p>
                      <a:pPr marL="0" lvl="0" indent="0" algn="l" rtl="0">
                        <a:spcBef>
                          <a:spcPts val="0"/>
                        </a:spcBef>
                        <a:spcAft>
                          <a:spcPts val="0"/>
                        </a:spcAft>
                        <a:buNone/>
                      </a:pPr>
                      <a:r>
                        <a:rPr lang="vi" dirty="0"/>
                        <a:t>Màn hình quản lý trong máy chủ POS ngoại tuyến</a:t>
                      </a:r>
                      <a:endParaRPr dirty="0"/>
                    </a:p>
                  </a:txBody>
                  <a:tcPr marL="91425" marR="91425" marT="91425" marB="91425"/>
                </a:tc>
                <a:extLst>
                  <a:ext uri="{0D108BD9-81ED-4DB2-BD59-A6C34878D82A}">
                    <a16:rowId xmlns:a16="http://schemas.microsoft.com/office/drawing/2014/main" val="10002"/>
                  </a:ext>
                </a:extLst>
              </a:tr>
              <a:tr h="381000">
                <a:tc vMerge="1">
                  <a:txBody>
                    <a:bodyPr/>
                    <a:lstStyle/>
                    <a:p>
                      <a:endParaRPr lang="en-US"/>
                    </a:p>
                  </a:txBody>
                  <a:tcPr/>
                </a:tc>
                <a:tc>
                  <a:txBody>
                    <a:bodyPr/>
                    <a:lstStyle/>
                    <a:p>
                      <a:pPr marL="0" lvl="0" indent="0" algn="l" rtl="0">
                        <a:spcBef>
                          <a:spcPts val="0"/>
                        </a:spcBef>
                        <a:spcAft>
                          <a:spcPts val="0"/>
                        </a:spcAft>
                        <a:buNone/>
                      </a:pPr>
                      <a:r>
                        <a:rPr lang="vi" dirty="0"/>
                        <a:t>Công việc phát triển và bảo trì</a:t>
                      </a:r>
                      <a:endParaRPr dirty="0"/>
                    </a:p>
                    <a:p>
                      <a:pPr marL="0" lvl="0" indent="0" algn="l" rtl="0">
                        <a:spcBef>
                          <a:spcPts val="0"/>
                        </a:spcBef>
                        <a:spcAft>
                          <a:spcPts val="0"/>
                        </a:spcAft>
                        <a:buNone/>
                      </a:pPr>
                      <a:r>
                        <a:rPr lang="vi" dirty="0"/>
                        <a:t>Ví dụ: Truy cập cơ sở dữ liệu bằng các câu lệnh SQL</a:t>
                      </a:r>
                      <a:endParaRPr dirty="0"/>
                    </a:p>
                    <a:p>
                      <a:pPr marL="0" lvl="0" indent="0" algn="l" rtl="0">
                        <a:spcBef>
                          <a:spcPts val="0"/>
                        </a:spcBef>
                        <a:spcAft>
                          <a:spcPts val="0"/>
                        </a:spcAft>
                        <a:buNone/>
                      </a:pPr>
                      <a:r>
                        <a:rPr lang="vi" dirty="0"/>
                        <a:t>Ví dụ: </a:t>
                      </a:r>
                      <a:r>
                        <a:rPr lang="vi" dirty="0">
                          <a:solidFill>
                            <a:schemeClr val="dk1"/>
                          </a:solidFill>
                        </a:rPr>
                        <a:t>Tải xuống tệp CSV trong thùng S3</a:t>
                      </a:r>
                      <a:endParaRPr dirty="0"/>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6-2. Truy cập từ máy tính của nhà phát triển</a:t>
            </a:r>
            <a:endParaRPr>
              <a:highlight>
                <a:srgbClr val="D9D9D9"/>
              </a:highlight>
            </a:endParaRPr>
          </a:p>
        </p:txBody>
      </p:sp>
      <p:pic>
        <p:nvPicPr>
          <p:cNvPr id="205" name="Google Shape;205;p3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06" name="Google Shape;206;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20</a:t>
            </a:fld>
            <a:endParaRPr/>
          </a:p>
        </p:txBody>
      </p:sp>
      <p:pic>
        <p:nvPicPr>
          <p:cNvPr id="207" name="Google Shape;207;p32" title="【POS】infra_ishida-6-2.drawio (1).png"/>
          <p:cNvPicPr preferRelativeResize="0"/>
          <p:nvPr/>
        </p:nvPicPr>
        <p:blipFill>
          <a:blip r:embed="rId4">
            <a:alphaModFix/>
          </a:blip>
          <a:stretch>
            <a:fillRect/>
          </a:stretch>
        </p:blipFill>
        <p:spPr>
          <a:xfrm>
            <a:off x="1124400" y="1089125"/>
            <a:ext cx="6760838" cy="3820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7. Quản lý tài khoản AWS</a:t>
            </a:r>
            <a:endParaRPr sz="3000">
              <a:highlight>
                <a:srgbClr val="FFFFFF"/>
              </a:highlight>
            </a:endParaRPr>
          </a:p>
        </p:txBody>
      </p:sp>
      <p:pic>
        <p:nvPicPr>
          <p:cNvPr id="213" name="Google Shape;213;p3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14" name="Google Shape;214;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4"/>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7-1. Chủ tài khoản AWS</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20" name="Google Shape;220;p3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1" name="Google Shape;221;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22</a:t>
            </a:fld>
            <a:endParaRPr/>
          </a:p>
        </p:txBody>
      </p:sp>
      <p:sp>
        <p:nvSpPr>
          <p:cNvPr id="222" name="Google Shape;222;p34"/>
          <p:cNvSpPr txBox="1">
            <a:spLocks noGrp="1"/>
          </p:cNvSpPr>
          <p:nvPr>
            <p:ph type="body" idx="1"/>
          </p:nvPr>
        </p:nvSpPr>
        <p:spPr>
          <a:xfrm>
            <a:off x="432525" y="1109175"/>
            <a:ext cx="8136000" cy="3426600"/>
          </a:xfrm>
          <a:prstGeom prst="rect">
            <a:avLst/>
          </a:prstGeom>
        </p:spPr>
        <p:txBody>
          <a:bodyPr spcFirstLastPara="1" wrap="square" lIns="91425" tIns="91425" rIns="91425" bIns="91425" anchor="t" anchorCtr="0">
            <a:noAutofit/>
          </a:bodyPr>
          <a:lstStyle/>
          <a:p>
            <a:pPr marL="457200" lvl="0" indent="-342900" algn="l" rtl="0">
              <a:lnSpc>
                <a:spcPct val="95000"/>
              </a:lnSpc>
              <a:spcBef>
                <a:spcPts val="0"/>
              </a:spcBef>
              <a:spcAft>
                <a:spcPts val="0"/>
              </a:spcAft>
              <a:buSzPts val="1800"/>
              <a:buChar char="●"/>
            </a:pPr>
            <a:r>
              <a:rPr lang="vi"/>
              <a:t>Chủ sở hữu tài khoản AWS sẽ là Luvina Software JSC</a:t>
            </a:r>
            <a:endParaRPr/>
          </a:p>
          <a:p>
            <a:pPr marL="457200" lvl="0" indent="-342900" algn="l" rtl="0">
              <a:lnSpc>
                <a:spcPct val="95000"/>
              </a:lnSpc>
              <a:spcBef>
                <a:spcPts val="0"/>
              </a:spcBef>
              <a:spcAft>
                <a:spcPts val="0"/>
              </a:spcAft>
              <a:buSzPts val="1800"/>
              <a:buChar char="●"/>
            </a:pPr>
            <a:r>
              <a:rPr lang="vi"/>
              <a:t>Luvina Software JSC sẽ gửi hóa đơn cho USMH về phí sử dụng AWS hàng tháng.</a:t>
            </a:r>
            <a:endParaRPr/>
          </a:p>
          <a:p>
            <a:pPr marL="914400" lvl="1" indent="-342900" algn="l" rtl="0">
              <a:lnSpc>
                <a:spcPct val="95000"/>
              </a:lnSpc>
              <a:spcBef>
                <a:spcPts val="0"/>
              </a:spcBef>
              <a:spcAft>
                <a:spcPts val="0"/>
              </a:spcAft>
              <a:buSzPts val="1800"/>
              <a:buChar char="○"/>
            </a:pPr>
            <a:r>
              <a:rPr lang="vi" sz="1800"/>
              <a:t>Phí sử dụng AWS thực tế + 15%</a:t>
            </a:r>
            <a:endParaRPr sz="1800"/>
          </a:p>
          <a:p>
            <a:pPr marL="457200" lvl="0" indent="-342900" algn="l" rtl="0">
              <a:lnSpc>
                <a:spcPct val="95000"/>
              </a:lnSpc>
              <a:spcBef>
                <a:spcPts val="0"/>
              </a:spcBef>
              <a:spcAft>
                <a:spcPts val="0"/>
              </a:spcAft>
              <a:buSzPts val="1800"/>
              <a:buChar char="●"/>
            </a:pPr>
            <a:r>
              <a:rPr lang="vi"/>
              <a:t>15% nội dung</a:t>
            </a:r>
            <a:endParaRPr/>
          </a:p>
          <a:p>
            <a:pPr marL="914400" lvl="1" indent="-342900" algn="l" rtl="0">
              <a:lnSpc>
                <a:spcPct val="95000"/>
              </a:lnSpc>
              <a:spcBef>
                <a:spcPts val="0"/>
              </a:spcBef>
              <a:spcAft>
                <a:spcPts val="0"/>
              </a:spcAft>
              <a:buSzPts val="1800"/>
              <a:buChar char="○"/>
            </a:pPr>
            <a:r>
              <a:rPr lang="vi" sz="1800"/>
              <a:t>Cơ quan thanh toán</a:t>
            </a:r>
            <a:endParaRPr sz="1800"/>
          </a:p>
          <a:p>
            <a:pPr marL="914400" lvl="1" indent="-342900" algn="l" rtl="0">
              <a:lnSpc>
                <a:spcPct val="95000"/>
              </a:lnSpc>
              <a:spcBef>
                <a:spcPts val="0"/>
              </a:spcBef>
              <a:spcAft>
                <a:spcPts val="0"/>
              </a:spcAft>
              <a:buSzPts val="1800"/>
              <a:buChar char="○"/>
            </a:pPr>
            <a:r>
              <a:rPr lang="vi" sz="1800"/>
              <a:t>Hỗ trợ kỹ thuật AWS</a:t>
            </a:r>
            <a:endParaRPr sz="1800"/>
          </a:p>
          <a:p>
            <a:pPr marL="1371600" lvl="2" indent="-342900" algn="l" rtl="0">
              <a:lnSpc>
                <a:spcPct val="95000"/>
              </a:lnSpc>
              <a:spcBef>
                <a:spcPts val="0"/>
              </a:spcBef>
              <a:spcAft>
                <a:spcPts val="0"/>
              </a:spcAft>
              <a:buSzPts val="1800"/>
              <a:buChar char="■"/>
            </a:pPr>
            <a:r>
              <a:rPr lang="vi" sz="1800"/>
              <a:t>Hợp đồng cho gói hỗ trợ AWS (đối với môi trường sản xuất và dàn dựng, gói dành cho nhà phát triển được coi là hợp lệ)</a:t>
            </a:r>
            <a:endParaRPr sz="1800"/>
          </a:p>
          <a:p>
            <a:pPr marL="1371600" lvl="2" indent="-342900" algn="l" rtl="0">
              <a:lnSpc>
                <a:spcPct val="95000"/>
              </a:lnSpc>
              <a:spcBef>
                <a:spcPts val="0"/>
              </a:spcBef>
              <a:spcAft>
                <a:spcPts val="0"/>
              </a:spcAft>
              <a:buSzPts val="1800"/>
              <a:buChar char="■"/>
            </a:pPr>
            <a:r>
              <a:rPr lang="vi" sz="1800"/>
              <a:t>Luvina Software JSC sẽ liên hệ trực tiếp với AWS thay mặt bạn.</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7-2.Kế hoạch hỗ trợ AWS</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28" name="Google Shape;228;p3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9" name="Google Shape;229;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23</a:t>
            </a:fld>
            <a:endParaRPr/>
          </a:p>
        </p:txBody>
      </p:sp>
      <p:graphicFrame>
        <p:nvGraphicFramePr>
          <p:cNvPr id="230" name="Google Shape;230;p35"/>
          <p:cNvGraphicFramePr/>
          <p:nvPr/>
        </p:nvGraphicFramePr>
        <p:xfrm>
          <a:off x="705175" y="1065450"/>
          <a:ext cx="7627350" cy="4312740"/>
        </p:xfrm>
        <a:graphic>
          <a:graphicData uri="http://schemas.openxmlformats.org/drawingml/2006/table">
            <a:tbl>
              <a:tblPr>
                <a:noFill/>
                <a:tableStyleId>{87A281C8-0844-4F7E-8F5C-31C3930F0FE5}</a:tableStyleId>
              </a:tblPr>
              <a:tblGrid>
                <a:gridCol w="904500">
                  <a:extLst>
                    <a:ext uri="{9D8B030D-6E8A-4147-A177-3AD203B41FA5}">
                      <a16:colId xmlns:a16="http://schemas.microsoft.com/office/drawing/2014/main" val="20000"/>
                    </a:ext>
                  </a:extLst>
                </a:gridCol>
                <a:gridCol w="904500">
                  <a:extLst>
                    <a:ext uri="{9D8B030D-6E8A-4147-A177-3AD203B41FA5}">
                      <a16:colId xmlns:a16="http://schemas.microsoft.com/office/drawing/2014/main" val="20001"/>
                    </a:ext>
                  </a:extLst>
                </a:gridCol>
                <a:gridCol w="1678900">
                  <a:extLst>
                    <a:ext uri="{9D8B030D-6E8A-4147-A177-3AD203B41FA5}">
                      <a16:colId xmlns:a16="http://schemas.microsoft.com/office/drawing/2014/main" val="20002"/>
                    </a:ext>
                  </a:extLst>
                </a:gridCol>
                <a:gridCol w="3087500">
                  <a:extLst>
                    <a:ext uri="{9D8B030D-6E8A-4147-A177-3AD203B41FA5}">
                      <a16:colId xmlns:a16="http://schemas.microsoft.com/office/drawing/2014/main" val="20003"/>
                    </a:ext>
                  </a:extLst>
                </a:gridCol>
                <a:gridCol w="1051950">
                  <a:extLst>
                    <a:ext uri="{9D8B030D-6E8A-4147-A177-3AD203B41FA5}">
                      <a16:colId xmlns:a16="http://schemas.microsoft.com/office/drawing/2014/main" val="20004"/>
                    </a:ext>
                  </a:extLst>
                </a:gridCol>
              </a:tblGrid>
              <a:tr h="336525">
                <a:tc>
                  <a:txBody>
                    <a:bodyPr/>
                    <a:lstStyle/>
                    <a:p>
                      <a:pPr marL="0" lvl="0" indent="0" algn="l" rtl="0">
                        <a:spcBef>
                          <a:spcPts val="0"/>
                        </a:spcBef>
                        <a:spcAft>
                          <a:spcPts val="0"/>
                        </a:spcAft>
                        <a:buNone/>
                      </a:pPr>
                      <a:r>
                        <a:rPr lang="vi" sz="1100" b="1">
                          <a:solidFill>
                            <a:schemeClr val="dk2"/>
                          </a:solidFill>
                        </a:rPr>
                        <a:t>Kế hoạch</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100" b="1">
                          <a:solidFill>
                            <a:schemeClr val="dk2"/>
                          </a:solidFill>
                        </a:rPr>
                        <a:t>Máy chủ POS</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100" b="1">
                          <a:solidFill>
                            <a:schemeClr val="dk2"/>
                          </a:solidFill>
                        </a:rPr>
                        <a:t>Các trường hợp sử dụng</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100" b="1">
                          <a:solidFill>
                            <a:schemeClr val="dk2"/>
                          </a:solidFill>
                        </a:rPr>
                        <a:t>Mức độ nghiêm trọng của trường hợp và thời gian phản hồi</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100" b="1">
                          <a:solidFill>
                            <a:schemeClr val="dk2"/>
                          </a:solidFill>
                        </a:rPr>
                        <a:t>Phí</a:t>
                      </a:r>
                      <a:endParaRPr sz="1100"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440675">
                <a:tc>
                  <a:txBody>
                    <a:bodyPr/>
                    <a:lstStyle/>
                    <a:p>
                      <a:pPr marL="0" lvl="0" indent="0" algn="l" rtl="0">
                        <a:spcBef>
                          <a:spcPts val="0"/>
                        </a:spcBef>
                        <a:spcAft>
                          <a:spcPts val="0"/>
                        </a:spcAft>
                        <a:buClr>
                          <a:schemeClr val="dk1"/>
                        </a:buClr>
                        <a:buSzPts val="1100"/>
                        <a:buFont typeface="Arial"/>
                        <a:buNone/>
                      </a:pPr>
                      <a:r>
                        <a:rPr lang="vi" sz="900">
                          <a:solidFill>
                            <a:schemeClr val="dk2"/>
                          </a:solidFill>
                        </a:rPr>
                        <a:t>Nền tảng</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 sz="900">
                          <a:solidFill>
                            <a:schemeClr val="dk2"/>
                          </a:solidFill>
                        </a:rPr>
                        <a:t>gai nhọn</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 sz="900">
                          <a:solidFill>
                            <a:schemeClr val="dk2"/>
                          </a:solidFill>
                        </a:rPr>
                        <a:t>Có sẵn cho tất cả khách hàng AWS</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 sz="900">
                          <a:solidFill>
                            <a:schemeClr val="dk2"/>
                          </a:solidFill>
                          <a:highlight>
                            <a:schemeClr val="lt1"/>
                          </a:highlight>
                        </a:rPr>
                        <a:t>không có</a:t>
                      </a:r>
                      <a:endParaRPr sz="900">
                        <a:solidFill>
                          <a:schemeClr val="dk2"/>
                        </a:solidFill>
                        <a:highlight>
                          <a:schemeClr val="lt1"/>
                        </a:highlight>
                      </a:endParaRPr>
                    </a:p>
                  </a:txBody>
                  <a:tcPr marL="91425" marR="91425" marT="91425" marB="91425"/>
                </a:tc>
                <a:tc>
                  <a:txBody>
                    <a:bodyPr/>
                    <a:lstStyle/>
                    <a:p>
                      <a:pPr marL="0" lvl="0" indent="0" algn="l" rtl="0">
                        <a:spcBef>
                          <a:spcPts val="0"/>
                        </a:spcBef>
                        <a:spcAft>
                          <a:spcPts val="0"/>
                        </a:spcAft>
                        <a:buNone/>
                      </a:pPr>
                      <a:r>
                        <a:rPr lang="vi" sz="900">
                          <a:solidFill>
                            <a:schemeClr val="dk2"/>
                          </a:solidFill>
                          <a:highlight>
                            <a:schemeClr val="lt1"/>
                          </a:highlight>
                        </a:rPr>
                        <a:t>miễn phí</a:t>
                      </a:r>
                      <a:endParaRPr sz="900">
                        <a:solidFill>
                          <a:schemeClr val="dk2"/>
                        </a:solidFill>
                        <a:highlight>
                          <a:schemeClr val="lt1"/>
                        </a:highlight>
                      </a:endParaRPr>
                    </a:p>
                  </a:txBody>
                  <a:tcPr marL="91425" marR="91425" marT="91425" marB="91425"/>
                </a:tc>
                <a:extLst>
                  <a:ext uri="{0D108BD9-81ED-4DB2-BD59-A6C34878D82A}">
                    <a16:rowId xmlns:a16="http://schemas.microsoft.com/office/drawing/2014/main" val="10001"/>
                  </a:ext>
                </a:extLst>
              </a:tr>
              <a:tr h="440675">
                <a:tc>
                  <a:txBody>
                    <a:bodyPr/>
                    <a:lstStyle/>
                    <a:p>
                      <a:pPr marL="0" lvl="0" indent="0" algn="l" rtl="0">
                        <a:spcBef>
                          <a:spcPts val="0"/>
                        </a:spcBef>
                        <a:spcAft>
                          <a:spcPts val="0"/>
                        </a:spcAft>
                        <a:buClr>
                          <a:schemeClr val="dk1"/>
                        </a:buClr>
                        <a:buSzPts val="1100"/>
                        <a:buFont typeface="Arial"/>
                        <a:buNone/>
                      </a:pPr>
                      <a:r>
                        <a:rPr lang="vi" sz="900">
                          <a:solidFill>
                            <a:schemeClr val="dk2"/>
                          </a:solidFill>
                        </a:rPr>
                        <a:t>Nhà phát triển</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vi" sz="900">
                          <a:solidFill>
                            <a:schemeClr val="dk2"/>
                          </a:solidFill>
                        </a:rPr>
                        <a:t>Dàn dựng</a:t>
                      </a:r>
                      <a:endParaRPr sz="900">
                        <a:solidFill>
                          <a:schemeClr val="dk2"/>
                        </a:solidFill>
                      </a:endParaRPr>
                    </a:p>
                    <a:p>
                      <a:pPr marL="0" lvl="0" indent="0" algn="l" rtl="0">
                        <a:spcBef>
                          <a:spcPts val="0"/>
                        </a:spcBef>
                        <a:spcAft>
                          <a:spcPts val="0"/>
                        </a:spcAft>
                        <a:buNone/>
                      </a:pPr>
                      <a:r>
                        <a:rPr lang="vi" sz="900">
                          <a:solidFill>
                            <a:schemeClr val="dk2"/>
                          </a:solidFill>
                        </a:rPr>
                        <a:t>Cái thật</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Clr>
                          <a:schemeClr val="dk1"/>
                        </a:buClr>
                        <a:buSzPts val="1100"/>
                        <a:buFont typeface="Arial"/>
                        <a:buNone/>
                      </a:pPr>
                      <a:r>
                        <a:rPr lang="vi" sz="900">
                          <a:solidFill>
                            <a:schemeClr val="dk2"/>
                          </a:solidFill>
                        </a:rPr>
                        <a:t>Những người muốn thử nghiệm và kiểm tra nhiều dịch vụ khác nhau</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vi" sz="900">
                          <a:solidFill>
                            <a:schemeClr val="dk2"/>
                          </a:solidFill>
                          <a:highlight>
                            <a:schemeClr val="lt1"/>
                          </a:highlight>
                        </a:rPr>
                        <a:t>Hướng dẫn chung: &lt; 24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Hệ thống ngừng hoạt động: &lt; 12 giờ</a:t>
                      </a:r>
                      <a:endParaRPr sz="900">
                        <a:solidFill>
                          <a:schemeClr val="dk2"/>
                        </a:solidFill>
                        <a:highlight>
                          <a:schemeClr val="lt1"/>
                        </a:highlight>
                      </a:endParaRPr>
                    </a:p>
                  </a:txBody>
                  <a:tcPr marL="91425" marR="91425" marT="91425" marB="91425">
                    <a:solidFill>
                      <a:schemeClr val="accent6"/>
                    </a:solidFill>
                  </a:tcPr>
                </a:tc>
                <a:tc rowSpan="4">
                  <a:txBody>
                    <a:bodyPr/>
                    <a:lstStyle/>
                    <a:p>
                      <a:pPr marL="0" lvl="0" indent="0" algn="l" rtl="0">
                        <a:spcBef>
                          <a:spcPts val="0"/>
                        </a:spcBef>
                        <a:spcAft>
                          <a:spcPts val="0"/>
                        </a:spcAft>
                        <a:buNone/>
                      </a:pPr>
                      <a:r>
                        <a:rPr lang="vi" sz="900">
                          <a:solidFill>
                            <a:schemeClr val="dk2"/>
                          </a:solidFill>
                          <a:highlight>
                            <a:srgbClr val="FFFFFF"/>
                          </a:highlight>
                          <a:latin typeface="Meiryo"/>
                          <a:ea typeface="Meiryo"/>
                          <a:cs typeface="Meiryo"/>
                          <a:sym typeface="Meiryo"/>
                        </a:rPr>
                        <a:t>Trả</a:t>
                      </a:r>
                      <a:endParaRPr sz="900">
                        <a:solidFill>
                          <a:schemeClr val="dk2"/>
                        </a:solidFill>
                        <a:highlight>
                          <a:srgbClr val="FFFFFF"/>
                        </a:highlight>
                        <a:latin typeface="Meiryo"/>
                        <a:ea typeface="Meiryo"/>
                        <a:cs typeface="Meiryo"/>
                        <a:sym typeface="Meiryo"/>
                      </a:endParaRPr>
                    </a:p>
                  </a:txBody>
                  <a:tcPr marL="91425" marR="91425" marT="91425" marB="91425"/>
                </a:tc>
                <a:extLst>
                  <a:ext uri="{0D108BD9-81ED-4DB2-BD59-A6C34878D82A}">
                    <a16:rowId xmlns:a16="http://schemas.microsoft.com/office/drawing/2014/main" val="10002"/>
                  </a:ext>
                </a:extLst>
              </a:tr>
              <a:tr h="705125">
                <a:tc>
                  <a:txBody>
                    <a:bodyPr/>
                    <a:lstStyle/>
                    <a:p>
                      <a:pPr marL="0" lvl="0" indent="0" algn="l" rtl="0">
                        <a:spcBef>
                          <a:spcPts val="0"/>
                        </a:spcBef>
                        <a:spcAft>
                          <a:spcPts val="0"/>
                        </a:spcAft>
                        <a:buClr>
                          <a:schemeClr val="dk1"/>
                        </a:buClr>
                        <a:buSzPts val="1100"/>
                        <a:buFont typeface="Arial"/>
                        <a:buNone/>
                      </a:pPr>
                      <a:r>
                        <a:rPr lang="vi" sz="900">
                          <a:solidFill>
                            <a:schemeClr val="dk2"/>
                          </a:solidFill>
                        </a:rPr>
                        <a:t>Việc kinh doanh</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 sz="900">
                          <a:solidFill>
                            <a:schemeClr val="dk2"/>
                          </a:solidFill>
                        </a:rPr>
                        <a:t>Mức tối thiểu được đề xuất cho những người có khối lượng công việc sản xuất</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 sz="900">
                          <a:solidFill>
                            <a:schemeClr val="dk2"/>
                          </a:solidFill>
                          <a:highlight>
                            <a:schemeClr val="lt1"/>
                          </a:highlight>
                        </a:rPr>
                        <a:t>Hướng dẫn chung: &lt; 24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Hệ thống ngừng hoạt động: &lt; 12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Hệ thống sản xuất ngừng hoạt động: &lt; 4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Hệ thống sản xuất ngừng hoạt động: &lt; 1 giờ</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3"/>
                  </a:ext>
                </a:extLst>
              </a:tr>
              <a:tr h="837375">
                <a:tc>
                  <a:txBody>
                    <a:bodyPr/>
                    <a:lstStyle/>
                    <a:p>
                      <a:pPr marL="0" lvl="0" indent="0" algn="l" rtl="0">
                        <a:spcBef>
                          <a:spcPts val="0"/>
                        </a:spcBef>
                        <a:spcAft>
                          <a:spcPts val="0"/>
                        </a:spcAft>
                        <a:buClr>
                          <a:schemeClr val="dk1"/>
                        </a:buClr>
                        <a:buSzPts val="1100"/>
                        <a:buFont typeface="Arial"/>
                        <a:buNone/>
                      </a:pPr>
                      <a:r>
                        <a:rPr lang="vi" sz="900">
                          <a:solidFill>
                            <a:schemeClr val="dk2"/>
                          </a:solidFill>
                        </a:rPr>
                        <a:t>Đường dẫn doanh nghiệp</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 sz="900">
                          <a:solidFill>
                            <a:schemeClr val="dk2"/>
                          </a:solidFill>
                        </a:rPr>
                        <a:t>Được khuyến nghị cho những người có khối lượng công việc quan trọng liên quan đến sản xuất và/hoặc kinh doanh.</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Hướng dẫn chung: &lt; 24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ngừng hoạt động: &lt; 12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sản xuất ngừng hoạt động: &lt; 4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sản xuất ngừng hoạt động: &lt; 1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Hệ thống quan trọng của doanh nghiệp ngừng hoạt động: &lt; 30 phút</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4"/>
                  </a:ext>
                </a:extLst>
              </a:tr>
              <a:tr h="969575">
                <a:tc>
                  <a:txBody>
                    <a:bodyPr/>
                    <a:lstStyle/>
                    <a:p>
                      <a:pPr marL="0" lvl="0" indent="0" algn="l" rtl="0">
                        <a:spcBef>
                          <a:spcPts val="0"/>
                        </a:spcBef>
                        <a:spcAft>
                          <a:spcPts val="0"/>
                        </a:spcAft>
                        <a:buNone/>
                      </a:pPr>
                      <a:r>
                        <a:rPr lang="vi" sz="900">
                          <a:solidFill>
                            <a:schemeClr val="dk2"/>
                          </a:solidFill>
                        </a:rPr>
                        <a:t>Doanh nghiệp</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 sz="900">
                          <a:solidFill>
                            <a:schemeClr val="dk2"/>
                          </a:solidFill>
                        </a:rPr>
                        <a:t>Được khuyến nghị cho những người có khối lượng công việc kinh doanh và/hoặc nhiệm vụ quan trọng trên AWS</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Hướng dẫn chung: &lt; 24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ngừng hoạt động: &lt; 12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sản xuất ngừng hoạt động: &lt; 4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sản xuất ngừng hoạt động: &lt; 1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Thời gian ngừng hoạt động của hệ thống kinh doanh/nhiệm vụ quan trọng: &lt; 15 phút</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8. Cấu hình hệ thống</a:t>
            </a:r>
            <a:endParaRPr sz="3000">
              <a:highlight>
                <a:srgbClr val="FFFFFF"/>
              </a:highlight>
            </a:endParaRPr>
          </a:p>
        </p:txBody>
      </p:sp>
      <p:pic>
        <p:nvPicPr>
          <p:cNvPr id="236" name="Google Shape;236;p3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37" name="Google Shape;237;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7"/>
          <p:cNvSpPr txBox="1">
            <a:spLocks noGrp="1"/>
          </p:cNvSpPr>
          <p:nvPr>
            <p:ph type="title"/>
          </p:nvPr>
        </p:nvSpPr>
        <p:spPr>
          <a:xfrm>
            <a:off x="311700" y="419475"/>
            <a:ext cx="44718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8-1.Luồng xử lý</a:t>
            </a:r>
            <a:endParaRPr>
              <a:highlight>
                <a:srgbClr val="D9D9D9"/>
              </a:highlight>
            </a:endParaRPr>
          </a:p>
          <a:p>
            <a:pPr marL="0" lvl="0" indent="0" algn="l" rtl="0">
              <a:spcBef>
                <a:spcPts val="0"/>
              </a:spcBef>
              <a:spcAft>
                <a:spcPts val="0"/>
              </a:spcAft>
              <a:buNone/>
            </a:pPr>
            <a:endParaRPr>
              <a:highlight>
                <a:srgbClr val="D9D9D9"/>
              </a:highlight>
            </a:endParaRPr>
          </a:p>
        </p:txBody>
      </p:sp>
      <p:sp>
        <p:nvSpPr>
          <p:cNvPr id="243" name="Google Shape;243;p37"/>
          <p:cNvSpPr txBox="1">
            <a:spLocks noGrp="1"/>
          </p:cNvSpPr>
          <p:nvPr>
            <p:ph type="body" idx="1"/>
          </p:nvPr>
        </p:nvSpPr>
        <p:spPr>
          <a:xfrm>
            <a:off x="468375" y="1105325"/>
            <a:ext cx="7815300" cy="35955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vi"/>
              <a:t>Nhận tệp chính (liên kết ngoài tệp chính)</a:t>
            </a:r>
            <a:endParaRPr/>
          </a:p>
          <a:p>
            <a:pPr marL="914400" lvl="1" indent="-342900" algn="l" rtl="0">
              <a:lnSpc>
                <a:spcPct val="105000"/>
              </a:lnSpc>
              <a:spcBef>
                <a:spcPts val="0"/>
              </a:spcBef>
              <a:spcAft>
                <a:spcPts val="0"/>
              </a:spcAft>
              <a:buSzPts val="1800"/>
              <a:buChar char="○"/>
            </a:pPr>
            <a:r>
              <a:rPr lang="vi" sz="1800"/>
              <a:t>Định dạng ZIP</a:t>
            </a:r>
            <a:endParaRPr sz="1800"/>
          </a:p>
          <a:p>
            <a:pPr marL="1371600" lvl="2" indent="-342900" algn="l" rtl="0">
              <a:lnSpc>
                <a:spcPct val="105000"/>
              </a:lnSpc>
              <a:spcBef>
                <a:spcPts val="0"/>
              </a:spcBef>
              <a:spcAft>
                <a:spcPts val="0"/>
              </a:spcAft>
              <a:buSzPts val="1800"/>
              <a:buChar char="■"/>
            </a:pPr>
            <a:r>
              <a:rPr lang="vi" sz="1800"/>
              <a:t>Nội dung là CSV</a:t>
            </a:r>
            <a:endParaRPr sz="1800"/>
          </a:p>
          <a:p>
            <a:pPr marL="914400" lvl="1" indent="-342900" algn="l" rtl="0">
              <a:lnSpc>
                <a:spcPct val="105000"/>
              </a:lnSpc>
              <a:spcBef>
                <a:spcPts val="0"/>
              </a:spcBef>
              <a:spcAft>
                <a:spcPts val="0"/>
              </a:spcAft>
              <a:buSzPts val="1800"/>
              <a:buChar char="○"/>
            </a:pPr>
            <a:r>
              <a:rPr lang="vi" sz="1800"/>
              <a:t>Nhận qua SFTP</a:t>
            </a:r>
            <a:endParaRPr sz="1800"/>
          </a:p>
          <a:p>
            <a:pPr marL="1371600" lvl="2" indent="-342900" algn="l" rtl="0">
              <a:lnSpc>
                <a:spcPct val="105000"/>
              </a:lnSpc>
              <a:spcBef>
                <a:spcPts val="0"/>
              </a:spcBef>
              <a:spcAft>
                <a:spcPts val="0"/>
              </a:spcAft>
              <a:buSzPts val="1800"/>
              <a:buChar char="■"/>
            </a:pPr>
            <a:r>
              <a:rPr lang="vi" sz="1800"/>
              <a:t>Phương pháp xác thực SSH</a:t>
            </a:r>
            <a:endParaRPr sz="1800"/>
          </a:p>
          <a:p>
            <a:pPr marL="914400" lvl="1" indent="-342900" algn="l" rtl="0">
              <a:lnSpc>
                <a:spcPct val="105000"/>
              </a:lnSpc>
              <a:spcBef>
                <a:spcPts val="0"/>
              </a:spcBef>
              <a:spcAft>
                <a:spcPts val="0"/>
              </a:spcAft>
              <a:buSzPts val="1800"/>
              <a:buChar char="○"/>
            </a:pPr>
            <a:r>
              <a:rPr lang="vi" sz="1800"/>
              <a:t>Số lượng và kích thước dòng tệp</a:t>
            </a:r>
            <a:endParaRPr sz="1800"/>
          </a:p>
          <a:p>
            <a:pPr marL="1371600" lvl="2" indent="-342900" algn="l" rtl="0">
              <a:lnSpc>
                <a:spcPct val="105000"/>
              </a:lnSpc>
              <a:spcBef>
                <a:spcPts val="0"/>
              </a:spcBef>
              <a:spcAft>
                <a:spcPts val="0"/>
              </a:spcAft>
              <a:buSzPts val="1800"/>
              <a:buChar char="■"/>
            </a:pPr>
            <a:r>
              <a:rPr lang="vi" sz="1800"/>
              <a:t>Dữ liệu chính của sản phẩm có thể lên tới 100.000 dòng hoặc hơn và có thể có kích thước lên tới vài GB</a:t>
            </a:r>
            <a:endParaRPr sz="1800"/>
          </a:p>
          <a:p>
            <a:pPr marL="457200" lvl="0" indent="-342900" algn="l" rtl="0">
              <a:spcBef>
                <a:spcPts val="0"/>
              </a:spcBef>
              <a:spcAft>
                <a:spcPts val="0"/>
              </a:spcAft>
              <a:buSzPts val="1800"/>
              <a:buChar char="●"/>
            </a:pPr>
            <a:r>
              <a:rPr lang="vi"/>
              <a:t>Chuyển đổi dữ liệu (POS master)</a:t>
            </a:r>
            <a:endParaRPr/>
          </a:p>
          <a:p>
            <a:pPr marL="457200" lvl="0" indent="-342900" algn="l" rtl="0">
              <a:spcBef>
                <a:spcPts val="0"/>
              </a:spcBef>
              <a:spcAft>
                <a:spcPts val="0"/>
              </a:spcAft>
              <a:buSzPts val="1800"/>
              <a:buChar char="●"/>
            </a:pPr>
            <a:r>
              <a:rPr lang="vi"/>
              <a:t>Gửi máy chủ POS đến máy chủ nhãn kệ điện tử ISHIDA</a:t>
            </a:r>
            <a:endParaRPr/>
          </a:p>
          <a:p>
            <a:pPr marL="914400" lvl="1" indent="-342900" algn="l" rtl="0">
              <a:lnSpc>
                <a:spcPct val="105000"/>
              </a:lnSpc>
              <a:spcBef>
                <a:spcPts val="0"/>
              </a:spcBef>
              <a:spcAft>
                <a:spcPts val="0"/>
              </a:spcAft>
              <a:buSzPts val="1800"/>
              <a:buChar char="○"/>
            </a:pPr>
            <a:r>
              <a:rPr lang="vi" sz="1800"/>
              <a:t>Định dạng CSV</a:t>
            </a:r>
            <a:endParaRPr sz="1800"/>
          </a:p>
        </p:txBody>
      </p:sp>
      <p:pic>
        <p:nvPicPr>
          <p:cNvPr id="244" name="Google Shape;244;p3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45" name="Google Shape;245;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8-2. Sơ đồ tổng thể các kết nối bên ngoài</a:t>
            </a:r>
            <a:endParaRPr>
              <a:highlight>
                <a:srgbClr val="D9D9D9"/>
              </a:highlight>
            </a:endParaRPr>
          </a:p>
        </p:txBody>
      </p:sp>
      <p:pic>
        <p:nvPicPr>
          <p:cNvPr id="251" name="Google Shape;251;p3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52" name="Google Shape;252;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26</a:t>
            </a:fld>
            <a:endParaRPr/>
          </a:p>
        </p:txBody>
      </p:sp>
      <p:pic>
        <p:nvPicPr>
          <p:cNvPr id="253" name="Google Shape;253;p38" title="【POS】infra_ishida-8-2.drawio (1).png"/>
          <p:cNvPicPr preferRelativeResize="0"/>
          <p:nvPr/>
        </p:nvPicPr>
        <p:blipFill>
          <a:blip r:embed="rId4">
            <a:alphaModFix/>
          </a:blip>
          <a:stretch>
            <a:fillRect/>
          </a:stretch>
        </p:blipFill>
        <p:spPr>
          <a:xfrm>
            <a:off x="960900" y="1100275"/>
            <a:ext cx="6690787" cy="3846525"/>
          </a:xfrm>
          <a:prstGeom prst="rect">
            <a:avLst/>
          </a:prstGeom>
          <a:noFill/>
          <a:ln>
            <a:noFill/>
          </a:ln>
        </p:spPr>
      </p:pic>
      <p:sp>
        <p:nvSpPr>
          <p:cNvPr id="3" name="TextBox 2">
            <a:extLst>
              <a:ext uri="{FF2B5EF4-FFF2-40B4-BE49-F238E27FC236}">
                <a16:creationId xmlns:a16="http://schemas.microsoft.com/office/drawing/2014/main" id="{822C34E6-764B-36F7-087E-86CFE009FC8D}"/>
              </a:ext>
            </a:extLst>
          </p:cNvPr>
          <p:cNvSpPr txBox="1"/>
          <p:nvPr/>
        </p:nvSpPr>
        <p:spPr>
          <a:xfrm>
            <a:off x="173022" y="2789340"/>
            <a:ext cx="2743200"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STG</a:t>
            </a:r>
          </a:p>
          <a:p>
            <a:r>
              <a:rPr lang="en-US" dirty="0"/>
              <a:t>PRD</a:t>
            </a:r>
          </a:p>
          <a:p>
            <a:endParaRPr lang="en-US" dirty="0"/>
          </a:p>
          <a:p>
            <a:r>
              <a:rPr lang="en-US" dirty="0"/>
              <a:t>Store : STG (9176, 9332)</a:t>
            </a:r>
          </a:p>
          <a:p>
            <a:r>
              <a:rPr lang="en-US" dirty="0"/>
              <a:t>Store: PRD (0253, 0128)</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8-3. Tuyến nhận liên kết ngoài ①</a:t>
            </a:r>
            <a:endParaRPr>
              <a:highlight>
                <a:srgbClr val="D9D9D9"/>
              </a:highlight>
            </a:endParaRPr>
          </a:p>
        </p:txBody>
      </p:sp>
      <p:pic>
        <p:nvPicPr>
          <p:cNvPr id="259" name="Google Shape;259;p3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0" name="Google Shape;260;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27</a:t>
            </a:fld>
            <a:endParaRPr/>
          </a:p>
        </p:txBody>
      </p:sp>
      <p:pic>
        <p:nvPicPr>
          <p:cNvPr id="261" name="Google Shape;261;p39" title="【POS】infra_ishida-8-3(受信).drawio.png"/>
          <p:cNvPicPr preferRelativeResize="0"/>
          <p:nvPr/>
        </p:nvPicPr>
        <p:blipFill>
          <a:blip r:embed="rId4">
            <a:alphaModFix/>
          </a:blip>
          <a:stretch>
            <a:fillRect/>
          </a:stretch>
        </p:blipFill>
        <p:spPr>
          <a:xfrm>
            <a:off x="374425" y="992175"/>
            <a:ext cx="8033786" cy="38465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0"/>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8-4. Tuyến nhận liên kết ngoài②</a:t>
            </a:r>
            <a:endParaRPr>
              <a:highlight>
                <a:srgbClr val="D9D9D9"/>
              </a:highlight>
            </a:endParaRPr>
          </a:p>
        </p:txBody>
      </p:sp>
      <p:pic>
        <p:nvPicPr>
          <p:cNvPr id="267" name="Google Shape;267;p4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8" name="Google Shape;268;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28</a:t>
            </a:fld>
            <a:endParaRPr/>
          </a:p>
        </p:txBody>
      </p:sp>
      <p:pic>
        <p:nvPicPr>
          <p:cNvPr id="269" name="Google Shape;269;p40" title="【POS】infra_ishida-8-5(受信).drawio.png"/>
          <p:cNvPicPr preferRelativeResize="0"/>
          <p:nvPr/>
        </p:nvPicPr>
        <p:blipFill>
          <a:blip r:embed="rId4">
            <a:alphaModFix/>
          </a:blip>
          <a:stretch>
            <a:fillRect/>
          </a:stretch>
        </p:blipFill>
        <p:spPr>
          <a:xfrm>
            <a:off x="1285638" y="992175"/>
            <a:ext cx="6082878" cy="384652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8-5. Phương pháp liên kết POS Master (Loại ĐẨY/KÉO)</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75" name="Google Shape;275;p4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76" name="Google Shape;276;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29</a:t>
            </a:fld>
            <a:endParaRPr/>
          </a:p>
        </p:txBody>
      </p:sp>
      <p:sp>
        <p:nvSpPr>
          <p:cNvPr id="277" name="Google Shape;277;p41"/>
          <p:cNvSpPr txBox="1">
            <a:spLocks noGrp="1"/>
          </p:cNvSpPr>
          <p:nvPr>
            <p:ph type="body" idx="1"/>
          </p:nvPr>
        </p:nvSpPr>
        <p:spPr>
          <a:xfrm>
            <a:off x="452575" y="992175"/>
            <a:ext cx="8136000" cy="3554100"/>
          </a:xfrm>
          <a:prstGeom prst="rect">
            <a:avLst/>
          </a:prstGeom>
        </p:spPr>
        <p:txBody>
          <a:bodyPr spcFirstLastPara="1" wrap="square" lIns="91425" tIns="91425" rIns="91425" bIns="91425" anchor="t" anchorCtr="0">
            <a:noAutofit/>
          </a:bodyPr>
          <a:lstStyle/>
          <a:p>
            <a:pPr marL="457200" lvl="0" indent="-330200" algn="l" rtl="0">
              <a:lnSpc>
                <a:spcPct val="95000"/>
              </a:lnSpc>
              <a:spcBef>
                <a:spcPts val="0"/>
              </a:spcBef>
              <a:spcAft>
                <a:spcPts val="0"/>
              </a:spcAft>
              <a:buSzPts val="1600"/>
              <a:buChar char="●"/>
            </a:pPr>
            <a:r>
              <a:rPr lang="vi" sz="1600"/>
              <a:t>Trong cấu hình máy chủ và máy khách, nếu máy khách nằm sau tường lửa, cách thích hợp và phổ biến nhất để chia sẻ tệp là lấy </a:t>
            </a:r>
            <a:endParaRPr sz="1600"/>
          </a:p>
          <a:p>
            <a:pPr marL="457200" lvl="0" indent="-330200" algn="l" rtl="0">
              <a:lnSpc>
                <a:spcPct val="95000"/>
              </a:lnSpc>
              <a:spcBef>
                <a:spcPts val="0"/>
              </a:spcBef>
              <a:spcAft>
                <a:spcPts val="0"/>
              </a:spcAft>
              <a:buSzPts val="1600"/>
              <a:buChar char="●"/>
            </a:pPr>
            <a:r>
              <a:rPr lang="vi" sz="1600"/>
              <a:t>Loại ĐẨY</a:t>
            </a:r>
            <a:endParaRPr sz="1600"/>
          </a:p>
          <a:p>
            <a:pPr marL="914400" lvl="1" indent="-330200" algn="l" rtl="0">
              <a:lnSpc>
                <a:spcPct val="95000"/>
              </a:lnSpc>
              <a:spcBef>
                <a:spcPts val="0"/>
              </a:spcBef>
              <a:spcAft>
                <a:spcPts val="0"/>
              </a:spcAft>
              <a:buSzPts val="1600"/>
              <a:buChar char="○"/>
            </a:pPr>
            <a:r>
              <a:rPr lang="vi" sz="1600"/>
              <a:t>Các địa chỉ IP và cổng cụ thể phải được phép đi qua tường lửa, làm tăng rủi ro bảo mật</a:t>
            </a:r>
            <a:endParaRPr sz="1600"/>
          </a:p>
          <a:p>
            <a:pPr marL="914400" lvl="1" indent="-330200" algn="l" rtl="0">
              <a:lnSpc>
                <a:spcPct val="95000"/>
              </a:lnSpc>
              <a:spcBef>
                <a:spcPts val="0"/>
              </a:spcBef>
              <a:spcAft>
                <a:spcPts val="0"/>
              </a:spcAft>
              <a:buSzPts val="1600"/>
              <a:buChar char="○"/>
            </a:pPr>
            <a:r>
              <a:rPr lang="vi" sz="1600"/>
              <a:t>Phía máy khách cần được cấu hình để chấp nhận kết nối từ máy chủ, điều này có thể làm phức tạp việc cấu hình và cài đặt máy khách và gây ra rủi ro chấp nhận các kết nối không mong muốn.</a:t>
            </a:r>
            <a:endParaRPr sz="1600"/>
          </a:p>
          <a:p>
            <a:pPr marL="914400" lvl="1" indent="-330200" algn="l" rtl="0">
              <a:lnSpc>
                <a:spcPct val="95000"/>
              </a:lnSpc>
              <a:spcBef>
                <a:spcPts val="0"/>
              </a:spcBef>
              <a:spcAft>
                <a:spcPts val="0"/>
              </a:spcAft>
              <a:buSzPts val="1600"/>
              <a:buChar char="○"/>
            </a:pPr>
            <a:r>
              <a:rPr lang="vi" sz="1600"/>
              <a:t>Máy chủ phải quản lý trạng thái của từng máy khách và kích hoạt việc gửi tệp, điều này làm tăng tính phức tạp trong môi trường lớn.</a:t>
            </a:r>
            <a:endParaRPr sz="1600"/>
          </a:p>
          <a:p>
            <a:pPr marL="457200" lvl="0" indent="-330200" algn="l" rtl="0">
              <a:lnSpc>
                <a:spcPct val="95000"/>
              </a:lnSpc>
              <a:spcBef>
                <a:spcPts val="0"/>
              </a:spcBef>
              <a:spcAft>
                <a:spcPts val="0"/>
              </a:spcAft>
              <a:buSzPts val="1600"/>
              <a:buChar char="●"/>
            </a:pPr>
            <a:r>
              <a:rPr lang="vi" sz="1600"/>
              <a:t>Loại kéo</a:t>
            </a:r>
            <a:endParaRPr sz="1600"/>
          </a:p>
          <a:p>
            <a:pPr marL="914400" lvl="1" indent="-330200" algn="l" rtl="0">
              <a:lnSpc>
                <a:spcPct val="95000"/>
              </a:lnSpc>
              <a:spcBef>
                <a:spcPts val="0"/>
              </a:spcBef>
              <a:spcAft>
                <a:spcPts val="0"/>
              </a:spcAft>
              <a:buSzPts val="1600"/>
              <a:buChar char="○"/>
            </a:pPr>
            <a:r>
              <a:rPr lang="vi" sz="1600"/>
              <a:t>Dễ dàng quản lý và mở rộng quy mô ngay cả khi có nhiều máy khách. Mỗi máy khách có thể truy xuất tệp khi cần và máy chủ sẽ cung cấp tệp theo yêu cầu.</a:t>
            </a:r>
            <a:endParaRPr sz="1600"/>
          </a:p>
          <a:p>
            <a:pPr marL="914400" lvl="0" indent="0" algn="l" rtl="0">
              <a:lnSpc>
                <a:spcPct val="95000"/>
              </a:lnSpc>
              <a:spcBef>
                <a:spcPts val="1200"/>
              </a:spcBef>
              <a:spcAft>
                <a:spcPts val="1200"/>
              </a:spcAft>
              <a:buNone/>
            </a:pPr>
            <a:endParaRPr sz="17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8-6.Tích hợp POS Master ISHIDA (Giai đoạn 1)</a:t>
            </a: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83" name="Google Shape;283;p4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84" name="Google Shape;284;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30</a:t>
            </a:fld>
            <a:endParaRPr/>
          </a:p>
        </p:txBody>
      </p:sp>
      <p:sp>
        <p:nvSpPr>
          <p:cNvPr id="285" name="Google Shape;285;p42"/>
          <p:cNvSpPr txBox="1"/>
          <p:nvPr/>
        </p:nvSpPr>
        <p:spPr>
          <a:xfrm>
            <a:off x="409450" y="87875"/>
            <a:ext cx="3677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vi">
                <a:solidFill>
                  <a:srgbClr val="FF0000"/>
                </a:solidFill>
              </a:rPr>
              <a:t>*Do thông số kỹ thuật của ISHIDA, loại đẩy được sử dụng*</a:t>
            </a:r>
            <a:endParaRPr>
              <a:solidFill>
                <a:srgbClr val="FF0000"/>
              </a:solidFill>
            </a:endParaRPr>
          </a:p>
        </p:txBody>
      </p:sp>
      <p:pic>
        <p:nvPicPr>
          <p:cNvPr id="286" name="Google Shape;286;p42" title="【POS】infra_ishida-8-6（送信）.drawio.png"/>
          <p:cNvPicPr preferRelativeResize="0"/>
          <p:nvPr/>
        </p:nvPicPr>
        <p:blipFill>
          <a:blip r:embed="rId4">
            <a:alphaModFix/>
          </a:blip>
          <a:stretch>
            <a:fillRect/>
          </a:stretch>
        </p:blipFill>
        <p:spPr>
          <a:xfrm>
            <a:off x="929825" y="1047400"/>
            <a:ext cx="6810337" cy="3846525"/>
          </a:xfrm>
          <a:prstGeom prst="rect">
            <a:avLst/>
          </a:prstGeom>
          <a:noFill/>
          <a:ln>
            <a:noFill/>
          </a:ln>
        </p:spPr>
      </p:pic>
      <p:sp>
        <p:nvSpPr>
          <p:cNvPr id="2" name="TextBox 1">
            <a:extLst>
              <a:ext uri="{FF2B5EF4-FFF2-40B4-BE49-F238E27FC236}">
                <a16:creationId xmlns:a16="http://schemas.microsoft.com/office/drawing/2014/main" id="{DFDABBEE-D1CB-6181-1A40-8259FB0AFA20}"/>
              </a:ext>
            </a:extLst>
          </p:cNvPr>
          <p:cNvSpPr txBox="1"/>
          <p:nvPr/>
        </p:nvSpPr>
        <p:spPr>
          <a:xfrm>
            <a:off x="7738843" y="2265027"/>
            <a:ext cx="66168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0253</a:t>
            </a:r>
          </a:p>
        </p:txBody>
      </p:sp>
      <p:sp>
        <p:nvSpPr>
          <p:cNvPr id="3" name="TextBox 2">
            <a:extLst>
              <a:ext uri="{FF2B5EF4-FFF2-40B4-BE49-F238E27FC236}">
                <a16:creationId xmlns:a16="http://schemas.microsoft.com/office/drawing/2014/main" id="{6FF9ECA5-FDA6-DE1D-7B57-221618A33EA9}"/>
              </a:ext>
            </a:extLst>
          </p:cNvPr>
          <p:cNvSpPr txBox="1"/>
          <p:nvPr/>
        </p:nvSpPr>
        <p:spPr>
          <a:xfrm>
            <a:off x="7738843" y="3869421"/>
            <a:ext cx="66168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0218</a:t>
            </a:r>
          </a:p>
        </p:txBody>
      </p:sp>
      <p:sp>
        <p:nvSpPr>
          <p:cNvPr id="4" name="TextBox 3">
            <a:extLst>
              <a:ext uri="{FF2B5EF4-FFF2-40B4-BE49-F238E27FC236}">
                <a16:creationId xmlns:a16="http://schemas.microsoft.com/office/drawing/2014/main" id="{4C9FE5B3-E4DE-0B61-1AAB-018E3732B078}"/>
              </a:ext>
            </a:extLst>
          </p:cNvPr>
          <p:cNvSpPr txBox="1"/>
          <p:nvPr/>
        </p:nvSpPr>
        <p:spPr>
          <a:xfrm>
            <a:off x="7738843" y="3418513"/>
            <a:ext cx="66168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9176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3"/>
          <p:cNvSpPr txBox="1">
            <a:spLocks noGrp="1"/>
          </p:cNvSpPr>
          <p:nvPr>
            <p:ph type="title"/>
          </p:nvPr>
        </p:nvSpPr>
        <p:spPr>
          <a:xfrm>
            <a:off x="311700" y="419475"/>
            <a:ext cx="8709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44594"/>
              <a:buFont typeface="Arial"/>
              <a:buNone/>
            </a:pPr>
            <a:r>
              <a:rPr lang="vi">
                <a:highlight>
                  <a:srgbClr val="D9D9D9"/>
                </a:highlight>
              </a:rPr>
              <a:t>8-7. Tích hợp POS Master: ISHIDA (Đề xuất giai đoạn 2 a)</a:t>
            </a:r>
            <a:endParaRPr sz="2466">
              <a:highlight>
                <a:srgbClr val="D9D9D9"/>
              </a:highlight>
            </a:endParaRPr>
          </a:p>
          <a:p>
            <a:pPr marL="0" lvl="0" indent="0" algn="l" rtl="0">
              <a:spcBef>
                <a:spcPts val="0"/>
              </a:spcBef>
              <a:spcAft>
                <a:spcPts val="0"/>
              </a:spcAft>
              <a:buNone/>
            </a:pPr>
            <a:endParaRPr>
              <a:highlight>
                <a:srgbClr val="D9D9D9"/>
              </a:highlight>
            </a:endParaRPr>
          </a:p>
        </p:txBody>
      </p:sp>
      <p:pic>
        <p:nvPicPr>
          <p:cNvPr id="292" name="Google Shape;292;p4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93" name="Google Shape;293;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31</a:t>
            </a:fld>
            <a:endParaRPr/>
          </a:p>
        </p:txBody>
      </p:sp>
      <p:pic>
        <p:nvPicPr>
          <p:cNvPr id="294" name="Google Shape;294;p43" title="【POS】Infra(ishida,kasumi)-8-7.drawio (2).png"/>
          <p:cNvPicPr preferRelativeResize="0"/>
          <p:nvPr/>
        </p:nvPicPr>
        <p:blipFill>
          <a:blip r:embed="rId4">
            <a:alphaModFix/>
          </a:blip>
          <a:stretch>
            <a:fillRect/>
          </a:stretch>
        </p:blipFill>
        <p:spPr>
          <a:xfrm>
            <a:off x="366750" y="1333725"/>
            <a:ext cx="8528676" cy="2742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4"/>
          <p:cNvSpPr txBox="1">
            <a:spLocks noGrp="1"/>
          </p:cNvSpPr>
          <p:nvPr>
            <p:ph type="title"/>
          </p:nvPr>
        </p:nvSpPr>
        <p:spPr>
          <a:xfrm>
            <a:off x="311700" y="419475"/>
            <a:ext cx="8679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vi">
                <a:highlight>
                  <a:srgbClr val="D9D9D9"/>
                </a:highlight>
              </a:rPr>
              <a:t>8-8. Tích hợp POS Master: ISHIDA (Kế hoạch giai đoạn 2 b)</a:t>
            </a:r>
            <a:endParaRPr>
              <a:highlight>
                <a:srgbClr val="D9D9D9"/>
              </a:highlight>
            </a:endParaRPr>
          </a:p>
        </p:txBody>
      </p:sp>
      <p:pic>
        <p:nvPicPr>
          <p:cNvPr id="300" name="Google Shape;300;p4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1" name="Google Shape;301;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32</a:t>
            </a:fld>
            <a:endParaRPr/>
          </a:p>
        </p:txBody>
      </p:sp>
      <p:pic>
        <p:nvPicPr>
          <p:cNvPr id="302" name="Google Shape;302;p44" title="【POS】Infra(ishida,kasumi)-8-8.drawio.png"/>
          <p:cNvPicPr preferRelativeResize="0"/>
          <p:nvPr/>
        </p:nvPicPr>
        <p:blipFill>
          <a:blip r:embed="rId4">
            <a:alphaModFix/>
          </a:blip>
          <a:stretch>
            <a:fillRect/>
          </a:stretch>
        </p:blipFill>
        <p:spPr>
          <a:xfrm>
            <a:off x="418225" y="1274725"/>
            <a:ext cx="8466850" cy="28031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8-9. </a:t>
            </a:r>
            <a:r>
              <a:rPr lang="vi" sz="2688">
                <a:highlight>
                  <a:srgbClr val="D9D9D9"/>
                </a:highlight>
              </a:rPr>
              <a:t>Bước 1: Tiếp nhận chính (OC)</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08" name="Google Shape;308;p4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9" name="Google Shape;309;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33</a:t>
            </a:fld>
            <a:endParaRPr/>
          </a:p>
        </p:txBody>
      </p:sp>
      <p:pic>
        <p:nvPicPr>
          <p:cNvPr id="310" name="Google Shape;310;p45" title="【POS】infra_ishida-8-10.drawio.png"/>
          <p:cNvPicPr preferRelativeResize="0"/>
          <p:nvPr/>
        </p:nvPicPr>
        <p:blipFill>
          <a:blip r:embed="rId4">
            <a:alphaModFix/>
          </a:blip>
          <a:stretch>
            <a:fillRect/>
          </a:stretch>
        </p:blipFill>
        <p:spPr>
          <a:xfrm>
            <a:off x="2224575" y="992175"/>
            <a:ext cx="4178375" cy="39440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6"/>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8-10.Bước 2: </a:t>
            </a:r>
            <a:r>
              <a:rPr lang="vi" sz="2688">
                <a:highlight>
                  <a:srgbClr val="D9D9D9"/>
                </a:highlight>
              </a:rPr>
              <a:t>Tiếp nhận chính (máy chủ chuyển tiếp)</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16" name="Google Shape;316;p4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17" name="Google Shape;317;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34</a:t>
            </a:fld>
            <a:endParaRPr/>
          </a:p>
        </p:txBody>
      </p:sp>
      <p:pic>
        <p:nvPicPr>
          <p:cNvPr id="318" name="Google Shape;318;p46" title="【POS】infra_ishida-8-11(中継).drawio.png"/>
          <p:cNvPicPr preferRelativeResize="0"/>
          <p:nvPr/>
        </p:nvPicPr>
        <p:blipFill>
          <a:blip r:embed="rId4">
            <a:alphaModFix/>
          </a:blip>
          <a:stretch>
            <a:fillRect/>
          </a:stretch>
        </p:blipFill>
        <p:spPr>
          <a:xfrm>
            <a:off x="2732600" y="992175"/>
            <a:ext cx="3933073" cy="38465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7"/>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8-11.Bước </a:t>
            </a:r>
            <a:r>
              <a:rPr lang="vi" sz="2688">
                <a:highlight>
                  <a:srgbClr val="D9D9D9"/>
                </a:highlight>
              </a:rPr>
              <a:t>②Tạo POS master (chung)</a:t>
            </a:r>
            <a:endParaRPr>
              <a:highlight>
                <a:srgbClr val="D9D9D9"/>
              </a:highlight>
            </a:endParaRPr>
          </a:p>
        </p:txBody>
      </p:sp>
      <p:pic>
        <p:nvPicPr>
          <p:cNvPr id="324" name="Google Shape;324;p4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25" name="Google Shape;325;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35</a:t>
            </a:fld>
            <a:endParaRPr/>
          </a:p>
        </p:txBody>
      </p:sp>
      <p:pic>
        <p:nvPicPr>
          <p:cNvPr id="326" name="Google Shape;326;p47" title="【POS】infra_ishida-8-11.drawio.png"/>
          <p:cNvPicPr preferRelativeResize="0"/>
          <p:nvPr/>
        </p:nvPicPr>
        <p:blipFill>
          <a:blip r:embed="rId4">
            <a:alphaModFix/>
          </a:blip>
          <a:stretch>
            <a:fillRect/>
          </a:stretch>
        </p:blipFill>
        <p:spPr>
          <a:xfrm>
            <a:off x="2383925" y="1101000"/>
            <a:ext cx="3513418" cy="384652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8-12.③ Gửi đến ISHIDA </a:t>
            </a:r>
            <a:r>
              <a:rPr lang="vi" sz="2688">
                <a:highlight>
                  <a:srgbClr val="D9D9D9"/>
                </a:highlight>
              </a:rPr>
              <a:t>(phổ biến)</a:t>
            </a:r>
            <a:endParaRPr sz="2688">
              <a:highlight>
                <a:srgbClr val="D9D9D9"/>
              </a:highlight>
            </a:endParaRPr>
          </a:p>
          <a:p>
            <a:pPr marL="0" lvl="0" indent="0" algn="l" rtl="0">
              <a:spcBef>
                <a:spcPts val="0"/>
              </a:spcBef>
              <a:spcAft>
                <a:spcPts val="0"/>
              </a:spcAft>
              <a:buNone/>
            </a:pPr>
            <a:endParaRPr sz="2688">
              <a:highlight>
                <a:srgbClr val="D9D9D9"/>
              </a:highlight>
            </a:endParaRPr>
          </a:p>
          <a:p>
            <a:pPr marL="0" lvl="0" indent="0" algn="l" rtl="0">
              <a:spcBef>
                <a:spcPts val="0"/>
              </a:spcBef>
              <a:spcAft>
                <a:spcPts val="0"/>
              </a:spcAft>
              <a:buNone/>
            </a:pPr>
            <a:r>
              <a:rPr lang="vi">
                <a:highlight>
                  <a:srgbClr val="D9D9D9"/>
                </a:highlight>
              </a:rPr>
              <a:t> </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32" name="Google Shape;332;p4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33" name="Google Shape;333;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36</a:t>
            </a:fld>
            <a:endParaRPr/>
          </a:p>
        </p:txBody>
      </p:sp>
      <p:pic>
        <p:nvPicPr>
          <p:cNvPr id="334" name="Google Shape;334;p48" title="【POS】infra_ishida-8-12.drawio.png"/>
          <p:cNvPicPr preferRelativeResize="0"/>
          <p:nvPr/>
        </p:nvPicPr>
        <p:blipFill>
          <a:blip r:embed="rId4">
            <a:alphaModFix/>
          </a:blip>
          <a:stretch>
            <a:fillRect/>
          </a:stretch>
        </p:blipFill>
        <p:spPr>
          <a:xfrm>
            <a:off x="1337900" y="1048700"/>
            <a:ext cx="5667061" cy="38465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9. Chung cho tất cả các dịch vụ AWS</a:t>
            </a:r>
            <a:endParaRPr sz="3000">
              <a:highlight>
                <a:srgbClr val="FFFFFF"/>
              </a:highlight>
            </a:endParaRPr>
          </a:p>
        </p:txBody>
      </p:sp>
      <p:pic>
        <p:nvPicPr>
          <p:cNvPr id="340" name="Google Shape;340;p4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41" name="Google Shape;341;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0"/>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9-1.Cấu hình thùng S3</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47" name="Google Shape;347;p5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48" name="Google Shape;348;p50"/>
          <p:cNvSpPr txBox="1">
            <a:spLocks noGrp="1"/>
          </p:cNvSpPr>
          <p:nvPr>
            <p:ph type="sldNum" idx="12"/>
          </p:nvPr>
        </p:nvSpPr>
        <p:spPr>
          <a:xfrm>
            <a:off x="8472458" y="44810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38</a:t>
            </a:fld>
            <a:endParaRPr/>
          </a:p>
        </p:txBody>
      </p:sp>
      <p:graphicFrame>
        <p:nvGraphicFramePr>
          <p:cNvPr id="349" name="Google Shape;349;p50"/>
          <p:cNvGraphicFramePr/>
          <p:nvPr/>
        </p:nvGraphicFramePr>
        <p:xfrm>
          <a:off x="547113" y="1091850"/>
          <a:ext cx="8049775" cy="3322200"/>
        </p:xfrm>
        <a:graphic>
          <a:graphicData uri="http://schemas.openxmlformats.org/drawingml/2006/table">
            <a:tbl>
              <a:tblPr>
                <a:noFill/>
                <a:tableStyleId>{87A281C8-0844-4F7E-8F5C-31C3930F0FE5}</a:tableStyleId>
              </a:tblPr>
              <a:tblGrid>
                <a:gridCol w="682025">
                  <a:extLst>
                    <a:ext uri="{9D8B030D-6E8A-4147-A177-3AD203B41FA5}">
                      <a16:colId xmlns:a16="http://schemas.microsoft.com/office/drawing/2014/main" val="20000"/>
                    </a:ext>
                  </a:extLst>
                </a:gridCol>
                <a:gridCol w="1378750">
                  <a:extLst>
                    <a:ext uri="{9D8B030D-6E8A-4147-A177-3AD203B41FA5}">
                      <a16:colId xmlns:a16="http://schemas.microsoft.com/office/drawing/2014/main" val="20001"/>
                    </a:ext>
                  </a:extLst>
                </a:gridCol>
                <a:gridCol w="1248175">
                  <a:extLst>
                    <a:ext uri="{9D8B030D-6E8A-4147-A177-3AD203B41FA5}">
                      <a16:colId xmlns:a16="http://schemas.microsoft.com/office/drawing/2014/main" val="20002"/>
                    </a:ext>
                  </a:extLst>
                </a:gridCol>
                <a:gridCol w="1836250">
                  <a:extLst>
                    <a:ext uri="{9D8B030D-6E8A-4147-A177-3AD203B41FA5}">
                      <a16:colId xmlns:a16="http://schemas.microsoft.com/office/drawing/2014/main" val="20003"/>
                    </a:ext>
                  </a:extLst>
                </a:gridCol>
                <a:gridCol w="2904575">
                  <a:extLst>
                    <a:ext uri="{9D8B030D-6E8A-4147-A177-3AD203B41FA5}">
                      <a16:colId xmlns:a16="http://schemas.microsoft.com/office/drawing/2014/main" val="20004"/>
                    </a:ext>
                  </a:extLst>
                </a:gridCol>
              </a:tblGrid>
              <a:tr h="237025">
                <a:tc>
                  <a:txBody>
                    <a:bodyPr/>
                    <a:lstStyle/>
                    <a:p>
                      <a:pPr marL="0" lvl="0" indent="0" algn="l" rtl="0">
                        <a:spcBef>
                          <a:spcPts val="0"/>
                        </a:spcBef>
                        <a:spcAft>
                          <a:spcPts val="0"/>
                        </a:spcAft>
                        <a:buNone/>
                      </a:pPr>
                      <a:r>
                        <a:rPr lang="vi" sz="1000" b="1">
                          <a:solidFill>
                            <a:schemeClr val="dk2"/>
                          </a:solidFill>
                        </a:rPr>
                        <a:t>Tên cửa hàng</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000" b="1">
                          <a:solidFill>
                            <a:schemeClr val="dk2"/>
                          </a:solidFill>
                        </a:rPr>
                        <a:t>Đối tác</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000" b="1">
                          <a:solidFill>
                            <a:schemeClr val="dk2"/>
                          </a:solidFill>
                        </a:rPr>
                        <a:t>Các loại tập tin</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000" b="1">
                          <a:solidFill>
                            <a:schemeClr val="dk2"/>
                          </a:solidFill>
                        </a:rPr>
                        <a:t>xô</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000" b="1">
                          <a:solidFill>
                            <a:schemeClr val="dk2"/>
                          </a:solidFill>
                        </a:rPr>
                        <a:t>tiền tố</a:t>
                      </a:r>
                      <a:endParaRPr sz="1000"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rowSpan="3">
                  <a:txBody>
                    <a:bodyPr/>
                    <a:lstStyle/>
                    <a:p>
                      <a:pPr marL="0" lvl="0" indent="0" algn="l" rtl="0">
                        <a:spcBef>
                          <a:spcPts val="0"/>
                        </a:spcBef>
                        <a:spcAft>
                          <a:spcPts val="0"/>
                        </a:spcAft>
                        <a:buNone/>
                      </a:pPr>
                      <a:r>
                        <a:rPr lang="vi" sz="1000"/>
                        <a:t>Kasumi</a:t>
                      </a:r>
                      <a:endParaRPr sz="100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vi" sz="1000"/>
                        <a:t>OC</a:t>
                      </a:r>
                      <a:endParaRPr sz="1000"/>
                    </a:p>
                  </a:txBody>
                  <a:tcPr marL="91425" marR="91425" marT="91425" marB="91425"/>
                </a:tc>
                <a:tc rowSpan="2">
                  <a:txBody>
                    <a:bodyPr/>
                    <a:lstStyle/>
                    <a:p>
                      <a:pPr marL="0" lvl="0" indent="0" algn="l" rtl="0">
                        <a:spcBef>
                          <a:spcPts val="0"/>
                        </a:spcBef>
                        <a:spcAft>
                          <a:spcPts val="0"/>
                        </a:spcAft>
                        <a:buNone/>
                      </a:pPr>
                      <a:r>
                        <a:rPr lang="vi" sz="1000"/>
                        <a:t>Liên kết bên ngoài Master</a:t>
                      </a:r>
                      <a:endParaRPr sz="1000"/>
                    </a:p>
                  </a:txBody>
                  <a:tcPr marL="91425" marR="91425" marT="91425" marB="91425"/>
                </a:tc>
                <a:tc rowSpan="3">
                  <a:txBody>
                    <a:bodyPr/>
                    <a:lstStyle/>
                    <a:p>
                      <a:pPr marL="0" lvl="0" indent="0" algn="l" rtl="0">
                        <a:spcBef>
                          <a:spcPts val="0"/>
                        </a:spcBef>
                        <a:spcAft>
                          <a:spcPts val="0"/>
                        </a:spcAft>
                        <a:buNone/>
                      </a:pPr>
                      <a:r>
                        <a:rPr lang="vi" sz="1000">
                          <a:solidFill>
                            <a:schemeClr val="dk1"/>
                          </a:solidFill>
                        </a:rPr>
                        <a:t>/prd-ignica-ksm (sản xuất)</a:t>
                      </a:r>
                      <a:endParaRPr sz="1000">
                        <a:solidFill>
                          <a:schemeClr val="dk1"/>
                        </a:solidFill>
                      </a:endParaRPr>
                    </a:p>
                    <a:p>
                      <a:pPr marL="0" lvl="0" indent="0" algn="l" rtl="0">
                        <a:spcBef>
                          <a:spcPts val="0"/>
                        </a:spcBef>
                        <a:spcAft>
                          <a:spcPts val="0"/>
                        </a:spcAft>
                        <a:buNone/>
                      </a:pPr>
                      <a:r>
                        <a:rPr lang="vi" sz="1000">
                          <a:solidFill>
                            <a:schemeClr val="dk1"/>
                          </a:solidFill>
                        </a:rPr>
                        <a:t>/stg-ignica-ksm (STG)</a:t>
                      </a:r>
                      <a:endParaRPr sz="1000">
                        <a:solidFill>
                          <a:schemeClr val="dk1"/>
                        </a:solidFill>
                      </a:endParaRPr>
                    </a:p>
                    <a:p>
                      <a:pPr marL="0" lvl="0" indent="0" algn="l" rtl="0">
                        <a:spcBef>
                          <a:spcPts val="0"/>
                        </a:spcBef>
                        <a:spcAft>
                          <a:spcPts val="0"/>
                        </a:spcAft>
                        <a:buNone/>
                      </a:pPr>
                      <a:r>
                        <a:rPr lang="vi" sz="1000">
                          <a:solidFill>
                            <a:schemeClr val="dk1"/>
                          </a:solidFill>
                        </a:rPr>
                        <a:t>/spk-ignica-ksm (Spike)</a:t>
                      </a:r>
                      <a:endParaRPr sz="1000">
                        <a:solidFill>
                          <a:schemeClr val="dk1"/>
                        </a:solidFill>
                      </a:endParaRPr>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vi" sz="1000">
                          <a:solidFill>
                            <a:schemeClr val="dk1"/>
                          </a:solidFill>
                        </a:rPr>
                        <a:t>/pos-original/oc</a:t>
                      </a:r>
                      <a:endParaRPr sz="1000">
                        <a:solidFill>
                          <a:schemeClr val="dk1"/>
                        </a:solidFill>
                      </a:endParaRPr>
                    </a:p>
                    <a:p>
                      <a:pPr marL="457200" lvl="0" indent="0" algn="l" rtl="0">
                        <a:spcBef>
                          <a:spcPts val="0"/>
                        </a:spcBef>
                        <a:spcAft>
                          <a:spcPts val="0"/>
                        </a:spcAft>
                        <a:buNone/>
                      </a:pPr>
                      <a:r>
                        <a:rPr lang="vi" sz="1000">
                          <a:solidFill>
                            <a:schemeClr val="accent5"/>
                          </a:solidFill>
                        </a:rPr>
                        <a:t>/receive </a:t>
                      </a:r>
                      <a:r>
                        <a:rPr lang="vi" sz="1000">
                          <a:solidFill>
                            <a:schemeClr val="dk1"/>
                          </a:solidFill>
                        </a:rPr>
                        <a:t>←Bao gồm END</a:t>
                      </a:r>
                      <a:endParaRPr sz="1000">
                        <a:solidFill>
                          <a:schemeClr val="dk1"/>
                        </a:solidFill>
                      </a:endParaRPr>
                    </a:p>
                    <a:p>
                      <a:pPr marL="457200" lvl="0" indent="0" algn="l" rtl="0">
                        <a:spcBef>
                          <a:spcPts val="0"/>
                        </a:spcBef>
                        <a:spcAft>
                          <a:spcPts val="0"/>
                        </a:spcAft>
                        <a:buNone/>
                      </a:pPr>
                      <a:r>
                        <a:rPr lang="vi" sz="1000">
                          <a:solidFill>
                            <a:srgbClr val="9900FF"/>
                          </a:solidFill>
                        </a:rPr>
                        <a:t>/csv/{mã cửa hàng}</a:t>
                      </a:r>
                      <a:endParaRPr sz="1000">
                        <a:solidFill>
                          <a:srgbClr val="9900FF"/>
                        </a:solidFill>
                      </a:endParaRPr>
                    </a:p>
                    <a:p>
                      <a:pPr marL="457200" lvl="0" indent="0" algn="l" rtl="0">
                        <a:spcBef>
                          <a:spcPts val="0"/>
                        </a:spcBef>
                        <a:spcAft>
                          <a:spcPts val="0"/>
                        </a:spcAft>
                        <a:buNone/>
                      </a:pPr>
                      <a:r>
                        <a:rPr lang="vi" sz="1000">
                          <a:solidFill>
                            <a:schemeClr val="accent1"/>
                          </a:solidFill>
                        </a:rPr>
                        <a:t>/backup/{store code} </a:t>
                      </a:r>
                      <a:r>
                        <a:rPr lang="vi" sz="1000">
                          <a:solidFill>
                            <a:schemeClr val="dk1"/>
                          </a:solidFill>
                        </a:rPr>
                        <a:t>← Đã chuyển từ /csv sau khi xử lý</a:t>
                      </a:r>
                      <a:endParaRPr sz="1000">
                        <a:solidFill>
                          <a:schemeClr val="dk1"/>
                        </a:solidFill>
                      </a:endParaRPr>
                    </a:p>
                    <a:p>
                      <a:pPr marL="457200" lvl="0" indent="0" algn="l" rtl="0">
                        <a:spcBef>
                          <a:spcPts val="0"/>
                        </a:spcBef>
                        <a:spcAft>
                          <a:spcPts val="0"/>
                        </a:spcAft>
                        <a:buClr>
                          <a:schemeClr val="dk1"/>
                        </a:buClr>
                        <a:buSzPts val="1100"/>
                        <a:buFont typeface="Arial"/>
                        <a:buNone/>
                      </a:pPr>
                      <a:r>
                        <a:rPr lang="vi" sz="1000">
                          <a:solidFill>
                            <a:schemeClr val="accent4"/>
                          </a:solidFill>
                        </a:rPr>
                        <a:t>/log </a:t>
                      </a:r>
                      <a:r>
                        <a:rPr lang="vi" sz="1000">
                          <a:solidFill>
                            <a:schemeClr val="dk1"/>
                          </a:solidFill>
                        </a:rPr>
                        <a:t>← Đầu ra ứng dụng</a:t>
                      </a:r>
                      <a:endParaRPr sz="1000">
                        <a:solidFill>
                          <a:schemeClr val="dk1"/>
                        </a:solidFill>
                      </a:endParaRPr>
                    </a:p>
                  </a:txBody>
                  <a:tcPr marL="91425" marR="91425" marT="91425" marB="91425"/>
                </a:tc>
                <a:extLst>
                  <a:ext uri="{0D108BD9-81ED-4DB2-BD59-A6C34878D82A}">
                    <a16:rowId xmlns:a16="http://schemas.microsoft.com/office/drawing/2014/main" val="10001"/>
                  </a:ext>
                </a:extLst>
              </a:tr>
              <a:tr h="0">
                <a:tc vMerge="1">
                  <a:txBody>
                    <a:bodyPr/>
                    <a:lstStyle/>
                    <a:p>
                      <a:endParaRPr lang="en-US"/>
                    </a:p>
                  </a:txBody>
                  <a:tcPr/>
                </a:tc>
                <a:tc>
                  <a:txBody>
                    <a:bodyPr/>
                    <a:lstStyle/>
                    <a:p>
                      <a:pPr marL="0" lvl="0" indent="0" algn="l" rtl="0">
                        <a:spcBef>
                          <a:spcPts val="0"/>
                        </a:spcBef>
                        <a:spcAft>
                          <a:spcPts val="0"/>
                        </a:spcAft>
                        <a:buNone/>
                      </a:pPr>
                      <a:r>
                        <a:rPr lang="vi" sz="1000"/>
                        <a:t>Quét &amp; Đi I/F</a:t>
                      </a:r>
                      <a:endParaRPr sz="1000"/>
                    </a:p>
                    <a:p>
                      <a:pPr marL="0" lvl="0" indent="0" algn="l" rtl="0">
                        <a:spcBef>
                          <a:spcPts val="0"/>
                        </a:spcBef>
                        <a:spcAft>
                          <a:spcPts val="0"/>
                        </a:spcAft>
                        <a:buNone/>
                      </a:pPr>
                      <a:r>
                        <a:rPr lang="vi" sz="1000"/>
                        <a:t>Máy chủ chuyển tiếp</a:t>
                      </a:r>
                      <a:endParaRPr sz="1000"/>
                    </a:p>
                  </a:txBody>
                  <a:tcPr marL="91425" marR="91425" marT="91425" marB="91425"/>
                </a:tc>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vi" sz="1000">
                          <a:solidFill>
                            <a:schemeClr val="dk1"/>
                          </a:solidFill>
                        </a:rPr>
                        <a:t>/pos-original/sg</a:t>
                      </a:r>
                      <a:endParaRPr sz="1000">
                        <a:solidFill>
                          <a:schemeClr val="dk1"/>
                        </a:solidFill>
                      </a:endParaRPr>
                    </a:p>
                    <a:p>
                      <a:pPr marL="457200" lvl="0" indent="0" algn="l" rtl="0">
                        <a:spcBef>
                          <a:spcPts val="0"/>
                        </a:spcBef>
                        <a:spcAft>
                          <a:spcPts val="0"/>
                        </a:spcAft>
                        <a:buClr>
                          <a:schemeClr val="dk1"/>
                        </a:buClr>
                        <a:buSzPts val="1100"/>
                        <a:buFont typeface="Arial"/>
                        <a:buNone/>
                      </a:pPr>
                      <a:r>
                        <a:rPr lang="vi" sz="1000">
                          <a:solidFill>
                            <a:schemeClr val="accent5"/>
                          </a:solidFill>
                        </a:rPr>
                        <a:t>/receive </a:t>
                      </a:r>
                      <a:r>
                        <a:rPr lang="vi" sz="1000">
                          <a:solidFill>
                            <a:schemeClr val="dk1"/>
                          </a:solidFill>
                        </a:rPr>
                        <a:t>←Bao gồm END</a:t>
                      </a:r>
                      <a:endParaRPr sz="1000">
                        <a:solidFill>
                          <a:schemeClr val="dk1"/>
                        </a:solidFill>
                      </a:endParaRPr>
                    </a:p>
                    <a:p>
                      <a:pPr marL="457200" lvl="0" indent="0" algn="l" rtl="0">
                        <a:spcBef>
                          <a:spcPts val="0"/>
                        </a:spcBef>
                        <a:spcAft>
                          <a:spcPts val="0"/>
                        </a:spcAft>
                        <a:buClr>
                          <a:schemeClr val="dk1"/>
                        </a:buClr>
                        <a:buSzPts val="1100"/>
                        <a:buFont typeface="Arial"/>
                        <a:buNone/>
                      </a:pPr>
                      <a:r>
                        <a:rPr lang="vi" sz="1000">
                          <a:solidFill>
                            <a:srgbClr val="FF00FF"/>
                          </a:solidFill>
                        </a:rPr>
                        <a:t>/csv/{mã cửa hàng}</a:t>
                      </a:r>
                      <a:endParaRPr sz="1000">
                        <a:solidFill>
                          <a:srgbClr val="FF00FF"/>
                        </a:solidFill>
                      </a:endParaRPr>
                    </a:p>
                    <a:p>
                      <a:pPr marL="457200" lvl="0" indent="0" algn="l" rtl="0">
                        <a:spcBef>
                          <a:spcPts val="0"/>
                        </a:spcBef>
                        <a:spcAft>
                          <a:spcPts val="0"/>
                        </a:spcAft>
                        <a:buClr>
                          <a:schemeClr val="dk1"/>
                        </a:buClr>
                        <a:buSzPts val="1100"/>
                        <a:buFont typeface="Arial"/>
                        <a:buNone/>
                      </a:pPr>
                      <a:r>
                        <a:rPr lang="vi" sz="1000">
                          <a:solidFill>
                            <a:schemeClr val="accent1"/>
                          </a:solidFill>
                        </a:rPr>
                        <a:t>/backup/{mã lưu trữ}</a:t>
                      </a:r>
                      <a:endParaRPr sz="1000">
                        <a:solidFill>
                          <a:schemeClr val="accent1"/>
                        </a:solidFill>
                      </a:endParaRPr>
                    </a:p>
                    <a:p>
                      <a:pPr marL="457200" lvl="0" indent="0" algn="l" rtl="0">
                        <a:spcBef>
                          <a:spcPts val="0"/>
                        </a:spcBef>
                        <a:spcAft>
                          <a:spcPts val="0"/>
                        </a:spcAft>
                        <a:buClr>
                          <a:schemeClr val="dk1"/>
                        </a:buClr>
                        <a:buSzPts val="1100"/>
                        <a:buFont typeface="Arial"/>
                        <a:buNone/>
                      </a:pPr>
                      <a:r>
                        <a:rPr lang="vi" sz="1000">
                          <a:solidFill>
                            <a:schemeClr val="accent4"/>
                          </a:solidFill>
                        </a:rPr>
                        <a:t>/nhật ký</a:t>
                      </a:r>
                      <a:endParaRPr sz="1000">
                        <a:solidFill>
                          <a:schemeClr val="accent4"/>
                        </a:solidFill>
                      </a:endParaRPr>
                    </a:p>
                  </a:txBody>
                  <a:tcPr marL="91425" marR="91425" marT="91425" marB="91425"/>
                </a:tc>
                <a:extLst>
                  <a:ext uri="{0D108BD9-81ED-4DB2-BD59-A6C34878D82A}">
                    <a16:rowId xmlns:a16="http://schemas.microsoft.com/office/drawing/2014/main" val="10002"/>
                  </a:ext>
                </a:extLst>
              </a:tr>
              <a:tr h="0">
                <a:tc vMerge="1">
                  <a:txBody>
                    <a:bodyPr/>
                    <a:lstStyle/>
                    <a:p>
                      <a:endParaRPr lang="en-US"/>
                    </a:p>
                  </a:txBody>
                  <a:tcPr/>
                </a:tc>
                <a:tc>
                  <a:txBody>
                    <a:bodyPr/>
                    <a:lstStyle/>
                    <a:p>
                      <a:pPr marL="0" lvl="0" indent="0" algn="l" rtl="0">
                        <a:spcBef>
                          <a:spcPts val="0"/>
                        </a:spcBef>
                        <a:spcAft>
                          <a:spcPts val="0"/>
                        </a:spcAft>
                        <a:buNone/>
                      </a:pPr>
                      <a:r>
                        <a:rPr lang="vi" sz="1000"/>
                        <a:t>Nhãn kệ điện tử ISHIDA</a:t>
                      </a:r>
                      <a:endParaRPr sz="100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vi" sz="1000"/>
                        <a:t>POS Master</a:t>
                      </a:r>
                      <a:endParaRPr sz="1000"/>
                    </a:p>
                  </a:txBody>
                  <a:tcPr marL="91425" marR="91425" marT="91425" marB="91425">
                    <a:lnB w="9525" cap="flat" cmpd="sng">
                      <a:solidFill>
                        <a:srgbClr val="666666"/>
                      </a:solidFill>
                      <a:prstDash val="solid"/>
                      <a:round/>
                      <a:headEnd type="none" w="sm" len="sm"/>
                      <a:tailEnd type="none" w="sm" len="sm"/>
                    </a:lnB>
                  </a:tcPr>
                </a:tc>
                <a:tc vMerge="1">
                  <a:txBody>
                    <a:bodyPr/>
                    <a:lstStyle/>
                    <a:p>
                      <a:endParaRPr lang="en-US"/>
                    </a:p>
                  </a:txBody>
                  <a:tcPr/>
                </a:tc>
                <a:tc>
                  <a:txBody>
                    <a:bodyPr/>
                    <a:lstStyle/>
                    <a:p>
                      <a:pPr marL="0" lvl="0" indent="0" algn="l" rtl="0">
                        <a:spcBef>
                          <a:spcPts val="0"/>
                        </a:spcBef>
                        <a:spcAft>
                          <a:spcPts val="0"/>
                        </a:spcAft>
                        <a:buNone/>
                      </a:pPr>
                      <a:r>
                        <a:rPr lang="vi" sz="1000">
                          <a:solidFill>
                            <a:schemeClr val="dk1"/>
                          </a:solidFill>
                        </a:rPr>
                        <a:t>/pos-master/ishida</a:t>
                      </a:r>
                      <a:endParaRPr sz="1000">
                        <a:solidFill>
                          <a:schemeClr val="dk1"/>
                        </a:solidFill>
                      </a:endParaRPr>
                    </a:p>
                    <a:p>
                      <a:pPr marL="457200" lvl="0" indent="0" algn="l" rtl="0">
                        <a:spcBef>
                          <a:spcPts val="0"/>
                        </a:spcBef>
                        <a:spcAft>
                          <a:spcPts val="0"/>
                        </a:spcAft>
                        <a:buNone/>
                      </a:pPr>
                      <a:r>
                        <a:rPr lang="vi" sz="1000">
                          <a:solidFill>
                            <a:srgbClr val="FF00FF"/>
                          </a:solidFill>
                        </a:rPr>
                        <a:t>/csv/{mã cửa hàng}</a:t>
                      </a:r>
                      <a:endParaRPr sz="1000">
                        <a:solidFill>
                          <a:srgbClr val="FF00FF"/>
                        </a:solidFill>
                      </a:endParaRPr>
                    </a:p>
                    <a:p>
                      <a:pPr marL="457200" lvl="0" indent="0" algn="l" rtl="0">
                        <a:spcBef>
                          <a:spcPts val="0"/>
                        </a:spcBef>
                        <a:spcAft>
                          <a:spcPts val="0"/>
                        </a:spcAft>
                        <a:buClr>
                          <a:schemeClr val="dk1"/>
                        </a:buClr>
                        <a:buSzPts val="1100"/>
                        <a:buFont typeface="Arial"/>
                        <a:buNone/>
                      </a:pPr>
                      <a:r>
                        <a:rPr lang="vi" sz="1000">
                          <a:solidFill>
                            <a:schemeClr val="accent1"/>
                          </a:solidFill>
                        </a:rPr>
                        <a:t>/backup/{mã lưu trữ}</a:t>
                      </a:r>
                      <a:endParaRPr sz="1000">
                        <a:solidFill>
                          <a:schemeClr val="accent1"/>
                        </a:solidFill>
                      </a:endParaRPr>
                    </a:p>
                    <a:p>
                      <a:pPr marL="457200" lvl="0" indent="0" algn="l" rtl="0">
                        <a:spcBef>
                          <a:spcPts val="0"/>
                        </a:spcBef>
                        <a:spcAft>
                          <a:spcPts val="0"/>
                        </a:spcAft>
                        <a:buNone/>
                      </a:pPr>
                      <a:r>
                        <a:rPr lang="vi" sz="1000">
                          <a:solidFill>
                            <a:schemeClr val="accent4"/>
                          </a:solidFill>
                        </a:rPr>
                        <a:t>/nhật ký</a:t>
                      </a:r>
                      <a:endParaRPr sz="1000">
                        <a:solidFill>
                          <a:schemeClr val="accent4"/>
                        </a:solidFill>
                      </a:endParaRPr>
                    </a:p>
                  </a:txBody>
                  <a:tcPr marL="91425" marR="91425" marT="91425" marB="91425">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9-2.Cơ sở dữ liệu</a:t>
            </a:r>
            <a:endParaRPr>
              <a:highlight>
                <a:srgbClr val="D9D9D9"/>
              </a:highlight>
            </a:endParaRPr>
          </a:p>
        </p:txBody>
      </p:sp>
      <p:pic>
        <p:nvPicPr>
          <p:cNvPr id="355" name="Google Shape;355;p5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56" name="Google Shape;356;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39</a:t>
            </a:fld>
            <a:endParaRPr/>
          </a:p>
        </p:txBody>
      </p:sp>
      <p:graphicFrame>
        <p:nvGraphicFramePr>
          <p:cNvPr id="357" name="Google Shape;357;p51"/>
          <p:cNvGraphicFramePr/>
          <p:nvPr/>
        </p:nvGraphicFramePr>
        <p:xfrm>
          <a:off x="510975" y="1104988"/>
          <a:ext cx="7763550" cy="3909130"/>
        </p:xfrm>
        <a:graphic>
          <a:graphicData uri="http://schemas.openxmlformats.org/drawingml/2006/table">
            <a:tbl>
              <a:tblPr>
                <a:noFill/>
                <a:tableStyleId>{87A281C8-0844-4F7E-8F5C-31C3930F0FE5}</a:tableStyleId>
              </a:tblPr>
              <a:tblGrid>
                <a:gridCol w="1616150">
                  <a:extLst>
                    <a:ext uri="{9D8B030D-6E8A-4147-A177-3AD203B41FA5}">
                      <a16:colId xmlns:a16="http://schemas.microsoft.com/office/drawing/2014/main" val="20000"/>
                    </a:ext>
                  </a:extLst>
                </a:gridCol>
                <a:gridCol w="3142725">
                  <a:extLst>
                    <a:ext uri="{9D8B030D-6E8A-4147-A177-3AD203B41FA5}">
                      <a16:colId xmlns:a16="http://schemas.microsoft.com/office/drawing/2014/main" val="20001"/>
                    </a:ext>
                  </a:extLst>
                </a:gridCol>
                <a:gridCol w="3004675">
                  <a:extLst>
                    <a:ext uri="{9D8B030D-6E8A-4147-A177-3AD203B41FA5}">
                      <a16:colId xmlns:a16="http://schemas.microsoft.com/office/drawing/2014/main" val="20002"/>
                    </a:ext>
                  </a:extLst>
                </a:gridCol>
              </a:tblGrid>
              <a:tr h="550375">
                <a:tc>
                  <a:txBody>
                    <a:bodyPr/>
                    <a:lstStyle/>
                    <a:p>
                      <a:pPr marL="0" lvl="0" indent="0" algn="l" rtl="0">
                        <a:spcBef>
                          <a:spcPts val="0"/>
                        </a:spcBef>
                        <a:spcAft>
                          <a:spcPts val="0"/>
                        </a:spcAft>
                        <a:buNone/>
                      </a:pPr>
                      <a:r>
                        <a:rPr lang="vi" sz="1200" b="1">
                          <a:solidFill>
                            <a:schemeClr val="dk2"/>
                          </a:solidFill>
                        </a:rPr>
                        <a:t>Đặc trưng</a:t>
                      </a:r>
                      <a:endParaRPr sz="12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200" b="1">
                          <a:solidFill>
                            <a:schemeClr val="dk2"/>
                          </a:solidFill>
                        </a:rPr>
                        <a:t>Aurora Serverless</a:t>
                      </a:r>
                      <a:endParaRPr sz="1200" b="1">
                        <a:solidFill>
                          <a:schemeClr val="dk2"/>
                        </a:solidFill>
                      </a:endParaRPr>
                    </a:p>
                    <a:p>
                      <a:pPr marL="0" lvl="0" indent="0" algn="l" rtl="0">
                        <a:spcBef>
                          <a:spcPts val="0"/>
                        </a:spcBef>
                        <a:spcAft>
                          <a:spcPts val="0"/>
                        </a:spcAft>
                        <a:buNone/>
                      </a:pPr>
                      <a:r>
                        <a:rPr lang="vi" sz="1200" b="1">
                          <a:solidFill>
                            <a:srgbClr val="FF0000"/>
                          </a:solidFill>
                        </a:rPr>
                        <a:t>*Tuyển dụng*</a:t>
                      </a:r>
                      <a:endParaRPr sz="1200" b="1">
                        <a:solidFill>
                          <a:srgbClr val="FF0000"/>
                        </a:solidFill>
                      </a:endParaRPr>
                    </a:p>
                  </a:txBody>
                  <a:tcPr marL="91425" marR="91425" marT="91425" marB="91425">
                    <a:lnB w="9525" cap="flat" cmpd="sng">
                      <a:solidFill>
                        <a:srgbClr val="9E9E9E"/>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vi" sz="1200" b="1">
                          <a:solidFill>
                            <a:schemeClr val="dk2"/>
                          </a:solidFill>
                        </a:rPr>
                        <a:t>RDS</a:t>
                      </a:r>
                      <a:endParaRPr sz="1200" b="1">
                        <a:solidFill>
                          <a:schemeClr val="dk2"/>
                        </a:solidFill>
                      </a:endParaRPr>
                    </a:p>
                  </a:txBody>
                  <a:tcPr marL="91425" marR="91425" marT="91425" marB="91425">
                    <a:lnB w="9525"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1539650">
                <a:tc>
                  <a:txBody>
                    <a:bodyPr/>
                    <a:lstStyle/>
                    <a:p>
                      <a:pPr marL="0" lvl="0" indent="0" algn="l" rtl="0">
                        <a:spcBef>
                          <a:spcPts val="0"/>
                        </a:spcBef>
                        <a:spcAft>
                          <a:spcPts val="0"/>
                        </a:spcAft>
                        <a:buNone/>
                      </a:pPr>
                      <a:r>
                        <a:rPr lang="vi" sz="1200"/>
                        <a:t>Các trường hợp sử dụng</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vi" sz="1200">
                          <a:solidFill>
                            <a:srgbClr val="0F141A"/>
                          </a:solidFill>
                          <a:highlight>
                            <a:srgbClr val="FFFFFF"/>
                          </a:highlight>
                        </a:rPr>
                        <a:t>Tải không phải là hằng số</a:t>
                      </a:r>
                      <a:endParaRPr sz="1200">
                        <a:solidFill>
                          <a:srgbClr val="0F141A"/>
                        </a:solidFill>
                        <a:highlight>
                          <a:srgbClr val="FFFFFF"/>
                        </a:highlight>
                      </a:endParaRPr>
                    </a:p>
                    <a:p>
                      <a:pPr marL="0" lvl="0" indent="0" algn="l" rtl="0">
                        <a:spcBef>
                          <a:spcPts val="0"/>
                        </a:spcBef>
                        <a:spcAft>
                          <a:spcPts val="0"/>
                        </a:spcAft>
                        <a:buNone/>
                      </a:pPr>
                      <a:r>
                        <a:rPr lang="vi" sz="1200">
                          <a:solidFill>
                            <a:srgbClr val="0F141A"/>
                          </a:solidFill>
                          <a:highlight>
                            <a:srgbClr val="FFFFFF"/>
                          </a:highlight>
                        </a:rPr>
                        <a:t>Có thể xảy ra sự gia tăng đột ngột và không thể đoán trước trong hoạt động</a:t>
                      </a:r>
                      <a:endParaRPr sz="1200">
                        <a:solidFill>
                          <a:srgbClr val="0F141A"/>
                        </a:solidFill>
                        <a:highlight>
                          <a:srgbClr val="FFFFFF"/>
                        </a:highlight>
                      </a:endParaRPr>
                    </a:p>
                    <a:p>
                      <a:pPr marL="0" lvl="0" indent="0" algn="l" rtl="0">
                        <a:lnSpc>
                          <a:spcPct val="137500"/>
                        </a:lnSpc>
                        <a:spcBef>
                          <a:spcPts val="600"/>
                        </a:spcBef>
                        <a:spcAft>
                          <a:spcPts val="2100"/>
                        </a:spcAft>
                        <a:buNone/>
                      </a:pPr>
                      <a:r>
                        <a:rPr lang="vi" sz="1200">
                          <a:solidFill>
                            <a:srgbClr val="0F141A"/>
                          </a:solidFill>
                          <a:highlight>
                            <a:srgbClr val="FFFFFF"/>
                          </a:highlight>
                        </a:rPr>
                        <a:t>- Khi cơ sở dữ liệu không được sử dụng, chẳng hạn như trong môi trường dàn dựng, tất cả các phiên bản DB đều được thu nhỏ lại, ngăn ngừa các chi phí không cần thiết.</a:t>
                      </a:r>
                      <a:endParaRPr sz="1200">
                        <a:solidFill>
                          <a:srgbClr val="0F141A"/>
                        </a:solidFill>
                        <a:highlight>
                          <a:srgbClr val="FFFFFF"/>
                        </a:highlight>
                      </a:endParaRPr>
                    </a:p>
                  </a:txBody>
                  <a:tcPr marL="91425" marR="91425" marT="91425" marB="91425">
                    <a:lnL w="9525" cap="flat" cmpd="sng">
                      <a:solidFill>
                        <a:srgbClr val="9E9E9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solidFill>
                            <a:schemeClr val="dk1"/>
                          </a:solidFill>
                          <a:highlight>
                            <a:srgbClr val="FFFFFF"/>
                          </a:highlight>
                        </a:rPr>
                        <a:t>Tôi muốn di chuyển cơ sở dữ liệu hiện tại của mình sang AWS.</a:t>
                      </a:r>
                      <a:endParaRPr sz="1200">
                        <a:solidFill>
                          <a:schemeClr val="dk1"/>
                        </a:solidFill>
                        <a:highlight>
                          <a:srgbClr val="FFFFFF"/>
                        </a:highlight>
                      </a:endParaRPr>
                    </a:p>
                    <a:p>
                      <a:pPr marL="0" lvl="0" indent="0" algn="l" rtl="0">
                        <a:spcBef>
                          <a:spcPts val="0"/>
                        </a:spcBef>
                        <a:spcAft>
                          <a:spcPts val="0"/>
                        </a:spcAft>
                        <a:buNone/>
                      </a:pPr>
                      <a:r>
                        <a:rPr lang="vi" sz="1200">
                          <a:solidFill>
                            <a:schemeClr val="dk1"/>
                          </a:solidFill>
                          <a:highlight>
                            <a:srgbClr val="FFFFFF"/>
                          </a:highlight>
                        </a:rPr>
                        <a:t>・Tôi muốn tự mình kiểm soát hoạt động và quản lý cơ sở dữ liệu</a:t>
                      </a:r>
                      <a:endParaRPr sz="1200">
                        <a:solidFill>
                          <a:schemeClr val="dk1"/>
                        </a:solidFill>
                        <a:highlight>
                          <a:srgbClr val="FFFFFF"/>
                        </a:highlight>
                      </a:endParaRPr>
                    </a:p>
                    <a:p>
                      <a:pPr marL="0" lvl="0" indent="0" algn="l" rtl="0">
                        <a:spcBef>
                          <a:spcPts val="0"/>
                        </a:spcBef>
                        <a:spcAft>
                          <a:spcPts val="0"/>
                        </a:spcAft>
                        <a:buNone/>
                      </a:pPr>
                      <a:r>
                        <a:rPr lang="vi" sz="1200">
                          <a:solidFill>
                            <a:schemeClr val="dk1"/>
                          </a:solidFill>
                          <a:highlight>
                            <a:srgbClr val="FFFFFF"/>
                          </a:highlight>
                        </a:rPr>
                        <a:t>·Đã</a:t>
                      </a:r>
                      <a:endParaRPr sz="1200">
                        <a:solidFill>
                          <a:srgbClr val="545D7E"/>
                        </a:solidFill>
                        <a:highlight>
                          <a:srgbClr val="FFFFFF"/>
                        </a:highlight>
                      </a:endParaRPr>
                    </a:p>
                    <a:p>
                      <a:pPr marL="0" lvl="0" indent="0" algn="l" rtl="0">
                        <a:spcBef>
                          <a:spcPts val="0"/>
                        </a:spcBef>
                        <a:spcAft>
                          <a:spcPts val="0"/>
                        </a:spcAft>
                        <a:buNone/>
                      </a:pPr>
                      <a:endParaRPr sz="12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32750">
                <a:tc>
                  <a:txBody>
                    <a:bodyPr/>
                    <a:lstStyle/>
                    <a:p>
                      <a:pPr marL="0" lvl="0" indent="0" algn="l" rtl="0">
                        <a:spcBef>
                          <a:spcPts val="0"/>
                        </a:spcBef>
                        <a:spcAft>
                          <a:spcPts val="0"/>
                        </a:spcAft>
                        <a:buNone/>
                      </a:pPr>
                      <a:r>
                        <a:rPr lang="vi" sz="1200"/>
                        <a:t>Quản lý phiên bản</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vi" sz="1200"/>
                        <a:t>Được quản lý bởi AWS</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t>Quản lý thủ công</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5750">
                <a:tc>
                  <a:txBody>
                    <a:bodyPr/>
                    <a:lstStyle/>
                    <a:p>
                      <a:pPr marL="0" lvl="0" indent="0" algn="l" rtl="0">
                        <a:spcBef>
                          <a:spcPts val="0"/>
                        </a:spcBef>
                        <a:spcAft>
                          <a:spcPts val="0"/>
                        </a:spcAft>
                        <a:buNone/>
                      </a:pPr>
                      <a:r>
                        <a:rPr lang="vi" sz="1200"/>
                        <a:t>tỷ lệ</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vi" sz="1200"/>
                        <a:t>Tự động. Điều chỉnh ACU (công suất xử lý)</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t>thủ công</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77425">
                <a:tc>
                  <a:txBody>
                    <a:bodyPr/>
                    <a:lstStyle/>
                    <a:p>
                      <a:pPr marL="0" lvl="0" indent="0" algn="l" rtl="0">
                        <a:spcBef>
                          <a:spcPts val="0"/>
                        </a:spcBef>
                        <a:spcAft>
                          <a:spcPts val="0"/>
                        </a:spcAft>
                        <a:buNone/>
                      </a:pPr>
                      <a:r>
                        <a:rPr lang="vi" sz="1200"/>
                        <a:t>trị giá</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vi" sz="1200">
                          <a:solidFill>
                            <a:srgbClr val="001D35"/>
                          </a:solidFill>
                          <a:highlight>
                            <a:srgbClr val="FFFFFF"/>
                          </a:highlight>
                        </a:rPr>
                        <a:t>Phí được tính dựa trên mức sử dụng cơ sở dữ liệu (CPU, bộ nhớ, lưu trữ)</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solidFill>
                            <a:srgbClr val="001D35"/>
                          </a:solidFill>
                          <a:highlight>
                            <a:srgbClr val="FFFFFF"/>
                          </a:highlight>
                        </a:rPr>
                        <a:t>Phí được tính dựa trên kích thước và loại phiên bản DB. Trong một số trường hợp, phí được tính dựa trên mức sử dụng.</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5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9-3. Sao lưu</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63" name="Google Shape;363;p5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64" name="Google Shape;364;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40</a:t>
            </a:fld>
            <a:endParaRPr/>
          </a:p>
        </p:txBody>
      </p:sp>
      <p:graphicFrame>
        <p:nvGraphicFramePr>
          <p:cNvPr id="365" name="Google Shape;365;p52"/>
          <p:cNvGraphicFramePr/>
          <p:nvPr/>
        </p:nvGraphicFramePr>
        <p:xfrm>
          <a:off x="682375" y="1383150"/>
          <a:ext cx="7481950" cy="2042070"/>
        </p:xfrm>
        <a:graphic>
          <a:graphicData uri="http://schemas.openxmlformats.org/drawingml/2006/table">
            <a:tbl>
              <a:tblPr>
                <a:noFill/>
                <a:tableStyleId>{87A281C8-0844-4F7E-8F5C-31C3930F0FE5}</a:tableStyleId>
              </a:tblPr>
              <a:tblGrid>
                <a:gridCol w="1019575">
                  <a:extLst>
                    <a:ext uri="{9D8B030D-6E8A-4147-A177-3AD203B41FA5}">
                      <a16:colId xmlns:a16="http://schemas.microsoft.com/office/drawing/2014/main" val="20000"/>
                    </a:ext>
                  </a:extLst>
                </a:gridCol>
                <a:gridCol w="2154125">
                  <a:extLst>
                    <a:ext uri="{9D8B030D-6E8A-4147-A177-3AD203B41FA5}">
                      <a16:colId xmlns:a16="http://schemas.microsoft.com/office/drawing/2014/main" val="20001"/>
                    </a:ext>
                  </a:extLst>
                </a:gridCol>
                <a:gridCol w="1740775">
                  <a:extLst>
                    <a:ext uri="{9D8B030D-6E8A-4147-A177-3AD203B41FA5}">
                      <a16:colId xmlns:a16="http://schemas.microsoft.com/office/drawing/2014/main" val="20002"/>
                    </a:ext>
                  </a:extLst>
                </a:gridCol>
                <a:gridCol w="2567475">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vi" b="1"/>
                        <a:t>phân loại</a:t>
                      </a:r>
                      <a:endParaRPr b="1"/>
                    </a:p>
                  </a:txBody>
                  <a:tcPr marL="91425" marR="91425" marT="91425" marB="91425">
                    <a:solidFill>
                      <a:schemeClr val="lt2"/>
                    </a:solidFill>
                  </a:tcPr>
                </a:tc>
                <a:tc>
                  <a:txBody>
                    <a:bodyPr/>
                    <a:lstStyle/>
                    <a:p>
                      <a:pPr marL="0" lvl="0" indent="0" algn="l" rtl="0">
                        <a:spcBef>
                          <a:spcPts val="0"/>
                        </a:spcBef>
                        <a:spcAft>
                          <a:spcPts val="0"/>
                        </a:spcAft>
                        <a:buNone/>
                      </a:pPr>
                      <a:r>
                        <a:rPr lang="vi" b="1"/>
                        <a:t>Nội dung</a:t>
                      </a:r>
                      <a:endParaRPr b="1"/>
                    </a:p>
                  </a:txBody>
                  <a:tcPr marL="91425" marR="91425" marT="91425" marB="91425">
                    <a:solidFill>
                      <a:schemeClr val="lt2"/>
                    </a:solidFill>
                  </a:tcPr>
                </a:tc>
                <a:tc>
                  <a:txBody>
                    <a:bodyPr/>
                    <a:lstStyle/>
                    <a:p>
                      <a:pPr marL="0" lvl="0" indent="0" algn="l" rtl="0">
                        <a:spcBef>
                          <a:spcPts val="0"/>
                        </a:spcBef>
                        <a:spcAft>
                          <a:spcPts val="0"/>
                        </a:spcAft>
                        <a:buNone/>
                      </a:pPr>
                      <a:r>
                        <a:rPr lang="vi" b="1"/>
                        <a:t>Dịch vụ AWS</a:t>
                      </a:r>
                      <a:endParaRPr b="1"/>
                    </a:p>
                  </a:txBody>
                  <a:tcPr marL="91425" marR="91425" marT="91425" marB="91425">
                    <a:solidFill>
                      <a:schemeClr val="lt2"/>
                    </a:solidFill>
                  </a:tcPr>
                </a:tc>
                <a:tc>
                  <a:txBody>
                    <a:bodyPr/>
                    <a:lstStyle/>
                    <a:p>
                      <a:pPr marL="0" lvl="0" indent="0" algn="l" rtl="0">
                        <a:spcBef>
                          <a:spcPts val="0"/>
                        </a:spcBef>
                        <a:spcAft>
                          <a:spcPts val="0"/>
                        </a:spcAft>
                        <a:buNone/>
                      </a:pPr>
                      <a:r>
                        <a:rPr lang="vi" b="1"/>
                        <a:t>Số lượng thế hệ bảo tồn</a:t>
                      </a:r>
                      <a:endParaRPr b="1"/>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a:t>tài liệu</a:t>
                      </a:r>
                      <a:endParaRPr/>
                    </a:p>
                  </a:txBody>
                  <a:tcPr marL="91425" marR="91425" marT="91425" marB="91425"/>
                </a:tc>
                <a:tc>
                  <a:txBody>
                    <a:bodyPr/>
                    <a:lstStyle/>
                    <a:p>
                      <a:pPr marL="0" lvl="0" indent="0" algn="l" rtl="0">
                        <a:spcBef>
                          <a:spcPts val="0"/>
                        </a:spcBef>
                        <a:spcAft>
                          <a:spcPts val="0"/>
                        </a:spcAft>
                        <a:buNone/>
                      </a:pPr>
                      <a:r>
                        <a:rPr lang="vi"/>
                        <a:t>・Bộ liên kết ngoài</a:t>
                      </a:r>
                      <a:endParaRPr/>
                    </a:p>
                    <a:p>
                      <a:pPr marL="0" lvl="0" indent="0" algn="l" rtl="0">
                        <a:spcBef>
                          <a:spcPts val="0"/>
                        </a:spcBef>
                        <a:spcAft>
                          <a:spcPts val="0"/>
                        </a:spcAft>
                        <a:buNone/>
                      </a:pPr>
                      <a:r>
                        <a:rPr lang="vi"/>
                        <a:t>・Máy POS</a:t>
                      </a:r>
                      <a:endParaRPr/>
                    </a:p>
                  </a:txBody>
                  <a:tcPr marL="91425" marR="91425" marT="91425" marB="91425"/>
                </a:tc>
                <a:tc>
                  <a:txBody>
                    <a:bodyPr/>
                    <a:lstStyle/>
                    <a:p>
                      <a:pPr marL="0" lvl="0" indent="0" algn="l" rtl="0">
                        <a:spcBef>
                          <a:spcPts val="0"/>
                        </a:spcBef>
                        <a:spcAft>
                          <a:spcPts val="0"/>
                        </a:spcAft>
                        <a:buNone/>
                      </a:pPr>
                      <a:r>
                        <a:rPr lang="vi"/>
                        <a:t>S3</a:t>
                      </a:r>
                      <a:endParaRPr/>
                    </a:p>
                  </a:txBody>
                  <a:tcPr marL="91425" marR="91425" marT="91425" marB="91425"/>
                </a:tc>
                <a:tc>
                  <a:txBody>
                    <a:bodyPr/>
                    <a:lstStyle/>
                    <a:p>
                      <a:pPr marL="0" lvl="0" indent="0" algn="l" rtl="0">
                        <a:spcBef>
                          <a:spcPts val="0"/>
                        </a:spcBef>
                        <a:spcAft>
                          <a:spcPts val="0"/>
                        </a:spcAft>
                        <a:buNone/>
                      </a:pPr>
                      <a:r>
                        <a:rPr lang="vi"/>
                        <a:t>Được bảo quản vĩnh viễn, nhưng được lưu trữ sau một khoảng thời gian nhất định</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vi"/>
                        <a:t>Cơ sở dữ liệu</a:t>
                      </a:r>
                      <a:endParaRPr/>
                    </a:p>
                  </a:txBody>
                  <a:tcPr marL="91425" marR="91425" marT="91425" marB="91425"/>
                </a:tc>
                <a:tc>
                  <a:txBody>
                    <a:bodyPr/>
                    <a:lstStyle/>
                    <a:p>
                      <a:pPr marL="0" lvl="0" indent="0" algn="l" rtl="0">
                        <a:spcBef>
                          <a:spcPts val="0"/>
                        </a:spcBef>
                        <a:spcAft>
                          <a:spcPts val="0"/>
                        </a:spcAft>
                        <a:buNone/>
                      </a:pPr>
                      <a:r>
                        <a:rPr lang="vi"/>
                        <a:t>・Cơ sở dữ liệu chính</a:t>
                      </a:r>
                      <a:endParaRPr/>
                    </a:p>
                    <a:p>
                      <a:pPr marL="0" lvl="0" indent="0" algn="l" rtl="0">
                        <a:spcBef>
                          <a:spcPts val="0"/>
                        </a:spcBef>
                        <a:spcAft>
                          <a:spcPts val="0"/>
                        </a:spcAft>
                        <a:buNone/>
                      </a:pPr>
                      <a:r>
                        <a:rPr lang="vi"/>
                        <a:t>・Cơ sở dữ liệu giao dịch</a:t>
                      </a:r>
                      <a:endParaRPr/>
                    </a:p>
                  </a:txBody>
                  <a:tcPr marL="91425" marR="91425" marT="91425" marB="91425"/>
                </a:tc>
                <a:tc>
                  <a:txBody>
                    <a:bodyPr/>
                    <a:lstStyle/>
                    <a:p>
                      <a:pPr marL="0" lvl="0" indent="0" algn="l" rtl="0">
                        <a:spcBef>
                          <a:spcPts val="0"/>
                        </a:spcBef>
                        <a:spcAft>
                          <a:spcPts val="0"/>
                        </a:spcAft>
                        <a:buNone/>
                      </a:pPr>
                      <a:r>
                        <a:rPr lang="vi"/>
                        <a:t>Cực quang</a:t>
                      </a:r>
                      <a:endParaRPr/>
                    </a:p>
                  </a:txBody>
                  <a:tcPr marL="91425" marR="91425" marT="91425" marB="91425"/>
                </a:tc>
                <a:tc>
                  <a:txBody>
                    <a:bodyPr/>
                    <a:lstStyle/>
                    <a:p>
                      <a:pPr marL="0" lvl="0" indent="0" algn="l" rtl="0">
                        <a:spcBef>
                          <a:spcPts val="0"/>
                        </a:spcBef>
                        <a:spcAft>
                          <a:spcPts val="0"/>
                        </a:spcAft>
                        <a:buNone/>
                      </a:pPr>
                      <a:r>
                        <a:rPr lang="vi"/>
                        <a:t>5 thế hệ ảnh chụp nhanh</a:t>
                      </a:r>
                      <a:endParaRPr/>
                    </a:p>
                  </a:txBody>
                  <a:tcPr marL="91425" marR="91425" marT="91425" marB="91425"/>
                </a:tc>
                <a:extLst>
                  <a:ext uri="{0D108BD9-81ED-4DB2-BD59-A6C34878D82A}">
                    <a16:rowId xmlns:a16="http://schemas.microsoft.com/office/drawing/2014/main" val="10002"/>
                  </a:ext>
                </a:extLst>
              </a:tr>
            </a:tbl>
          </a:graphicData>
        </a:graphic>
      </p:graphicFrame>
      <p:sp>
        <p:nvSpPr>
          <p:cNvPr id="366" name="Google Shape;366;p52"/>
          <p:cNvSpPr txBox="1">
            <a:spLocks noGrp="1"/>
          </p:cNvSpPr>
          <p:nvPr>
            <p:ph type="body" idx="1"/>
          </p:nvPr>
        </p:nvSpPr>
        <p:spPr>
          <a:xfrm>
            <a:off x="682375" y="3278975"/>
            <a:ext cx="6815700" cy="12900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vi" sz="1700"/>
              <a:t>Không giả định phục hồi thảm họa (DR)</a:t>
            </a:r>
            <a:endParaRPr sz="17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10. Giám sát</a:t>
            </a:r>
            <a:endParaRPr sz="3000">
              <a:highlight>
                <a:srgbClr val="FFFFFF"/>
              </a:highlight>
            </a:endParaRPr>
          </a:p>
        </p:txBody>
      </p:sp>
      <p:pic>
        <p:nvPicPr>
          <p:cNvPr id="372" name="Google Shape;372;p5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73" name="Google Shape;373;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4"/>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10-1. Sơ đồ cấu hình giám sát AWS</a:t>
            </a:r>
            <a:endParaRPr>
              <a:highlight>
                <a:srgbClr val="D9D9D9"/>
              </a:highlight>
            </a:endParaRPr>
          </a:p>
        </p:txBody>
      </p:sp>
      <p:pic>
        <p:nvPicPr>
          <p:cNvPr id="379" name="Google Shape;379;p5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80" name="Google Shape;380;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42</a:t>
            </a:fld>
            <a:endParaRPr/>
          </a:p>
        </p:txBody>
      </p:sp>
      <p:pic>
        <p:nvPicPr>
          <p:cNvPr id="381" name="Google Shape;381;p54" title="【POS】infra_ishida-10-1.drawio.png"/>
          <p:cNvPicPr preferRelativeResize="0"/>
          <p:nvPr/>
        </p:nvPicPr>
        <p:blipFill>
          <a:blip r:embed="rId4">
            <a:alphaModFix/>
          </a:blip>
          <a:stretch>
            <a:fillRect/>
          </a:stretch>
        </p:blipFill>
        <p:spPr>
          <a:xfrm>
            <a:off x="431350" y="1080800"/>
            <a:ext cx="8167657" cy="370705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10-2. Danh sách nhật ký lỗi ứng dụng </a:t>
            </a:r>
            <a:r>
              <a:rPr lang="vi">
                <a:solidFill>
                  <a:srgbClr val="FF0000"/>
                </a:solidFill>
                <a:highlight>
                  <a:srgbClr val="D9D9D9"/>
                </a:highlight>
              </a:rPr>
              <a:t>※Đang kiểm tra※</a:t>
            </a:r>
            <a:endParaRPr>
              <a:solidFill>
                <a:srgbClr val="FF0000"/>
              </a:solidFill>
              <a:highlight>
                <a:srgbClr val="D9D9D9"/>
              </a:highlight>
            </a:endParaRPr>
          </a:p>
        </p:txBody>
      </p:sp>
      <p:pic>
        <p:nvPicPr>
          <p:cNvPr id="387" name="Google Shape;387;p5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88" name="Google Shape;388;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43</a:t>
            </a:fld>
            <a:endParaRPr/>
          </a:p>
        </p:txBody>
      </p:sp>
      <p:graphicFrame>
        <p:nvGraphicFramePr>
          <p:cNvPr id="389" name="Google Shape;389;p55"/>
          <p:cNvGraphicFramePr/>
          <p:nvPr/>
        </p:nvGraphicFramePr>
        <p:xfrm>
          <a:off x="734575" y="1278025"/>
          <a:ext cx="7522700" cy="1905000"/>
        </p:xfrm>
        <a:graphic>
          <a:graphicData uri="http://schemas.openxmlformats.org/drawingml/2006/table">
            <a:tbl>
              <a:tblPr>
                <a:noFill/>
                <a:tableStyleId>{87A281C8-0844-4F7E-8F5C-31C3930F0FE5}</a:tableStyleId>
              </a:tblPr>
              <a:tblGrid>
                <a:gridCol w="1518675">
                  <a:extLst>
                    <a:ext uri="{9D8B030D-6E8A-4147-A177-3AD203B41FA5}">
                      <a16:colId xmlns:a16="http://schemas.microsoft.com/office/drawing/2014/main" val="20000"/>
                    </a:ext>
                  </a:extLst>
                </a:gridCol>
                <a:gridCol w="3161300">
                  <a:extLst>
                    <a:ext uri="{9D8B030D-6E8A-4147-A177-3AD203B41FA5}">
                      <a16:colId xmlns:a16="http://schemas.microsoft.com/office/drawing/2014/main" val="20001"/>
                    </a:ext>
                  </a:extLst>
                </a:gridCol>
                <a:gridCol w="284272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vi" sz="1200"/>
                        <a:t>Tên nhóm nhật ký</a:t>
                      </a:r>
                      <a:endParaRPr sz="1200"/>
                    </a:p>
                  </a:txBody>
                  <a:tcPr marL="91425" marR="91425" marT="91425" marB="91425">
                    <a:solidFill>
                      <a:schemeClr val="lt2"/>
                    </a:solidFill>
                  </a:tcPr>
                </a:tc>
                <a:tc>
                  <a:txBody>
                    <a:bodyPr/>
                    <a:lstStyle/>
                    <a:p>
                      <a:pPr marL="0" lvl="0" indent="0" algn="l" rtl="0">
                        <a:spcBef>
                          <a:spcPts val="0"/>
                        </a:spcBef>
                        <a:spcAft>
                          <a:spcPts val="0"/>
                        </a:spcAft>
                        <a:buNone/>
                      </a:pPr>
                      <a:endParaRPr sz="1200"/>
                    </a:p>
                  </a:txBody>
                  <a:tcPr marL="91425" marR="91425" marT="91425" marB="91425">
                    <a:solidFill>
                      <a:schemeClr val="lt2"/>
                    </a:solidFill>
                  </a:tcPr>
                </a:tc>
                <a:tc>
                  <a:txBody>
                    <a:bodyPr/>
                    <a:lstStyle/>
                    <a:p>
                      <a:pPr marL="0" lvl="0" indent="0" algn="l" rtl="0">
                        <a:spcBef>
                          <a:spcPts val="0"/>
                        </a:spcBef>
                        <a:spcAft>
                          <a:spcPts val="0"/>
                        </a:spcAft>
                        <a:buNone/>
                      </a:pPr>
                      <a:endParaRPr sz="120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sz="1000"/>
                        <a:t>/pos/log/import</a:t>
                      </a:r>
                      <a:endParaRPr sz="1000"/>
                    </a:p>
                  </a:txBody>
                  <a:tcPr marL="91425" marR="91425" marT="91425" marB="91425"/>
                </a:tc>
                <a:tc>
                  <a:txBody>
                    <a:bodyPr/>
                    <a:lstStyle/>
                    <a:p>
                      <a:pPr marL="0" lvl="0" indent="0" algn="l" rtl="0">
                        <a:lnSpc>
                          <a:spcPct val="115000"/>
                        </a:lnSpc>
                        <a:spcBef>
                          <a:spcPts val="0"/>
                        </a:spcBef>
                        <a:spcAft>
                          <a:spcPts val="0"/>
                        </a:spcAft>
                        <a:buNone/>
                      </a:pPr>
                      <a:endParaRPr sz="1000"/>
                    </a:p>
                  </a:txBody>
                  <a:tcPr marL="91425" marR="91425" marT="91425" marB="91425"/>
                </a:tc>
                <a:tc>
                  <a:txBody>
                    <a:bodyPr/>
                    <a:lstStyle/>
                    <a:p>
                      <a:pPr marL="0" lvl="0" indent="0" algn="l" rtl="0">
                        <a:lnSpc>
                          <a:spcPct val="115000"/>
                        </a:lnSpc>
                        <a:spcBef>
                          <a:spcPts val="0"/>
                        </a:spcBef>
                        <a:spcAft>
                          <a:spcPts val="0"/>
                        </a:spcAft>
                        <a:buNone/>
                      </a:pPr>
                      <a:endParaRPr sz="10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vi" sz="1000"/>
                        <a:t>/pos/log/xuất khẩu</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vi" sz="1000"/>
                        <a:t>/pos/log/sent</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vi" sz="1000"/>
                        <a:t>/pos/log/email</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11. Biện pháp an ninh</a:t>
            </a:r>
            <a:endParaRPr sz="3000">
              <a:highlight>
                <a:srgbClr val="FFFFFF"/>
              </a:highlight>
            </a:endParaRPr>
          </a:p>
        </p:txBody>
      </p:sp>
      <p:pic>
        <p:nvPicPr>
          <p:cNvPr id="395" name="Google Shape;395;p5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96" name="Google Shape;396;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57"/>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11-1.Phát hiện</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02" name="Google Shape;402;p5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03" name="Google Shape;403;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45</a:t>
            </a:fld>
            <a:endParaRPr/>
          </a:p>
        </p:txBody>
      </p:sp>
      <p:graphicFrame>
        <p:nvGraphicFramePr>
          <p:cNvPr id="404" name="Google Shape;404;p57"/>
          <p:cNvGraphicFramePr/>
          <p:nvPr/>
        </p:nvGraphicFramePr>
        <p:xfrm>
          <a:off x="569525" y="1174925"/>
          <a:ext cx="8103475" cy="3636988"/>
        </p:xfrm>
        <a:graphic>
          <a:graphicData uri="http://schemas.openxmlformats.org/drawingml/2006/table">
            <a:tbl>
              <a:tblPr>
                <a:noFill/>
                <a:tableStyleId>{87A281C8-0844-4F7E-8F5C-31C3930F0FE5}</a:tableStyleId>
              </a:tblPr>
              <a:tblGrid>
                <a:gridCol w="1237125">
                  <a:extLst>
                    <a:ext uri="{9D8B030D-6E8A-4147-A177-3AD203B41FA5}">
                      <a16:colId xmlns:a16="http://schemas.microsoft.com/office/drawing/2014/main" val="20000"/>
                    </a:ext>
                  </a:extLst>
                </a:gridCol>
                <a:gridCol w="1708375">
                  <a:extLst>
                    <a:ext uri="{9D8B030D-6E8A-4147-A177-3AD203B41FA5}">
                      <a16:colId xmlns:a16="http://schemas.microsoft.com/office/drawing/2014/main" val="20001"/>
                    </a:ext>
                  </a:extLst>
                </a:gridCol>
                <a:gridCol w="515797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vi" sz="1200"/>
                        <a:t>Dịch vụ AWS</a:t>
                      </a:r>
                      <a:endParaRPr sz="1200"/>
                    </a:p>
                  </a:txBody>
                  <a:tcPr marL="91425" marR="91425" marT="91425" marB="91425">
                    <a:solidFill>
                      <a:schemeClr val="lt2"/>
                    </a:solidFill>
                  </a:tcPr>
                </a:tc>
                <a:tc>
                  <a:txBody>
                    <a:bodyPr/>
                    <a:lstStyle/>
                    <a:p>
                      <a:pPr marL="0" lvl="0" indent="0" algn="l" rtl="0">
                        <a:spcBef>
                          <a:spcPts val="0"/>
                        </a:spcBef>
                        <a:spcAft>
                          <a:spcPts val="0"/>
                        </a:spcAft>
                        <a:buNone/>
                      </a:pPr>
                      <a:r>
                        <a:rPr lang="vi" sz="1200"/>
                        <a:t>môi trường</a:t>
                      </a:r>
                      <a:endParaRPr sz="1200"/>
                    </a:p>
                  </a:txBody>
                  <a:tcPr marL="91425" marR="91425" marT="91425" marB="91425">
                    <a:solidFill>
                      <a:schemeClr val="lt2"/>
                    </a:solidFill>
                  </a:tcPr>
                </a:tc>
                <a:tc>
                  <a:txBody>
                    <a:bodyPr/>
                    <a:lstStyle/>
                    <a:p>
                      <a:pPr marL="0" lvl="0" indent="0" algn="l" rtl="0">
                        <a:spcBef>
                          <a:spcPts val="0"/>
                        </a:spcBef>
                        <a:spcAft>
                          <a:spcPts val="0"/>
                        </a:spcAft>
                        <a:buNone/>
                      </a:pPr>
                      <a:r>
                        <a:rPr lang="vi" sz="1200"/>
                        <a:t>mục đích</a:t>
                      </a:r>
                      <a:endParaRPr sz="120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sz="1200"/>
                        <a:t>Cấu hình</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t>Sản xuất/Dàn dựng</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t>Thu thập lịch sử thay đổi cấu hình cho các tài nguyên AWS và đánh giá việc tuân thủ các yêu cầu</a:t>
                      </a:r>
                      <a:endParaRPr sz="1200"/>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vi" sz="1200"/>
                        <a:t>Trình phân tích truy cập IAM</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solidFill>
                            <a:schemeClr val="dk1"/>
                          </a:solidFill>
                        </a:rPr>
                        <a:t>Sản xuất/Dàn dựng</a:t>
                      </a:r>
                      <a:endParaRPr sz="1200">
                        <a:solidFill>
                          <a:schemeClr val="dk1"/>
                        </a:solidFill>
                      </a:endParaRPr>
                    </a:p>
                    <a:p>
                      <a:pPr marL="0" lvl="0" indent="0" algn="l" rtl="0">
                        <a:lnSpc>
                          <a:spcPct val="115000"/>
                        </a:lnSpc>
                        <a:spcBef>
                          <a:spcPts val="0"/>
                        </a:spcBef>
                        <a:spcAft>
                          <a:spcPts val="0"/>
                        </a:spcAft>
                        <a:buNone/>
                      </a:pP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vi" sz="1200"/>
                        <a:t>Phát hiện xem các chính sách liên quan đến tài nguyên AWS có vô tình bị truy cập công khai hay không</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vi" sz="1200"/>
                        <a:t>Trung tâm bảo mật</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solidFill>
                            <a:schemeClr val="dk1"/>
                          </a:solidFill>
                        </a:rPr>
                        <a:t>Sản xuất/Dàn dựng</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vi" sz="1200"/>
                        <a:t>Quản lý bảo mật trên toàn bộ môi trường AWS của bạn chỉ bằng một bước đơn giản</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vi" sz="1200"/>
                        <a:t>CloudTrail</a:t>
                      </a:r>
                      <a:endParaRPr sz="1200"/>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vi" sz="1200">
                          <a:solidFill>
                            <a:schemeClr val="dk1"/>
                          </a:solidFill>
                        </a:rPr>
                        <a:t>Cái thật</a:t>
                      </a:r>
                      <a:endParaRPr sz="1200">
                        <a:solidFill>
                          <a:schemeClr val="dk1"/>
                        </a:solidFill>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vi" sz="1200">
                          <a:solidFill>
                            <a:schemeClr val="dk1"/>
                          </a:solidFill>
                        </a:rPr>
                        <a:t>Theo dõi các cuộc gọi API và các sự kiện liên quan được thực hiện trong tài khoản AWS của bạn</a:t>
                      </a:r>
                      <a:endParaRPr sz="1200"/>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4"/>
                  </a:ext>
                </a:extLst>
              </a:tr>
              <a:tr h="401875">
                <a:tc>
                  <a:txBody>
                    <a:bodyPr/>
                    <a:lstStyle/>
                    <a:p>
                      <a:pPr marL="0" lvl="0" indent="0" algn="l" rtl="0">
                        <a:spcBef>
                          <a:spcPts val="0"/>
                        </a:spcBef>
                        <a:spcAft>
                          <a:spcPts val="0"/>
                        </a:spcAft>
                        <a:buNone/>
                      </a:pPr>
                      <a:r>
                        <a:rPr lang="vi" sz="1200"/>
                        <a:t>Thanh tra</a:t>
                      </a:r>
                      <a:endParaRPr sz="1200"/>
                    </a:p>
                  </a:txBody>
                  <a:tcPr marL="91425" marR="91425" marT="91425" marB="91425"/>
                </a:tc>
                <a:tc>
                  <a:txBody>
                    <a:bodyPr/>
                    <a:lstStyle/>
                    <a:p>
                      <a:pPr marL="0" lvl="0" indent="0" algn="l" rtl="0">
                        <a:lnSpc>
                          <a:spcPct val="115000"/>
                        </a:lnSpc>
                        <a:spcBef>
                          <a:spcPts val="0"/>
                        </a:spcBef>
                        <a:spcAft>
                          <a:spcPts val="0"/>
                        </a:spcAft>
                        <a:buNone/>
                      </a:pPr>
                      <a:r>
                        <a:rPr lang="vi" sz="1200">
                          <a:solidFill>
                            <a:schemeClr val="dk1"/>
                          </a:solidFill>
                        </a:rPr>
                        <a:t>Cái thật</a:t>
                      </a:r>
                      <a:endParaRPr sz="1200">
                        <a:solidFill>
                          <a:schemeClr val="dk1"/>
                        </a:solidFill>
                      </a:endParaRPr>
                    </a:p>
                  </a:txBody>
                  <a:tcPr marL="91425" marR="91425" marT="91425" marB="91425"/>
                </a:tc>
                <a:tc>
                  <a:txBody>
                    <a:bodyPr/>
                    <a:lstStyle/>
                    <a:p>
                      <a:pPr marL="0" lvl="0" indent="0" algn="l" rtl="0">
                        <a:lnSpc>
                          <a:spcPct val="115000"/>
                        </a:lnSpc>
                        <a:spcBef>
                          <a:spcPts val="0"/>
                        </a:spcBef>
                        <a:spcAft>
                          <a:spcPts val="0"/>
                        </a:spcAft>
                        <a:buClr>
                          <a:schemeClr val="dk1"/>
                        </a:buClr>
                        <a:buSzPts val="1100"/>
                        <a:buFont typeface="Arial"/>
                        <a:buNone/>
                      </a:pPr>
                      <a:r>
                        <a:rPr lang="vi" sz="1200">
                          <a:solidFill>
                            <a:schemeClr val="dk1"/>
                          </a:solidFill>
                        </a:rPr>
                        <a:t>Phát hiện lỗ hổng trong các container EC2, ECS và Lambda</a:t>
                      </a:r>
                      <a:endParaRPr sz="1200">
                        <a:solidFill>
                          <a:schemeClr val="dk1"/>
                        </a:solidFill>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vi" sz="1200"/>
                        <a:t>Nhật ký lưu lượng VPC</a:t>
                      </a:r>
                      <a:endParaRPr sz="1200"/>
                    </a:p>
                  </a:txBody>
                  <a:tcPr marL="91425" marR="91425" marT="91425" marB="91425"/>
                </a:tc>
                <a:tc>
                  <a:txBody>
                    <a:bodyPr/>
                    <a:lstStyle/>
                    <a:p>
                      <a:pPr marL="0" lvl="0" indent="0" algn="l" rtl="0">
                        <a:spcBef>
                          <a:spcPts val="0"/>
                        </a:spcBef>
                        <a:spcAft>
                          <a:spcPts val="0"/>
                        </a:spcAft>
                        <a:buNone/>
                      </a:pPr>
                      <a:r>
                        <a:rPr lang="vi" sz="1200"/>
                        <a:t>Cái thật</a:t>
                      </a:r>
                      <a:endParaRPr sz="1200"/>
                    </a:p>
                  </a:txBody>
                  <a:tcPr marL="91425" marR="91425" marT="91425" marB="91425"/>
                </a:tc>
                <a:tc>
                  <a:txBody>
                    <a:bodyPr/>
                    <a:lstStyle/>
                    <a:p>
                      <a:pPr marL="0" lvl="0" indent="0" algn="l" rtl="0">
                        <a:spcBef>
                          <a:spcPts val="0"/>
                        </a:spcBef>
                        <a:spcAft>
                          <a:spcPts val="0"/>
                        </a:spcAft>
                        <a:buNone/>
                      </a:pPr>
                      <a:r>
                        <a:rPr lang="vi" sz="1200"/>
                        <a:t>Phân tích thông tin siêu dữ liệu về lưu lượng truy cập</a:t>
                      </a:r>
                      <a:endParaRPr sz="1200"/>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5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11-2.Báo giá AWS liên quan đến bảo mật</a:t>
            </a: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10" name="Google Shape;410;p5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11" name="Google Shape;411;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46</a:t>
            </a:fld>
            <a:endParaRPr/>
          </a:p>
        </p:txBody>
      </p:sp>
      <p:pic>
        <p:nvPicPr>
          <p:cNvPr id="412" name="Google Shape;412;p58" title="スクリーンショット 2025-07-03 午前10.20.13.png"/>
          <p:cNvPicPr preferRelativeResize="0"/>
          <p:nvPr/>
        </p:nvPicPr>
        <p:blipFill>
          <a:blip r:embed="rId4">
            <a:alphaModFix/>
          </a:blip>
          <a:stretch>
            <a:fillRect/>
          </a:stretch>
        </p:blipFill>
        <p:spPr>
          <a:xfrm>
            <a:off x="2049188" y="1046050"/>
            <a:ext cx="4429125" cy="1381125"/>
          </a:xfrm>
          <a:prstGeom prst="rect">
            <a:avLst/>
          </a:prstGeom>
          <a:noFill/>
          <a:ln>
            <a:noFill/>
          </a:ln>
        </p:spPr>
      </p:pic>
      <p:pic>
        <p:nvPicPr>
          <p:cNvPr id="413" name="Google Shape;413;p58" title="スクリーンショット 2025-07-03 午前10.20.47.png"/>
          <p:cNvPicPr preferRelativeResize="0"/>
          <p:nvPr/>
        </p:nvPicPr>
        <p:blipFill>
          <a:blip r:embed="rId5">
            <a:alphaModFix/>
          </a:blip>
          <a:stretch>
            <a:fillRect/>
          </a:stretch>
        </p:blipFill>
        <p:spPr>
          <a:xfrm>
            <a:off x="2049200" y="2571750"/>
            <a:ext cx="4583297" cy="23869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11-3.Các biện pháp bảo mật cho EC2</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19" name="Google Shape;419;p5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20" name="Google Shape;420;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47</a:t>
            </a:fld>
            <a:endParaRPr/>
          </a:p>
        </p:txBody>
      </p:sp>
      <p:sp>
        <p:nvSpPr>
          <p:cNvPr id="421" name="Google Shape;421;p59"/>
          <p:cNvSpPr txBox="1">
            <a:spLocks noGrp="1"/>
          </p:cNvSpPr>
          <p:nvPr>
            <p:ph type="body" idx="1"/>
          </p:nvPr>
        </p:nvSpPr>
        <p:spPr>
          <a:xfrm>
            <a:off x="637950" y="1075175"/>
            <a:ext cx="7901700" cy="3634500"/>
          </a:xfrm>
          <a:prstGeom prst="rect">
            <a:avLst/>
          </a:prstGeom>
        </p:spPr>
        <p:txBody>
          <a:bodyPr spcFirstLastPara="1" wrap="square" lIns="91425" tIns="91425" rIns="91425" bIns="91425" anchor="t" anchorCtr="0">
            <a:normAutofit lnSpcReduction="20000"/>
          </a:bodyPr>
          <a:lstStyle/>
          <a:p>
            <a:pPr marL="457200" lvl="0" indent="-336550" algn="l" rtl="0">
              <a:spcBef>
                <a:spcPts val="0"/>
              </a:spcBef>
              <a:spcAft>
                <a:spcPts val="0"/>
              </a:spcAft>
              <a:buSzPts val="1700"/>
              <a:buChar char="●"/>
            </a:pPr>
            <a:r>
              <a:rPr lang="vi" sz="1700"/>
              <a:t>Chỉ áp dụng cho máy chủ Bastion</a:t>
            </a:r>
            <a:endParaRPr sz="1700"/>
          </a:p>
          <a:p>
            <a:pPr marL="457200" lvl="0" indent="-336550" algn="l" rtl="0">
              <a:spcBef>
                <a:spcPts val="0"/>
              </a:spcBef>
              <a:spcAft>
                <a:spcPts val="0"/>
              </a:spcAft>
              <a:buSzPts val="1700"/>
              <a:buChar char="●"/>
            </a:pPr>
            <a:r>
              <a:rPr lang="vi" sz="1700"/>
              <a:t>Hệ điều hành là Amazon Linux 20203</a:t>
            </a:r>
            <a:endParaRPr sz="1700"/>
          </a:p>
          <a:p>
            <a:pPr marL="457200" lvl="0" indent="-336550" algn="l" rtl="0">
              <a:spcBef>
                <a:spcPts val="0"/>
              </a:spcBef>
              <a:spcAft>
                <a:spcPts val="0"/>
              </a:spcAft>
              <a:buSzPts val="1700"/>
              <a:buChar char="●"/>
            </a:pPr>
            <a:r>
              <a:rPr lang="vi" sz="1700"/>
              <a:t>Giám sát nhật ký</a:t>
            </a:r>
            <a:endParaRPr sz="1700"/>
          </a:p>
          <a:p>
            <a:pPr marL="914400" lvl="1" indent="-336550" algn="l" rtl="0">
              <a:spcBef>
                <a:spcPts val="0"/>
              </a:spcBef>
              <a:spcAft>
                <a:spcPts val="0"/>
              </a:spcAft>
              <a:buSzPts val="1700"/>
              <a:buChar char="○"/>
            </a:pPr>
            <a:r>
              <a:rPr lang="vi" sz="1700"/>
              <a:t>/var/log/{tin nhắn,bảo mật,dnf.log,/audit/audit.log}</a:t>
            </a:r>
            <a:endParaRPr sz="1700"/>
          </a:p>
          <a:p>
            <a:pPr marL="914400" lvl="1" indent="-336550" algn="l" rtl="0">
              <a:spcBef>
                <a:spcPts val="0"/>
              </a:spcBef>
              <a:spcAft>
                <a:spcPts val="0"/>
              </a:spcAft>
              <a:buSzPts val="1700"/>
              <a:buChar char="○"/>
            </a:pPr>
            <a:r>
              <a:rPr lang="vi" sz="1700"/>
              <a:t>Tìm kiếm từ khóa: lỗi, thất bại</a:t>
            </a:r>
            <a:endParaRPr sz="1700"/>
          </a:p>
          <a:p>
            <a:pPr marL="457200" lvl="0" indent="-336550" algn="l" rtl="0">
              <a:spcBef>
                <a:spcPts val="0"/>
              </a:spcBef>
              <a:spcAft>
                <a:spcPts val="0"/>
              </a:spcAft>
              <a:buSzPts val="1700"/>
              <a:buChar char="●"/>
            </a:pPr>
            <a:r>
              <a:rPr lang="vi" sz="1700"/>
              <a:t>Áp dụng Thanh tra</a:t>
            </a:r>
            <a:endParaRPr sz="1700"/>
          </a:p>
          <a:p>
            <a:pPr marL="914400" lvl="1" indent="-336550" algn="l" rtl="0">
              <a:spcBef>
                <a:spcPts val="0"/>
              </a:spcBef>
              <a:spcAft>
                <a:spcPts val="0"/>
              </a:spcAft>
              <a:buSzPts val="1700"/>
              <a:buChar char="○"/>
            </a:pPr>
            <a:r>
              <a:rPr lang="vi" sz="1700"/>
              <a:t>Phát hiện lỗ hổng phần mềm (CVE)</a:t>
            </a:r>
            <a:endParaRPr sz="1700"/>
          </a:p>
          <a:p>
            <a:pPr marL="457200" lvl="0" indent="-336550" algn="l" rtl="0">
              <a:spcBef>
                <a:spcPts val="0"/>
              </a:spcBef>
              <a:spcAft>
                <a:spcPts val="0"/>
              </a:spcAft>
              <a:buSzPts val="1700"/>
              <a:buChar char="●"/>
            </a:pPr>
            <a:r>
              <a:rPr lang="vi" sz="1700"/>
              <a:t>Xóa người dùng mặc định ec2-user</a:t>
            </a:r>
            <a:endParaRPr sz="1700"/>
          </a:p>
          <a:p>
            <a:pPr marL="457200" lvl="0" indent="-336550" algn="l" rtl="0">
              <a:spcBef>
                <a:spcPts val="0"/>
              </a:spcBef>
              <a:spcAft>
                <a:spcPts val="0"/>
              </a:spcAft>
              <a:buSzPts val="1700"/>
              <a:buChar char="●"/>
            </a:pPr>
            <a:r>
              <a:rPr lang="vi" sz="1700"/>
              <a:t>Mỗi người dùng sẽ được cấp tài khoản đăng nhập SSH vào máy chủ Bastion.</a:t>
            </a:r>
            <a:endParaRPr sz="1700"/>
          </a:p>
          <a:p>
            <a:pPr marL="914400" lvl="1" indent="-336550" algn="l" rtl="0">
              <a:spcBef>
                <a:spcPts val="0"/>
              </a:spcBef>
              <a:spcAft>
                <a:spcPts val="0"/>
              </a:spcAft>
              <a:buSzPts val="1700"/>
              <a:buChar char="○"/>
            </a:pPr>
            <a:r>
              <a:rPr lang="vi" sz="1700"/>
              <a:t>Tuy nhiên, có một trường hợp sử dụng khi bạn kết nối với S3 bằng WinSCP trên PC của nhà phát triển và trong trường hợp đó, bạn cần tạo một người dùng chuyên dụng cho đường hầm.</a:t>
            </a:r>
            <a:endParaRPr sz="1700"/>
          </a:p>
          <a:p>
            <a:pPr marL="914400" lvl="1" indent="-336550" algn="l" rtl="0">
              <a:spcBef>
                <a:spcPts val="0"/>
              </a:spcBef>
              <a:spcAft>
                <a:spcPts val="0"/>
              </a:spcAft>
              <a:buSzPts val="1700"/>
              <a:buChar char="○"/>
            </a:pPr>
            <a:r>
              <a:rPr lang="vi" sz="1700"/>
              <a:t>Đặt thời gian chờ phiên làm việc phù hợp trên phía máy khách và máy chủ</a:t>
            </a:r>
            <a:endParaRPr sz="1700"/>
          </a:p>
          <a:p>
            <a:pPr marL="457200" lvl="0" indent="0" algn="l" rtl="0">
              <a:spcBef>
                <a:spcPts val="1200"/>
              </a:spcBef>
              <a:spcAft>
                <a:spcPts val="1200"/>
              </a:spcAft>
              <a:buNone/>
            </a:pPr>
            <a:endParaRPr sz="17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12.CICD</a:t>
            </a:r>
            <a:endParaRPr sz="3000">
              <a:highlight>
                <a:srgbClr val="FFFFFF"/>
              </a:highlight>
            </a:endParaRPr>
          </a:p>
        </p:txBody>
      </p:sp>
      <p:pic>
        <p:nvPicPr>
          <p:cNvPr id="427" name="Google Shape;427;p6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28" name="Google Shape;428;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6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12-1.Môi trường triển khai</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34" name="Google Shape;434;p6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35" name="Google Shape;435;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49</a:t>
            </a:fld>
            <a:endParaRPr/>
          </a:p>
        </p:txBody>
      </p:sp>
      <p:pic>
        <p:nvPicPr>
          <p:cNvPr id="436" name="Google Shape;436;p61" title="【POS】infra_ishida-12-1.drawio.png"/>
          <p:cNvPicPr preferRelativeResize="0"/>
          <p:nvPr/>
        </p:nvPicPr>
        <p:blipFill>
          <a:blip r:embed="rId4">
            <a:alphaModFix/>
          </a:blip>
          <a:stretch>
            <a:fillRect/>
          </a:stretch>
        </p:blipFill>
        <p:spPr>
          <a:xfrm>
            <a:off x="465050" y="1091450"/>
            <a:ext cx="8007388" cy="3846524"/>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2C55BE5E260749AE179ACE10276E66" ma:contentTypeVersion="11" ma:contentTypeDescription="Create a new document." ma:contentTypeScope="" ma:versionID="1e7b116d8907a8ccf6a1bc271e57dc67">
  <xsd:schema xmlns:xsd="http://www.w3.org/2001/XMLSchema" xmlns:xs="http://www.w3.org/2001/XMLSchema" xmlns:p="http://schemas.microsoft.com/office/2006/metadata/properties" xmlns:ns2="8dbf7540-46e2-4291-999e-80d6200bae7a" xmlns:ns3="2d13a9ec-4dcc-4bf0-b813-bb41ddf201ec" targetNamespace="http://schemas.microsoft.com/office/2006/metadata/properties" ma:root="true" ma:fieldsID="cb2ac017d4fffd6755729870e7ab2953" ns2:_="" ns3:_="">
    <xsd:import namespace="8dbf7540-46e2-4291-999e-80d6200bae7a"/>
    <xsd:import namespace="2d13a9ec-4dcc-4bf0-b813-bb41ddf201e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bf7540-46e2-4291-999e-80d6200bae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e6619b5c-6674-40b7-9c01-33e12ba1bd7c"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d13a9ec-4dcc-4bf0-b813-bb41ddf201ec"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971d825a-e5a3-48fe-8a61-8f749001443e}" ma:internalName="TaxCatchAll" ma:showField="CatchAllData" ma:web="2d13a9ec-4dcc-4bf0-b813-bb41ddf201e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dbf7540-46e2-4291-999e-80d6200bae7a">
      <Terms xmlns="http://schemas.microsoft.com/office/infopath/2007/PartnerControls"/>
    </lcf76f155ced4ddcb4097134ff3c332f>
    <TaxCatchAll xmlns="2d13a9ec-4dcc-4bf0-b813-bb41ddf201ec" xsi:nil="true"/>
  </documentManagement>
</p:properties>
</file>

<file path=customXml/itemProps1.xml><?xml version="1.0" encoding="utf-8"?>
<ds:datastoreItem xmlns:ds="http://schemas.openxmlformats.org/officeDocument/2006/customXml" ds:itemID="{A05BEBA8-4281-4234-B9D2-BCC99C3D62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dbf7540-46e2-4291-999e-80d6200bae7a"/>
    <ds:schemaRef ds:uri="2d13a9ec-4dcc-4bf0-b813-bb41ddf201e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CC6771-F566-40DF-AE36-D431702C116C}">
  <ds:schemaRefs>
    <ds:schemaRef ds:uri="http://schemas.microsoft.com/sharepoint/v3/contenttype/forms"/>
  </ds:schemaRefs>
</ds:datastoreItem>
</file>

<file path=customXml/itemProps3.xml><?xml version="1.0" encoding="utf-8"?>
<ds:datastoreItem xmlns:ds="http://schemas.openxmlformats.org/officeDocument/2006/customXml" ds:itemID="{E2A72C1D-B48C-4C0B-B85E-F7B9BBFB99A5}">
  <ds:schemaRefs>
    <ds:schemaRef ds:uri="http://schemas.microsoft.com/office/2006/metadata/properties"/>
    <ds:schemaRef ds:uri="http://schemas.microsoft.com/office/infopath/2007/PartnerControls"/>
    <ds:schemaRef ds:uri="8dbf7540-46e2-4291-999e-80d6200bae7a"/>
    <ds:schemaRef ds:uri="2d13a9ec-4dcc-4bf0-b813-bb41ddf201ec"/>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49</Slides>
  <Notes>49</Notes>
  <HiddenSlides>0</HiddenSlide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Simple Light</vt:lpstr>
      <vt:lpstr>Máy chủ POS ngoại tuyến 2.0 ignica POS Yêu cầu về cơ sở hạ tầng &lt;Tương thích với nhãn kệ điện tử ISHIDA của Kasumi&gt;</vt:lpstr>
      <vt:lpstr>mục lục</vt:lpstr>
      <vt:lpstr>1. Phiên bản ngoại tuyến của POS Server 2.0 Định vị</vt:lpstr>
      <vt:lpstr>1-1. Vai trò của Máy chủ POS ngoại tuyến 2.0</vt:lpstr>
      <vt:lpstr>1-2. Tiếp tục kinh doanh trong trường hợp xảy ra lỗi giao tiếp</vt:lpstr>
      <vt:lpstr>2. Chính sách thiết kế cơ sở hạ tầng</vt:lpstr>
      <vt:lpstr>2-1. Chính sách thiết kế</vt:lpstr>
      <vt:lpstr>3. Thiết kế tài khoản AWS</vt:lpstr>
      <vt:lpstr>3-1. Chia tách tài khoản AWS </vt:lpstr>
      <vt:lpstr>3-2. Lý do chia tách tài khoản AWS </vt:lpstr>
      <vt:lpstr>4. Cấu hình mạng (Máy chủ POS trực tuyến hiện có)</vt:lpstr>
      <vt:lpstr>4-1. Máy chủ POS trực tuyến</vt:lpstr>
      <vt:lpstr>5. Cấu hình mạng (Máy chủ POS ngoại tuyến và mạng kín USHM)</vt:lpstr>
      <vt:lpstr>5-1.Môi trường đột biến</vt:lpstr>
      <vt:lpstr>5-2. Máy chủ POS ngoại tuyến 2.0 và Mạng kín USMH</vt:lpstr>
      <vt:lpstr>5-3.Trạng thái giao thông kết nối trực tiếp (30 tháng 5 năm 2025)</vt:lpstr>
      <vt:lpstr>5-4. Xác minh băng thông </vt:lpstr>
      <vt:lpstr>6. Cấu hình mạng (Văn phòng Rubina)</vt:lpstr>
      <vt:lpstr>6-1. Kết nối từ Văn phòng Rubina</vt:lpstr>
      <vt:lpstr>6-2. Truy cập từ máy tính của nhà phát triển</vt:lpstr>
      <vt:lpstr>7. Quản lý tài khoản AWS</vt:lpstr>
      <vt:lpstr>7-1. Chủ tài khoản AWS </vt:lpstr>
      <vt:lpstr>7-2.Kế hoạch hỗ trợ AWS </vt:lpstr>
      <vt:lpstr>8. Cấu hình hệ thống</vt:lpstr>
      <vt:lpstr>8-1.Luồng xử lý </vt:lpstr>
      <vt:lpstr>8-2. Sơ đồ tổng thể các kết nối bên ngoài</vt:lpstr>
      <vt:lpstr>8-3. Tuyến nhận liên kết ngoài ①</vt:lpstr>
      <vt:lpstr>8-4. Tuyến nhận liên kết ngoài②</vt:lpstr>
      <vt:lpstr>8-5. Phương pháp liên kết POS Master (Loại ĐẨY/KÉO) </vt:lpstr>
      <vt:lpstr>8-6.Tích hợp POS Master ISHIDA (Giai đoạn 1)  </vt:lpstr>
      <vt:lpstr>8-7. Tích hợp POS Master: ISHIDA (Đề xuất giai đoạn 2 a) </vt:lpstr>
      <vt:lpstr>8-8. Tích hợp POS Master: ISHIDA (Kế hoạch giai đoạn 2 b)</vt:lpstr>
      <vt:lpstr>8-9. Bước 1: Tiếp nhận chính (OC) </vt:lpstr>
      <vt:lpstr>8-10.Bước 2: Tiếp nhận chính (máy chủ chuyển tiếp) </vt:lpstr>
      <vt:lpstr>8-11.Bước ②Tạo POS master (chung)</vt:lpstr>
      <vt:lpstr>8-12.③ Gửi đến ISHIDA (phổ biến)    </vt:lpstr>
      <vt:lpstr>9. Chung cho tất cả các dịch vụ AWS</vt:lpstr>
      <vt:lpstr>9-1.Cấu hình thùng S3 </vt:lpstr>
      <vt:lpstr>9-2.Cơ sở dữ liệu</vt:lpstr>
      <vt:lpstr>9-3. Sao lưu </vt:lpstr>
      <vt:lpstr>10. Giám sát</vt:lpstr>
      <vt:lpstr>10-1. Sơ đồ cấu hình giám sát AWS</vt:lpstr>
      <vt:lpstr>10-2. Danh sách nhật ký lỗi ứng dụng ※Đang kiểm tra※</vt:lpstr>
      <vt:lpstr>11. Biện pháp an ninh</vt:lpstr>
      <vt:lpstr>11-1.Phát hiện </vt:lpstr>
      <vt:lpstr>11-2.Báo giá AWS liên quan đến bảo mật    </vt:lpstr>
      <vt:lpstr>11-3.Các biện pháp bảo mật cho EC2 </vt:lpstr>
      <vt:lpstr>12.CICD</vt:lpstr>
      <vt:lpstr>12-1.Môi trường triển khai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31</cp:revision>
  <dcterms:modified xsi:type="dcterms:W3CDTF">2025-12-16T09:08:22Z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0x010100362C55BE5E260749AE179ACE10276E66</vt:lpwstr>
  </property>
  <property fmtid="{D5CDD505-2E9C-101B-9397-08002B2CF9AE}" pid="3" name="MediaServiceImageTags">
    <vt:lpwstr/>
  </property>
</Properties>
</file>