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5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7A281C8-0844-4F7E-8F5C-31C3930F0FE5}">
  <a:tblStyle styleId="{87A281C8-0844-4F7E-8F5C-31C3930F0FE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580465b63b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80465b63b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580465b63b_1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580465b63b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5a41f27a4c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5a41f27a4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5a41f27a4c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5a41f27a4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5854b8902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5854b8902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35f10c478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35f10c478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58e663a064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58e663a06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58e542b3e9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8e542b3e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58e663a064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58e663a06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5819f38e9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5819f38e9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36961fd0f9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6961fd0f9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36961fd0f9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36961fd0f9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5f10d63be7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5f10d63be7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5819f38e9d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5819f38e9d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5a8d5f1f08_1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5a8d5f1f08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5c9bdf6aa1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5c9bdf6aa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5f10d63be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5f10d63be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57d6c63f5e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57d6c63f5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602daf69e8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602daf69e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580465b63b_1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580465b63b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5a8d5f1f08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5a8d5f1f08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580465b63b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580465b63b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57d6c63f5e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57d6c63f5e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57d6c63f5e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57d6c63f5e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3d03c4fbb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3d03c4fbb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620cf38abb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620cf38ab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69d6be0b11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69d6be0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611618eb3d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611618eb3d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611618eb3d_3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611618eb3d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66ce92774d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66ce92774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658f1f93ba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658f1f93ba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58eae04b7f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58eae04b7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691c57d911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691c57d911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6c084a7dfa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6c084a7df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67cdfeb92f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67cdfeb92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6693086371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3669308637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65a1995b16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65a1995b16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35f20b5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35f20b5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5833b9174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35833b9174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5c9bdf6aa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5c9bdf6aa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3d03c4fbb9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3d03c4fbb9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6bc0e9633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6bc0e9633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696d7e09d4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696d7e09d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6b9103167a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36b9103167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36ba1309578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36ba130957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6d2371e6aa_3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36d2371e6aa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449644d75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3449644d75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3449644d758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3449644d75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0" y="540275"/>
            <a:ext cx="9144000" cy="19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ja" sz="2600"/>
              <a:t>オフライン版POSサーバ2.0</a:t>
            </a:r>
            <a:endParaRPr sz="2600"/>
          </a:p>
          <a:p>
            <a:pPr marL="0" lvl="0" indent="0" algn="ctr" rtl="0">
              <a:spcBef>
                <a:spcPts val="0"/>
              </a:spcBef>
              <a:spcAft>
                <a:spcPts val="0"/>
              </a:spcAft>
              <a:buNone/>
            </a:pPr>
            <a:r>
              <a:rPr lang="ja" sz="2600"/>
              <a:t>ignica POS</a:t>
            </a:r>
            <a:endParaRPr sz="2600"/>
          </a:p>
          <a:p>
            <a:pPr marL="0" lvl="0" indent="0" algn="ctr" rtl="0">
              <a:spcBef>
                <a:spcPts val="0"/>
              </a:spcBef>
              <a:spcAft>
                <a:spcPts val="0"/>
              </a:spcAft>
              <a:buNone/>
            </a:pPr>
            <a:r>
              <a:rPr lang="ja" sz="2600"/>
              <a:t>インフラ要件</a:t>
            </a:r>
            <a:endParaRPr sz="2600"/>
          </a:p>
          <a:p>
            <a:pPr marL="0" lvl="0" indent="0" algn="ctr" rtl="0">
              <a:spcBef>
                <a:spcPts val="0"/>
              </a:spcBef>
              <a:spcAft>
                <a:spcPts val="0"/>
              </a:spcAft>
              <a:buNone/>
            </a:pPr>
            <a:r>
              <a:rPr lang="ja" sz="2600"/>
              <a:t>＜カスミ様ISHIDA電子棚札対応＞</a:t>
            </a:r>
            <a:endParaRPr sz="2600"/>
          </a:p>
        </p:txBody>
      </p:sp>
      <p:sp>
        <p:nvSpPr>
          <p:cNvPr id="55" name="Google Shape;55;p13"/>
          <p:cNvSpPr txBox="1">
            <a:spLocks noGrp="1"/>
          </p:cNvSpPr>
          <p:nvPr>
            <p:ph type="ctrTitle"/>
          </p:nvPr>
        </p:nvSpPr>
        <p:spPr>
          <a:xfrm>
            <a:off x="0" y="3364225"/>
            <a:ext cx="9144000" cy="12990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SzPts val="990"/>
              <a:buNone/>
            </a:pPr>
            <a:r>
              <a:rPr lang="ja" sz="1820"/>
              <a:t>2025年7月9日</a:t>
            </a:r>
            <a:endParaRPr sz="1820"/>
          </a:p>
          <a:p>
            <a:pPr marL="0" lvl="0" indent="0" algn="ctr" rtl="0">
              <a:spcBef>
                <a:spcPts val="0"/>
              </a:spcBef>
              <a:spcAft>
                <a:spcPts val="0"/>
              </a:spcAft>
              <a:buSzPts val="990"/>
              <a:buNone/>
            </a:pPr>
            <a:r>
              <a:rPr lang="ja" sz="1820"/>
              <a:t>Luvina Software JSC</a:t>
            </a:r>
            <a:endParaRPr sz="1820"/>
          </a:p>
          <a:p>
            <a:pPr marL="0" lvl="0" indent="0" algn="ctr" rtl="0">
              <a:spcBef>
                <a:spcPts val="0"/>
              </a:spcBef>
              <a:spcAft>
                <a:spcPts val="0"/>
              </a:spcAft>
              <a:buSzPts val="990"/>
              <a:buNone/>
            </a:pPr>
            <a:r>
              <a:rPr lang="ja" sz="1820"/>
              <a:t>大谷雅味</a:t>
            </a:r>
            <a:endParaRPr sz="1820"/>
          </a:p>
        </p:txBody>
      </p:sp>
      <p:pic>
        <p:nvPicPr>
          <p:cNvPr id="56" name="Google Shape;56;p1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57" name="Google Shape;57;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a:t>
            </a:fld>
            <a:endParaRPr/>
          </a:p>
        </p:txBody>
      </p:sp>
      <p:sp>
        <p:nvSpPr>
          <p:cNvPr id="58" name="Google Shape;58;p13"/>
          <p:cNvSpPr txBox="1">
            <a:spLocks noGrp="1"/>
          </p:cNvSpPr>
          <p:nvPr>
            <p:ph type="ctrTitle"/>
          </p:nvPr>
        </p:nvSpPr>
        <p:spPr>
          <a:xfrm>
            <a:off x="0" y="2787300"/>
            <a:ext cx="9144000" cy="4707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ja" sz="2020"/>
              <a:t>Version 1.0</a:t>
            </a:r>
            <a:endParaRPr sz="202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pic>
        <p:nvPicPr>
          <p:cNvPr id="63" name="Google Shape;63;p1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64" name="Google Shape;6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a:t>
            </a:fld>
            <a:endParaRPr/>
          </a:p>
        </p:txBody>
      </p:sp>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目次</a:t>
            </a:r>
            <a:endParaRPr/>
          </a:p>
        </p:txBody>
      </p:sp>
      <p:sp>
        <p:nvSpPr>
          <p:cNvPr id="66" name="Google Shape;66;p14"/>
          <p:cNvSpPr txBox="1">
            <a:spLocks noGrp="1"/>
          </p:cNvSpPr>
          <p:nvPr>
            <p:ph type="body" idx="1"/>
          </p:nvPr>
        </p:nvSpPr>
        <p:spPr>
          <a:xfrm>
            <a:off x="468400" y="1152475"/>
            <a:ext cx="8136000" cy="3416400"/>
          </a:xfrm>
          <a:prstGeom prst="rect">
            <a:avLst/>
          </a:prstGeom>
        </p:spPr>
        <p:txBody>
          <a:bodyPr spcFirstLastPara="1" wrap="square" lIns="91425" tIns="91425" rIns="91425" bIns="91425" anchor="t" anchorCtr="0">
            <a:normAutofit lnSpcReduction="20000"/>
          </a:bodyPr>
          <a:lstStyle/>
          <a:p>
            <a:pPr marL="457200" lvl="0" indent="-342900" algn="l" rtl="0">
              <a:spcBef>
                <a:spcPts val="0"/>
              </a:spcBef>
              <a:spcAft>
                <a:spcPts val="0"/>
              </a:spcAft>
              <a:buSzPts val="1800"/>
              <a:buAutoNum type="arabicPeriod"/>
            </a:pPr>
            <a:r>
              <a:rPr lang="ja"/>
              <a:t>オフライン版POSサーバ2.0の位置付け</a:t>
            </a:r>
            <a:endParaRPr/>
          </a:p>
          <a:p>
            <a:pPr marL="457200" lvl="0" indent="-342900" algn="l" rtl="0">
              <a:spcBef>
                <a:spcPts val="0"/>
              </a:spcBef>
              <a:spcAft>
                <a:spcPts val="0"/>
              </a:spcAft>
              <a:buSzPts val="1800"/>
              <a:buAutoNum type="arabicPeriod"/>
            </a:pPr>
            <a:r>
              <a:rPr lang="ja"/>
              <a:t>インフラ設計方針</a:t>
            </a:r>
            <a:endParaRPr/>
          </a:p>
          <a:p>
            <a:pPr marL="457200" lvl="0" indent="-342900" algn="l" rtl="0">
              <a:spcBef>
                <a:spcPts val="0"/>
              </a:spcBef>
              <a:spcAft>
                <a:spcPts val="0"/>
              </a:spcAft>
              <a:buSzPts val="1800"/>
              <a:buAutoNum type="arabicPeriod"/>
            </a:pPr>
            <a:r>
              <a:rPr lang="ja"/>
              <a:t>AWSアカウント設計</a:t>
            </a:r>
            <a:endParaRPr/>
          </a:p>
          <a:p>
            <a:pPr marL="457200" lvl="0" indent="-342900" algn="l" rtl="0">
              <a:spcBef>
                <a:spcPts val="0"/>
              </a:spcBef>
              <a:spcAft>
                <a:spcPts val="0"/>
              </a:spcAft>
              <a:buSzPts val="1800"/>
              <a:buAutoNum type="arabicPeriod"/>
            </a:pPr>
            <a:r>
              <a:rPr lang="ja"/>
              <a:t>ネットワーク構成（既存のオンライン版POSサーバ）</a:t>
            </a:r>
            <a:endParaRPr/>
          </a:p>
          <a:p>
            <a:pPr marL="457200" lvl="0" indent="-342900" algn="l" rtl="0">
              <a:spcBef>
                <a:spcPts val="0"/>
              </a:spcBef>
              <a:spcAft>
                <a:spcPts val="0"/>
              </a:spcAft>
              <a:buSzPts val="1800"/>
              <a:buAutoNum type="arabicPeriod"/>
            </a:pPr>
            <a:r>
              <a:rPr lang="ja"/>
              <a:t>ネットワーク構成（オフライン番POSサーバとUSMH閉域網）</a:t>
            </a:r>
            <a:endParaRPr/>
          </a:p>
          <a:p>
            <a:pPr marL="457200" lvl="0" indent="-342900" algn="l" rtl="0">
              <a:spcBef>
                <a:spcPts val="0"/>
              </a:spcBef>
              <a:spcAft>
                <a:spcPts val="0"/>
              </a:spcAft>
              <a:buSzPts val="1800"/>
              <a:buAutoNum type="arabicPeriod"/>
            </a:pPr>
            <a:r>
              <a:rPr lang="ja"/>
              <a:t>ネットワーク構成（ルビナオフィス）</a:t>
            </a:r>
            <a:endParaRPr/>
          </a:p>
          <a:p>
            <a:pPr marL="457200" lvl="0" indent="-342900" algn="l" rtl="0">
              <a:spcBef>
                <a:spcPts val="0"/>
              </a:spcBef>
              <a:spcAft>
                <a:spcPts val="0"/>
              </a:spcAft>
              <a:buSzPts val="1800"/>
              <a:buAutoNum type="arabicPeriod"/>
            </a:pPr>
            <a:r>
              <a:rPr lang="ja"/>
              <a:t>AWSアカウント管理</a:t>
            </a:r>
            <a:endParaRPr/>
          </a:p>
          <a:p>
            <a:pPr marL="457200" lvl="0" indent="-342900" algn="l" rtl="0">
              <a:spcBef>
                <a:spcPts val="0"/>
              </a:spcBef>
              <a:spcAft>
                <a:spcPts val="0"/>
              </a:spcAft>
              <a:buSzPts val="1800"/>
              <a:buAutoNum type="arabicPeriod"/>
            </a:pPr>
            <a:r>
              <a:rPr lang="ja"/>
              <a:t>システム構成</a:t>
            </a:r>
            <a:endParaRPr/>
          </a:p>
          <a:p>
            <a:pPr marL="457200" lvl="0" indent="-342900" algn="l" rtl="0">
              <a:spcBef>
                <a:spcPts val="0"/>
              </a:spcBef>
              <a:spcAft>
                <a:spcPts val="0"/>
              </a:spcAft>
              <a:buSzPts val="1800"/>
              <a:buAutoNum type="arabicPeriod"/>
            </a:pPr>
            <a:r>
              <a:rPr lang="ja"/>
              <a:t>AWSサービス共通</a:t>
            </a:r>
            <a:endParaRPr/>
          </a:p>
          <a:p>
            <a:pPr marL="457200" lvl="0" indent="-342900" algn="l" rtl="0">
              <a:spcBef>
                <a:spcPts val="0"/>
              </a:spcBef>
              <a:spcAft>
                <a:spcPts val="0"/>
              </a:spcAft>
              <a:buSzPts val="1800"/>
              <a:buAutoNum type="arabicPeriod"/>
            </a:pPr>
            <a:r>
              <a:rPr lang="ja"/>
              <a:t>監視</a:t>
            </a:r>
            <a:endParaRPr/>
          </a:p>
          <a:p>
            <a:pPr marL="457200" lvl="0" indent="-342900" algn="l" rtl="0">
              <a:spcBef>
                <a:spcPts val="0"/>
              </a:spcBef>
              <a:spcAft>
                <a:spcPts val="0"/>
              </a:spcAft>
              <a:buSzPts val="1800"/>
              <a:buAutoNum type="arabicPeriod"/>
            </a:pPr>
            <a:r>
              <a:rPr lang="ja"/>
              <a:t>セキュリティ対策</a:t>
            </a:r>
            <a:endParaRPr/>
          </a:p>
          <a:p>
            <a:pPr marL="457200" lvl="0" indent="-342900" algn="l" rtl="0">
              <a:spcBef>
                <a:spcPts val="0"/>
              </a:spcBef>
              <a:spcAft>
                <a:spcPts val="0"/>
              </a:spcAft>
              <a:buSzPts val="1800"/>
              <a:buAutoNum type="arabicPeriod"/>
            </a:pPr>
            <a:r>
              <a:rPr lang="ja"/>
              <a:t>CICD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ja" sz="3000">
                <a:highlight>
                  <a:srgbClr val="FFFFFF"/>
                </a:highlight>
              </a:rPr>
              <a:t>1.オフライン版POSサーバ2.0の</a:t>
            </a:r>
            <a:endParaRPr sz="3000">
              <a:highlight>
                <a:srgbClr val="FFFFFF"/>
              </a:highlight>
            </a:endParaRPr>
          </a:p>
          <a:p>
            <a:pPr marL="0" lvl="0" indent="0" algn="ctr" rtl="0">
              <a:spcBef>
                <a:spcPts val="0"/>
              </a:spcBef>
              <a:spcAft>
                <a:spcPts val="0"/>
              </a:spcAft>
              <a:buNone/>
            </a:pPr>
            <a:r>
              <a:rPr lang="ja" sz="3000">
                <a:highlight>
                  <a:srgbClr val="FFFFFF"/>
                </a:highlight>
              </a:rPr>
              <a:t>位置づけ</a:t>
            </a:r>
            <a:endParaRPr sz="3000">
              <a:highlight>
                <a:srgbClr val="FFFFFF"/>
              </a:highlight>
            </a:endParaRPr>
          </a:p>
        </p:txBody>
      </p:sp>
      <p:pic>
        <p:nvPicPr>
          <p:cNvPr id="72" name="Google Shape;72;p1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73" name="Google Shape;7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1-1. オフライン版POSサーバ2.0の役割</a:t>
            </a:r>
            <a:endParaRPr>
              <a:highlight>
                <a:srgbClr val="D9D9D9"/>
              </a:highlight>
            </a:endParaRPr>
          </a:p>
        </p:txBody>
      </p:sp>
      <p:pic>
        <p:nvPicPr>
          <p:cNvPr id="79" name="Google Shape;79;p1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80" name="Google Shape;80;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a:t>
            </a:fld>
            <a:endParaRPr/>
          </a:p>
        </p:txBody>
      </p:sp>
      <p:pic>
        <p:nvPicPr>
          <p:cNvPr id="81" name="Google Shape;81;p16" title="【POS】infra_ishida-1-1.drawio.png"/>
          <p:cNvPicPr preferRelativeResize="0"/>
          <p:nvPr/>
        </p:nvPicPr>
        <p:blipFill>
          <a:blip r:embed="rId4">
            <a:alphaModFix/>
          </a:blip>
          <a:stretch>
            <a:fillRect/>
          </a:stretch>
        </p:blipFill>
        <p:spPr>
          <a:xfrm>
            <a:off x="1058650" y="1465550"/>
            <a:ext cx="6457950" cy="2876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1-2. 通信障害時の業務継続性</a:t>
            </a:r>
            <a:endParaRPr>
              <a:highlight>
                <a:srgbClr val="D9D9D9"/>
              </a:highlight>
            </a:endParaRPr>
          </a:p>
        </p:txBody>
      </p:sp>
      <p:pic>
        <p:nvPicPr>
          <p:cNvPr id="87" name="Google Shape;87;p1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88" name="Google Shape;88;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a:t>
            </a:fld>
            <a:endParaRPr/>
          </a:p>
        </p:txBody>
      </p:sp>
      <p:pic>
        <p:nvPicPr>
          <p:cNvPr id="89" name="Google Shape;89;p17" title="【POS】infra_ishida-1-2.drawio.png"/>
          <p:cNvPicPr preferRelativeResize="0"/>
          <p:nvPr/>
        </p:nvPicPr>
        <p:blipFill>
          <a:blip r:embed="rId4">
            <a:alphaModFix/>
          </a:blip>
          <a:stretch>
            <a:fillRect/>
          </a:stretch>
        </p:blipFill>
        <p:spPr>
          <a:xfrm>
            <a:off x="453565" y="1359449"/>
            <a:ext cx="8035136" cy="2806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ja" sz="3000">
                <a:highlight>
                  <a:srgbClr val="FFFFFF"/>
                </a:highlight>
              </a:rPr>
              <a:t>2.インフラ設計方針</a:t>
            </a:r>
            <a:endParaRPr sz="3000">
              <a:highlight>
                <a:srgbClr val="FFFFFF"/>
              </a:highlight>
            </a:endParaRPr>
          </a:p>
        </p:txBody>
      </p:sp>
      <p:pic>
        <p:nvPicPr>
          <p:cNvPr id="95" name="Google Shape;95;p1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96" name="Google Shape;9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2-1.設計方針</a:t>
            </a:r>
            <a:endParaRPr>
              <a:highlight>
                <a:srgbClr val="D9D9D9"/>
              </a:highlight>
            </a:endParaRPr>
          </a:p>
        </p:txBody>
      </p:sp>
      <p:sp>
        <p:nvSpPr>
          <p:cNvPr id="102" name="Google Shape;102;p19"/>
          <p:cNvSpPr txBox="1">
            <a:spLocks noGrp="1"/>
          </p:cNvSpPr>
          <p:nvPr>
            <p:ph type="body" idx="1"/>
          </p:nvPr>
        </p:nvSpPr>
        <p:spPr>
          <a:xfrm>
            <a:off x="311700" y="1152475"/>
            <a:ext cx="8520600" cy="35109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ja" sz="1900"/>
              <a:t>屋号（いなげや、カスミ、マルエツ、MV関東）全体に影響を受けない</a:t>
            </a:r>
            <a:endParaRPr sz="1900"/>
          </a:p>
          <a:p>
            <a:pPr marL="914400" lvl="1" indent="-349250" algn="l" rtl="0">
              <a:spcBef>
                <a:spcPts val="0"/>
              </a:spcBef>
              <a:spcAft>
                <a:spcPts val="0"/>
              </a:spcAft>
              <a:buSzPts val="1900"/>
              <a:buChar char="○"/>
            </a:pPr>
            <a:r>
              <a:rPr lang="ja" sz="1900"/>
              <a:t>ただし、一部のコンポーネント（例えば、エンドポイントなど）は共通利用する</a:t>
            </a:r>
            <a:endParaRPr sz="1900"/>
          </a:p>
          <a:p>
            <a:pPr marL="457200" lvl="0" indent="-349250" algn="l" rtl="0">
              <a:spcBef>
                <a:spcPts val="0"/>
              </a:spcBef>
              <a:spcAft>
                <a:spcPts val="0"/>
              </a:spcAft>
              <a:buSzPts val="1900"/>
              <a:buChar char="●"/>
            </a:pPr>
            <a:r>
              <a:rPr lang="ja" sz="1900"/>
              <a:t>将来、屋号が増えた場合でも、フレキシブルに追加できる</a:t>
            </a:r>
            <a:endParaRPr sz="1900"/>
          </a:p>
          <a:p>
            <a:pPr marL="457200" lvl="0" indent="-349250" algn="l" rtl="0">
              <a:spcBef>
                <a:spcPts val="0"/>
              </a:spcBef>
              <a:spcAft>
                <a:spcPts val="0"/>
              </a:spcAft>
              <a:buSzPts val="1900"/>
              <a:buChar char="●"/>
            </a:pPr>
            <a:r>
              <a:rPr lang="ja" sz="1900"/>
              <a:t>システム構成は、屋号の共通化を図る</a:t>
            </a:r>
            <a:endParaRPr sz="1900"/>
          </a:p>
          <a:p>
            <a:pPr marL="457200" lvl="0" indent="-349250" algn="l" rtl="0">
              <a:spcBef>
                <a:spcPts val="0"/>
              </a:spcBef>
              <a:spcAft>
                <a:spcPts val="0"/>
              </a:spcAft>
              <a:buSzPts val="1900"/>
              <a:buChar char="●"/>
            </a:pPr>
            <a:r>
              <a:rPr lang="ja" sz="1900"/>
              <a:t>アプリケーションが目的別に疎結合の構成を組める支援を行う</a:t>
            </a:r>
            <a:endParaRPr sz="1900"/>
          </a:p>
        </p:txBody>
      </p:sp>
      <p:pic>
        <p:nvPicPr>
          <p:cNvPr id="103" name="Google Shape;103;p1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04" name="Google Shape;104;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ja" sz="3000">
                <a:highlight>
                  <a:srgbClr val="FFFFFF"/>
                </a:highlight>
              </a:rPr>
              <a:t>3.AWSアカウント設計</a:t>
            </a:r>
            <a:endParaRPr sz="3000">
              <a:highlight>
                <a:srgbClr val="FFFFFF"/>
              </a:highlight>
            </a:endParaRPr>
          </a:p>
        </p:txBody>
      </p:sp>
      <p:pic>
        <p:nvPicPr>
          <p:cNvPr id="110" name="Google Shape;110;p2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11" name="Google Shape;111;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3-1.AWSアカウント分割</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117" name="Google Shape;117;p2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18" name="Google Shape;118;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9</a:t>
            </a:fld>
            <a:endParaRPr/>
          </a:p>
        </p:txBody>
      </p:sp>
      <p:graphicFrame>
        <p:nvGraphicFramePr>
          <p:cNvPr id="119" name="Google Shape;119;p21"/>
          <p:cNvGraphicFramePr/>
          <p:nvPr/>
        </p:nvGraphicFramePr>
        <p:xfrm>
          <a:off x="680175" y="1279375"/>
          <a:ext cx="7783650" cy="1550850"/>
        </p:xfrm>
        <a:graphic>
          <a:graphicData uri="http://schemas.openxmlformats.org/drawingml/2006/table">
            <a:tbl>
              <a:tblPr>
                <a:noFill/>
                <a:tableStyleId>{87A281C8-0844-4F7E-8F5C-31C3930F0FE5}</a:tableStyleId>
              </a:tblPr>
              <a:tblGrid>
                <a:gridCol w="915550">
                  <a:extLst>
                    <a:ext uri="{9D8B030D-6E8A-4147-A177-3AD203B41FA5}">
                      <a16:colId xmlns:a16="http://schemas.microsoft.com/office/drawing/2014/main" val="20000"/>
                    </a:ext>
                  </a:extLst>
                </a:gridCol>
                <a:gridCol w="1760975">
                  <a:extLst>
                    <a:ext uri="{9D8B030D-6E8A-4147-A177-3AD203B41FA5}">
                      <a16:colId xmlns:a16="http://schemas.microsoft.com/office/drawing/2014/main" val="20001"/>
                    </a:ext>
                  </a:extLst>
                </a:gridCol>
                <a:gridCol w="5107125">
                  <a:extLst>
                    <a:ext uri="{9D8B030D-6E8A-4147-A177-3AD203B41FA5}">
                      <a16:colId xmlns:a16="http://schemas.microsoft.com/office/drawing/2014/main" val="20002"/>
                    </a:ext>
                  </a:extLst>
                </a:gridCol>
              </a:tblGrid>
              <a:tr h="516950">
                <a:tc>
                  <a:txBody>
                    <a:bodyPr/>
                    <a:lstStyle/>
                    <a:p>
                      <a:pPr marL="0" lvl="0" indent="0" algn="l" rtl="0">
                        <a:spcBef>
                          <a:spcPts val="0"/>
                        </a:spcBef>
                        <a:spcAft>
                          <a:spcPts val="0"/>
                        </a:spcAft>
                        <a:buNone/>
                      </a:pPr>
                      <a:r>
                        <a:rPr lang="ja" sz="1600" b="1">
                          <a:solidFill>
                            <a:schemeClr val="dk2"/>
                          </a:solidFill>
                        </a:rPr>
                        <a:t>NO</a:t>
                      </a:r>
                      <a:endParaRPr sz="1600" b="1">
                        <a:solidFill>
                          <a:schemeClr val="dk2"/>
                        </a:solidFill>
                      </a:endParaRPr>
                    </a:p>
                  </a:txBody>
                  <a:tcPr marL="91425" marR="91425" marT="91425" marB="91425">
                    <a:solidFill>
                      <a:schemeClr val="lt2"/>
                    </a:solidFill>
                  </a:tcPr>
                </a:tc>
                <a:tc gridSpan="2">
                  <a:txBody>
                    <a:bodyPr/>
                    <a:lstStyle/>
                    <a:p>
                      <a:pPr marL="0" lvl="0" indent="0" algn="l" rtl="0">
                        <a:spcBef>
                          <a:spcPts val="0"/>
                        </a:spcBef>
                        <a:spcAft>
                          <a:spcPts val="0"/>
                        </a:spcAft>
                        <a:buNone/>
                      </a:pPr>
                      <a:r>
                        <a:rPr lang="ja" sz="1600" b="1">
                          <a:solidFill>
                            <a:schemeClr val="dk2"/>
                          </a:solidFill>
                        </a:rPr>
                        <a:t>AWSアカウント</a:t>
                      </a:r>
                      <a:endParaRPr sz="1600" b="1">
                        <a:solidFill>
                          <a:schemeClr val="dk2"/>
                        </a:solidFill>
                      </a:endParaRPr>
                    </a:p>
                  </a:txBody>
                  <a:tcPr marL="91425" marR="91425" marT="91425" marB="91425">
                    <a:solidFill>
                      <a:schemeClr val="lt2"/>
                    </a:solidFill>
                  </a:tcPr>
                </a:tc>
                <a:tc hMerge="1">
                  <a:txBody>
                    <a:bodyPr/>
                    <a:lstStyle/>
                    <a:p>
                      <a:endParaRPr lang="en-US"/>
                    </a:p>
                  </a:txBody>
                  <a:tcPr/>
                </a:tc>
                <a:extLst>
                  <a:ext uri="{0D108BD9-81ED-4DB2-BD59-A6C34878D82A}">
                    <a16:rowId xmlns:a16="http://schemas.microsoft.com/office/drawing/2014/main" val="10000"/>
                  </a:ext>
                </a:extLst>
              </a:tr>
              <a:tr h="516950">
                <a:tc>
                  <a:txBody>
                    <a:bodyPr/>
                    <a:lstStyle/>
                    <a:p>
                      <a:pPr marL="0" lvl="0" indent="0" algn="l" rtl="0">
                        <a:spcBef>
                          <a:spcPts val="0"/>
                        </a:spcBef>
                        <a:spcAft>
                          <a:spcPts val="0"/>
                        </a:spcAft>
                        <a:buNone/>
                      </a:pPr>
                      <a:r>
                        <a:rPr lang="ja" sz="1600">
                          <a:solidFill>
                            <a:schemeClr val="dk2"/>
                          </a:solidFill>
                        </a:rPr>
                        <a:t>1</a:t>
                      </a:r>
                      <a:endParaRPr sz="1600">
                        <a:solidFill>
                          <a:schemeClr val="dk2"/>
                        </a:solidFill>
                      </a:endParaRPr>
                    </a:p>
                  </a:txBody>
                  <a:tcPr marL="91425" marR="91425" marT="91425" marB="91425"/>
                </a:tc>
                <a:tc rowSpan="2">
                  <a:txBody>
                    <a:bodyPr/>
                    <a:lstStyle/>
                    <a:p>
                      <a:pPr marL="0" lvl="0" indent="0" algn="l" rtl="0">
                        <a:spcBef>
                          <a:spcPts val="0"/>
                        </a:spcBef>
                        <a:spcAft>
                          <a:spcPts val="0"/>
                        </a:spcAft>
                        <a:buNone/>
                      </a:pPr>
                      <a:r>
                        <a:rPr lang="ja" sz="1600">
                          <a:solidFill>
                            <a:schemeClr val="dk2"/>
                          </a:solidFill>
                        </a:rPr>
                        <a:t>屋号共通</a:t>
                      </a:r>
                      <a:endParaRPr sz="1600">
                        <a:solidFill>
                          <a:schemeClr val="dk2"/>
                        </a:solidFill>
                      </a:endParaRPr>
                    </a:p>
                    <a:p>
                      <a:pPr marL="0" lvl="0" indent="0" algn="l" rtl="0">
                        <a:spcBef>
                          <a:spcPts val="0"/>
                        </a:spcBef>
                        <a:spcAft>
                          <a:spcPts val="0"/>
                        </a:spcAft>
                        <a:buNone/>
                      </a:pPr>
                      <a:endParaRPr sz="16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1600">
                          <a:solidFill>
                            <a:schemeClr val="dk2"/>
                          </a:solidFill>
                        </a:rPr>
                        <a:t>本番環境</a:t>
                      </a:r>
                      <a:endParaRPr sz="1600">
                        <a:solidFill>
                          <a:schemeClr val="dk2"/>
                        </a:solidFill>
                      </a:endParaRPr>
                    </a:p>
                  </a:txBody>
                  <a:tcPr marL="91425" marR="91425" marT="91425" marB="91425"/>
                </a:tc>
                <a:extLst>
                  <a:ext uri="{0D108BD9-81ED-4DB2-BD59-A6C34878D82A}">
                    <a16:rowId xmlns:a16="http://schemas.microsoft.com/office/drawing/2014/main" val="10001"/>
                  </a:ext>
                </a:extLst>
              </a:tr>
              <a:tr h="516950">
                <a:tc>
                  <a:txBody>
                    <a:bodyPr/>
                    <a:lstStyle/>
                    <a:p>
                      <a:pPr marL="0" lvl="0" indent="0" algn="l" rtl="0">
                        <a:spcBef>
                          <a:spcPts val="0"/>
                        </a:spcBef>
                        <a:spcAft>
                          <a:spcPts val="0"/>
                        </a:spcAft>
                        <a:buNone/>
                      </a:pPr>
                      <a:r>
                        <a:rPr lang="ja" sz="1600">
                          <a:solidFill>
                            <a:schemeClr val="dk2"/>
                          </a:solidFill>
                        </a:rPr>
                        <a:t>2</a:t>
                      </a:r>
                      <a:endParaRPr sz="1600">
                        <a:solidFill>
                          <a:schemeClr val="dk2"/>
                        </a:solidFill>
                      </a:endParaRPr>
                    </a:p>
                  </a:txBody>
                  <a:tcPr marL="91425" marR="91425" marT="91425" marB="91425"/>
                </a:tc>
                <a:tc vMerge="1">
                  <a:txBody>
                    <a:bodyPr/>
                    <a:lstStyle/>
                    <a:p>
                      <a:endParaRPr lang="en-US"/>
                    </a:p>
                  </a:txBody>
                  <a:tcPr/>
                </a:tc>
                <a:tc>
                  <a:txBody>
                    <a:bodyPr/>
                    <a:lstStyle/>
                    <a:p>
                      <a:pPr marL="0" lvl="0" indent="0" algn="l" rtl="0">
                        <a:spcBef>
                          <a:spcPts val="0"/>
                        </a:spcBef>
                        <a:spcAft>
                          <a:spcPts val="0"/>
                        </a:spcAft>
                        <a:buClr>
                          <a:schemeClr val="dk1"/>
                        </a:buClr>
                        <a:buSzPts val="1100"/>
                        <a:buFont typeface="Arial"/>
                        <a:buNone/>
                      </a:pPr>
                      <a:r>
                        <a:rPr lang="ja" sz="1600">
                          <a:solidFill>
                            <a:schemeClr val="dk2"/>
                          </a:solidFill>
                        </a:rPr>
                        <a:t>ステージング環境</a:t>
                      </a:r>
                      <a:endParaRPr sz="1600">
                        <a:solidFill>
                          <a:schemeClr val="dk2"/>
                        </a:solidFill>
                      </a:endParaRPr>
                    </a:p>
                  </a:txBody>
                  <a:tcPr marL="91425" marR="91425" marT="91425" marB="91425"/>
                </a:tc>
                <a:extLst>
                  <a:ext uri="{0D108BD9-81ED-4DB2-BD59-A6C34878D82A}">
                    <a16:rowId xmlns:a16="http://schemas.microsoft.com/office/drawing/2014/main" val="10002"/>
                  </a:ext>
                </a:extLst>
              </a:tr>
            </a:tbl>
          </a:graphicData>
        </a:graphic>
      </p:graphicFrame>
      <p:sp>
        <p:nvSpPr>
          <p:cNvPr id="120" name="Google Shape;120;p21"/>
          <p:cNvSpPr/>
          <p:nvPr/>
        </p:nvSpPr>
        <p:spPr>
          <a:xfrm>
            <a:off x="746150" y="3273125"/>
            <a:ext cx="7742700" cy="1074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sz="1800">
                <a:solidFill>
                  <a:schemeClr val="dk2"/>
                </a:solidFill>
              </a:rPr>
              <a:t>接続先であるUSMH側のDirect Connect Gatewayの制約により、</a:t>
            </a:r>
            <a:endParaRPr sz="1800">
              <a:solidFill>
                <a:schemeClr val="dk2"/>
              </a:solidFill>
            </a:endParaRPr>
          </a:p>
          <a:p>
            <a:pPr marL="0" lvl="0" indent="0" algn="l" rtl="0">
              <a:spcBef>
                <a:spcPts val="0"/>
              </a:spcBef>
              <a:spcAft>
                <a:spcPts val="0"/>
              </a:spcAft>
              <a:buNone/>
            </a:pPr>
            <a:r>
              <a:rPr lang="ja" sz="1800">
                <a:solidFill>
                  <a:schemeClr val="dk2"/>
                </a:solidFill>
              </a:rPr>
              <a:t>屋号別にAWSアカウントを作成しない</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3-2.AWSアカウントを分割する理由</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126" name="Google Shape;126;p2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27" name="Google Shape;127;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10</a:t>
            </a:fld>
            <a:endParaRPr/>
          </a:p>
        </p:txBody>
      </p:sp>
      <p:sp>
        <p:nvSpPr>
          <p:cNvPr id="128" name="Google Shape;128;p22"/>
          <p:cNvSpPr txBox="1">
            <a:spLocks noGrp="1"/>
          </p:cNvSpPr>
          <p:nvPr>
            <p:ph type="body" idx="1"/>
          </p:nvPr>
        </p:nvSpPr>
        <p:spPr>
          <a:xfrm>
            <a:off x="311700" y="1152475"/>
            <a:ext cx="8263800" cy="34137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ja" sz="1900"/>
              <a:t>アカウントごとのリソース数制限による事故を防止する</a:t>
            </a:r>
            <a:endParaRPr sz="1900"/>
          </a:p>
          <a:p>
            <a:pPr marL="457200" lvl="0" indent="-349250" algn="l" rtl="0">
              <a:spcBef>
                <a:spcPts val="0"/>
              </a:spcBef>
              <a:spcAft>
                <a:spcPts val="0"/>
              </a:spcAft>
              <a:buSzPts val="1900"/>
              <a:buChar char="●"/>
            </a:pPr>
            <a:r>
              <a:rPr lang="ja" sz="1900"/>
              <a:t>オペレーションミスによる事故を防止する</a:t>
            </a:r>
            <a:endParaRPr sz="1900"/>
          </a:p>
          <a:p>
            <a:pPr marL="457200" lvl="0" indent="-349250" algn="l" rtl="0">
              <a:spcBef>
                <a:spcPts val="0"/>
              </a:spcBef>
              <a:spcAft>
                <a:spcPts val="0"/>
              </a:spcAft>
              <a:buSzPts val="1900"/>
              <a:buChar char="●"/>
            </a:pPr>
            <a:r>
              <a:rPr lang="ja" sz="1900"/>
              <a:t>適切な権限付与を行うことにセキュリティが強化される</a:t>
            </a:r>
            <a:endParaRPr sz="1900"/>
          </a:p>
          <a:p>
            <a:pPr marL="457200" lvl="0" indent="-349250" algn="l" rtl="0">
              <a:spcBef>
                <a:spcPts val="0"/>
              </a:spcBef>
              <a:spcAft>
                <a:spcPts val="0"/>
              </a:spcAft>
              <a:buSzPts val="1900"/>
              <a:buChar char="●"/>
            </a:pPr>
            <a:r>
              <a:rPr lang="ja" sz="1900"/>
              <a:t>環境ごとのコストが容易に把握できる</a:t>
            </a:r>
            <a:endParaRPr sz="1167"/>
          </a:p>
          <a:p>
            <a:pPr marL="0" lvl="0" indent="0" algn="l" rtl="0">
              <a:lnSpc>
                <a:spcPct val="160000"/>
              </a:lnSpc>
              <a:spcBef>
                <a:spcPts val="3000"/>
              </a:spcBef>
              <a:spcAft>
                <a:spcPts val="0"/>
              </a:spcAft>
              <a:buClr>
                <a:schemeClr val="dk1"/>
              </a:buClr>
              <a:buSzPts val="1100"/>
              <a:buFont typeface="Arial"/>
              <a:buNone/>
            </a:pPr>
            <a:endParaRPr sz="1700" b="1">
              <a:solidFill>
                <a:schemeClr val="dk1"/>
              </a:solidFill>
              <a:highlight>
                <a:srgbClr val="FFFFFF"/>
              </a:highlight>
              <a:latin typeface="Meiryo"/>
              <a:ea typeface="Meiryo"/>
              <a:cs typeface="Meiryo"/>
              <a:sym typeface="Meiryo"/>
            </a:endParaRPr>
          </a:p>
          <a:p>
            <a:pPr marL="0" lvl="0" indent="0" algn="l" rtl="0">
              <a:spcBef>
                <a:spcPts val="1200"/>
              </a:spcBef>
              <a:spcAft>
                <a:spcPts val="1200"/>
              </a:spcAft>
              <a:buNone/>
            </a:pP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ja" sz="3000">
                <a:highlight>
                  <a:srgbClr val="FFFFFF"/>
                </a:highlight>
              </a:rPr>
              <a:t>4.ネットワーク構成</a:t>
            </a:r>
            <a:endParaRPr sz="3000">
              <a:highlight>
                <a:srgbClr val="FFFFFF"/>
              </a:highlight>
            </a:endParaRPr>
          </a:p>
          <a:p>
            <a:pPr marL="0" lvl="0" indent="0" algn="ctr" rtl="0">
              <a:spcBef>
                <a:spcPts val="0"/>
              </a:spcBef>
              <a:spcAft>
                <a:spcPts val="0"/>
              </a:spcAft>
              <a:buNone/>
            </a:pPr>
            <a:r>
              <a:rPr lang="ja" sz="3000">
                <a:highlight>
                  <a:srgbClr val="FFFFFF"/>
                </a:highlight>
              </a:rPr>
              <a:t>（既存のオンライン版POSサーバ）</a:t>
            </a:r>
            <a:endParaRPr sz="3000">
              <a:highlight>
                <a:srgbClr val="FFFFFF"/>
              </a:highlight>
            </a:endParaRPr>
          </a:p>
        </p:txBody>
      </p:sp>
      <p:pic>
        <p:nvPicPr>
          <p:cNvPr id="134" name="Google Shape;134;p2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35" name="Google Shape;135;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4-1.オンライン版POSサーバ</a:t>
            </a:r>
            <a:endParaRPr>
              <a:highlight>
                <a:srgbClr val="D9D9D9"/>
              </a:highlight>
            </a:endParaRPr>
          </a:p>
        </p:txBody>
      </p:sp>
      <p:pic>
        <p:nvPicPr>
          <p:cNvPr id="141" name="Google Shape;141;p2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42" name="Google Shape;142;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12</a:t>
            </a:fld>
            <a:endParaRPr/>
          </a:p>
        </p:txBody>
      </p:sp>
      <p:sp>
        <p:nvSpPr>
          <p:cNvPr id="143" name="Google Shape;143;p24"/>
          <p:cNvSpPr txBox="1">
            <a:spLocks noGrp="1"/>
          </p:cNvSpPr>
          <p:nvPr>
            <p:ph type="body" idx="1"/>
          </p:nvPr>
        </p:nvSpPr>
        <p:spPr>
          <a:xfrm>
            <a:off x="452550" y="1017725"/>
            <a:ext cx="3689100" cy="3629100"/>
          </a:xfrm>
          <a:prstGeom prst="rect">
            <a:avLst/>
          </a:prstGeom>
        </p:spPr>
        <p:txBody>
          <a:bodyPr spcFirstLastPara="1" wrap="square" lIns="91425" tIns="91425" rIns="91425" bIns="91425" anchor="t" anchorCtr="0">
            <a:noAutofit/>
          </a:bodyPr>
          <a:lstStyle/>
          <a:p>
            <a:pPr marL="457200" lvl="0" indent="-323850" algn="l" rtl="0">
              <a:lnSpc>
                <a:spcPct val="105000"/>
              </a:lnSpc>
              <a:spcBef>
                <a:spcPts val="0"/>
              </a:spcBef>
              <a:spcAft>
                <a:spcPts val="0"/>
              </a:spcAft>
              <a:buSzPts val="1500"/>
              <a:buChar char="●"/>
            </a:pPr>
            <a:r>
              <a:rPr lang="ja" sz="1500"/>
              <a:t>マルエツ、カスミ、MV関東がデジタル決済のチャージ機として利用</a:t>
            </a:r>
            <a:endParaRPr sz="1500"/>
          </a:p>
          <a:p>
            <a:pPr marL="457200" lvl="0" indent="-323850" algn="l" rtl="0">
              <a:lnSpc>
                <a:spcPct val="105000"/>
              </a:lnSpc>
              <a:spcBef>
                <a:spcPts val="0"/>
              </a:spcBef>
              <a:spcAft>
                <a:spcPts val="0"/>
              </a:spcAft>
              <a:buSzPts val="1500"/>
              <a:buChar char="●"/>
            </a:pPr>
            <a:r>
              <a:rPr lang="ja" sz="1500"/>
              <a:t>1日数回程度のアクセス</a:t>
            </a:r>
            <a:endParaRPr sz="1500"/>
          </a:p>
          <a:p>
            <a:pPr marL="457200" lvl="0" indent="-323850" algn="l" rtl="0">
              <a:lnSpc>
                <a:spcPct val="105000"/>
              </a:lnSpc>
              <a:spcBef>
                <a:spcPts val="0"/>
              </a:spcBef>
              <a:spcAft>
                <a:spcPts val="0"/>
              </a:spcAft>
              <a:buSzPts val="1500"/>
              <a:buChar char="●"/>
            </a:pPr>
            <a:r>
              <a:rPr lang="ja" sz="1500"/>
              <a:t>APIとDBは屋号共通</a:t>
            </a:r>
            <a:endParaRPr sz="1500"/>
          </a:p>
          <a:p>
            <a:pPr marL="457200" lvl="0" indent="-323850" algn="l" rtl="0">
              <a:lnSpc>
                <a:spcPct val="105000"/>
              </a:lnSpc>
              <a:spcBef>
                <a:spcPts val="0"/>
              </a:spcBef>
              <a:spcAft>
                <a:spcPts val="0"/>
              </a:spcAft>
              <a:buSzPts val="1500"/>
              <a:buChar char="●"/>
            </a:pPr>
            <a:r>
              <a:rPr lang="ja" sz="1500"/>
              <a:t>AWSとデータセンターで運用</a:t>
            </a:r>
            <a:endParaRPr sz="1500"/>
          </a:p>
          <a:p>
            <a:pPr marL="457200" lvl="0" indent="-323850" algn="l" rtl="0">
              <a:lnSpc>
                <a:spcPct val="105000"/>
              </a:lnSpc>
              <a:spcBef>
                <a:spcPts val="0"/>
              </a:spcBef>
              <a:spcAft>
                <a:spcPts val="0"/>
              </a:spcAft>
              <a:buSzPts val="1500"/>
              <a:buChar char="●"/>
            </a:pPr>
            <a:r>
              <a:rPr lang="ja" sz="1500"/>
              <a:t>オフライン版POSサーバ2.0との依存関係はない</a:t>
            </a:r>
            <a:endParaRPr sz="1500"/>
          </a:p>
          <a:p>
            <a:pPr marL="457200" lvl="0" indent="-323850" algn="l" rtl="0">
              <a:lnSpc>
                <a:spcPct val="105000"/>
              </a:lnSpc>
              <a:spcBef>
                <a:spcPts val="0"/>
              </a:spcBef>
              <a:spcAft>
                <a:spcPts val="0"/>
              </a:spcAft>
              <a:buSzPts val="1500"/>
              <a:buChar char="●"/>
            </a:pPr>
            <a:r>
              <a:rPr lang="ja" sz="1500"/>
              <a:t>AWS</a:t>
            </a:r>
            <a:endParaRPr sz="1500"/>
          </a:p>
          <a:p>
            <a:pPr marL="914400" lvl="1" indent="-323850" algn="l" rtl="0">
              <a:lnSpc>
                <a:spcPct val="105000"/>
              </a:lnSpc>
              <a:spcBef>
                <a:spcPts val="0"/>
              </a:spcBef>
              <a:spcAft>
                <a:spcPts val="0"/>
              </a:spcAft>
              <a:buSzPts val="1500"/>
              <a:buChar char="○"/>
            </a:pPr>
            <a:r>
              <a:rPr lang="ja" sz="1500"/>
              <a:t>ルビナがAWSアカウントのオーナー</a:t>
            </a:r>
            <a:endParaRPr sz="1500"/>
          </a:p>
          <a:p>
            <a:pPr marL="914400" lvl="1" indent="-323850" algn="l" rtl="0">
              <a:lnSpc>
                <a:spcPct val="105000"/>
              </a:lnSpc>
              <a:spcBef>
                <a:spcPts val="0"/>
              </a:spcBef>
              <a:spcAft>
                <a:spcPts val="0"/>
              </a:spcAft>
              <a:buSzPts val="1500"/>
              <a:buChar char="○"/>
            </a:pPr>
            <a:r>
              <a:rPr lang="ja" sz="1500"/>
              <a:t>VPC名として、AndroidPOSと呼ぶ</a:t>
            </a:r>
            <a:endParaRPr sz="1500"/>
          </a:p>
          <a:p>
            <a:pPr marL="457200" lvl="0" indent="-323850" algn="l" rtl="0">
              <a:lnSpc>
                <a:spcPct val="105000"/>
              </a:lnSpc>
              <a:spcBef>
                <a:spcPts val="0"/>
              </a:spcBef>
              <a:spcAft>
                <a:spcPts val="0"/>
              </a:spcAft>
              <a:buSzPts val="1500"/>
              <a:buChar char="●"/>
            </a:pPr>
            <a:r>
              <a:rPr lang="ja" sz="1500"/>
              <a:t>データセンター</a:t>
            </a:r>
            <a:endParaRPr sz="1500"/>
          </a:p>
          <a:p>
            <a:pPr marL="914400" lvl="1" indent="-323850" algn="l" rtl="0">
              <a:lnSpc>
                <a:spcPct val="105000"/>
              </a:lnSpc>
              <a:spcBef>
                <a:spcPts val="0"/>
              </a:spcBef>
              <a:spcAft>
                <a:spcPts val="0"/>
              </a:spcAft>
              <a:buSzPts val="1500"/>
              <a:buChar char="○"/>
            </a:pPr>
            <a:r>
              <a:rPr lang="ja" sz="1500"/>
              <a:t>将来、AWS（AndroidPOS）に移行する計画あり</a:t>
            </a:r>
            <a:endParaRPr sz="1500"/>
          </a:p>
          <a:p>
            <a:pPr marL="0" lvl="0" indent="0" algn="l" rtl="0">
              <a:lnSpc>
                <a:spcPct val="105000"/>
              </a:lnSpc>
              <a:spcBef>
                <a:spcPts val="1200"/>
              </a:spcBef>
              <a:spcAft>
                <a:spcPts val="0"/>
              </a:spcAft>
              <a:buNone/>
            </a:pPr>
            <a:endParaRPr sz="1500"/>
          </a:p>
          <a:p>
            <a:pPr marL="0" lvl="0" indent="0" algn="l" rtl="0">
              <a:lnSpc>
                <a:spcPct val="105000"/>
              </a:lnSpc>
              <a:spcBef>
                <a:spcPts val="1200"/>
              </a:spcBef>
              <a:spcAft>
                <a:spcPts val="1200"/>
              </a:spcAft>
              <a:buNone/>
            </a:pPr>
            <a:endParaRPr sz="1500"/>
          </a:p>
        </p:txBody>
      </p:sp>
      <p:pic>
        <p:nvPicPr>
          <p:cNvPr id="144" name="Google Shape;144;p24" title="【POS】infra_ishida-4-1.drawio.png"/>
          <p:cNvPicPr preferRelativeResize="0"/>
          <p:nvPr/>
        </p:nvPicPr>
        <p:blipFill>
          <a:blip r:embed="rId4">
            <a:alphaModFix/>
          </a:blip>
          <a:stretch>
            <a:fillRect/>
          </a:stretch>
        </p:blipFill>
        <p:spPr>
          <a:xfrm>
            <a:off x="4294050" y="1170125"/>
            <a:ext cx="4650140" cy="334069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ja" sz="3000">
                <a:highlight>
                  <a:srgbClr val="FFFFFF"/>
                </a:highlight>
              </a:rPr>
              <a:t>5.ネットワーク構成</a:t>
            </a:r>
            <a:endParaRPr sz="3000">
              <a:highlight>
                <a:srgbClr val="FFFFFF"/>
              </a:highlight>
            </a:endParaRPr>
          </a:p>
          <a:p>
            <a:pPr marL="0" lvl="0" indent="0" algn="ctr" rtl="0">
              <a:spcBef>
                <a:spcPts val="0"/>
              </a:spcBef>
              <a:spcAft>
                <a:spcPts val="0"/>
              </a:spcAft>
              <a:buNone/>
            </a:pPr>
            <a:r>
              <a:rPr lang="ja" sz="3000">
                <a:highlight>
                  <a:srgbClr val="FFFFFF"/>
                </a:highlight>
              </a:rPr>
              <a:t>（オフライン版POSサーバとUSHM閉域網）</a:t>
            </a:r>
            <a:endParaRPr sz="3000">
              <a:highlight>
                <a:srgbClr val="FFFFFF"/>
              </a:highlight>
            </a:endParaRPr>
          </a:p>
        </p:txBody>
      </p:sp>
      <p:pic>
        <p:nvPicPr>
          <p:cNvPr id="150" name="Google Shape;150;p2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51" name="Google Shape;151;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5-1.スパイク環境</a:t>
            </a:r>
            <a:endParaRPr>
              <a:highlight>
                <a:srgbClr val="D9D9D9"/>
              </a:highlight>
            </a:endParaRPr>
          </a:p>
        </p:txBody>
      </p:sp>
      <p:sp>
        <p:nvSpPr>
          <p:cNvPr id="157" name="Google Shape;157;p26"/>
          <p:cNvSpPr txBox="1">
            <a:spLocks noGrp="1"/>
          </p:cNvSpPr>
          <p:nvPr>
            <p:ph type="body" idx="1"/>
          </p:nvPr>
        </p:nvSpPr>
        <p:spPr>
          <a:xfrm>
            <a:off x="341400" y="1051500"/>
            <a:ext cx="4298700" cy="3388200"/>
          </a:xfrm>
          <a:prstGeom prst="rect">
            <a:avLst/>
          </a:prstGeom>
        </p:spPr>
        <p:txBody>
          <a:bodyPr spcFirstLastPara="1" wrap="square" lIns="91425" tIns="91425" rIns="91425" bIns="91425" anchor="t" anchorCtr="0">
            <a:noAutofit/>
          </a:bodyPr>
          <a:lstStyle/>
          <a:p>
            <a:pPr marL="457200" lvl="0" indent="-324961" algn="l" rtl="0">
              <a:spcBef>
                <a:spcPts val="0"/>
              </a:spcBef>
              <a:spcAft>
                <a:spcPts val="0"/>
              </a:spcAft>
              <a:buClr>
                <a:srgbClr val="333333"/>
              </a:buClr>
              <a:buSzPts val="1518"/>
              <a:buChar char="●"/>
            </a:pPr>
            <a:r>
              <a:rPr lang="ja" sz="1517">
                <a:solidFill>
                  <a:srgbClr val="333333"/>
                </a:solidFill>
              </a:rPr>
              <a:t>オンライン版POSサーバのAWSアカウントを使って、オフライン版POSサーバ2.0向けにスパイク環境を構築する</a:t>
            </a:r>
            <a:endParaRPr sz="1517">
              <a:solidFill>
                <a:srgbClr val="333333"/>
              </a:solidFill>
            </a:endParaRPr>
          </a:p>
          <a:p>
            <a:pPr marL="457200" lvl="0" indent="-324961" algn="l" rtl="0">
              <a:spcBef>
                <a:spcPts val="0"/>
              </a:spcBef>
              <a:spcAft>
                <a:spcPts val="0"/>
              </a:spcAft>
              <a:buClr>
                <a:srgbClr val="333333"/>
              </a:buClr>
              <a:buSzPts val="1518"/>
              <a:buChar char="●"/>
            </a:pPr>
            <a:r>
              <a:rPr lang="ja" sz="1517">
                <a:solidFill>
                  <a:srgbClr val="333333"/>
                </a:solidFill>
              </a:rPr>
              <a:t>開発とインフラチームが速やかに検証できるように</a:t>
            </a:r>
            <a:endParaRPr sz="1517">
              <a:solidFill>
                <a:srgbClr val="333333"/>
              </a:solidFill>
            </a:endParaRPr>
          </a:p>
          <a:p>
            <a:pPr marL="457200" lvl="0" indent="-324961" algn="l" rtl="0">
              <a:spcBef>
                <a:spcPts val="0"/>
              </a:spcBef>
              <a:spcAft>
                <a:spcPts val="0"/>
              </a:spcAft>
              <a:buClr>
                <a:srgbClr val="333333"/>
              </a:buClr>
              <a:buSzPts val="1518"/>
              <a:buChar char="●"/>
            </a:pPr>
            <a:r>
              <a:rPr lang="ja" sz="1517">
                <a:solidFill>
                  <a:srgbClr val="333333"/>
                </a:solidFill>
              </a:rPr>
              <a:t>AndroidPOSと、干渉しないようにネットワークレベルで分離する</a:t>
            </a:r>
            <a:endParaRPr sz="1517">
              <a:solidFill>
                <a:srgbClr val="333333"/>
              </a:solidFill>
            </a:endParaRPr>
          </a:p>
          <a:p>
            <a:pPr marL="457200" lvl="0" indent="-324961" algn="l" rtl="0">
              <a:spcBef>
                <a:spcPts val="0"/>
              </a:spcBef>
              <a:spcAft>
                <a:spcPts val="0"/>
              </a:spcAft>
              <a:buClr>
                <a:srgbClr val="333333"/>
              </a:buClr>
              <a:buSzPts val="1518"/>
              <a:buChar char="●"/>
            </a:pPr>
            <a:r>
              <a:rPr lang="ja" sz="1517">
                <a:solidFill>
                  <a:srgbClr val="333333"/>
                </a:solidFill>
              </a:rPr>
              <a:t>スパイク環境は将来も、ルビナの検証環境用として残す</a:t>
            </a:r>
            <a:endParaRPr sz="1517">
              <a:solidFill>
                <a:srgbClr val="333333"/>
              </a:solidFill>
            </a:endParaRPr>
          </a:p>
          <a:p>
            <a:pPr marL="457200" lvl="0" indent="-324961" algn="l" rtl="0">
              <a:spcBef>
                <a:spcPts val="0"/>
              </a:spcBef>
              <a:spcAft>
                <a:spcPts val="0"/>
              </a:spcAft>
              <a:buClr>
                <a:srgbClr val="333333"/>
              </a:buClr>
              <a:buSzPts val="1518"/>
              <a:buChar char="●"/>
            </a:pPr>
            <a:r>
              <a:rPr lang="ja" sz="1517">
                <a:solidFill>
                  <a:srgbClr val="333333"/>
                </a:solidFill>
              </a:rPr>
              <a:t>現時点では、OCや中継サーバからのマスタ受信やISHIDA電子棚札サーバへのマスタ送信は実施しない方針になった</a:t>
            </a:r>
            <a:endParaRPr sz="1517">
              <a:solidFill>
                <a:srgbClr val="333333"/>
              </a:solidFill>
            </a:endParaRPr>
          </a:p>
        </p:txBody>
      </p:sp>
      <p:pic>
        <p:nvPicPr>
          <p:cNvPr id="158" name="Google Shape;158;p2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59" name="Google Shape;15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14</a:t>
            </a:fld>
            <a:endParaRPr/>
          </a:p>
        </p:txBody>
      </p:sp>
      <p:pic>
        <p:nvPicPr>
          <p:cNvPr id="160" name="Google Shape;160;p26" title="【POS】Infra-5-3.drawio.png"/>
          <p:cNvPicPr preferRelativeResize="0"/>
          <p:nvPr/>
        </p:nvPicPr>
        <p:blipFill>
          <a:blip r:embed="rId4">
            <a:alphaModFix/>
          </a:blip>
          <a:stretch>
            <a:fillRect/>
          </a:stretch>
        </p:blipFill>
        <p:spPr>
          <a:xfrm>
            <a:off x="4895375" y="1098900"/>
            <a:ext cx="3730301" cy="334069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5-2.オフライン版POSサーバ2.0とUSMH閉域網</a:t>
            </a:r>
            <a:endParaRPr>
              <a:highlight>
                <a:srgbClr val="D9D9D9"/>
              </a:highlight>
            </a:endParaRPr>
          </a:p>
        </p:txBody>
      </p:sp>
      <p:pic>
        <p:nvPicPr>
          <p:cNvPr id="166" name="Google Shape;166;p2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67" name="Google Shape;167;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15</a:t>
            </a:fld>
            <a:endParaRPr/>
          </a:p>
        </p:txBody>
      </p:sp>
      <p:pic>
        <p:nvPicPr>
          <p:cNvPr id="168" name="Google Shape;168;p27" title="【POS】infra_ishida-5-2帯域.drawio.png"/>
          <p:cNvPicPr preferRelativeResize="0"/>
          <p:nvPr/>
        </p:nvPicPr>
        <p:blipFill>
          <a:blip r:embed="rId4">
            <a:alphaModFix/>
          </a:blip>
          <a:stretch>
            <a:fillRect/>
          </a:stretch>
        </p:blipFill>
        <p:spPr>
          <a:xfrm>
            <a:off x="1188700" y="1017725"/>
            <a:ext cx="6527224" cy="3876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5-3.Direct Connectのトラフィック状況（2025/5/30）</a:t>
            </a:r>
            <a:endParaRPr>
              <a:highlight>
                <a:srgbClr val="D9D9D9"/>
              </a:highlight>
            </a:endParaRPr>
          </a:p>
        </p:txBody>
      </p:sp>
      <p:pic>
        <p:nvPicPr>
          <p:cNvPr id="174" name="Google Shape;174;p2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75" name="Google Shape;175;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16</a:t>
            </a:fld>
            <a:endParaRPr/>
          </a:p>
        </p:txBody>
      </p:sp>
      <p:sp>
        <p:nvSpPr>
          <p:cNvPr id="176" name="Google Shape;176;p28"/>
          <p:cNvSpPr txBox="1">
            <a:spLocks noGrp="1"/>
          </p:cNvSpPr>
          <p:nvPr>
            <p:ph type="body" idx="1"/>
          </p:nvPr>
        </p:nvSpPr>
        <p:spPr>
          <a:xfrm>
            <a:off x="311700" y="1091075"/>
            <a:ext cx="8224800" cy="3619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ja" sz="1217">
                <a:solidFill>
                  <a:srgbClr val="333333"/>
                </a:solidFill>
              </a:rPr>
              <a:t>USMH新川さんからの状況提供</a:t>
            </a:r>
            <a:endParaRPr sz="1217">
              <a:solidFill>
                <a:srgbClr val="333333"/>
              </a:solidFill>
            </a:endParaRPr>
          </a:p>
          <a:p>
            <a:pPr marL="457200" lvl="0" indent="-323850" algn="l" rtl="0">
              <a:spcBef>
                <a:spcPts val="1200"/>
              </a:spcBef>
              <a:spcAft>
                <a:spcPts val="0"/>
              </a:spcAft>
              <a:buClr>
                <a:srgbClr val="434343"/>
              </a:buClr>
              <a:buSzPts val="1500"/>
              <a:buChar char="●"/>
            </a:pPr>
            <a:r>
              <a:rPr lang="ja" sz="1500">
                <a:solidFill>
                  <a:srgbClr val="434343"/>
                </a:solidFill>
              </a:rPr>
              <a:t>USMH網ーAWS（100Mbps）</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網全体で見ると特定の顕著なスパイクはない</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MAX値（瞬間最大風速）で</a:t>
            </a:r>
            <a:r>
              <a:rPr lang="ja" sz="1500">
                <a:solidFill>
                  <a:srgbClr val="FF0000"/>
                </a:solidFill>
              </a:rPr>
              <a:t>22</a:t>
            </a:r>
            <a:r>
              <a:rPr lang="ja" sz="1500">
                <a:solidFill>
                  <a:srgbClr val="434343"/>
                </a:solidFill>
              </a:rPr>
              <a:t>%</a:t>
            </a:r>
            <a:endParaRPr sz="1500">
              <a:solidFill>
                <a:srgbClr val="434343"/>
              </a:solidFill>
            </a:endParaRPr>
          </a:p>
          <a:p>
            <a:pPr marL="457200" lvl="0" indent="-323850" algn="l" rtl="0">
              <a:spcBef>
                <a:spcPts val="0"/>
              </a:spcBef>
              <a:spcAft>
                <a:spcPts val="0"/>
              </a:spcAft>
              <a:buClr>
                <a:srgbClr val="434343"/>
              </a:buClr>
              <a:buSzPts val="1500"/>
              <a:buChar char="●"/>
            </a:pPr>
            <a:r>
              <a:rPr lang="ja" sz="1500">
                <a:solidFill>
                  <a:srgbClr val="434343"/>
                </a:solidFill>
              </a:rPr>
              <a:t>いなげやーUSMH網（50Mbps）</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網全体で見ると特定の顕著なスパイクはない</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MAX値（瞬間最大風速）で</a:t>
            </a:r>
            <a:r>
              <a:rPr lang="ja" sz="1500">
                <a:solidFill>
                  <a:srgbClr val="FF0000"/>
                </a:solidFill>
              </a:rPr>
              <a:t>2.4</a:t>
            </a:r>
            <a:r>
              <a:rPr lang="ja" sz="1500">
                <a:solidFill>
                  <a:srgbClr val="434343"/>
                </a:solidFill>
              </a:rPr>
              <a:t>%</a:t>
            </a:r>
            <a:endParaRPr sz="1500">
              <a:solidFill>
                <a:srgbClr val="434343"/>
              </a:solidFill>
            </a:endParaRPr>
          </a:p>
          <a:p>
            <a:pPr marL="457200" lvl="0" indent="-323850" algn="l" rtl="0">
              <a:spcBef>
                <a:spcPts val="0"/>
              </a:spcBef>
              <a:spcAft>
                <a:spcPts val="0"/>
              </a:spcAft>
              <a:buClr>
                <a:srgbClr val="434343"/>
              </a:buClr>
              <a:buSzPts val="1500"/>
              <a:buChar char="●"/>
            </a:pPr>
            <a:r>
              <a:rPr lang="ja" sz="1500">
                <a:solidFill>
                  <a:srgbClr val="FF0000"/>
                </a:solidFill>
              </a:rPr>
              <a:t>毎日AM5時前</a:t>
            </a:r>
            <a:r>
              <a:rPr lang="ja" sz="1500">
                <a:solidFill>
                  <a:srgbClr val="434343"/>
                </a:solidFill>
              </a:rPr>
              <a:t>後に波形が上がる</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いなげや様のPOSServerから、Scan＆Goへ、商品Master等のデータを16店舗分を送信している時間帯</a:t>
            </a:r>
            <a:endParaRPr sz="1500">
              <a:solidFill>
                <a:srgbClr val="434343"/>
              </a:solidFill>
            </a:endParaRPr>
          </a:p>
          <a:p>
            <a:pPr marL="457200" lvl="0" indent="0" algn="l" rtl="0">
              <a:spcBef>
                <a:spcPts val="1200"/>
              </a:spcBef>
              <a:spcAft>
                <a:spcPts val="1200"/>
              </a:spcAft>
              <a:buNone/>
            </a:pPr>
            <a:endParaRPr sz="1817">
              <a:solidFill>
                <a:srgbClr val="333333"/>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9"/>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5-4.帯域検証</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182" name="Google Shape;182;p2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83" name="Google Shape;183;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17</a:t>
            </a:fld>
            <a:endParaRPr/>
          </a:p>
        </p:txBody>
      </p:sp>
      <p:sp>
        <p:nvSpPr>
          <p:cNvPr id="184" name="Google Shape;184;p29"/>
          <p:cNvSpPr txBox="1">
            <a:spLocks noGrp="1"/>
          </p:cNvSpPr>
          <p:nvPr>
            <p:ph type="body" idx="1"/>
          </p:nvPr>
        </p:nvSpPr>
        <p:spPr>
          <a:xfrm>
            <a:off x="311700" y="1092450"/>
            <a:ext cx="81609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ja"/>
              <a:t>帯域拡張のリードタイムは最大1ヶ月を見込んでおく</a:t>
            </a:r>
            <a:endParaRPr/>
          </a:p>
          <a:p>
            <a:pPr marL="457200" lvl="0" indent="-342900" algn="l" rtl="0">
              <a:spcBef>
                <a:spcPts val="0"/>
              </a:spcBef>
              <a:spcAft>
                <a:spcPts val="0"/>
              </a:spcAft>
              <a:buSzPts val="1800"/>
              <a:buChar char="●"/>
            </a:pPr>
            <a:r>
              <a:rPr lang="ja">
                <a:solidFill>
                  <a:srgbClr val="FF0000"/>
                </a:solidFill>
              </a:rPr>
              <a:t>スパイク環境</a:t>
            </a:r>
            <a:r>
              <a:rPr lang="ja"/>
              <a:t>を使って、早い時期に帯域チェックを実施する</a:t>
            </a:r>
            <a:endParaRPr/>
          </a:p>
          <a:p>
            <a:pPr marL="0" lvl="0" indent="0" algn="l" rtl="0">
              <a:spcBef>
                <a:spcPts val="1200"/>
              </a:spcBef>
              <a:spcAft>
                <a:spcPts val="120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ja" sz="3000">
                <a:highlight>
                  <a:srgbClr val="FFFFFF"/>
                </a:highlight>
              </a:rPr>
              <a:t>6.ネットワーク構成</a:t>
            </a:r>
            <a:endParaRPr sz="3000">
              <a:highlight>
                <a:srgbClr val="FFFFFF"/>
              </a:highlight>
            </a:endParaRPr>
          </a:p>
          <a:p>
            <a:pPr marL="0" lvl="0" indent="0" algn="ctr" rtl="0">
              <a:spcBef>
                <a:spcPts val="0"/>
              </a:spcBef>
              <a:spcAft>
                <a:spcPts val="0"/>
              </a:spcAft>
              <a:buNone/>
            </a:pPr>
            <a:r>
              <a:rPr lang="ja" sz="3000">
                <a:highlight>
                  <a:srgbClr val="FFFFFF"/>
                </a:highlight>
              </a:rPr>
              <a:t>（ルビナオフィス）</a:t>
            </a:r>
            <a:endParaRPr sz="3000">
              <a:highlight>
                <a:srgbClr val="FFFFFF"/>
              </a:highlight>
            </a:endParaRPr>
          </a:p>
        </p:txBody>
      </p:sp>
      <p:pic>
        <p:nvPicPr>
          <p:cNvPr id="190" name="Google Shape;190;p3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91" name="Google Shape;191;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6-1.ルビナオフィスからの接続</a:t>
            </a:r>
            <a:endParaRPr>
              <a:highlight>
                <a:srgbClr val="D9D9D9"/>
              </a:highlight>
            </a:endParaRPr>
          </a:p>
        </p:txBody>
      </p:sp>
      <p:pic>
        <p:nvPicPr>
          <p:cNvPr id="197" name="Google Shape;197;p3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98" name="Google Shape;198;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19</a:t>
            </a:fld>
            <a:endParaRPr/>
          </a:p>
        </p:txBody>
      </p:sp>
      <p:graphicFrame>
        <p:nvGraphicFramePr>
          <p:cNvPr id="199" name="Google Shape;199;p31"/>
          <p:cNvGraphicFramePr/>
          <p:nvPr/>
        </p:nvGraphicFramePr>
        <p:xfrm>
          <a:off x="858825" y="1291325"/>
          <a:ext cx="7581150" cy="2531970"/>
        </p:xfrm>
        <a:graphic>
          <a:graphicData uri="http://schemas.openxmlformats.org/drawingml/2006/table">
            <a:tbl>
              <a:tblPr>
                <a:noFill/>
                <a:tableStyleId>{87A281C8-0844-4F7E-8F5C-31C3930F0FE5}</a:tableStyleId>
              </a:tblPr>
              <a:tblGrid>
                <a:gridCol w="1891325">
                  <a:extLst>
                    <a:ext uri="{9D8B030D-6E8A-4147-A177-3AD203B41FA5}">
                      <a16:colId xmlns:a16="http://schemas.microsoft.com/office/drawing/2014/main" val="20000"/>
                    </a:ext>
                  </a:extLst>
                </a:gridCol>
                <a:gridCol w="5689825">
                  <a:extLst>
                    <a:ext uri="{9D8B030D-6E8A-4147-A177-3AD203B41FA5}">
                      <a16:colId xmlns:a16="http://schemas.microsoft.com/office/drawing/2014/main" val="20001"/>
                    </a:ext>
                  </a:extLst>
                </a:gridCol>
              </a:tblGrid>
              <a:tr h="489900">
                <a:tc>
                  <a:txBody>
                    <a:bodyPr/>
                    <a:lstStyle/>
                    <a:p>
                      <a:pPr marL="0" lvl="0" indent="0" algn="l" rtl="0">
                        <a:spcBef>
                          <a:spcPts val="0"/>
                        </a:spcBef>
                        <a:spcAft>
                          <a:spcPts val="0"/>
                        </a:spcAft>
                        <a:buNone/>
                      </a:pPr>
                      <a:r>
                        <a:rPr lang="ja" b="1">
                          <a:solidFill>
                            <a:schemeClr val="dk2"/>
                          </a:solidFill>
                        </a:rPr>
                        <a:t>接続元</a:t>
                      </a:r>
                      <a:endParaRPr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b="1">
                          <a:solidFill>
                            <a:schemeClr val="dk2"/>
                          </a:solidFill>
                        </a:rPr>
                        <a:t>接続先</a:t>
                      </a:r>
                      <a:endParaRPr b="1">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a:t>検証用POS端末</a:t>
                      </a:r>
                      <a:endParaRPr/>
                    </a:p>
                  </a:txBody>
                  <a:tcPr marL="91425" marR="91425" marT="91425" marB="91425"/>
                </a:tc>
                <a:tc>
                  <a:txBody>
                    <a:bodyPr/>
                    <a:lstStyle/>
                    <a:p>
                      <a:pPr marL="0" lvl="0" indent="0" algn="l" rtl="0">
                        <a:spcBef>
                          <a:spcPts val="0"/>
                        </a:spcBef>
                        <a:spcAft>
                          <a:spcPts val="0"/>
                        </a:spcAft>
                        <a:buNone/>
                      </a:pPr>
                      <a:r>
                        <a:rPr lang="ja"/>
                        <a:t>いなげや閉域網にあるセイコー決済クレジットなどの外部サービス</a:t>
                      </a:r>
                      <a:endParaRPr/>
                    </a:p>
                    <a:p>
                      <a:pPr marL="0" lvl="0" indent="0" algn="l" rtl="0">
                        <a:spcBef>
                          <a:spcPts val="0"/>
                        </a:spcBef>
                        <a:spcAft>
                          <a:spcPts val="0"/>
                        </a:spcAft>
                        <a:buNone/>
                      </a:pPr>
                      <a:r>
                        <a:rPr lang="ja"/>
                        <a:t>※Site-to-Site VPN接続がシステム要件である</a:t>
                      </a:r>
                      <a:endParaRPr/>
                    </a:p>
                    <a:p>
                      <a:pPr marL="0" lvl="0" indent="0" algn="l" rtl="0">
                        <a:spcBef>
                          <a:spcPts val="0"/>
                        </a:spcBef>
                        <a:spcAft>
                          <a:spcPts val="0"/>
                        </a:spcAft>
                        <a:buNone/>
                      </a:pPr>
                      <a:r>
                        <a:rPr lang="ja"/>
                        <a:t>※経路については、既存のAndroidPOS経由をそのまま活用する</a:t>
                      </a:r>
                      <a:endParaRPr/>
                    </a:p>
                  </a:txBody>
                  <a:tcPr marL="91425" marR="91425" marT="91425" marB="91425"/>
                </a:tc>
                <a:extLst>
                  <a:ext uri="{0D108BD9-81ED-4DB2-BD59-A6C34878D82A}">
                    <a16:rowId xmlns:a16="http://schemas.microsoft.com/office/drawing/2014/main" val="10001"/>
                  </a:ext>
                </a:extLst>
              </a:tr>
              <a:tr h="381000">
                <a:tc rowSpan="2">
                  <a:txBody>
                    <a:bodyPr/>
                    <a:lstStyle/>
                    <a:p>
                      <a:pPr marL="0" lvl="0" indent="0" algn="l" rtl="0">
                        <a:spcBef>
                          <a:spcPts val="0"/>
                        </a:spcBef>
                        <a:spcAft>
                          <a:spcPts val="0"/>
                        </a:spcAft>
                        <a:buNone/>
                      </a:pPr>
                      <a:r>
                        <a:rPr lang="ja"/>
                        <a:t>開発者PC端末</a:t>
                      </a:r>
                      <a:endParaRPr/>
                    </a:p>
                  </a:txBody>
                  <a:tcPr marL="91425" marR="91425" marT="91425" marB="91425"/>
                </a:tc>
                <a:tc>
                  <a:txBody>
                    <a:bodyPr/>
                    <a:lstStyle/>
                    <a:p>
                      <a:pPr marL="0" lvl="0" indent="0" algn="l" rtl="0">
                        <a:spcBef>
                          <a:spcPts val="0"/>
                        </a:spcBef>
                        <a:spcAft>
                          <a:spcPts val="0"/>
                        </a:spcAft>
                        <a:buNone/>
                      </a:pPr>
                      <a:r>
                        <a:rPr lang="ja"/>
                        <a:t>オフラインPOSサーバ内にある管理画面</a:t>
                      </a:r>
                      <a:endParaRPr/>
                    </a:p>
                  </a:txBody>
                  <a:tcPr marL="91425" marR="91425" marT="91425" marB="91425"/>
                </a:tc>
                <a:extLst>
                  <a:ext uri="{0D108BD9-81ED-4DB2-BD59-A6C34878D82A}">
                    <a16:rowId xmlns:a16="http://schemas.microsoft.com/office/drawing/2014/main" val="10002"/>
                  </a:ext>
                </a:extLst>
              </a:tr>
              <a:tr h="381000">
                <a:tc vMerge="1">
                  <a:txBody>
                    <a:bodyPr/>
                    <a:lstStyle/>
                    <a:p>
                      <a:endParaRPr lang="en-US"/>
                    </a:p>
                  </a:txBody>
                  <a:tcPr/>
                </a:tc>
                <a:tc>
                  <a:txBody>
                    <a:bodyPr/>
                    <a:lstStyle/>
                    <a:p>
                      <a:pPr marL="0" lvl="0" indent="0" algn="l" rtl="0">
                        <a:spcBef>
                          <a:spcPts val="0"/>
                        </a:spcBef>
                        <a:spcAft>
                          <a:spcPts val="0"/>
                        </a:spcAft>
                        <a:buNone/>
                      </a:pPr>
                      <a:r>
                        <a:rPr lang="ja"/>
                        <a:t>開発・保守作業</a:t>
                      </a:r>
                      <a:endParaRPr/>
                    </a:p>
                    <a:p>
                      <a:pPr marL="0" lvl="0" indent="0" algn="l" rtl="0">
                        <a:spcBef>
                          <a:spcPts val="0"/>
                        </a:spcBef>
                        <a:spcAft>
                          <a:spcPts val="0"/>
                        </a:spcAft>
                        <a:buNone/>
                      </a:pPr>
                      <a:r>
                        <a:rPr lang="ja"/>
                        <a:t>例）SQL文を使ったDBへのアクセス</a:t>
                      </a:r>
                      <a:endParaRPr/>
                    </a:p>
                    <a:p>
                      <a:pPr marL="0" lvl="0" indent="0" algn="l" rtl="0">
                        <a:spcBef>
                          <a:spcPts val="0"/>
                        </a:spcBef>
                        <a:spcAft>
                          <a:spcPts val="0"/>
                        </a:spcAft>
                        <a:buNone/>
                      </a:pPr>
                      <a:r>
                        <a:rPr lang="ja"/>
                        <a:t>例）</a:t>
                      </a:r>
                      <a:r>
                        <a:rPr lang="ja">
                          <a:solidFill>
                            <a:schemeClr val="dk1"/>
                          </a:solidFill>
                        </a:rPr>
                        <a:t>S3バケット内のCSVファイルのダウンロード</a:t>
                      </a:r>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6-2.開発者PC端末からのアクセス</a:t>
            </a:r>
            <a:endParaRPr>
              <a:highlight>
                <a:srgbClr val="D9D9D9"/>
              </a:highlight>
            </a:endParaRPr>
          </a:p>
        </p:txBody>
      </p:sp>
      <p:pic>
        <p:nvPicPr>
          <p:cNvPr id="205" name="Google Shape;205;p3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06" name="Google Shape;206;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20</a:t>
            </a:fld>
            <a:endParaRPr/>
          </a:p>
        </p:txBody>
      </p:sp>
      <p:pic>
        <p:nvPicPr>
          <p:cNvPr id="207" name="Google Shape;207;p32" title="【POS】infra_ishida-6-2.drawio (1).png"/>
          <p:cNvPicPr preferRelativeResize="0"/>
          <p:nvPr/>
        </p:nvPicPr>
        <p:blipFill>
          <a:blip r:embed="rId4">
            <a:alphaModFix/>
          </a:blip>
          <a:stretch>
            <a:fillRect/>
          </a:stretch>
        </p:blipFill>
        <p:spPr>
          <a:xfrm>
            <a:off x="1124400" y="1089125"/>
            <a:ext cx="6760838" cy="38209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ja" sz="3000">
                <a:highlight>
                  <a:srgbClr val="FFFFFF"/>
                </a:highlight>
              </a:rPr>
              <a:t>7.AWSアカウント管理</a:t>
            </a:r>
            <a:endParaRPr sz="3000">
              <a:highlight>
                <a:srgbClr val="FFFFFF"/>
              </a:highlight>
            </a:endParaRPr>
          </a:p>
        </p:txBody>
      </p:sp>
      <p:pic>
        <p:nvPicPr>
          <p:cNvPr id="213" name="Google Shape;213;p3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14" name="Google Shape;214;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4"/>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7-1.AWSアカウントのオーナー</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20" name="Google Shape;220;p3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21" name="Google Shape;221;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22</a:t>
            </a:fld>
            <a:endParaRPr/>
          </a:p>
        </p:txBody>
      </p:sp>
      <p:sp>
        <p:nvSpPr>
          <p:cNvPr id="222" name="Google Shape;222;p34"/>
          <p:cNvSpPr txBox="1">
            <a:spLocks noGrp="1"/>
          </p:cNvSpPr>
          <p:nvPr>
            <p:ph type="body" idx="1"/>
          </p:nvPr>
        </p:nvSpPr>
        <p:spPr>
          <a:xfrm>
            <a:off x="432525" y="1109175"/>
            <a:ext cx="8136000" cy="3426600"/>
          </a:xfrm>
          <a:prstGeom prst="rect">
            <a:avLst/>
          </a:prstGeom>
        </p:spPr>
        <p:txBody>
          <a:bodyPr spcFirstLastPara="1" wrap="square" lIns="91425" tIns="91425" rIns="91425" bIns="91425" anchor="t" anchorCtr="0">
            <a:noAutofit/>
          </a:bodyPr>
          <a:lstStyle/>
          <a:p>
            <a:pPr marL="457200" lvl="0" indent="-342900" algn="l" rtl="0">
              <a:lnSpc>
                <a:spcPct val="95000"/>
              </a:lnSpc>
              <a:spcBef>
                <a:spcPts val="0"/>
              </a:spcBef>
              <a:spcAft>
                <a:spcPts val="0"/>
              </a:spcAft>
              <a:buSzPts val="1800"/>
              <a:buChar char="●"/>
            </a:pPr>
            <a:r>
              <a:rPr lang="ja"/>
              <a:t>AWSアカウントのオーナーは、 Luvina Software JSC とする</a:t>
            </a:r>
            <a:endParaRPr/>
          </a:p>
          <a:p>
            <a:pPr marL="457200" lvl="0" indent="-342900" algn="l" rtl="0">
              <a:lnSpc>
                <a:spcPct val="95000"/>
              </a:lnSpc>
              <a:spcBef>
                <a:spcPts val="0"/>
              </a:spcBef>
              <a:spcAft>
                <a:spcPts val="0"/>
              </a:spcAft>
              <a:buSzPts val="1800"/>
              <a:buChar char="●"/>
            </a:pPr>
            <a:r>
              <a:rPr lang="ja"/>
              <a:t>Luvina Software JSCからUSMH様へ、毎月のAWS使用料を請求させていただく</a:t>
            </a:r>
            <a:endParaRPr/>
          </a:p>
          <a:p>
            <a:pPr marL="914400" lvl="1" indent="-342900" algn="l" rtl="0">
              <a:lnSpc>
                <a:spcPct val="95000"/>
              </a:lnSpc>
              <a:spcBef>
                <a:spcPts val="0"/>
              </a:spcBef>
              <a:spcAft>
                <a:spcPts val="0"/>
              </a:spcAft>
              <a:buSzPts val="1800"/>
              <a:buChar char="○"/>
            </a:pPr>
            <a:r>
              <a:rPr lang="ja" sz="1800"/>
              <a:t>実際のAWS利用料＋15%</a:t>
            </a:r>
            <a:endParaRPr sz="1800"/>
          </a:p>
          <a:p>
            <a:pPr marL="457200" lvl="0" indent="-342900" algn="l" rtl="0">
              <a:lnSpc>
                <a:spcPct val="95000"/>
              </a:lnSpc>
              <a:spcBef>
                <a:spcPts val="0"/>
              </a:spcBef>
              <a:spcAft>
                <a:spcPts val="0"/>
              </a:spcAft>
              <a:buSzPts val="1800"/>
              <a:buChar char="●"/>
            </a:pPr>
            <a:r>
              <a:rPr lang="ja"/>
              <a:t>15%の内容</a:t>
            </a:r>
            <a:endParaRPr/>
          </a:p>
          <a:p>
            <a:pPr marL="914400" lvl="1" indent="-342900" algn="l" rtl="0">
              <a:lnSpc>
                <a:spcPct val="95000"/>
              </a:lnSpc>
              <a:spcBef>
                <a:spcPts val="0"/>
              </a:spcBef>
              <a:spcAft>
                <a:spcPts val="0"/>
              </a:spcAft>
              <a:buSzPts val="1800"/>
              <a:buChar char="○"/>
            </a:pPr>
            <a:r>
              <a:rPr lang="ja" sz="1800"/>
              <a:t>請求代行</a:t>
            </a:r>
            <a:endParaRPr sz="1800"/>
          </a:p>
          <a:p>
            <a:pPr marL="914400" lvl="1" indent="-342900" algn="l" rtl="0">
              <a:lnSpc>
                <a:spcPct val="95000"/>
              </a:lnSpc>
              <a:spcBef>
                <a:spcPts val="0"/>
              </a:spcBef>
              <a:spcAft>
                <a:spcPts val="0"/>
              </a:spcAft>
              <a:buSzPts val="1800"/>
              <a:buChar char="○"/>
            </a:pPr>
            <a:r>
              <a:rPr lang="ja" sz="1800"/>
              <a:t>AWS技術支援</a:t>
            </a:r>
            <a:endParaRPr sz="1800"/>
          </a:p>
          <a:p>
            <a:pPr marL="1371600" lvl="2" indent="-342900" algn="l" rtl="0">
              <a:lnSpc>
                <a:spcPct val="95000"/>
              </a:lnSpc>
              <a:spcBef>
                <a:spcPts val="0"/>
              </a:spcBef>
              <a:spcAft>
                <a:spcPts val="0"/>
              </a:spcAft>
              <a:buSzPts val="1800"/>
              <a:buChar char="■"/>
            </a:pPr>
            <a:r>
              <a:rPr lang="ja" sz="1800"/>
              <a:t>AWSサポートプランの契約（本番・ステージング環境は、Developerプランを想定）</a:t>
            </a:r>
            <a:endParaRPr sz="1800"/>
          </a:p>
          <a:p>
            <a:pPr marL="1371600" lvl="2" indent="-342900" algn="l" rtl="0">
              <a:lnSpc>
                <a:spcPct val="95000"/>
              </a:lnSpc>
              <a:spcBef>
                <a:spcPts val="0"/>
              </a:spcBef>
              <a:spcAft>
                <a:spcPts val="0"/>
              </a:spcAft>
              <a:buSzPts val="1800"/>
              <a:buChar char="■"/>
            </a:pPr>
            <a:r>
              <a:rPr lang="ja" sz="1800"/>
              <a:t>Luvina Software JSCが代行して、直接AWSへ問い合わせを行う</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7-2.AWSサポートプラン</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28" name="Google Shape;228;p3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29" name="Google Shape;229;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23</a:t>
            </a:fld>
            <a:endParaRPr/>
          </a:p>
        </p:txBody>
      </p:sp>
      <p:graphicFrame>
        <p:nvGraphicFramePr>
          <p:cNvPr id="230" name="Google Shape;230;p35"/>
          <p:cNvGraphicFramePr/>
          <p:nvPr/>
        </p:nvGraphicFramePr>
        <p:xfrm>
          <a:off x="705175" y="1065450"/>
          <a:ext cx="7627350" cy="3870780"/>
        </p:xfrm>
        <a:graphic>
          <a:graphicData uri="http://schemas.openxmlformats.org/drawingml/2006/table">
            <a:tbl>
              <a:tblPr>
                <a:noFill/>
                <a:tableStyleId>{87A281C8-0844-4F7E-8F5C-31C3930F0FE5}</a:tableStyleId>
              </a:tblPr>
              <a:tblGrid>
                <a:gridCol w="904500">
                  <a:extLst>
                    <a:ext uri="{9D8B030D-6E8A-4147-A177-3AD203B41FA5}">
                      <a16:colId xmlns:a16="http://schemas.microsoft.com/office/drawing/2014/main" val="20000"/>
                    </a:ext>
                  </a:extLst>
                </a:gridCol>
                <a:gridCol w="904500">
                  <a:extLst>
                    <a:ext uri="{9D8B030D-6E8A-4147-A177-3AD203B41FA5}">
                      <a16:colId xmlns:a16="http://schemas.microsoft.com/office/drawing/2014/main" val="20001"/>
                    </a:ext>
                  </a:extLst>
                </a:gridCol>
                <a:gridCol w="1678900">
                  <a:extLst>
                    <a:ext uri="{9D8B030D-6E8A-4147-A177-3AD203B41FA5}">
                      <a16:colId xmlns:a16="http://schemas.microsoft.com/office/drawing/2014/main" val="20002"/>
                    </a:ext>
                  </a:extLst>
                </a:gridCol>
                <a:gridCol w="3087500">
                  <a:extLst>
                    <a:ext uri="{9D8B030D-6E8A-4147-A177-3AD203B41FA5}">
                      <a16:colId xmlns:a16="http://schemas.microsoft.com/office/drawing/2014/main" val="20003"/>
                    </a:ext>
                  </a:extLst>
                </a:gridCol>
                <a:gridCol w="1051950">
                  <a:extLst>
                    <a:ext uri="{9D8B030D-6E8A-4147-A177-3AD203B41FA5}">
                      <a16:colId xmlns:a16="http://schemas.microsoft.com/office/drawing/2014/main" val="20004"/>
                    </a:ext>
                  </a:extLst>
                </a:gridCol>
              </a:tblGrid>
              <a:tr h="336525">
                <a:tc>
                  <a:txBody>
                    <a:bodyPr/>
                    <a:lstStyle/>
                    <a:p>
                      <a:pPr marL="0" lvl="0" indent="0" algn="l" rtl="0">
                        <a:spcBef>
                          <a:spcPts val="0"/>
                        </a:spcBef>
                        <a:spcAft>
                          <a:spcPts val="0"/>
                        </a:spcAft>
                        <a:buNone/>
                      </a:pPr>
                      <a:r>
                        <a:rPr lang="ja" sz="1100" b="1">
                          <a:solidFill>
                            <a:schemeClr val="dk2"/>
                          </a:solidFill>
                        </a:rPr>
                        <a:t>プラン</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100" b="1">
                          <a:solidFill>
                            <a:schemeClr val="dk2"/>
                          </a:solidFill>
                        </a:rPr>
                        <a:t>POSサーバ</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100" b="1">
                          <a:solidFill>
                            <a:schemeClr val="dk2"/>
                          </a:solidFill>
                        </a:rPr>
                        <a:t>ユースケース</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100" b="1">
                          <a:solidFill>
                            <a:schemeClr val="dk2"/>
                          </a:solidFill>
                        </a:rPr>
                        <a:t>ケースの重要度と応答時間</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100" b="1">
                          <a:solidFill>
                            <a:schemeClr val="dk2"/>
                          </a:solidFill>
                        </a:rPr>
                        <a:t>料金</a:t>
                      </a:r>
                      <a:endParaRPr sz="1100" b="1">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44067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Basic</a:t>
                      </a: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ja" sz="900">
                          <a:solidFill>
                            <a:schemeClr val="dk2"/>
                          </a:solidFill>
                        </a:rPr>
                        <a:t>スパイク</a:t>
                      </a: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900">
                          <a:solidFill>
                            <a:schemeClr val="dk2"/>
                          </a:solidFill>
                        </a:rPr>
                        <a:t>すべてのAWSのお客様に提供</a:t>
                      </a: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ja" sz="900">
                          <a:solidFill>
                            <a:schemeClr val="dk2"/>
                          </a:solidFill>
                          <a:highlight>
                            <a:schemeClr val="lt1"/>
                          </a:highlight>
                        </a:rPr>
                        <a:t>なし</a:t>
                      </a:r>
                      <a:endParaRPr sz="900">
                        <a:solidFill>
                          <a:schemeClr val="dk2"/>
                        </a:solidFill>
                        <a:highlight>
                          <a:schemeClr val="lt1"/>
                        </a:highlight>
                      </a:endParaRPr>
                    </a:p>
                  </a:txBody>
                  <a:tcPr marL="91425" marR="91425" marT="91425" marB="91425"/>
                </a:tc>
                <a:tc>
                  <a:txBody>
                    <a:bodyPr/>
                    <a:lstStyle/>
                    <a:p>
                      <a:pPr marL="0" lvl="0" indent="0" algn="l" rtl="0">
                        <a:spcBef>
                          <a:spcPts val="0"/>
                        </a:spcBef>
                        <a:spcAft>
                          <a:spcPts val="0"/>
                        </a:spcAft>
                        <a:buNone/>
                      </a:pPr>
                      <a:r>
                        <a:rPr lang="ja" sz="900">
                          <a:solidFill>
                            <a:schemeClr val="dk2"/>
                          </a:solidFill>
                          <a:highlight>
                            <a:schemeClr val="lt1"/>
                          </a:highlight>
                        </a:rPr>
                        <a:t>無料</a:t>
                      </a:r>
                      <a:endParaRPr sz="900">
                        <a:solidFill>
                          <a:schemeClr val="dk2"/>
                        </a:solidFill>
                        <a:highlight>
                          <a:schemeClr val="lt1"/>
                        </a:highlight>
                      </a:endParaRPr>
                    </a:p>
                  </a:txBody>
                  <a:tcPr marL="91425" marR="91425" marT="91425" marB="91425"/>
                </a:tc>
                <a:extLst>
                  <a:ext uri="{0D108BD9-81ED-4DB2-BD59-A6C34878D82A}">
                    <a16:rowId xmlns:a16="http://schemas.microsoft.com/office/drawing/2014/main" val="10001"/>
                  </a:ext>
                </a:extLst>
              </a:tr>
              <a:tr h="44067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Developer</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None/>
                      </a:pPr>
                      <a:r>
                        <a:rPr lang="ja" sz="900">
                          <a:solidFill>
                            <a:schemeClr val="dk2"/>
                          </a:solidFill>
                        </a:rPr>
                        <a:t>ステージング</a:t>
                      </a:r>
                      <a:endParaRPr sz="900">
                        <a:solidFill>
                          <a:schemeClr val="dk2"/>
                        </a:solidFill>
                      </a:endParaRPr>
                    </a:p>
                    <a:p>
                      <a:pPr marL="0" lvl="0" indent="0" algn="l" rtl="0">
                        <a:spcBef>
                          <a:spcPts val="0"/>
                        </a:spcBef>
                        <a:spcAft>
                          <a:spcPts val="0"/>
                        </a:spcAft>
                        <a:buNone/>
                      </a:pPr>
                      <a:r>
                        <a:rPr lang="ja" sz="900">
                          <a:solidFill>
                            <a:schemeClr val="dk2"/>
                          </a:solidFill>
                        </a:rPr>
                        <a:t>本番</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Clr>
                          <a:schemeClr val="dk1"/>
                        </a:buClr>
                        <a:buSzPts val="1100"/>
                        <a:buFont typeface="Arial"/>
                        <a:buNone/>
                      </a:pPr>
                      <a:r>
                        <a:rPr lang="ja" sz="900">
                          <a:solidFill>
                            <a:schemeClr val="dk2"/>
                          </a:solidFill>
                        </a:rPr>
                        <a:t>各種サービスをお試し、テストをご希望の方</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None/>
                      </a:pPr>
                      <a:r>
                        <a:rPr lang="ja" sz="900">
                          <a:solidFill>
                            <a:schemeClr val="dk2"/>
                          </a:solidFill>
                          <a:highlight>
                            <a:schemeClr val="lt1"/>
                          </a:highlight>
                        </a:rPr>
                        <a:t>一般的なガイダンス: &lt; 24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システム障害: &lt; 12 時間</a:t>
                      </a:r>
                      <a:endParaRPr sz="900">
                        <a:solidFill>
                          <a:schemeClr val="dk2"/>
                        </a:solidFill>
                        <a:highlight>
                          <a:schemeClr val="lt1"/>
                        </a:highlight>
                      </a:endParaRPr>
                    </a:p>
                  </a:txBody>
                  <a:tcPr marL="91425" marR="91425" marT="91425" marB="91425">
                    <a:solidFill>
                      <a:schemeClr val="accent6"/>
                    </a:solidFill>
                  </a:tcPr>
                </a:tc>
                <a:tc rowSpan="4">
                  <a:txBody>
                    <a:bodyPr/>
                    <a:lstStyle/>
                    <a:p>
                      <a:pPr marL="0" lvl="0" indent="0" algn="l" rtl="0">
                        <a:spcBef>
                          <a:spcPts val="0"/>
                        </a:spcBef>
                        <a:spcAft>
                          <a:spcPts val="0"/>
                        </a:spcAft>
                        <a:buNone/>
                      </a:pPr>
                      <a:r>
                        <a:rPr lang="ja" sz="900">
                          <a:solidFill>
                            <a:schemeClr val="dk2"/>
                          </a:solidFill>
                          <a:highlight>
                            <a:srgbClr val="FFFFFF"/>
                          </a:highlight>
                          <a:latin typeface="Meiryo"/>
                          <a:ea typeface="Meiryo"/>
                          <a:cs typeface="Meiryo"/>
                          <a:sym typeface="Meiryo"/>
                        </a:rPr>
                        <a:t>有料</a:t>
                      </a:r>
                      <a:endParaRPr sz="900">
                        <a:solidFill>
                          <a:schemeClr val="dk2"/>
                        </a:solidFill>
                        <a:highlight>
                          <a:srgbClr val="FFFFFF"/>
                        </a:highlight>
                        <a:latin typeface="Meiryo"/>
                        <a:ea typeface="Meiryo"/>
                        <a:cs typeface="Meiryo"/>
                        <a:sym typeface="Meiryo"/>
                      </a:endParaRPr>
                    </a:p>
                  </a:txBody>
                  <a:tcPr marL="91425" marR="91425" marT="91425" marB="91425"/>
                </a:tc>
                <a:extLst>
                  <a:ext uri="{0D108BD9-81ED-4DB2-BD59-A6C34878D82A}">
                    <a16:rowId xmlns:a16="http://schemas.microsoft.com/office/drawing/2014/main" val="10002"/>
                  </a:ext>
                </a:extLst>
              </a:tr>
              <a:tr h="70512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Business</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900">
                          <a:solidFill>
                            <a:schemeClr val="dk2"/>
                          </a:solidFill>
                        </a:rPr>
                        <a:t>本番環境のワークロードをお持ちの方におすすめする最小枠</a:t>
                      </a: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ja" sz="900">
                          <a:solidFill>
                            <a:schemeClr val="dk2"/>
                          </a:solidFill>
                          <a:highlight>
                            <a:schemeClr val="lt1"/>
                          </a:highlight>
                        </a:rPr>
                        <a:t>一般的なガイダンス: &lt; 24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システム障害: &lt; 12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本番システムの障害: &lt; 4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本番システムのダウン: &lt; 1 時間</a:t>
                      </a:r>
                      <a:endParaRPr sz="90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3"/>
                  </a:ext>
                </a:extLst>
              </a:tr>
              <a:tr h="83737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Enterprise On-Ramp</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ja" sz="900">
                          <a:solidFill>
                            <a:schemeClr val="dk2"/>
                          </a:solidFill>
                        </a:rPr>
                        <a:t>本番環境および/またはビジネスクリティカルなワークロードをお持ちの方におすすめします。</a:t>
                      </a: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一般的なガイダンス: &lt; 24 時間</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システム障害: &lt; 12 時間</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本番システムの障害: &lt; 4 時間</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本番システムのダウン: &lt; 1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ビジネスクリティカルなシステムのダウン: &lt; 30 分</a:t>
                      </a:r>
                      <a:endParaRPr sz="90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4"/>
                  </a:ext>
                </a:extLst>
              </a:tr>
              <a:tr h="969575">
                <a:tc>
                  <a:txBody>
                    <a:bodyPr/>
                    <a:lstStyle/>
                    <a:p>
                      <a:pPr marL="0" lvl="0" indent="0" algn="l" rtl="0">
                        <a:spcBef>
                          <a:spcPts val="0"/>
                        </a:spcBef>
                        <a:spcAft>
                          <a:spcPts val="0"/>
                        </a:spcAft>
                        <a:buNone/>
                      </a:pPr>
                      <a:r>
                        <a:rPr lang="ja" sz="900">
                          <a:solidFill>
                            <a:schemeClr val="dk2"/>
                          </a:solidFill>
                        </a:rPr>
                        <a:t>Enterprise</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ja" sz="900">
                          <a:solidFill>
                            <a:schemeClr val="dk2"/>
                          </a:solidFill>
                        </a:rPr>
                        <a:t>AWS にビジネスおよび/またはミッションクリティカルなワークロードをお持ちの方におすすめします</a:t>
                      </a: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一般的なガイダンス: &lt; 24 時間</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システム障害: &lt; 12 時間</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本番システムの障害: &lt; 4 時間</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本番システムのダウン: &lt; 1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ビジネス/ミッションクリティカルなシステムのダウン: &lt; 15 分</a:t>
                      </a:r>
                      <a:endParaRPr sz="90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ja" sz="3000">
                <a:highlight>
                  <a:srgbClr val="FFFFFF"/>
                </a:highlight>
              </a:rPr>
              <a:t>8.システム構成</a:t>
            </a:r>
            <a:endParaRPr sz="3000">
              <a:highlight>
                <a:srgbClr val="FFFFFF"/>
              </a:highlight>
            </a:endParaRPr>
          </a:p>
        </p:txBody>
      </p:sp>
      <p:pic>
        <p:nvPicPr>
          <p:cNvPr id="236" name="Google Shape;236;p3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37" name="Google Shape;237;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7"/>
          <p:cNvSpPr txBox="1">
            <a:spLocks noGrp="1"/>
          </p:cNvSpPr>
          <p:nvPr>
            <p:ph type="title"/>
          </p:nvPr>
        </p:nvSpPr>
        <p:spPr>
          <a:xfrm>
            <a:off x="311700" y="419475"/>
            <a:ext cx="44718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8-1.処理フロー</a:t>
            </a:r>
            <a:endParaRPr>
              <a:highlight>
                <a:srgbClr val="D9D9D9"/>
              </a:highlight>
            </a:endParaRPr>
          </a:p>
          <a:p>
            <a:pPr marL="0" lvl="0" indent="0" algn="l" rtl="0">
              <a:spcBef>
                <a:spcPts val="0"/>
              </a:spcBef>
              <a:spcAft>
                <a:spcPts val="0"/>
              </a:spcAft>
              <a:buNone/>
            </a:pPr>
            <a:endParaRPr>
              <a:highlight>
                <a:srgbClr val="D9D9D9"/>
              </a:highlight>
            </a:endParaRPr>
          </a:p>
        </p:txBody>
      </p:sp>
      <p:sp>
        <p:nvSpPr>
          <p:cNvPr id="243" name="Google Shape;243;p37"/>
          <p:cNvSpPr txBox="1">
            <a:spLocks noGrp="1"/>
          </p:cNvSpPr>
          <p:nvPr>
            <p:ph type="body" idx="1"/>
          </p:nvPr>
        </p:nvSpPr>
        <p:spPr>
          <a:xfrm>
            <a:off x="468375" y="1105325"/>
            <a:ext cx="7815300" cy="35955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ja"/>
              <a:t>マスタファイル（外部連携マスタ）を受信する</a:t>
            </a:r>
            <a:endParaRPr/>
          </a:p>
          <a:p>
            <a:pPr marL="914400" lvl="1" indent="-342900" algn="l" rtl="0">
              <a:lnSpc>
                <a:spcPct val="105000"/>
              </a:lnSpc>
              <a:spcBef>
                <a:spcPts val="0"/>
              </a:spcBef>
              <a:spcAft>
                <a:spcPts val="0"/>
              </a:spcAft>
              <a:buSzPts val="1800"/>
              <a:buChar char="○"/>
            </a:pPr>
            <a:r>
              <a:rPr lang="ja" sz="1800"/>
              <a:t>ZIP形式</a:t>
            </a:r>
            <a:endParaRPr sz="1800"/>
          </a:p>
          <a:p>
            <a:pPr marL="1371600" lvl="2" indent="-342900" algn="l" rtl="0">
              <a:lnSpc>
                <a:spcPct val="105000"/>
              </a:lnSpc>
              <a:spcBef>
                <a:spcPts val="0"/>
              </a:spcBef>
              <a:spcAft>
                <a:spcPts val="0"/>
              </a:spcAft>
              <a:buSzPts val="1800"/>
              <a:buChar char="■"/>
            </a:pPr>
            <a:r>
              <a:rPr lang="ja" sz="1800"/>
              <a:t>中身はCSV</a:t>
            </a:r>
            <a:endParaRPr sz="1800"/>
          </a:p>
          <a:p>
            <a:pPr marL="914400" lvl="1" indent="-342900" algn="l" rtl="0">
              <a:lnSpc>
                <a:spcPct val="105000"/>
              </a:lnSpc>
              <a:spcBef>
                <a:spcPts val="0"/>
              </a:spcBef>
              <a:spcAft>
                <a:spcPts val="0"/>
              </a:spcAft>
              <a:buSzPts val="1800"/>
              <a:buChar char="○"/>
            </a:pPr>
            <a:r>
              <a:rPr lang="ja" sz="1800"/>
              <a:t>SFTPで受信</a:t>
            </a:r>
            <a:endParaRPr sz="1800"/>
          </a:p>
          <a:p>
            <a:pPr marL="1371600" lvl="2" indent="-342900" algn="l" rtl="0">
              <a:lnSpc>
                <a:spcPct val="105000"/>
              </a:lnSpc>
              <a:spcBef>
                <a:spcPts val="0"/>
              </a:spcBef>
              <a:spcAft>
                <a:spcPts val="0"/>
              </a:spcAft>
              <a:buSzPts val="1800"/>
              <a:buChar char="■"/>
            </a:pPr>
            <a:r>
              <a:rPr lang="ja" sz="1800"/>
              <a:t>SSH認証方式</a:t>
            </a:r>
            <a:endParaRPr sz="1800"/>
          </a:p>
          <a:p>
            <a:pPr marL="914400" lvl="1" indent="-342900" algn="l" rtl="0">
              <a:lnSpc>
                <a:spcPct val="105000"/>
              </a:lnSpc>
              <a:spcBef>
                <a:spcPts val="0"/>
              </a:spcBef>
              <a:spcAft>
                <a:spcPts val="0"/>
              </a:spcAft>
              <a:buSzPts val="1800"/>
              <a:buChar char="○"/>
            </a:pPr>
            <a:r>
              <a:rPr lang="ja" sz="1800"/>
              <a:t>ファイル行数とサイズ</a:t>
            </a:r>
            <a:endParaRPr sz="1800"/>
          </a:p>
          <a:p>
            <a:pPr marL="1371600" lvl="2" indent="-342900" algn="l" rtl="0">
              <a:lnSpc>
                <a:spcPct val="105000"/>
              </a:lnSpc>
              <a:spcBef>
                <a:spcPts val="0"/>
              </a:spcBef>
              <a:spcAft>
                <a:spcPts val="0"/>
              </a:spcAft>
              <a:buSzPts val="1800"/>
              <a:buChar char="■"/>
            </a:pPr>
            <a:r>
              <a:rPr lang="ja" sz="1800"/>
              <a:t>商品マスタが最大で10万行以上、数GB</a:t>
            </a:r>
            <a:endParaRPr sz="1800"/>
          </a:p>
          <a:p>
            <a:pPr marL="457200" lvl="0" indent="-342900" algn="l" rtl="0">
              <a:spcBef>
                <a:spcPts val="0"/>
              </a:spcBef>
              <a:spcAft>
                <a:spcPts val="0"/>
              </a:spcAft>
              <a:buSzPts val="1800"/>
              <a:buChar char="●"/>
            </a:pPr>
            <a:r>
              <a:rPr lang="ja"/>
              <a:t>データ変換する（POSマスタ）</a:t>
            </a:r>
            <a:endParaRPr/>
          </a:p>
          <a:p>
            <a:pPr marL="457200" lvl="0" indent="-342900" algn="l" rtl="0">
              <a:spcBef>
                <a:spcPts val="0"/>
              </a:spcBef>
              <a:spcAft>
                <a:spcPts val="0"/>
              </a:spcAft>
              <a:buSzPts val="1800"/>
              <a:buChar char="●"/>
            </a:pPr>
            <a:r>
              <a:rPr lang="ja"/>
              <a:t>POSマスタをISHIDA電子棚札サーバに送信する</a:t>
            </a:r>
            <a:endParaRPr/>
          </a:p>
          <a:p>
            <a:pPr marL="914400" lvl="1" indent="-342900" algn="l" rtl="0">
              <a:lnSpc>
                <a:spcPct val="105000"/>
              </a:lnSpc>
              <a:spcBef>
                <a:spcPts val="0"/>
              </a:spcBef>
              <a:spcAft>
                <a:spcPts val="0"/>
              </a:spcAft>
              <a:buSzPts val="1800"/>
              <a:buChar char="○"/>
            </a:pPr>
            <a:r>
              <a:rPr lang="ja" sz="1800"/>
              <a:t>CSV形式</a:t>
            </a:r>
            <a:endParaRPr sz="1800"/>
          </a:p>
        </p:txBody>
      </p:sp>
      <p:pic>
        <p:nvPicPr>
          <p:cNvPr id="244" name="Google Shape;244;p3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45" name="Google Shape;245;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8-2.外部接続の全体図</a:t>
            </a:r>
            <a:endParaRPr>
              <a:highlight>
                <a:srgbClr val="D9D9D9"/>
              </a:highlight>
            </a:endParaRPr>
          </a:p>
        </p:txBody>
      </p:sp>
      <p:pic>
        <p:nvPicPr>
          <p:cNvPr id="251" name="Google Shape;251;p3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52" name="Google Shape;252;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26</a:t>
            </a:fld>
            <a:endParaRPr/>
          </a:p>
        </p:txBody>
      </p:sp>
      <p:pic>
        <p:nvPicPr>
          <p:cNvPr id="253" name="Google Shape;253;p38" title="【POS】infra_ishida-8-2.drawio (1).png"/>
          <p:cNvPicPr preferRelativeResize="0"/>
          <p:nvPr/>
        </p:nvPicPr>
        <p:blipFill>
          <a:blip r:embed="rId4">
            <a:alphaModFix/>
          </a:blip>
          <a:stretch>
            <a:fillRect/>
          </a:stretch>
        </p:blipFill>
        <p:spPr>
          <a:xfrm>
            <a:off x="960900" y="1100275"/>
            <a:ext cx="6690787" cy="38465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9"/>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8-3.外部連携マスタの受信経路①</a:t>
            </a:r>
            <a:endParaRPr>
              <a:highlight>
                <a:srgbClr val="D9D9D9"/>
              </a:highlight>
            </a:endParaRPr>
          </a:p>
        </p:txBody>
      </p:sp>
      <p:pic>
        <p:nvPicPr>
          <p:cNvPr id="259" name="Google Shape;259;p3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60" name="Google Shape;260;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27</a:t>
            </a:fld>
            <a:endParaRPr/>
          </a:p>
        </p:txBody>
      </p:sp>
      <p:pic>
        <p:nvPicPr>
          <p:cNvPr id="261" name="Google Shape;261;p39" title="【POS】infra_ishida-8-3(受信).drawio.png"/>
          <p:cNvPicPr preferRelativeResize="0"/>
          <p:nvPr/>
        </p:nvPicPr>
        <p:blipFill>
          <a:blip r:embed="rId4">
            <a:alphaModFix/>
          </a:blip>
          <a:stretch>
            <a:fillRect/>
          </a:stretch>
        </p:blipFill>
        <p:spPr>
          <a:xfrm>
            <a:off x="374425" y="992175"/>
            <a:ext cx="8033786" cy="38465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0"/>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8-4.外部連携マスタの受信経路②</a:t>
            </a:r>
            <a:endParaRPr>
              <a:highlight>
                <a:srgbClr val="D9D9D9"/>
              </a:highlight>
            </a:endParaRPr>
          </a:p>
        </p:txBody>
      </p:sp>
      <p:pic>
        <p:nvPicPr>
          <p:cNvPr id="267" name="Google Shape;267;p4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68" name="Google Shape;268;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28</a:t>
            </a:fld>
            <a:endParaRPr/>
          </a:p>
        </p:txBody>
      </p:sp>
      <p:pic>
        <p:nvPicPr>
          <p:cNvPr id="269" name="Google Shape;269;p40" title="【POS】infra_ishida-8-5(受信).drawio.png"/>
          <p:cNvPicPr preferRelativeResize="0"/>
          <p:nvPr/>
        </p:nvPicPr>
        <p:blipFill>
          <a:blip r:embed="rId4">
            <a:alphaModFix/>
          </a:blip>
          <a:stretch>
            <a:fillRect/>
          </a:stretch>
        </p:blipFill>
        <p:spPr>
          <a:xfrm>
            <a:off x="1285638" y="992175"/>
            <a:ext cx="6082878" cy="384652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8-5.POSマスタ連携方法について（PUSH・PULL型）</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75" name="Google Shape;275;p4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76" name="Google Shape;276;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29</a:t>
            </a:fld>
            <a:endParaRPr/>
          </a:p>
        </p:txBody>
      </p:sp>
      <p:sp>
        <p:nvSpPr>
          <p:cNvPr id="277" name="Google Shape;277;p41"/>
          <p:cNvSpPr txBox="1">
            <a:spLocks noGrp="1"/>
          </p:cNvSpPr>
          <p:nvPr>
            <p:ph type="body" idx="1"/>
          </p:nvPr>
        </p:nvSpPr>
        <p:spPr>
          <a:xfrm>
            <a:off x="452575" y="992175"/>
            <a:ext cx="8136000" cy="3554100"/>
          </a:xfrm>
          <a:prstGeom prst="rect">
            <a:avLst/>
          </a:prstGeom>
        </p:spPr>
        <p:txBody>
          <a:bodyPr spcFirstLastPara="1" wrap="square" lIns="91425" tIns="91425" rIns="91425" bIns="91425" anchor="t" anchorCtr="0">
            <a:noAutofit/>
          </a:bodyPr>
          <a:lstStyle/>
          <a:p>
            <a:pPr marL="457200" lvl="0" indent="-330200" algn="l" rtl="0">
              <a:lnSpc>
                <a:spcPct val="95000"/>
              </a:lnSpc>
              <a:spcBef>
                <a:spcPts val="0"/>
              </a:spcBef>
              <a:spcAft>
                <a:spcPts val="0"/>
              </a:spcAft>
              <a:buSzPts val="1600"/>
              <a:buChar char="●"/>
            </a:pPr>
            <a:r>
              <a:rPr lang="ja" sz="1600"/>
              <a:t>サーバとクライアント構成において、クライアントがFW配下にある場合、ファイルを共有する最も適切で一般的な方法は、</a:t>
            </a:r>
            <a:r>
              <a:rPr lang="ja" sz="1600">
                <a:solidFill>
                  <a:srgbClr val="FF0000"/>
                </a:solidFill>
              </a:rPr>
              <a:t>クライアントからサーバに対してファイルを取得する（PULL型）</a:t>
            </a:r>
            <a:r>
              <a:rPr lang="ja" sz="1600"/>
              <a:t>こと</a:t>
            </a:r>
            <a:endParaRPr sz="1600"/>
          </a:p>
          <a:p>
            <a:pPr marL="457200" lvl="0" indent="-330200" algn="l" rtl="0">
              <a:lnSpc>
                <a:spcPct val="95000"/>
              </a:lnSpc>
              <a:spcBef>
                <a:spcPts val="0"/>
              </a:spcBef>
              <a:spcAft>
                <a:spcPts val="0"/>
              </a:spcAft>
              <a:buSzPts val="1600"/>
              <a:buChar char="●"/>
            </a:pPr>
            <a:r>
              <a:rPr lang="ja" sz="1600"/>
              <a:t>PUSH型</a:t>
            </a:r>
            <a:endParaRPr sz="1600"/>
          </a:p>
          <a:p>
            <a:pPr marL="914400" lvl="1" indent="-330200" algn="l" rtl="0">
              <a:lnSpc>
                <a:spcPct val="95000"/>
              </a:lnSpc>
              <a:spcBef>
                <a:spcPts val="0"/>
              </a:spcBef>
              <a:spcAft>
                <a:spcPts val="0"/>
              </a:spcAft>
              <a:buSzPts val="1600"/>
              <a:buChar char="○"/>
            </a:pPr>
            <a:r>
              <a:rPr lang="ja" sz="1600"/>
              <a:t>FWで特定のIPアドレスやポートを許可しなければならず、セキュリティリスクを高める</a:t>
            </a:r>
            <a:endParaRPr sz="1600"/>
          </a:p>
          <a:p>
            <a:pPr marL="914400" lvl="1" indent="-330200" algn="l" rtl="0">
              <a:lnSpc>
                <a:spcPct val="95000"/>
              </a:lnSpc>
              <a:spcBef>
                <a:spcPts val="0"/>
              </a:spcBef>
              <a:spcAft>
                <a:spcPts val="0"/>
              </a:spcAft>
              <a:buSzPts val="1600"/>
              <a:buChar char="○"/>
            </a:pPr>
            <a:r>
              <a:rPr lang="ja" sz="1600"/>
              <a:t>クライアント側でサーバからの接続を受け入れるための設定が必要となり、クライアント側の構成や設定が複雑になったり、意図しない接続を受け入れてしまうリスクが生じる</a:t>
            </a:r>
            <a:endParaRPr sz="1600"/>
          </a:p>
          <a:p>
            <a:pPr marL="914400" lvl="1" indent="-330200" algn="l" rtl="0">
              <a:lnSpc>
                <a:spcPct val="95000"/>
              </a:lnSpc>
              <a:spcBef>
                <a:spcPts val="0"/>
              </a:spcBef>
              <a:spcAft>
                <a:spcPts val="0"/>
              </a:spcAft>
              <a:buSzPts val="1600"/>
              <a:buChar char="○"/>
            </a:pPr>
            <a:r>
              <a:rPr lang="ja" sz="1600"/>
              <a:t>サーバが各クライアントの状態を管理し、ファイルの送信をトリガーする必要があり、大規模な環境では複雑さが増す</a:t>
            </a:r>
            <a:endParaRPr sz="1600"/>
          </a:p>
          <a:p>
            <a:pPr marL="457200" lvl="0" indent="-330200" algn="l" rtl="0">
              <a:lnSpc>
                <a:spcPct val="95000"/>
              </a:lnSpc>
              <a:spcBef>
                <a:spcPts val="0"/>
              </a:spcBef>
              <a:spcAft>
                <a:spcPts val="0"/>
              </a:spcAft>
              <a:buSzPts val="1600"/>
              <a:buChar char="●"/>
            </a:pPr>
            <a:r>
              <a:rPr lang="ja" sz="1600"/>
              <a:t>PULL型</a:t>
            </a:r>
            <a:endParaRPr sz="1600"/>
          </a:p>
          <a:p>
            <a:pPr marL="914400" lvl="1" indent="-330200" algn="l" rtl="0">
              <a:lnSpc>
                <a:spcPct val="95000"/>
              </a:lnSpc>
              <a:spcBef>
                <a:spcPts val="0"/>
              </a:spcBef>
              <a:spcAft>
                <a:spcPts val="0"/>
              </a:spcAft>
              <a:buSzPts val="1600"/>
              <a:buChar char="○"/>
            </a:pPr>
            <a:r>
              <a:rPr lang="ja" sz="1600"/>
              <a:t>多くのクライアントが存在する場合でも管理・スケーラビリティが容易となる。各クライアントは必要に応じてファイルを取得すればよく、サーバ側はリクエストに応じて提供する形になる</a:t>
            </a:r>
            <a:endParaRPr sz="1600"/>
          </a:p>
          <a:p>
            <a:pPr marL="914400" lvl="0" indent="0" algn="l" rtl="0">
              <a:lnSpc>
                <a:spcPct val="95000"/>
              </a:lnSpc>
              <a:spcBef>
                <a:spcPts val="1200"/>
              </a:spcBef>
              <a:spcAft>
                <a:spcPts val="1200"/>
              </a:spcAft>
              <a:buNone/>
            </a:pPr>
            <a:endParaRPr sz="17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8-6.POSマスタ連携 ISHIDA（フェーズ1）</a:t>
            </a: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83" name="Google Shape;283;p4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84" name="Google Shape;284;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30</a:t>
            </a:fld>
            <a:endParaRPr/>
          </a:p>
        </p:txBody>
      </p:sp>
      <p:sp>
        <p:nvSpPr>
          <p:cNvPr id="285" name="Google Shape;285;p42"/>
          <p:cNvSpPr txBox="1"/>
          <p:nvPr/>
        </p:nvSpPr>
        <p:spPr>
          <a:xfrm>
            <a:off x="409450" y="87875"/>
            <a:ext cx="3677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
                <a:solidFill>
                  <a:srgbClr val="FF0000"/>
                </a:solidFill>
              </a:rPr>
              <a:t>※ISHIDA側の仕様上、PUSH型を採用※</a:t>
            </a:r>
            <a:endParaRPr>
              <a:solidFill>
                <a:srgbClr val="FF0000"/>
              </a:solidFill>
            </a:endParaRPr>
          </a:p>
        </p:txBody>
      </p:sp>
      <p:pic>
        <p:nvPicPr>
          <p:cNvPr id="286" name="Google Shape;286;p42" title="【POS】infra_ishida-8-6（送信）.drawio.png"/>
          <p:cNvPicPr preferRelativeResize="0"/>
          <p:nvPr/>
        </p:nvPicPr>
        <p:blipFill>
          <a:blip r:embed="rId4">
            <a:alphaModFix/>
          </a:blip>
          <a:stretch>
            <a:fillRect/>
          </a:stretch>
        </p:blipFill>
        <p:spPr>
          <a:xfrm>
            <a:off x="929825" y="1047400"/>
            <a:ext cx="6810337" cy="38465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3"/>
          <p:cNvSpPr txBox="1">
            <a:spLocks noGrp="1"/>
          </p:cNvSpPr>
          <p:nvPr>
            <p:ph type="title"/>
          </p:nvPr>
        </p:nvSpPr>
        <p:spPr>
          <a:xfrm>
            <a:off x="311700" y="419475"/>
            <a:ext cx="8709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44594"/>
              <a:buFont typeface="Arial"/>
              <a:buNone/>
            </a:pPr>
            <a:r>
              <a:rPr lang="ja">
                <a:highlight>
                  <a:srgbClr val="D9D9D9"/>
                </a:highlight>
              </a:rPr>
              <a:t>8-7.POSマスタ連携：ISHIDA（フェーズ2 a案）</a:t>
            </a:r>
            <a:endParaRPr sz="2466">
              <a:highlight>
                <a:srgbClr val="D9D9D9"/>
              </a:highlight>
            </a:endParaRPr>
          </a:p>
          <a:p>
            <a:pPr marL="0" lvl="0" indent="0" algn="l" rtl="0">
              <a:spcBef>
                <a:spcPts val="0"/>
              </a:spcBef>
              <a:spcAft>
                <a:spcPts val="0"/>
              </a:spcAft>
              <a:buNone/>
            </a:pPr>
            <a:endParaRPr>
              <a:highlight>
                <a:srgbClr val="D9D9D9"/>
              </a:highlight>
            </a:endParaRPr>
          </a:p>
        </p:txBody>
      </p:sp>
      <p:pic>
        <p:nvPicPr>
          <p:cNvPr id="292" name="Google Shape;292;p4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93" name="Google Shape;293;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31</a:t>
            </a:fld>
            <a:endParaRPr/>
          </a:p>
        </p:txBody>
      </p:sp>
      <p:pic>
        <p:nvPicPr>
          <p:cNvPr id="294" name="Google Shape;294;p43" title="【POS】Infra(ishida,kasumi)-8-7.drawio (2).png"/>
          <p:cNvPicPr preferRelativeResize="0"/>
          <p:nvPr/>
        </p:nvPicPr>
        <p:blipFill>
          <a:blip r:embed="rId4">
            <a:alphaModFix/>
          </a:blip>
          <a:stretch>
            <a:fillRect/>
          </a:stretch>
        </p:blipFill>
        <p:spPr>
          <a:xfrm>
            <a:off x="366750" y="1333725"/>
            <a:ext cx="8528676" cy="27422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4"/>
          <p:cNvSpPr txBox="1">
            <a:spLocks noGrp="1"/>
          </p:cNvSpPr>
          <p:nvPr>
            <p:ph type="title"/>
          </p:nvPr>
        </p:nvSpPr>
        <p:spPr>
          <a:xfrm>
            <a:off x="311700" y="419475"/>
            <a:ext cx="8679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ja">
                <a:highlight>
                  <a:srgbClr val="D9D9D9"/>
                </a:highlight>
              </a:rPr>
              <a:t>8-8.POSマスタ連携：ISHIDA（フェーズ2 b案）</a:t>
            </a:r>
            <a:endParaRPr>
              <a:highlight>
                <a:srgbClr val="D9D9D9"/>
              </a:highlight>
            </a:endParaRPr>
          </a:p>
        </p:txBody>
      </p:sp>
      <p:pic>
        <p:nvPicPr>
          <p:cNvPr id="300" name="Google Shape;300;p4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01" name="Google Shape;301;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32</a:t>
            </a:fld>
            <a:endParaRPr/>
          </a:p>
        </p:txBody>
      </p:sp>
      <p:pic>
        <p:nvPicPr>
          <p:cNvPr id="302" name="Google Shape;302;p44" title="【POS】Infra(ishida,kasumi)-8-8.drawio.png"/>
          <p:cNvPicPr preferRelativeResize="0"/>
          <p:nvPr/>
        </p:nvPicPr>
        <p:blipFill>
          <a:blip r:embed="rId4">
            <a:alphaModFix/>
          </a:blip>
          <a:stretch>
            <a:fillRect/>
          </a:stretch>
        </p:blipFill>
        <p:spPr>
          <a:xfrm>
            <a:off x="418225" y="1274725"/>
            <a:ext cx="8466850" cy="28031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8-9.Step①</a:t>
            </a:r>
            <a:r>
              <a:rPr lang="ja" sz="2688">
                <a:highlight>
                  <a:srgbClr val="D9D9D9"/>
                </a:highlight>
              </a:rPr>
              <a:t>マスタ受信（OC）</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08" name="Google Shape;308;p4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09" name="Google Shape;309;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33</a:t>
            </a:fld>
            <a:endParaRPr/>
          </a:p>
        </p:txBody>
      </p:sp>
      <p:pic>
        <p:nvPicPr>
          <p:cNvPr id="310" name="Google Shape;310;p45" title="【POS】infra_ishida-8-10.drawio.png"/>
          <p:cNvPicPr preferRelativeResize="0"/>
          <p:nvPr/>
        </p:nvPicPr>
        <p:blipFill>
          <a:blip r:embed="rId4">
            <a:alphaModFix/>
          </a:blip>
          <a:stretch>
            <a:fillRect/>
          </a:stretch>
        </p:blipFill>
        <p:spPr>
          <a:xfrm>
            <a:off x="2224575" y="992175"/>
            <a:ext cx="4178375" cy="39440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6"/>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8-10.Step②</a:t>
            </a:r>
            <a:r>
              <a:rPr lang="ja" sz="2688">
                <a:highlight>
                  <a:srgbClr val="D9D9D9"/>
                </a:highlight>
              </a:rPr>
              <a:t>マスタ受信（中継サーバ） </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16" name="Google Shape;316;p4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17" name="Google Shape;317;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34</a:t>
            </a:fld>
            <a:endParaRPr/>
          </a:p>
        </p:txBody>
      </p:sp>
      <p:pic>
        <p:nvPicPr>
          <p:cNvPr id="318" name="Google Shape;318;p46" title="【POS】infra_ishida-8-11(中継).drawio.png"/>
          <p:cNvPicPr preferRelativeResize="0"/>
          <p:nvPr/>
        </p:nvPicPr>
        <p:blipFill>
          <a:blip r:embed="rId4">
            <a:alphaModFix/>
          </a:blip>
          <a:stretch>
            <a:fillRect/>
          </a:stretch>
        </p:blipFill>
        <p:spPr>
          <a:xfrm>
            <a:off x="2732600" y="992175"/>
            <a:ext cx="3933073" cy="38465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7"/>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8-11.Step②POS</a:t>
            </a:r>
            <a:r>
              <a:rPr lang="ja" sz="2688">
                <a:highlight>
                  <a:srgbClr val="D9D9D9"/>
                </a:highlight>
              </a:rPr>
              <a:t>マスタ作成（共通）</a:t>
            </a:r>
            <a:endParaRPr>
              <a:highlight>
                <a:srgbClr val="D9D9D9"/>
              </a:highlight>
            </a:endParaRPr>
          </a:p>
        </p:txBody>
      </p:sp>
      <p:pic>
        <p:nvPicPr>
          <p:cNvPr id="324" name="Google Shape;324;p4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25" name="Google Shape;325;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35</a:t>
            </a:fld>
            <a:endParaRPr/>
          </a:p>
        </p:txBody>
      </p:sp>
      <p:pic>
        <p:nvPicPr>
          <p:cNvPr id="326" name="Google Shape;326;p47" title="【POS】infra_ishida-8-11.drawio.png"/>
          <p:cNvPicPr preferRelativeResize="0"/>
          <p:nvPr/>
        </p:nvPicPr>
        <p:blipFill>
          <a:blip r:embed="rId4">
            <a:alphaModFix/>
          </a:blip>
          <a:stretch>
            <a:fillRect/>
          </a:stretch>
        </p:blipFill>
        <p:spPr>
          <a:xfrm>
            <a:off x="2383925" y="1101000"/>
            <a:ext cx="3513418" cy="384652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8-12.③ISHIDAへの送信</a:t>
            </a:r>
            <a:r>
              <a:rPr lang="ja" sz="2688">
                <a:highlight>
                  <a:srgbClr val="D9D9D9"/>
                </a:highlight>
              </a:rPr>
              <a:t>（共通）</a:t>
            </a:r>
            <a:endParaRPr sz="2688">
              <a:highlight>
                <a:srgbClr val="D9D9D9"/>
              </a:highlight>
            </a:endParaRPr>
          </a:p>
          <a:p>
            <a:pPr marL="0" lvl="0" indent="0" algn="l" rtl="0">
              <a:spcBef>
                <a:spcPts val="0"/>
              </a:spcBef>
              <a:spcAft>
                <a:spcPts val="0"/>
              </a:spcAft>
              <a:buNone/>
            </a:pPr>
            <a:endParaRPr sz="2688">
              <a:highlight>
                <a:srgbClr val="D9D9D9"/>
              </a:highlight>
            </a:endParaRPr>
          </a:p>
          <a:p>
            <a:pPr marL="0" lvl="0" indent="0" algn="l" rtl="0">
              <a:spcBef>
                <a:spcPts val="0"/>
              </a:spcBef>
              <a:spcAft>
                <a:spcPts val="0"/>
              </a:spcAft>
              <a:buNone/>
            </a:pPr>
            <a:r>
              <a:rPr lang="ja">
                <a:highlight>
                  <a:srgbClr val="D9D9D9"/>
                </a:highlight>
              </a:rPr>
              <a:t> </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32" name="Google Shape;332;p4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33" name="Google Shape;333;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36</a:t>
            </a:fld>
            <a:endParaRPr/>
          </a:p>
        </p:txBody>
      </p:sp>
      <p:pic>
        <p:nvPicPr>
          <p:cNvPr id="334" name="Google Shape;334;p48" title="【POS】infra_ishida-8-12.drawio.png"/>
          <p:cNvPicPr preferRelativeResize="0"/>
          <p:nvPr/>
        </p:nvPicPr>
        <p:blipFill>
          <a:blip r:embed="rId4">
            <a:alphaModFix/>
          </a:blip>
          <a:stretch>
            <a:fillRect/>
          </a:stretch>
        </p:blipFill>
        <p:spPr>
          <a:xfrm>
            <a:off x="1337900" y="1048700"/>
            <a:ext cx="5667061" cy="38465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ja" sz="3000">
                <a:highlight>
                  <a:srgbClr val="FFFFFF"/>
                </a:highlight>
              </a:rPr>
              <a:t>9.AWSサービス共通</a:t>
            </a:r>
            <a:endParaRPr sz="3000">
              <a:highlight>
                <a:srgbClr val="FFFFFF"/>
              </a:highlight>
            </a:endParaRPr>
          </a:p>
        </p:txBody>
      </p:sp>
      <p:pic>
        <p:nvPicPr>
          <p:cNvPr id="340" name="Google Shape;340;p4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41" name="Google Shape;341;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50"/>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9-1.S3バケット構成 </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47" name="Google Shape;347;p5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48" name="Google Shape;348;p50"/>
          <p:cNvSpPr txBox="1">
            <a:spLocks noGrp="1"/>
          </p:cNvSpPr>
          <p:nvPr>
            <p:ph type="sldNum" idx="12"/>
          </p:nvPr>
        </p:nvSpPr>
        <p:spPr>
          <a:xfrm>
            <a:off x="8472458" y="44810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38</a:t>
            </a:fld>
            <a:endParaRPr/>
          </a:p>
        </p:txBody>
      </p:sp>
      <p:graphicFrame>
        <p:nvGraphicFramePr>
          <p:cNvPr id="349" name="Google Shape;349;p50"/>
          <p:cNvGraphicFramePr/>
          <p:nvPr/>
        </p:nvGraphicFramePr>
        <p:xfrm>
          <a:off x="547113" y="1091850"/>
          <a:ext cx="8049775" cy="3169800"/>
        </p:xfrm>
        <a:graphic>
          <a:graphicData uri="http://schemas.openxmlformats.org/drawingml/2006/table">
            <a:tbl>
              <a:tblPr>
                <a:noFill/>
                <a:tableStyleId>{87A281C8-0844-4F7E-8F5C-31C3930F0FE5}</a:tableStyleId>
              </a:tblPr>
              <a:tblGrid>
                <a:gridCol w="682025">
                  <a:extLst>
                    <a:ext uri="{9D8B030D-6E8A-4147-A177-3AD203B41FA5}">
                      <a16:colId xmlns:a16="http://schemas.microsoft.com/office/drawing/2014/main" val="20000"/>
                    </a:ext>
                  </a:extLst>
                </a:gridCol>
                <a:gridCol w="1378750">
                  <a:extLst>
                    <a:ext uri="{9D8B030D-6E8A-4147-A177-3AD203B41FA5}">
                      <a16:colId xmlns:a16="http://schemas.microsoft.com/office/drawing/2014/main" val="20001"/>
                    </a:ext>
                  </a:extLst>
                </a:gridCol>
                <a:gridCol w="1248175">
                  <a:extLst>
                    <a:ext uri="{9D8B030D-6E8A-4147-A177-3AD203B41FA5}">
                      <a16:colId xmlns:a16="http://schemas.microsoft.com/office/drawing/2014/main" val="20002"/>
                    </a:ext>
                  </a:extLst>
                </a:gridCol>
                <a:gridCol w="1836250">
                  <a:extLst>
                    <a:ext uri="{9D8B030D-6E8A-4147-A177-3AD203B41FA5}">
                      <a16:colId xmlns:a16="http://schemas.microsoft.com/office/drawing/2014/main" val="20003"/>
                    </a:ext>
                  </a:extLst>
                </a:gridCol>
                <a:gridCol w="2904575">
                  <a:extLst>
                    <a:ext uri="{9D8B030D-6E8A-4147-A177-3AD203B41FA5}">
                      <a16:colId xmlns:a16="http://schemas.microsoft.com/office/drawing/2014/main" val="20004"/>
                    </a:ext>
                  </a:extLst>
                </a:gridCol>
              </a:tblGrid>
              <a:tr h="237025">
                <a:tc>
                  <a:txBody>
                    <a:bodyPr/>
                    <a:lstStyle/>
                    <a:p>
                      <a:pPr marL="0" lvl="0" indent="0" algn="l" rtl="0">
                        <a:spcBef>
                          <a:spcPts val="0"/>
                        </a:spcBef>
                        <a:spcAft>
                          <a:spcPts val="0"/>
                        </a:spcAft>
                        <a:buNone/>
                      </a:pPr>
                      <a:r>
                        <a:rPr lang="ja" sz="1000" b="1">
                          <a:solidFill>
                            <a:schemeClr val="dk2"/>
                          </a:solidFill>
                        </a:rPr>
                        <a:t>屋号</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000" b="1">
                          <a:solidFill>
                            <a:schemeClr val="dk2"/>
                          </a:solidFill>
                        </a:rPr>
                        <a:t>連携先</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000" b="1">
                          <a:solidFill>
                            <a:schemeClr val="dk2"/>
                          </a:solidFill>
                        </a:rPr>
                        <a:t>ファイルの種類</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000" b="1">
                          <a:solidFill>
                            <a:schemeClr val="dk2"/>
                          </a:solidFill>
                        </a:rPr>
                        <a:t>バケット</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000" b="1">
                          <a:solidFill>
                            <a:schemeClr val="dk2"/>
                          </a:solidFill>
                        </a:rPr>
                        <a:t>プレフィックス</a:t>
                      </a:r>
                      <a:endParaRPr sz="1000" b="1">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381000">
                <a:tc rowSpan="3">
                  <a:txBody>
                    <a:bodyPr/>
                    <a:lstStyle/>
                    <a:p>
                      <a:pPr marL="0" lvl="0" indent="0" algn="l" rtl="0">
                        <a:spcBef>
                          <a:spcPts val="0"/>
                        </a:spcBef>
                        <a:spcAft>
                          <a:spcPts val="0"/>
                        </a:spcAft>
                        <a:buNone/>
                      </a:pPr>
                      <a:r>
                        <a:rPr lang="ja" sz="1000"/>
                        <a:t>カスミ</a:t>
                      </a:r>
                      <a:endParaRPr sz="1000"/>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ja" sz="1000"/>
                        <a:t>OC</a:t>
                      </a:r>
                      <a:endParaRPr sz="1000"/>
                    </a:p>
                  </a:txBody>
                  <a:tcPr marL="91425" marR="91425" marT="91425" marB="91425"/>
                </a:tc>
                <a:tc rowSpan="2">
                  <a:txBody>
                    <a:bodyPr/>
                    <a:lstStyle/>
                    <a:p>
                      <a:pPr marL="0" lvl="0" indent="0" algn="l" rtl="0">
                        <a:spcBef>
                          <a:spcPts val="0"/>
                        </a:spcBef>
                        <a:spcAft>
                          <a:spcPts val="0"/>
                        </a:spcAft>
                        <a:buNone/>
                      </a:pPr>
                      <a:r>
                        <a:rPr lang="ja" sz="1000"/>
                        <a:t>外部連携マスタ</a:t>
                      </a:r>
                      <a:endParaRPr sz="1000"/>
                    </a:p>
                  </a:txBody>
                  <a:tcPr marL="91425" marR="91425" marT="91425" marB="91425"/>
                </a:tc>
                <a:tc rowSpan="3">
                  <a:txBody>
                    <a:bodyPr/>
                    <a:lstStyle/>
                    <a:p>
                      <a:pPr marL="0" lvl="0" indent="0" algn="l" rtl="0">
                        <a:spcBef>
                          <a:spcPts val="0"/>
                        </a:spcBef>
                        <a:spcAft>
                          <a:spcPts val="0"/>
                        </a:spcAft>
                        <a:buNone/>
                      </a:pPr>
                      <a:r>
                        <a:rPr lang="ja" sz="1000">
                          <a:solidFill>
                            <a:schemeClr val="dk1"/>
                          </a:solidFill>
                        </a:rPr>
                        <a:t>/prd-ignica-ksm（本番）</a:t>
                      </a:r>
                      <a:endParaRPr sz="1000">
                        <a:solidFill>
                          <a:schemeClr val="dk1"/>
                        </a:solidFill>
                      </a:endParaRPr>
                    </a:p>
                    <a:p>
                      <a:pPr marL="0" lvl="0" indent="0" algn="l" rtl="0">
                        <a:spcBef>
                          <a:spcPts val="0"/>
                        </a:spcBef>
                        <a:spcAft>
                          <a:spcPts val="0"/>
                        </a:spcAft>
                        <a:buNone/>
                      </a:pPr>
                      <a:r>
                        <a:rPr lang="ja" sz="1000">
                          <a:solidFill>
                            <a:schemeClr val="dk1"/>
                          </a:solidFill>
                        </a:rPr>
                        <a:t>/stg-ignica-ksm（STG）</a:t>
                      </a:r>
                      <a:endParaRPr sz="1000">
                        <a:solidFill>
                          <a:schemeClr val="dk1"/>
                        </a:solidFill>
                      </a:endParaRPr>
                    </a:p>
                    <a:p>
                      <a:pPr marL="0" lvl="0" indent="0" algn="l" rtl="0">
                        <a:spcBef>
                          <a:spcPts val="0"/>
                        </a:spcBef>
                        <a:spcAft>
                          <a:spcPts val="0"/>
                        </a:spcAft>
                        <a:buNone/>
                      </a:pPr>
                      <a:r>
                        <a:rPr lang="ja" sz="1000">
                          <a:solidFill>
                            <a:schemeClr val="dk1"/>
                          </a:solidFill>
                        </a:rPr>
                        <a:t>/spk-ignica-ksm（スパイク）</a:t>
                      </a:r>
                      <a:endParaRPr sz="1000">
                        <a:solidFill>
                          <a:schemeClr val="dk1"/>
                        </a:solidFill>
                      </a:endParaRPr>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ja" sz="1000">
                          <a:solidFill>
                            <a:schemeClr val="dk1"/>
                          </a:solidFill>
                        </a:rPr>
                        <a:t>/pos-original/oc</a:t>
                      </a:r>
                      <a:endParaRPr sz="1000">
                        <a:solidFill>
                          <a:schemeClr val="dk1"/>
                        </a:solidFill>
                      </a:endParaRPr>
                    </a:p>
                    <a:p>
                      <a:pPr marL="457200" lvl="0" indent="0" algn="l" rtl="0">
                        <a:spcBef>
                          <a:spcPts val="0"/>
                        </a:spcBef>
                        <a:spcAft>
                          <a:spcPts val="0"/>
                        </a:spcAft>
                        <a:buNone/>
                      </a:pPr>
                      <a:r>
                        <a:rPr lang="ja" sz="1000">
                          <a:solidFill>
                            <a:schemeClr val="accent5"/>
                          </a:solidFill>
                        </a:rPr>
                        <a:t>/receive</a:t>
                      </a:r>
                      <a:r>
                        <a:rPr lang="ja" sz="1000">
                          <a:solidFill>
                            <a:schemeClr val="dk1"/>
                          </a:solidFill>
                        </a:rPr>
                        <a:t> ←ENDも含む</a:t>
                      </a:r>
                      <a:endParaRPr sz="1000">
                        <a:solidFill>
                          <a:schemeClr val="dk1"/>
                        </a:solidFill>
                      </a:endParaRPr>
                    </a:p>
                    <a:p>
                      <a:pPr marL="457200" lvl="0" indent="0" algn="l" rtl="0">
                        <a:spcBef>
                          <a:spcPts val="0"/>
                        </a:spcBef>
                        <a:spcAft>
                          <a:spcPts val="0"/>
                        </a:spcAft>
                        <a:buNone/>
                      </a:pPr>
                      <a:r>
                        <a:rPr lang="ja" sz="1000">
                          <a:solidFill>
                            <a:srgbClr val="9900FF"/>
                          </a:solidFill>
                        </a:rPr>
                        <a:t>/csv/{店舗コード}</a:t>
                      </a:r>
                      <a:endParaRPr sz="1000">
                        <a:solidFill>
                          <a:srgbClr val="9900FF"/>
                        </a:solidFill>
                      </a:endParaRPr>
                    </a:p>
                    <a:p>
                      <a:pPr marL="457200" lvl="0" indent="0" algn="l" rtl="0">
                        <a:spcBef>
                          <a:spcPts val="0"/>
                        </a:spcBef>
                        <a:spcAft>
                          <a:spcPts val="0"/>
                        </a:spcAft>
                        <a:buNone/>
                      </a:pPr>
                      <a:r>
                        <a:rPr lang="ja" sz="1000">
                          <a:solidFill>
                            <a:schemeClr val="accent1"/>
                          </a:solidFill>
                        </a:rPr>
                        <a:t>/backup/{店舗コード}</a:t>
                      </a:r>
                      <a:r>
                        <a:rPr lang="ja" sz="1000">
                          <a:solidFill>
                            <a:schemeClr val="dk1"/>
                          </a:solidFill>
                        </a:rPr>
                        <a:t>　←処理後に/csvからの移動 </a:t>
                      </a:r>
                      <a:endParaRPr sz="1000">
                        <a:solidFill>
                          <a:schemeClr val="dk1"/>
                        </a:solidFill>
                      </a:endParaRPr>
                    </a:p>
                    <a:p>
                      <a:pPr marL="457200" lvl="0" indent="0" algn="l" rtl="0">
                        <a:spcBef>
                          <a:spcPts val="0"/>
                        </a:spcBef>
                        <a:spcAft>
                          <a:spcPts val="0"/>
                        </a:spcAft>
                        <a:buClr>
                          <a:schemeClr val="dk1"/>
                        </a:buClr>
                        <a:buSzPts val="1100"/>
                        <a:buFont typeface="Arial"/>
                        <a:buNone/>
                      </a:pPr>
                      <a:r>
                        <a:rPr lang="ja" sz="1000">
                          <a:solidFill>
                            <a:schemeClr val="accent4"/>
                          </a:solidFill>
                        </a:rPr>
                        <a:t>/log</a:t>
                      </a:r>
                      <a:r>
                        <a:rPr lang="ja" sz="1000">
                          <a:solidFill>
                            <a:schemeClr val="dk1"/>
                          </a:solidFill>
                        </a:rPr>
                        <a:t>　←アプリが出力</a:t>
                      </a:r>
                      <a:endParaRPr sz="1000">
                        <a:solidFill>
                          <a:schemeClr val="dk1"/>
                        </a:solidFill>
                      </a:endParaRPr>
                    </a:p>
                  </a:txBody>
                  <a:tcPr marL="91425" marR="91425" marT="91425" marB="91425"/>
                </a:tc>
                <a:extLst>
                  <a:ext uri="{0D108BD9-81ED-4DB2-BD59-A6C34878D82A}">
                    <a16:rowId xmlns:a16="http://schemas.microsoft.com/office/drawing/2014/main" val="10001"/>
                  </a:ext>
                </a:extLst>
              </a:tr>
              <a:tr h="0">
                <a:tc vMerge="1">
                  <a:txBody>
                    <a:bodyPr/>
                    <a:lstStyle/>
                    <a:p>
                      <a:endParaRPr lang="en-US"/>
                    </a:p>
                  </a:txBody>
                  <a:tcPr/>
                </a:tc>
                <a:tc>
                  <a:txBody>
                    <a:bodyPr/>
                    <a:lstStyle/>
                    <a:p>
                      <a:pPr marL="0" lvl="0" indent="0" algn="l" rtl="0">
                        <a:spcBef>
                          <a:spcPts val="0"/>
                        </a:spcBef>
                        <a:spcAft>
                          <a:spcPts val="0"/>
                        </a:spcAft>
                        <a:buNone/>
                      </a:pPr>
                      <a:r>
                        <a:rPr lang="ja" sz="1000"/>
                        <a:t>Scan&amp;Go I/F</a:t>
                      </a:r>
                      <a:endParaRPr sz="1000"/>
                    </a:p>
                    <a:p>
                      <a:pPr marL="0" lvl="0" indent="0" algn="l" rtl="0">
                        <a:spcBef>
                          <a:spcPts val="0"/>
                        </a:spcBef>
                        <a:spcAft>
                          <a:spcPts val="0"/>
                        </a:spcAft>
                        <a:buNone/>
                      </a:pPr>
                      <a:r>
                        <a:rPr lang="ja" sz="1000"/>
                        <a:t>中継サーバ</a:t>
                      </a:r>
                      <a:endParaRPr sz="1000"/>
                    </a:p>
                  </a:txBody>
                  <a:tcPr marL="91425" marR="91425" marT="91425" marB="91425"/>
                </a:tc>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Clr>
                          <a:schemeClr val="dk1"/>
                        </a:buClr>
                        <a:buSzPts val="1100"/>
                        <a:buFont typeface="Arial"/>
                        <a:buNone/>
                      </a:pPr>
                      <a:r>
                        <a:rPr lang="ja" sz="1000">
                          <a:solidFill>
                            <a:schemeClr val="dk1"/>
                          </a:solidFill>
                        </a:rPr>
                        <a:t>/pos-original/sg</a:t>
                      </a:r>
                      <a:endParaRPr sz="1000">
                        <a:solidFill>
                          <a:schemeClr val="dk1"/>
                        </a:solidFill>
                      </a:endParaRPr>
                    </a:p>
                    <a:p>
                      <a:pPr marL="457200" lvl="0" indent="0" algn="l" rtl="0">
                        <a:spcBef>
                          <a:spcPts val="0"/>
                        </a:spcBef>
                        <a:spcAft>
                          <a:spcPts val="0"/>
                        </a:spcAft>
                        <a:buClr>
                          <a:schemeClr val="dk1"/>
                        </a:buClr>
                        <a:buSzPts val="1100"/>
                        <a:buFont typeface="Arial"/>
                        <a:buNone/>
                      </a:pPr>
                      <a:r>
                        <a:rPr lang="ja" sz="1000">
                          <a:solidFill>
                            <a:schemeClr val="accent5"/>
                          </a:solidFill>
                        </a:rPr>
                        <a:t>/receive</a:t>
                      </a:r>
                      <a:r>
                        <a:rPr lang="ja" sz="1000">
                          <a:solidFill>
                            <a:schemeClr val="dk1"/>
                          </a:solidFill>
                        </a:rPr>
                        <a:t>　←ENDも含む</a:t>
                      </a:r>
                      <a:endParaRPr sz="1000">
                        <a:solidFill>
                          <a:schemeClr val="dk1"/>
                        </a:solidFill>
                      </a:endParaRPr>
                    </a:p>
                    <a:p>
                      <a:pPr marL="457200" lvl="0" indent="0" algn="l" rtl="0">
                        <a:spcBef>
                          <a:spcPts val="0"/>
                        </a:spcBef>
                        <a:spcAft>
                          <a:spcPts val="0"/>
                        </a:spcAft>
                        <a:buClr>
                          <a:schemeClr val="dk1"/>
                        </a:buClr>
                        <a:buSzPts val="1100"/>
                        <a:buFont typeface="Arial"/>
                        <a:buNone/>
                      </a:pPr>
                      <a:r>
                        <a:rPr lang="ja" sz="1000">
                          <a:solidFill>
                            <a:srgbClr val="FF00FF"/>
                          </a:solidFill>
                        </a:rPr>
                        <a:t>/csv/{店舗コード}</a:t>
                      </a:r>
                      <a:endParaRPr sz="1000">
                        <a:solidFill>
                          <a:srgbClr val="FF00FF"/>
                        </a:solidFill>
                      </a:endParaRPr>
                    </a:p>
                    <a:p>
                      <a:pPr marL="457200" lvl="0" indent="0" algn="l" rtl="0">
                        <a:spcBef>
                          <a:spcPts val="0"/>
                        </a:spcBef>
                        <a:spcAft>
                          <a:spcPts val="0"/>
                        </a:spcAft>
                        <a:buClr>
                          <a:schemeClr val="dk1"/>
                        </a:buClr>
                        <a:buSzPts val="1100"/>
                        <a:buFont typeface="Arial"/>
                        <a:buNone/>
                      </a:pPr>
                      <a:r>
                        <a:rPr lang="ja" sz="1000">
                          <a:solidFill>
                            <a:schemeClr val="accent1"/>
                          </a:solidFill>
                        </a:rPr>
                        <a:t>/backup/{店舗コード}</a:t>
                      </a:r>
                      <a:endParaRPr sz="1000">
                        <a:solidFill>
                          <a:schemeClr val="accent1"/>
                        </a:solidFill>
                      </a:endParaRPr>
                    </a:p>
                    <a:p>
                      <a:pPr marL="457200" lvl="0" indent="0" algn="l" rtl="0">
                        <a:spcBef>
                          <a:spcPts val="0"/>
                        </a:spcBef>
                        <a:spcAft>
                          <a:spcPts val="0"/>
                        </a:spcAft>
                        <a:buClr>
                          <a:schemeClr val="dk1"/>
                        </a:buClr>
                        <a:buSzPts val="1100"/>
                        <a:buFont typeface="Arial"/>
                        <a:buNone/>
                      </a:pPr>
                      <a:r>
                        <a:rPr lang="ja" sz="1000">
                          <a:solidFill>
                            <a:schemeClr val="accent4"/>
                          </a:solidFill>
                        </a:rPr>
                        <a:t>/log</a:t>
                      </a:r>
                      <a:endParaRPr sz="1000">
                        <a:solidFill>
                          <a:schemeClr val="accent4"/>
                        </a:solidFill>
                      </a:endParaRPr>
                    </a:p>
                  </a:txBody>
                  <a:tcPr marL="91425" marR="91425" marT="91425" marB="91425"/>
                </a:tc>
                <a:extLst>
                  <a:ext uri="{0D108BD9-81ED-4DB2-BD59-A6C34878D82A}">
                    <a16:rowId xmlns:a16="http://schemas.microsoft.com/office/drawing/2014/main" val="10002"/>
                  </a:ext>
                </a:extLst>
              </a:tr>
              <a:tr h="0">
                <a:tc vMerge="1">
                  <a:txBody>
                    <a:bodyPr/>
                    <a:lstStyle/>
                    <a:p>
                      <a:endParaRPr lang="en-US"/>
                    </a:p>
                  </a:txBody>
                  <a:tcPr/>
                </a:tc>
                <a:tc>
                  <a:txBody>
                    <a:bodyPr/>
                    <a:lstStyle/>
                    <a:p>
                      <a:pPr marL="0" lvl="0" indent="0" algn="l" rtl="0">
                        <a:spcBef>
                          <a:spcPts val="0"/>
                        </a:spcBef>
                        <a:spcAft>
                          <a:spcPts val="0"/>
                        </a:spcAft>
                        <a:buNone/>
                      </a:pPr>
                      <a:r>
                        <a:rPr lang="ja" sz="1000"/>
                        <a:t>ISHIDA電子棚札</a:t>
                      </a:r>
                      <a:endParaRPr sz="1000"/>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ja" sz="1000"/>
                        <a:t>POSマスタ</a:t>
                      </a:r>
                      <a:endParaRPr sz="1000"/>
                    </a:p>
                  </a:txBody>
                  <a:tcPr marL="91425" marR="91425" marT="91425" marB="91425">
                    <a:lnB w="9525" cap="flat" cmpd="sng">
                      <a:solidFill>
                        <a:srgbClr val="666666"/>
                      </a:solidFill>
                      <a:prstDash val="solid"/>
                      <a:round/>
                      <a:headEnd type="none" w="sm" len="sm"/>
                      <a:tailEnd type="none" w="sm" len="sm"/>
                    </a:lnB>
                  </a:tcPr>
                </a:tc>
                <a:tc vMerge="1">
                  <a:txBody>
                    <a:bodyPr/>
                    <a:lstStyle/>
                    <a:p>
                      <a:endParaRPr lang="en-US"/>
                    </a:p>
                  </a:txBody>
                  <a:tcPr/>
                </a:tc>
                <a:tc>
                  <a:txBody>
                    <a:bodyPr/>
                    <a:lstStyle/>
                    <a:p>
                      <a:pPr marL="0" lvl="0" indent="0" algn="l" rtl="0">
                        <a:spcBef>
                          <a:spcPts val="0"/>
                        </a:spcBef>
                        <a:spcAft>
                          <a:spcPts val="0"/>
                        </a:spcAft>
                        <a:buNone/>
                      </a:pPr>
                      <a:r>
                        <a:rPr lang="ja" sz="1000">
                          <a:solidFill>
                            <a:schemeClr val="dk1"/>
                          </a:solidFill>
                        </a:rPr>
                        <a:t>/pos-master/ishida</a:t>
                      </a:r>
                      <a:endParaRPr sz="1000">
                        <a:solidFill>
                          <a:schemeClr val="dk1"/>
                        </a:solidFill>
                      </a:endParaRPr>
                    </a:p>
                    <a:p>
                      <a:pPr marL="457200" lvl="0" indent="0" algn="l" rtl="0">
                        <a:spcBef>
                          <a:spcPts val="0"/>
                        </a:spcBef>
                        <a:spcAft>
                          <a:spcPts val="0"/>
                        </a:spcAft>
                        <a:buNone/>
                      </a:pPr>
                      <a:r>
                        <a:rPr lang="ja" sz="1000">
                          <a:solidFill>
                            <a:srgbClr val="FF00FF"/>
                          </a:solidFill>
                        </a:rPr>
                        <a:t>/csv/{店舗コード}</a:t>
                      </a:r>
                      <a:endParaRPr sz="1000">
                        <a:solidFill>
                          <a:srgbClr val="FF00FF"/>
                        </a:solidFill>
                      </a:endParaRPr>
                    </a:p>
                    <a:p>
                      <a:pPr marL="457200" lvl="0" indent="0" algn="l" rtl="0">
                        <a:spcBef>
                          <a:spcPts val="0"/>
                        </a:spcBef>
                        <a:spcAft>
                          <a:spcPts val="0"/>
                        </a:spcAft>
                        <a:buClr>
                          <a:schemeClr val="dk1"/>
                        </a:buClr>
                        <a:buSzPts val="1100"/>
                        <a:buFont typeface="Arial"/>
                        <a:buNone/>
                      </a:pPr>
                      <a:r>
                        <a:rPr lang="ja" sz="1000">
                          <a:solidFill>
                            <a:schemeClr val="accent1"/>
                          </a:solidFill>
                        </a:rPr>
                        <a:t>/backup/{店舗コード}</a:t>
                      </a:r>
                      <a:endParaRPr sz="1000">
                        <a:solidFill>
                          <a:schemeClr val="accent1"/>
                        </a:solidFill>
                      </a:endParaRPr>
                    </a:p>
                    <a:p>
                      <a:pPr marL="457200" lvl="0" indent="0" algn="l" rtl="0">
                        <a:spcBef>
                          <a:spcPts val="0"/>
                        </a:spcBef>
                        <a:spcAft>
                          <a:spcPts val="0"/>
                        </a:spcAft>
                        <a:buNone/>
                      </a:pPr>
                      <a:r>
                        <a:rPr lang="ja" sz="1000">
                          <a:solidFill>
                            <a:schemeClr val="accent4"/>
                          </a:solidFill>
                        </a:rPr>
                        <a:t>/log</a:t>
                      </a:r>
                      <a:endParaRPr sz="1000">
                        <a:solidFill>
                          <a:schemeClr val="accent4"/>
                        </a:solidFill>
                      </a:endParaRPr>
                    </a:p>
                  </a:txBody>
                  <a:tcPr marL="91425" marR="91425" marT="91425" marB="91425">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9-2.データベース</a:t>
            </a:r>
            <a:endParaRPr>
              <a:highlight>
                <a:srgbClr val="D9D9D9"/>
              </a:highlight>
            </a:endParaRPr>
          </a:p>
        </p:txBody>
      </p:sp>
      <p:pic>
        <p:nvPicPr>
          <p:cNvPr id="355" name="Google Shape;355;p5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56" name="Google Shape;356;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39</a:t>
            </a:fld>
            <a:endParaRPr/>
          </a:p>
        </p:txBody>
      </p:sp>
      <p:graphicFrame>
        <p:nvGraphicFramePr>
          <p:cNvPr id="357" name="Google Shape;357;p51"/>
          <p:cNvGraphicFramePr/>
          <p:nvPr/>
        </p:nvGraphicFramePr>
        <p:xfrm>
          <a:off x="510975" y="1104988"/>
          <a:ext cx="7763550" cy="3907479"/>
        </p:xfrm>
        <a:graphic>
          <a:graphicData uri="http://schemas.openxmlformats.org/drawingml/2006/table">
            <a:tbl>
              <a:tblPr>
                <a:noFill/>
                <a:tableStyleId>{87A281C8-0844-4F7E-8F5C-31C3930F0FE5}</a:tableStyleId>
              </a:tblPr>
              <a:tblGrid>
                <a:gridCol w="1616150">
                  <a:extLst>
                    <a:ext uri="{9D8B030D-6E8A-4147-A177-3AD203B41FA5}">
                      <a16:colId xmlns:a16="http://schemas.microsoft.com/office/drawing/2014/main" val="20000"/>
                    </a:ext>
                  </a:extLst>
                </a:gridCol>
                <a:gridCol w="3142725">
                  <a:extLst>
                    <a:ext uri="{9D8B030D-6E8A-4147-A177-3AD203B41FA5}">
                      <a16:colId xmlns:a16="http://schemas.microsoft.com/office/drawing/2014/main" val="20001"/>
                    </a:ext>
                  </a:extLst>
                </a:gridCol>
                <a:gridCol w="3004675">
                  <a:extLst>
                    <a:ext uri="{9D8B030D-6E8A-4147-A177-3AD203B41FA5}">
                      <a16:colId xmlns:a16="http://schemas.microsoft.com/office/drawing/2014/main" val="20002"/>
                    </a:ext>
                  </a:extLst>
                </a:gridCol>
              </a:tblGrid>
              <a:tr h="550375">
                <a:tc>
                  <a:txBody>
                    <a:bodyPr/>
                    <a:lstStyle/>
                    <a:p>
                      <a:pPr marL="0" lvl="0" indent="0" algn="l" rtl="0">
                        <a:spcBef>
                          <a:spcPts val="0"/>
                        </a:spcBef>
                        <a:spcAft>
                          <a:spcPts val="0"/>
                        </a:spcAft>
                        <a:buNone/>
                      </a:pPr>
                      <a:r>
                        <a:rPr lang="ja" sz="1200" b="1">
                          <a:solidFill>
                            <a:schemeClr val="dk2"/>
                          </a:solidFill>
                        </a:rPr>
                        <a:t>特徴</a:t>
                      </a:r>
                      <a:endParaRPr sz="12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200" b="1">
                          <a:solidFill>
                            <a:schemeClr val="dk2"/>
                          </a:solidFill>
                        </a:rPr>
                        <a:t>Auroraサーバレス</a:t>
                      </a:r>
                      <a:endParaRPr sz="1200" b="1">
                        <a:solidFill>
                          <a:schemeClr val="dk2"/>
                        </a:solidFill>
                      </a:endParaRPr>
                    </a:p>
                    <a:p>
                      <a:pPr marL="0" lvl="0" indent="0" algn="l" rtl="0">
                        <a:spcBef>
                          <a:spcPts val="0"/>
                        </a:spcBef>
                        <a:spcAft>
                          <a:spcPts val="0"/>
                        </a:spcAft>
                        <a:buNone/>
                      </a:pPr>
                      <a:r>
                        <a:rPr lang="ja" sz="1200" b="1">
                          <a:solidFill>
                            <a:srgbClr val="FF0000"/>
                          </a:solidFill>
                        </a:rPr>
                        <a:t>※採用※</a:t>
                      </a:r>
                      <a:endParaRPr sz="1200" b="1">
                        <a:solidFill>
                          <a:srgbClr val="FF0000"/>
                        </a:solidFill>
                      </a:endParaRPr>
                    </a:p>
                  </a:txBody>
                  <a:tcPr marL="91425" marR="91425" marT="91425" marB="91425">
                    <a:lnB w="9525" cap="flat" cmpd="sng">
                      <a:solidFill>
                        <a:srgbClr val="9E9E9E"/>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ja" sz="1200" b="1">
                          <a:solidFill>
                            <a:schemeClr val="dk2"/>
                          </a:solidFill>
                        </a:rPr>
                        <a:t>RDS</a:t>
                      </a:r>
                      <a:endParaRPr sz="1200" b="1">
                        <a:solidFill>
                          <a:schemeClr val="dk2"/>
                        </a:solidFill>
                      </a:endParaRPr>
                    </a:p>
                  </a:txBody>
                  <a:tcPr marL="91425" marR="91425" marT="91425" marB="91425">
                    <a:lnB w="9525"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1539650">
                <a:tc>
                  <a:txBody>
                    <a:bodyPr/>
                    <a:lstStyle/>
                    <a:p>
                      <a:pPr marL="0" lvl="0" indent="0" algn="l" rtl="0">
                        <a:spcBef>
                          <a:spcPts val="0"/>
                        </a:spcBef>
                        <a:spcAft>
                          <a:spcPts val="0"/>
                        </a:spcAft>
                        <a:buNone/>
                      </a:pPr>
                      <a:r>
                        <a:rPr lang="ja" sz="1200"/>
                        <a:t>ユースケース</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ja" sz="1200">
                          <a:solidFill>
                            <a:srgbClr val="0F141A"/>
                          </a:solidFill>
                          <a:highlight>
                            <a:srgbClr val="FFFFFF"/>
                          </a:highlight>
                        </a:rPr>
                        <a:t>・負荷が一定ではない</a:t>
                      </a:r>
                      <a:endParaRPr sz="1200">
                        <a:solidFill>
                          <a:srgbClr val="0F141A"/>
                        </a:solidFill>
                        <a:highlight>
                          <a:srgbClr val="FFFFFF"/>
                        </a:highlight>
                      </a:endParaRPr>
                    </a:p>
                    <a:p>
                      <a:pPr marL="0" lvl="0" indent="0" algn="l" rtl="0">
                        <a:spcBef>
                          <a:spcPts val="0"/>
                        </a:spcBef>
                        <a:spcAft>
                          <a:spcPts val="0"/>
                        </a:spcAft>
                        <a:buNone/>
                      </a:pPr>
                      <a:r>
                        <a:rPr lang="ja" sz="1200">
                          <a:solidFill>
                            <a:srgbClr val="0F141A"/>
                          </a:solidFill>
                          <a:highlight>
                            <a:srgbClr val="FFFFFF"/>
                          </a:highlight>
                        </a:rPr>
                        <a:t>・突然で予測不可能なアクティビティの増加が発生する可能性がある</a:t>
                      </a:r>
                      <a:endParaRPr sz="1200">
                        <a:solidFill>
                          <a:srgbClr val="0F141A"/>
                        </a:solidFill>
                        <a:highlight>
                          <a:srgbClr val="FFFFFF"/>
                        </a:highlight>
                      </a:endParaRPr>
                    </a:p>
                    <a:p>
                      <a:pPr marL="0" lvl="0" indent="0" algn="l" rtl="0">
                        <a:lnSpc>
                          <a:spcPct val="137500"/>
                        </a:lnSpc>
                        <a:spcBef>
                          <a:spcPts val="600"/>
                        </a:spcBef>
                        <a:spcAft>
                          <a:spcPts val="2100"/>
                        </a:spcAft>
                        <a:buNone/>
                      </a:pPr>
                      <a:r>
                        <a:rPr lang="ja" sz="1200">
                          <a:solidFill>
                            <a:srgbClr val="0F141A"/>
                          </a:solidFill>
                          <a:highlight>
                            <a:srgbClr val="FFFFFF"/>
                          </a:highlight>
                        </a:rPr>
                        <a:t>・ステージング環境などで、データベースが使用されていない場合は、すべての DB インスタンスがスケールダウンすることで、不要な料金が発生させたくない</a:t>
                      </a:r>
                      <a:endParaRPr sz="1200">
                        <a:solidFill>
                          <a:srgbClr val="0F141A"/>
                        </a:solidFill>
                        <a:highlight>
                          <a:srgbClr val="FFFFFF"/>
                        </a:highlight>
                      </a:endParaRPr>
                    </a:p>
                  </a:txBody>
                  <a:tcPr marL="91425" marR="91425" marT="91425" marB="91425">
                    <a:lnL w="9525" cap="flat" cmpd="sng">
                      <a:solidFill>
                        <a:srgbClr val="9E9E9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solidFill>
                            <a:schemeClr val="dk1"/>
                          </a:solidFill>
                          <a:highlight>
                            <a:srgbClr val="FFFFFF"/>
                          </a:highlight>
                        </a:rPr>
                        <a:t>存のデータベースをAWSに移行したい</a:t>
                      </a:r>
                      <a:endParaRPr sz="1200">
                        <a:solidFill>
                          <a:schemeClr val="dk1"/>
                        </a:solidFill>
                        <a:highlight>
                          <a:srgbClr val="FFFFFF"/>
                        </a:highlight>
                      </a:endParaRPr>
                    </a:p>
                    <a:p>
                      <a:pPr marL="0" lvl="0" indent="0" algn="l" rtl="0">
                        <a:spcBef>
                          <a:spcPts val="0"/>
                        </a:spcBef>
                        <a:spcAft>
                          <a:spcPts val="0"/>
                        </a:spcAft>
                        <a:buNone/>
                      </a:pPr>
                      <a:r>
                        <a:rPr lang="ja" sz="1200">
                          <a:solidFill>
                            <a:schemeClr val="dk1"/>
                          </a:solidFill>
                          <a:highlight>
                            <a:srgbClr val="FFFFFF"/>
                          </a:highlight>
                        </a:rPr>
                        <a:t>・データベースの運用管理を自分でコントロールしたい</a:t>
                      </a:r>
                      <a:endParaRPr sz="1200">
                        <a:solidFill>
                          <a:schemeClr val="dk1"/>
                        </a:solidFill>
                        <a:highlight>
                          <a:srgbClr val="FFFFFF"/>
                        </a:highlight>
                      </a:endParaRPr>
                    </a:p>
                    <a:p>
                      <a:pPr marL="0" lvl="0" indent="0" algn="l" rtl="0">
                        <a:spcBef>
                          <a:spcPts val="0"/>
                        </a:spcBef>
                        <a:spcAft>
                          <a:spcPts val="0"/>
                        </a:spcAft>
                        <a:buNone/>
                      </a:pPr>
                      <a:r>
                        <a:rPr lang="ja" sz="1200">
                          <a:solidFill>
                            <a:schemeClr val="dk1"/>
                          </a:solidFill>
                          <a:highlight>
                            <a:srgbClr val="FFFFFF"/>
                          </a:highlight>
                        </a:rPr>
                        <a:t>・既</a:t>
                      </a:r>
                      <a:endParaRPr sz="1200">
                        <a:solidFill>
                          <a:srgbClr val="545D7E"/>
                        </a:solidFill>
                        <a:highlight>
                          <a:srgbClr val="FFFFFF"/>
                        </a:highlight>
                      </a:endParaRPr>
                    </a:p>
                    <a:p>
                      <a:pPr marL="0" lvl="0" indent="0" algn="l" rtl="0">
                        <a:spcBef>
                          <a:spcPts val="0"/>
                        </a:spcBef>
                        <a:spcAft>
                          <a:spcPts val="0"/>
                        </a:spcAft>
                        <a:buNone/>
                      </a:pPr>
                      <a:endParaRPr sz="12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32750">
                <a:tc>
                  <a:txBody>
                    <a:bodyPr/>
                    <a:lstStyle/>
                    <a:p>
                      <a:pPr marL="0" lvl="0" indent="0" algn="l" rtl="0">
                        <a:spcBef>
                          <a:spcPts val="0"/>
                        </a:spcBef>
                        <a:spcAft>
                          <a:spcPts val="0"/>
                        </a:spcAft>
                        <a:buNone/>
                      </a:pPr>
                      <a:r>
                        <a:rPr lang="ja" sz="1200"/>
                        <a:t>インスタンス管理</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ja" sz="1200"/>
                        <a:t>AWSが管理</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t>手動管理</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05750">
                <a:tc>
                  <a:txBody>
                    <a:bodyPr/>
                    <a:lstStyle/>
                    <a:p>
                      <a:pPr marL="0" lvl="0" indent="0" algn="l" rtl="0">
                        <a:spcBef>
                          <a:spcPts val="0"/>
                        </a:spcBef>
                        <a:spcAft>
                          <a:spcPts val="0"/>
                        </a:spcAft>
                        <a:buNone/>
                      </a:pPr>
                      <a:r>
                        <a:rPr lang="ja" sz="1200"/>
                        <a:t>スケーリング</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ja" sz="1200"/>
                        <a:t>自動。ACU（処理性能）を調整</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t>手動</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77425">
                <a:tc>
                  <a:txBody>
                    <a:bodyPr/>
                    <a:lstStyle/>
                    <a:p>
                      <a:pPr marL="0" lvl="0" indent="0" algn="l" rtl="0">
                        <a:spcBef>
                          <a:spcPts val="0"/>
                        </a:spcBef>
                        <a:spcAft>
                          <a:spcPts val="0"/>
                        </a:spcAft>
                        <a:buNone/>
                      </a:pPr>
                      <a:r>
                        <a:rPr lang="ja" sz="1200"/>
                        <a:t>コスト</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ja" sz="1200">
                          <a:solidFill>
                            <a:srgbClr val="001D35"/>
                          </a:solidFill>
                          <a:highlight>
                            <a:srgbClr val="FFFFFF"/>
                          </a:highlight>
                        </a:rPr>
                        <a:t>データベースの利用量（CPU、メモリ、ストレージ）に応じて課金される</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solidFill>
                            <a:srgbClr val="001D35"/>
                          </a:solidFill>
                          <a:highlight>
                            <a:srgbClr val="FFFFFF"/>
                          </a:highlight>
                        </a:rPr>
                        <a:t>DBインスタンスのサイズや種類によって課金される。使用量に応じて課金される場合もある</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5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9-3.バックアップ</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63" name="Google Shape;363;p5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64" name="Google Shape;364;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40</a:t>
            </a:fld>
            <a:endParaRPr/>
          </a:p>
        </p:txBody>
      </p:sp>
      <p:graphicFrame>
        <p:nvGraphicFramePr>
          <p:cNvPr id="365" name="Google Shape;365;p52"/>
          <p:cNvGraphicFramePr/>
          <p:nvPr/>
        </p:nvGraphicFramePr>
        <p:xfrm>
          <a:off x="682375" y="1383150"/>
          <a:ext cx="7481950" cy="1615350"/>
        </p:xfrm>
        <a:graphic>
          <a:graphicData uri="http://schemas.openxmlformats.org/drawingml/2006/table">
            <a:tbl>
              <a:tblPr>
                <a:noFill/>
                <a:tableStyleId>{87A281C8-0844-4F7E-8F5C-31C3930F0FE5}</a:tableStyleId>
              </a:tblPr>
              <a:tblGrid>
                <a:gridCol w="1019575">
                  <a:extLst>
                    <a:ext uri="{9D8B030D-6E8A-4147-A177-3AD203B41FA5}">
                      <a16:colId xmlns:a16="http://schemas.microsoft.com/office/drawing/2014/main" val="20000"/>
                    </a:ext>
                  </a:extLst>
                </a:gridCol>
                <a:gridCol w="2154125">
                  <a:extLst>
                    <a:ext uri="{9D8B030D-6E8A-4147-A177-3AD203B41FA5}">
                      <a16:colId xmlns:a16="http://schemas.microsoft.com/office/drawing/2014/main" val="20001"/>
                    </a:ext>
                  </a:extLst>
                </a:gridCol>
                <a:gridCol w="1740775">
                  <a:extLst>
                    <a:ext uri="{9D8B030D-6E8A-4147-A177-3AD203B41FA5}">
                      <a16:colId xmlns:a16="http://schemas.microsoft.com/office/drawing/2014/main" val="20002"/>
                    </a:ext>
                  </a:extLst>
                </a:gridCol>
                <a:gridCol w="2567475">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ja" b="1"/>
                        <a:t>区分</a:t>
                      </a:r>
                      <a:endParaRPr b="1"/>
                    </a:p>
                  </a:txBody>
                  <a:tcPr marL="91425" marR="91425" marT="91425" marB="91425">
                    <a:solidFill>
                      <a:schemeClr val="lt2"/>
                    </a:solidFill>
                  </a:tcPr>
                </a:tc>
                <a:tc>
                  <a:txBody>
                    <a:bodyPr/>
                    <a:lstStyle/>
                    <a:p>
                      <a:pPr marL="0" lvl="0" indent="0" algn="l" rtl="0">
                        <a:spcBef>
                          <a:spcPts val="0"/>
                        </a:spcBef>
                        <a:spcAft>
                          <a:spcPts val="0"/>
                        </a:spcAft>
                        <a:buNone/>
                      </a:pPr>
                      <a:r>
                        <a:rPr lang="ja" b="1"/>
                        <a:t>内容</a:t>
                      </a:r>
                      <a:endParaRPr b="1"/>
                    </a:p>
                  </a:txBody>
                  <a:tcPr marL="91425" marR="91425" marT="91425" marB="91425">
                    <a:solidFill>
                      <a:schemeClr val="lt2"/>
                    </a:solidFill>
                  </a:tcPr>
                </a:tc>
                <a:tc>
                  <a:txBody>
                    <a:bodyPr/>
                    <a:lstStyle/>
                    <a:p>
                      <a:pPr marL="0" lvl="0" indent="0" algn="l" rtl="0">
                        <a:spcBef>
                          <a:spcPts val="0"/>
                        </a:spcBef>
                        <a:spcAft>
                          <a:spcPts val="0"/>
                        </a:spcAft>
                        <a:buNone/>
                      </a:pPr>
                      <a:r>
                        <a:rPr lang="ja" b="1"/>
                        <a:t>AWSサービス</a:t>
                      </a:r>
                      <a:endParaRPr b="1"/>
                    </a:p>
                  </a:txBody>
                  <a:tcPr marL="91425" marR="91425" marT="91425" marB="91425">
                    <a:solidFill>
                      <a:schemeClr val="lt2"/>
                    </a:solidFill>
                  </a:tcPr>
                </a:tc>
                <a:tc>
                  <a:txBody>
                    <a:bodyPr/>
                    <a:lstStyle/>
                    <a:p>
                      <a:pPr marL="0" lvl="0" indent="0" algn="l" rtl="0">
                        <a:spcBef>
                          <a:spcPts val="0"/>
                        </a:spcBef>
                        <a:spcAft>
                          <a:spcPts val="0"/>
                        </a:spcAft>
                        <a:buNone/>
                      </a:pPr>
                      <a:r>
                        <a:rPr lang="ja" b="1"/>
                        <a:t>保存世代数</a:t>
                      </a:r>
                      <a:endParaRPr b="1"/>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a:t>ファイル</a:t>
                      </a:r>
                      <a:endParaRPr/>
                    </a:p>
                  </a:txBody>
                  <a:tcPr marL="91425" marR="91425" marT="91425" marB="91425"/>
                </a:tc>
                <a:tc>
                  <a:txBody>
                    <a:bodyPr/>
                    <a:lstStyle/>
                    <a:p>
                      <a:pPr marL="0" lvl="0" indent="0" algn="l" rtl="0">
                        <a:spcBef>
                          <a:spcPts val="0"/>
                        </a:spcBef>
                        <a:spcAft>
                          <a:spcPts val="0"/>
                        </a:spcAft>
                        <a:buNone/>
                      </a:pPr>
                      <a:r>
                        <a:rPr lang="ja"/>
                        <a:t>・外部連携マスタ</a:t>
                      </a:r>
                      <a:endParaRPr/>
                    </a:p>
                    <a:p>
                      <a:pPr marL="0" lvl="0" indent="0" algn="l" rtl="0">
                        <a:spcBef>
                          <a:spcPts val="0"/>
                        </a:spcBef>
                        <a:spcAft>
                          <a:spcPts val="0"/>
                        </a:spcAft>
                        <a:buNone/>
                      </a:pPr>
                      <a:r>
                        <a:rPr lang="ja"/>
                        <a:t>・POSマスタ</a:t>
                      </a:r>
                      <a:endParaRPr/>
                    </a:p>
                  </a:txBody>
                  <a:tcPr marL="91425" marR="91425" marT="91425" marB="91425"/>
                </a:tc>
                <a:tc>
                  <a:txBody>
                    <a:bodyPr/>
                    <a:lstStyle/>
                    <a:p>
                      <a:pPr marL="0" lvl="0" indent="0" algn="l" rtl="0">
                        <a:spcBef>
                          <a:spcPts val="0"/>
                        </a:spcBef>
                        <a:spcAft>
                          <a:spcPts val="0"/>
                        </a:spcAft>
                        <a:buNone/>
                      </a:pPr>
                      <a:r>
                        <a:rPr lang="ja"/>
                        <a:t>S3</a:t>
                      </a:r>
                      <a:endParaRPr/>
                    </a:p>
                  </a:txBody>
                  <a:tcPr marL="91425" marR="91425" marT="91425" marB="91425"/>
                </a:tc>
                <a:tc>
                  <a:txBody>
                    <a:bodyPr/>
                    <a:lstStyle/>
                    <a:p>
                      <a:pPr marL="0" lvl="0" indent="0" algn="l" rtl="0">
                        <a:spcBef>
                          <a:spcPts val="0"/>
                        </a:spcBef>
                        <a:spcAft>
                          <a:spcPts val="0"/>
                        </a:spcAft>
                        <a:buNone/>
                      </a:pPr>
                      <a:r>
                        <a:rPr lang="ja"/>
                        <a:t>永久保存するが、一定期間後アーカイブ</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ja"/>
                        <a:t>データベース</a:t>
                      </a:r>
                      <a:endParaRPr/>
                    </a:p>
                  </a:txBody>
                  <a:tcPr marL="91425" marR="91425" marT="91425" marB="91425"/>
                </a:tc>
                <a:tc>
                  <a:txBody>
                    <a:bodyPr/>
                    <a:lstStyle/>
                    <a:p>
                      <a:pPr marL="0" lvl="0" indent="0" algn="l" rtl="0">
                        <a:spcBef>
                          <a:spcPts val="0"/>
                        </a:spcBef>
                        <a:spcAft>
                          <a:spcPts val="0"/>
                        </a:spcAft>
                        <a:buNone/>
                      </a:pPr>
                      <a:r>
                        <a:rPr lang="ja"/>
                        <a:t>・マスタDB</a:t>
                      </a:r>
                      <a:endParaRPr/>
                    </a:p>
                    <a:p>
                      <a:pPr marL="0" lvl="0" indent="0" algn="l" rtl="0">
                        <a:spcBef>
                          <a:spcPts val="0"/>
                        </a:spcBef>
                        <a:spcAft>
                          <a:spcPts val="0"/>
                        </a:spcAft>
                        <a:buNone/>
                      </a:pPr>
                      <a:r>
                        <a:rPr lang="ja"/>
                        <a:t>・トランザクションDB</a:t>
                      </a:r>
                      <a:endParaRPr/>
                    </a:p>
                  </a:txBody>
                  <a:tcPr marL="91425" marR="91425" marT="91425" marB="91425"/>
                </a:tc>
                <a:tc>
                  <a:txBody>
                    <a:bodyPr/>
                    <a:lstStyle/>
                    <a:p>
                      <a:pPr marL="0" lvl="0" indent="0" algn="l" rtl="0">
                        <a:spcBef>
                          <a:spcPts val="0"/>
                        </a:spcBef>
                        <a:spcAft>
                          <a:spcPts val="0"/>
                        </a:spcAft>
                        <a:buNone/>
                      </a:pPr>
                      <a:r>
                        <a:rPr lang="ja"/>
                        <a:t>Aurora</a:t>
                      </a:r>
                      <a:endParaRPr/>
                    </a:p>
                  </a:txBody>
                  <a:tcPr marL="91425" marR="91425" marT="91425" marB="91425"/>
                </a:tc>
                <a:tc>
                  <a:txBody>
                    <a:bodyPr/>
                    <a:lstStyle/>
                    <a:p>
                      <a:pPr marL="0" lvl="0" indent="0" algn="l" rtl="0">
                        <a:spcBef>
                          <a:spcPts val="0"/>
                        </a:spcBef>
                        <a:spcAft>
                          <a:spcPts val="0"/>
                        </a:spcAft>
                        <a:buNone/>
                      </a:pPr>
                      <a:r>
                        <a:rPr lang="ja"/>
                        <a:t>スナップショットを5世代</a:t>
                      </a:r>
                      <a:endParaRPr/>
                    </a:p>
                  </a:txBody>
                  <a:tcPr marL="91425" marR="91425" marT="91425" marB="91425"/>
                </a:tc>
                <a:extLst>
                  <a:ext uri="{0D108BD9-81ED-4DB2-BD59-A6C34878D82A}">
                    <a16:rowId xmlns:a16="http://schemas.microsoft.com/office/drawing/2014/main" val="10002"/>
                  </a:ext>
                </a:extLst>
              </a:tr>
            </a:tbl>
          </a:graphicData>
        </a:graphic>
      </p:graphicFrame>
      <p:sp>
        <p:nvSpPr>
          <p:cNvPr id="366" name="Google Shape;366;p52"/>
          <p:cNvSpPr txBox="1">
            <a:spLocks noGrp="1"/>
          </p:cNvSpPr>
          <p:nvPr>
            <p:ph type="body" idx="1"/>
          </p:nvPr>
        </p:nvSpPr>
        <p:spPr>
          <a:xfrm>
            <a:off x="682375" y="3278975"/>
            <a:ext cx="6815700" cy="12900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ja" sz="1700"/>
              <a:t>ディザスターリカバリ（DR）は想定しない</a:t>
            </a:r>
            <a:endParaRPr sz="17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5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ja" sz="3000">
                <a:highlight>
                  <a:srgbClr val="FFFFFF"/>
                </a:highlight>
              </a:rPr>
              <a:t>10.監視</a:t>
            </a:r>
            <a:endParaRPr sz="3000">
              <a:highlight>
                <a:srgbClr val="FFFFFF"/>
              </a:highlight>
            </a:endParaRPr>
          </a:p>
        </p:txBody>
      </p:sp>
      <p:pic>
        <p:nvPicPr>
          <p:cNvPr id="372" name="Google Shape;372;p5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73" name="Google Shape;373;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4"/>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10-1.監視のAWS構成図</a:t>
            </a:r>
            <a:endParaRPr>
              <a:highlight>
                <a:srgbClr val="D9D9D9"/>
              </a:highlight>
            </a:endParaRPr>
          </a:p>
        </p:txBody>
      </p:sp>
      <p:pic>
        <p:nvPicPr>
          <p:cNvPr id="379" name="Google Shape;379;p5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80" name="Google Shape;380;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42</a:t>
            </a:fld>
            <a:endParaRPr/>
          </a:p>
        </p:txBody>
      </p:sp>
      <p:pic>
        <p:nvPicPr>
          <p:cNvPr id="381" name="Google Shape;381;p54" title="【POS】infra_ishida-10-1.drawio.png"/>
          <p:cNvPicPr preferRelativeResize="0"/>
          <p:nvPr/>
        </p:nvPicPr>
        <p:blipFill>
          <a:blip r:embed="rId4">
            <a:alphaModFix/>
          </a:blip>
          <a:stretch>
            <a:fillRect/>
          </a:stretch>
        </p:blipFill>
        <p:spPr>
          <a:xfrm>
            <a:off x="431350" y="1080800"/>
            <a:ext cx="8167657" cy="370705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10-2.アプリのエラーログの一覧 </a:t>
            </a:r>
            <a:r>
              <a:rPr lang="ja">
                <a:solidFill>
                  <a:srgbClr val="FF0000"/>
                </a:solidFill>
                <a:highlight>
                  <a:srgbClr val="D9D9D9"/>
                </a:highlight>
              </a:rPr>
              <a:t>※確認中※</a:t>
            </a:r>
            <a:endParaRPr>
              <a:solidFill>
                <a:srgbClr val="FF0000"/>
              </a:solidFill>
              <a:highlight>
                <a:srgbClr val="D9D9D9"/>
              </a:highlight>
            </a:endParaRPr>
          </a:p>
        </p:txBody>
      </p:sp>
      <p:pic>
        <p:nvPicPr>
          <p:cNvPr id="387" name="Google Shape;387;p5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88" name="Google Shape;388;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43</a:t>
            </a:fld>
            <a:endParaRPr/>
          </a:p>
        </p:txBody>
      </p:sp>
      <p:graphicFrame>
        <p:nvGraphicFramePr>
          <p:cNvPr id="389" name="Google Shape;389;p55"/>
          <p:cNvGraphicFramePr/>
          <p:nvPr/>
        </p:nvGraphicFramePr>
        <p:xfrm>
          <a:off x="734575" y="1278025"/>
          <a:ext cx="7522700" cy="1905000"/>
        </p:xfrm>
        <a:graphic>
          <a:graphicData uri="http://schemas.openxmlformats.org/drawingml/2006/table">
            <a:tbl>
              <a:tblPr>
                <a:noFill/>
                <a:tableStyleId>{87A281C8-0844-4F7E-8F5C-31C3930F0FE5}</a:tableStyleId>
              </a:tblPr>
              <a:tblGrid>
                <a:gridCol w="1518675">
                  <a:extLst>
                    <a:ext uri="{9D8B030D-6E8A-4147-A177-3AD203B41FA5}">
                      <a16:colId xmlns:a16="http://schemas.microsoft.com/office/drawing/2014/main" val="20000"/>
                    </a:ext>
                  </a:extLst>
                </a:gridCol>
                <a:gridCol w="3161300">
                  <a:extLst>
                    <a:ext uri="{9D8B030D-6E8A-4147-A177-3AD203B41FA5}">
                      <a16:colId xmlns:a16="http://schemas.microsoft.com/office/drawing/2014/main" val="20001"/>
                    </a:ext>
                  </a:extLst>
                </a:gridCol>
                <a:gridCol w="284272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ja" sz="1200"/>
                        <a:t>ロググループ名</a:t>
                      </a:r>
                      <a:endParaRPr sz="1200"/>
                    </a:p>
                  </a:txBody>
                  <a:tcPr marL="91425" marR="91425" marT="91425" marB="91425">
                    <a:solidFill>
                      <a:schemeClr val="lt2"/>
                    </a:solidFill>
                  </a:tcPr>
                </a:tc>
                <a:tc>
                  <a:txBody>
                    <a:bodyPr/>
                    <a:lstStyle/>
                    <a:p>
                      <a:pPr marL="0" lvl="0" indent="0" algn="l" rtl="0">
                        <a:spcBef>
                          <a:spcPts val="0"/>
                        </a:spcBef>
                        <a:spcAft>
                          <a:spcPts val="0"/>
                        </a:spcAft>
                        <a:buNone/>
                      </a:pPr>
                      <a:endParaRPr sz="1200"/>
                    </a:p>
                  </a:txBody>
                  <a:tcPr marL="91425" marR="91425" marT="91425" marB="91425">
                    <a:solidFill>
                      <a:schemeClr val="lt2"/>
                    </a:solidFill>
                  </a:tcPr>
                </a:tc>
                <a:tc>
                  <a:txBody>
                    <a:bodyPr/>
                    <a:lstStyle/>
                    <a:p>
                      <a:pPr marL="0" lvl="0" indent="0" algn="l" rtl="0">
                        <a:spcBef>
                          <a:spcPts val="0"/>
                        </a:spcBef>
                        <a:spcAft>
                          <a:spcPts val="0"/>
                        </a:spcAft>
                        <a:buNone/>
                      </a:pPr>
                      <a:endParaRPr sz="1200"/>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sz="1000"/>
                        <a:t>/pos/log/import</a:t>
                      </a:r>
                      <a:endParaRPr sz="1000"/>
                    </a:p>
                  </a:txBody>
                  <a:tcPr marL="91425" marR="91425" marT="91425" marB="91425"/>
                </a:tc>
                <a:tc>
                  <a:txBody>
                    <a:bodyPr/>
                    <a:lstStyle/>
                    <a:p>
                      <a:pPr marL="0" lvl="0" indent="0" algn="l" rtl="0">
                        <a:lnSpc>
                          <a:spcPct val="115000"/>
                        </a:lnSpc>
                        <a:spcBef>
                          <a:spcPts val="0"/>
                        </a:spcBef>
                        <a:spcAft>
                          <a:spcPts val="0"/>
                        </a:spcAft>
                        <a:buNone/>
                      </a:pPr>
                      <a:endParaRPr sz="1000"/>
                    </a:p>
                  </a:txBody>
                  <a:tcPr marL="91425" marR="91425" marT="91425" marB="91425"/>
                </a:tc>
                <a:tc>
                  <a:txBody>
                    <a:bodyPr/>
                    <a:lstStyle/>
                    <a:p>
                      <a:pPr marL="0" lvl="0" indent="0" algn="l" rtl="0">
                        <a:lnSpc>
                          <a:spcPct val="115000"/>
                        </a:lnSpc>
                        <a:spcBef>
                          <a:spcPts val="0"/>
                        </a:spcBef>
                        <a:spcAft>
                          <a:spcPts val="0"/>
                        </a:spcAft>
                        <a:buNone/>
                      </a:pPr>
                      <a:endParaRPr sz="10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ja" sz="1000"/>
                        <a:t>/pos/log/export</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ja" sz="1000"/>
                        <a:t>/pos/log/sent</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ja" sz="1000"/>
                        <a:t>/pos/log/email</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5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ja" sz="3000">
                <a:highlight>
                  <a:srgbClr val="FFFFFF"/>
                </a:highlight>
              </a:rPr>
              <a:t>11.セキュリティ対策</a:t>
            </a:r>
            <a:endParaRPr sz="3000">
              <a:highlight>
                <a:srgbClr val="FFFFFF"/>
              </a:highlight>
            </a:endParaRPr>
          </a:p>
        </p:txBody>
      </p:sp>
      <p:pic>
        <p:nvPicPr>
          <p:cNvPr id="395" name="Google Shape;395;p5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96" name="Google Shape;396;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57"/>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11-1.検知</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02" name="Google Shape;402;p5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03" name="Google Shape;403;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45</a:t>
            </a:fld>
            <a:endParaRPr/>
          </a:p>
        </p:txBody>
      </p:sp>
      <p:graphicFrame>
        <p:nvGraphicFramePr>
          <p:cNvPr id="404" name="Google Shape;404;p57"/>
          <p:cNvGraphicFramePr/>
          <p:nvPr/>
        </p:nvGraphicFramePr>
        <p:xfrm>
          <a:off x="569525" y="1174925"/>
          <a:ext cx="8103475" cy="3032684"/>
        </p:xfrm>
        <a:graphic>
          <a:graphicData uri="http://schemas.openxmlformats.org/drawingml/2006/table">
            <a:tbl>
              <a:tblPr>
                <a:noFill/>
                <a:tableStyleId>{87A281C8-0844-4F7E-8F5C-31C3930F0FE5}</a:tableStyleId>
              </a:tblPr>
              <a:tblGrid>
                <a:gridCol w="1237125">
                  <a:extLst>
                    <a:ext uri="{9D8B030D-6E8A-4147-A177-3AD203B41FA5}">
                      <a16:colId xmlns:a16="http://schemas.microsoft.com/office/drawing/2014/main" val="20000"/>
                    </a:ext>
                  </a:extLst>
                </a:gridCol>
                <a:gridCol w="1708375">
                  <a:extLst>
                    <a:ext uri="{9D8B030D-6E8A-4147-A177-3AD203B41FA5}">
                      <a16:colId xmlns:a16="http://schemas.microsoft.com/office/drawing/2014/main" val="20001"/>
                    </a:ext>
                  </a:extLst>
                </a:gridCol>
                <a:gridCol w="515797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ja" sz="1200"/>
                        <a:t>AWSサービス</a:t>
                      </a:r>
                      <a:endParaRPr sz="1200"/>
                    </a:p>
                  </a:txBody>
                  <a:tcPr marL="91425" marR="91425" marT="91425" marB="91425">
                    <a:solidFill>
                      <a:schemeClr val="lt2"/>
                    </a:solidFill>
                  </a:tcPr>
                </a:tc>
                <a:tc>
                  <a:txBody>
                    <a:bodyPr/>
                    <a:lstStyle/>
                    <a:p>
                      <a:pPr marL="0" lvl="0" indent="0" algn="l" rtl="0">
                        <a:spcBef>
                          <a:spcPts val="0"/>
                        </a:spcBef>
                        <a:spcAft>
                          <a:spcPts val="0"/>
                        </a:spcAft>
                        <a:buNone/>
                      </a:pPr>
                      <a:r>
                        <a:rPr lang="ja" sz="1200"/>
                        <a:t>環境</a:t>
                      </a:r>
                      <a:endParaRPr sz="1200"/>
                    </a:p>
                  </a:txBody>
                  <a:tcPr marL="91425" marR="91425" marT="91425" marB="91425">
                    <a:solidFill>
                      <a:schemeClr val="lt2"/>
                    </a:solidFill>
                  </a:tcPr>
                </a:tc>
                <a:tc>
                  <a:txBody>
                    <a:bodyPr/>
                    <a:lstStyle/>
                    <a:p>
                      <a:pPr marL="0" lvl="0" indent="0" algn="l" rtl="0">
                        <a:spcBef>
                          <a:spcPts val="0"/>
                        </a:spcBef>
                        <a:spcAft>
                          <a:spcPts val="0"/>
                        </a:spcAft>
                        <a:buNone/>
                      </a:pPr>
                      <a:r>
                        <a:rPr lang="ja" sz="1200"/>
                        <a:t>目的</a:t>
                      </a:r>
                      <a:endParaRPr sz="1200"/>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sz="1200"/>
                        <a:t>Config</a:t>
                      </a:r>
                      <a:endParaRPr sz="12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t>本番・ステージング</a:t>
                      </a:r>
                      <a:endParaRPr sz="12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t>AWSリソースの設定変更履歴を取得し、コンプライアンス要件に準拠しているか評価</a:t>
                      </a:r>
                      <a:endParaRPr sz="1200"/>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ja" sz="1200"/>
                        <a:t>IAM Access Analyzer</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solidFill>
                            <a:schemeClr val="dk1"/>
                          </a:solidFill>
                        </a:rPr>
                        <a:t>本番・ステージング</a:t>
                      </a:r>
                      <a:endParaRPr sz="1200">
                        <a:solidFill>
                          <a:schemeClr val="dk1"/>
                        </a:solidFill>
                      </a:endParaRPr>
                    </a:p>
                    <a:p>
                      <a:pPr marL="0" lvl="0" indent="0" algn="l" rtl="0">
                        <a:lnSpc>
                          <a:spcPct val="115000"/>
                        </a:lnSpc>
                        <a:spcBef>
                          <a:spcPts val="0"/>
                        </a:spcBef>
                        <a:spcAft>
                          <a:spcPts val="0"/>
                        </a:spcAft>
                        <a:buNone/>
                      </a:pP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ja" sz="1200"/>
                        <a:t>AWSリソースに紐づくポリシーが意図せぬ公開設定されていないか検出</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ja" sz="1200"/>
                        <a:t>Security Hub</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solidFill>
                            <a:schemeClr val="dk1"/>
                          </a:solidFill>
                        </a:rPr>
                        <a:t>本番・ステージング</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ja" sz="1200"/>
                        <a:t>AWS環境全体のセキュリティを一言管理</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ja" sz="1200"/>
                        <a:t>CloudTrail</a:t>
                      </a:r>
                      <a:endParaRPr sz="1200"/>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ja" sz="1200">
                          <a:solidFill>
                            <a:schemeClr val="dk1"/>
                          </a:solidFill>
                        </a:rPr>
                        <a:t>本番</a:t>
                      </a:r>
                      <a:endParaRPr sz="1200">
                        <a:solidFill>
                          <a:schemeClr val="dk1"/>
                        </a:solidFill>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ja" sz="1200">
                          <a:solidFill>
                            <a:schemeClr val="dk1"/>
                          </a:solidFill>
                        </a:rPr>
                        <a:t>AWSアカウント内で行われたAPIコールと関連イベントをモニタリング</a:t>
                      </a:r>
                      <a:endParaRPr sz="1200"/>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4"/>
                  </a:ext>
                </a:extLst>
              </a:tr>
              <a:tr h="401875">
                <a:tc>
                  <a:txBody>
                    <a:bodyPr/>
                    <a:lstStyle/>
                    <a:p>
                      <a:pPr marL="0" lvl="0" indent="0" algn="l" rtl="0">
                        <a:spcBef>
                          <a:spcPts val="0"/>
                        </a:spcBef>
                        <a:spcAft>
                          <a:spcPts val="0"/>
                        </a:spcAft>
                        <a:buNone/>
                      </a:pPr>
                      <a:r>
                        <a:rPr lang="ja" sz="1200"/>
                        <a:t>Inspector</a:t>
                      </a:r>
                      <a:endParaRPr sz="1200"/>
                    </a:p>
                  </a:txBody>
                  <a:tcPr marL="91425" marR="91425" marT="91425" marB="91425"/>
                </a:tc>
                <a:tc>
                  <a:txBody>
                    <a:bodyPr/>
                    <a:lstStyle/>
                    <a:p>
                      <a:pPr marL="0" lvl="0" indent="0" algn="l" rtl="0">
                        <a:lnSpc>
                          <a:spcPct val="115000"/>
                        </a:lnSpc>
                        <a:spcBef>
                          <a:spcPts val="0"/>
                        </a:spcBef>
                        <a:spcAft>
                          <a:spcPts val="0"/>
                        </a:spcAft>
                        <a:buNone/>
                      </a:pPr>
                      <a:r>
                        <a:rPr lang="ja" sz="1200">
                          <a:solidFill>
                            <a:schemeClr val="dk1"/>
                          </a:solidFill>
                        </a:rPr>
                        <a:t>本番</a:t>
                      </a:r>
                      <a:endParaRPr sz="1200">
                        <a:solidFill>
                          <a:schemeClr val="dk1"/>
                        </a:solidFill>
                      </a:endParaRPr>
                    </a:p>
                  </a:txBody>
                  <a:tcPr marL="91425" marR="91425" marT="91425" marB="91425"/>
                </a:tc>
                <a:tc>
                  <a:txBody>
                    <a:bodyPr/>
                    <a:lstStyle/>
                    <a:p>
                      <a:pPr marL="0" lvl="0" indent="0" algn="l" rtl="0">
                        <a:lnSpc>
                          <a:spcPct val="115000"/>
                        </a:lnSpc>
                        <a:spcBef>
                          <a:spcPts val="0"/>
                        </a:spcBef>
                        <a:spcAft>
                          <a:spcPts val="0"/>
                        </a:spcAft>
                        <a:buClr>
                          <a:schemeClr val="dk1"/>
                        </a:buClr>
                        <a:buSzPts val="1100"/>
                        <a:buFont typeface="Arial"/>
                        <a:buNone/>
                      </a:pPr>
                      <a:r>
                        <a:rPr lang="ja" sz="1200">
                          <a:solidFill>
                            <a:schemeClr val="dk1"/>
                          </a:solidFill>
                        </a:rPr>
                        <a:t>EC2,ECSコンテナ,Lambdaの脆弱性を検出</a:t>
                      </a:r>
                      <a:endParaRPr sz="1200">
                        <a:solidFill>
                          <a:schemeClr val="dk1"/>
                        </a:solidFill>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ja" sz="1200"/>
                        <a:t>VPC Flow logs</a:t>
                      </a:r>
                      <a:endParaRPr sz="1200"/>
                    </a:p>
                  </a:txBody>
                  <a:tcPr marL="91425" marR="91425" marT="91425" marB="91425"/>
                </a:tc>
                <a:tc>
                  <a:txBody>
                    <a:bodyPr/>
                    <a:lstStyle/>
                    <a:p>
                      <a:pPr marL="0" lvl="0" indent="0" algn="l" rtl="0">
                        <a:spcBef>
                          <a:spcPts val="0"/>
                        </a:spcBef>
                        <a:spcAft>
                          <a:spcPts val="0"/>
                        </a:spcAft>
                        <a:buNone/>
                      </a:pPr>
                      <a:r>
                        <a:rPr lang="ja" sz="1200"/>
                        <a:t>本番</a:t>
                      </a:r>
                      <a:endParaRPr sz="1200"/>
                    </a:p>
                  </a:txBody>
                  <a:tcPr marL="91425" marR="91425" marT="91425" marB="91425"/>
                </a:tc>
                <a:tc>
                  <a:txBody>
                    <a:bodyPr/>
                    <a:lstStyle/>
                    <a:p>
                      <a:pPr marL="0" lvl="0" indent="0" algn="l" rtl="0">
                        <a:spcBef>
                          <a:spcPts val="0"/>
                        </a:spcBef>
                        <a:spcAft>
                          <a:spcPts val="0"/>
                        </a:spcAft>
                        <a:buNone/>
                      </a:pPr>
                      <a:r>
                        <a:rPr lang="ja" sz="1200"/>
                        <a:t>トラフィックのメタ情報を分析</a:t>
                      </a:r>
                      <a:endParaRPr sz="1200"/>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5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11-2.セキュリティ関連のAWS見積</a:t>
            </a: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10" name="Google Shape;410;p5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11" name="Google Shape;411;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46</a:t>
            </a:fld>
            <a:endParaRPr/>
          </a:p>
        </p:txBody>
      </p:sp>
      <p:pic>
        <p:nvPicPr>
          <p:cNvPr id="412" name="Google Shape;412;p58" title="スクリーンショット 2025-07-03 午前10.20.13.png"/>
          <p:cNvPicPr preferRelativeResize="0"/>
          <p:nvPr/>
        </p:nvPicPr>
        <p:blipFill>
          <a:blip r:embed="rId4">
            <a:alphaModFix/>
          </a:blip>
          <a:stretch>
            <a:fillRect/>
          </a:stretch>
        </p:blipFill>
        <p:spPr>
          <a:xfrm>
            <a:off x="2049188" y="1046050"/>
            <a:ext cx="4429125" cy="1381125"/>
          </a:xfrm>
          <a:prstGeom prst="rect">
            <a:avLst/>
          </a:prstGeom>
          <a:noFill/>
          <a:ln>
            <a:noFill/>
          </a:ln>
        </p:spPr>
      </p:pic>
      <p:pic>
        <p:nvPicPr>
          <p:cNvPr id="413" name="Google Shape;413;p58" title="スクリーンショット 2025-07-03 午前10.20.47.png"/>
          <p:cNvPicPr preferRelativeResize="0"/>
          <p:nvPr/>
        </p:nvPicPr>
        <p:blipFill>
          <a:blip r:embed="rId5">
            <a:alphaModFix/>
          </a:blip>
          <a:stretch>
            <a:fillRect/>
          </a:stretch>
        </p:blipFill>
        <p:spPr>
          <a:xfrm>
            <a:off x="2049200" y="2571750"/>
            <a:ext cx="4583297" cy="23869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59"/>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11-3.EC2に対するセキュリティ対策</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19" name="Google Shape;419;p5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20" name="Google Shape;420;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47</a:t>
            </a:fld>
            <a:endParaRPr/>
          </a:p>
        </p:txBody>
      </p:sp>
      <p:sp>
        <p:nvSpPr>
          <p:cNvPr id="421" name="Google Shape;421;p59"/>
          <p:cNvSpPr txBox="1">
            <a:spLocks noGrp="1"/>
          </p:cNvSpPr>
          <p:nvPr>
            <p:ph type="body" idx="1"/>
          </p:nvPr>
        </p:nvSpPr>
        <p:spPr>
          <a:xfrm>
            <a:off x="637950" y="1075175"/>
            <a:ext cx="7901700" cy="3634500"/>
          </a:xfrm>
          <a:prstGeom prst="rect">
            <a:avLst/>
          </a:prstGeom>
        </p:spPr>
        <p:txBody>
          <a:bodyPr spcFirstLastPara="1" wrap="square" lIns="91425" tIns="91425" rIns="91425" bIns="91425" anchor="t" anchorCtr="0">
            <a:normAutofit lnSpcReduction="20000"/>
          </a:bodyPr>
          <a:lstStyle/>
          <a:p>
            <a:pPr marL="457200" lvl="0" indent="-336550" algn="l" rtl="0">
              <a:spcBef>
                <a:spcPts val="0"/>
              </a:spcBef>
              <a:spcAft>
                <a:spcPts val="0"/>
              </a:spcAft>
              <a:buSzPts val="1700"/>
              <a:buChar char="●"/>
            </a:pPr>
            <a:r>
              <a:rPr lang="ja" sz="1700"/>
              <a:t>対象はBastionサーバのみ</a:t>
            </a:r>
            <a:endParaRPr sz="1700"/>
          </a:p>
          <a:p>
            <a:pPr marL="457200" lvl="0" indent="-336550" algn="l" rtl="0">
              <a:spcBef>
                <a:spcPts val="0"/>
              </a:spcBef>
              <a:spcAft>
                <a:spcPts val="0"/>
              </a:spcAft>
              <a:buSzPts val="1700"/>
              <a:buChar char="●"/>
            </a:pPr>
            <a:r>
              <a:rPr lang="ja" sz="1700"/>
              <a:t>OSはAmazon Linux 20203</a:t>
            </a:r>
            <a:endParaRPr sz="1700"/>
          </a:p>
          <a:p>
            <a:pPr marL="457200" lvl="0" indent="-336550" algn="l" rtl="0">
              <a:spcBef>
                <a:spcPts val="0"/>
              </a:spcBef>
              <a:spcAft>
                <a:spcPts val="0"/>
              </a:spcAft>
              <a:buSzPts val="1700"/>
              <a:buChar char="●"/>
            </a:pPr>
            <a:r>
              <a:rPr lang="ja" sz="1700"/>
              <a:t>ログ監視</a:t>
            </a:r>
            <a:endParaRPr sz="1700"/>
          </a:p>
          <a:p>
            <a:pPr marL="914400" lvl="1" indent="-336550" algn="l" rtl="0">
              <a:spcBef>
                <a:spcPts val="0"/>
              </a:spcBef>
              <a:spcAft>
                <a:spcPts val="0"/>
              </a:spcAft>
              <a:buSzPts val="1700"/>
              <a:buChar char="○"/>
            </a:pPr>
            <a:r>
              <a:rPr lang="ja" sz="1700"/>
              <a:t>/var/log/{messages,secure,dnf.log,/audit/audit.log}</a:t>
            </a:r>
            <a:endParaRPr sz="1700"/>
          </a:p>
          <a:p>
            <a:pPr marL="914400" lvl="1" indent="-336550" algn="l" rtl="0">
              <a:spcBef>
                <a:spcPts val="0"/>
              </a:spcBef>
              <a:spcAft>
                <a:spcPts val="0"/>
              </a:spcAft>
              <a:buSzPts val="1700"/>
              <a:buChar char="○"/>
            </a:pPr>
            <a:r>
              <a:rPr lang="ja" sz="1700"/>
              <a:t>キーワード検索：error、fail</a:t>
            </a:r>
            <a:endParaRPr sz="1700"/>
          </a:p>
          <a:p>
            <a:pPr marL="457200" lvl="0" indent="-336550" algn="l" rtl="0">
              <a:spcBef>
                <a:spcPts val="0"/>
              </a:spcBef>
              <a:spcAft>
                <a:spcPts val="0"/>
              </a:spcAft>
              <a:buSzPts val="1700"/>
              <a:buChar char="●"/>
            </a:pPr>
            <a:r>
              <a:rPr lang="ja" sz="1700"/>
              <a:t>Inspectorの適用</a:t>
            </a:r>
            <a:endParaRPr sz="1700"/>
          </a:p>
          <a:p>
            <a:pPr marL="914400" lvl="1" indent="-336550" algn="l" rtl="0">
              <a:spcBef>
                <a:spcPts val="0"/>
              </a:spcBef>
              <a:spcAft>
                <a:spcPts val="0"/>
              </a:spcAft>
              <a:buSzPts val="1700"/>
              <a:buChar char="○"/>
            </a:pPr>
            <a:r>
              <a:rPr lang="ja" sz="1700"/>
              <a:t>ソフトウェアの脆弱性（CVEs）検出</a:t>
            </a:r>
            <a:endParaRPr sz="1700"/>
          </a:p>
          <a:p>
            <a:pPr marL="457200" lvl="0" indent="-336550" algn="l" rtl="0">
              <a:spcBef>
                <a:spcPts val="0"/>
              </a:spcBef>
              <a:spcAft>
                <a:spcPts val="0"/>
              </a:spcAft>
              <a:buSzPts val="1700"/>
              <a:buChar char="●"/>
            </a:pPr>
            <a:r>
              <a:rPr lang="ja" sz="1700"/>
              <a:t>デフォルトユーザ ec2-userの削除</a:t>
            </a:r>
            <a:endParaRPr sz="1700"/>
          </a:p>
          <a:p>
            <a:pPr marL="457200" lvl="0" indent="-336550" algn="l" rtl="0">
              <a:spcBef>
                <a:spcPts val="0"/>
              </a:spcBef>
              <a:spcAft>
                <a:spcPts val="0"/>
              </a:spcAft>
              <a:buSzPts val="1700"/>
              <a:buChar char="●"/>
            </a:pPr>
            <a:r>
              <a:rPr lang="ja" sz="1700"/>
              <a:t>BastionサーバへのSSHログインアカウントはユーザ毎に発行</a:t>
            </a:r>
            <a:endParaRPr sz="1700"/>
          </a:p>
          <a:p>
            <a:pPr marL="914400" lvl="1" indent="-336550" algn="l" rtl="0">
              <a:spcBef>
                <a:spcPts val="0"/>
              </a:spcBef>
              <a:spcAft>
                <a:spcPts val="0"/>
              </a:spcAft>
              <a:buSzPts val="1700"/>
              <a:buChar char="○"/>
            </a:pPr>
            <a:r>
              <a:rPr lang="ja" sz="1700"/>
              <a:t>ただし、開発者PCのWinSCPを使ってS3接続するユースケースがあり、その場合には、トンネル専用のユーザを作成する</a:t>
            </a:r>
            <a:endParaRPr sz="1700"/>
          </a:p>
          <a:p>
            <a:pPr marL="914400" lvl="1" indent="-336550" algn="l" rtl="0">
              <a:spcBef>
                <a:spcPts val="0"/>
              </a:spcBef>
              <a:spcAft>
                <a:spcPts val="0"/>
              </a:spcAft>
              <a:buSzPts val="1700"/>
              <a:buChar char="○"/>
            </a:pPr>
            <a:r>
              <a:rPr lang="ja" sz="1700"/>
              <a:t>クライアントとサーバ側でセッションタイムアウトを適切に設定する</a:t>
            </a:r>
            <a:endParaRPr sz="1700"/>
          </a:p>
          <a:p>
            <a:pPr marL="457200" lvl="0" indent="0" algn="l" rtl="0">
              <a:spcBef>
                <a:spcPts val="1200"/>
              </a:spcBef>
              <a:spcAft>
                <a:spcPts val="1200"/>
              </a:spcAft>
              <a:buNone/>
            </a:pPr>
            <a:endParaRPr sz="17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6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ja" sz="3000">
                <a:highlight>
                  <a:srgbClr val="FFFFFF"/>
                </a:highlight>
              </a:rPr>
              <a:t>12.CICD</a:t>
            </a:r>
            <a:endParaRPr sz="3000">
              <a:highlight>
                <a:srgbClr val="FFFFFF"/>
              </a:highlight>
            </a:endParaRPr>
          </a:p>
        </p:txBody>
      </p:sp>
      <p:pic>
        <p:nvPicPr>
          <p:cNvPr id="427" name="Google Shape;427;p6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28" name="Google Shape;428;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6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12-1.デプロイ環境</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34" name="Google Shape;434;p6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35" name="Google Shape;435;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49</a:t>
            </a:fld>
            <a:endParaRPr/>
          </a:p>
        </p:txBody>
      </p:sp>
      <p:pic>
        <p:nvPicPr>
          <p:cNvPr id="436" name="Google Shape;436;p61" title="【POS】infra_ishida-12-1.drawio.png"/>
          <p:cNvPicPr preferRelativeResize="0"/>
          <p:nvPr/>
        </p:nvPicPr>
        <p:blipFill>
          <a:blip r:embed="rId4">
            <a:alphaModFix/>
          </a:blip>
          <a:stretch>
            <a:fillRect/>
          </a:stretch>
        </p:blipFill>
        <p:spPr>
          <a:xfrm>
            <a:off x="465050" y="1091450"/>
            <a:ext cx="8007388" cy="3846524"/>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dbf7540-46e2-4291-999e-80d6200bae7a">
      <Terms xmlns="http://schemas.microsoft.com/office/infopath/2007/PartnerControls"/>
    </lcf76f155ced4ddcb4097134ff3c332f>
    <TaxCatchAll xmlns="2d13a9ec-4dcc-4bf0-b813-bb41ddf201e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62C55BE5E260749AE179ACE10276E66" ma:contentTypeVersion="11" ma:contentTypeDescription="Create a new document." ma:contentTypeScope="" ma:versionID="1e7b116d8907a8ccf6a1bc271e57dc67">
  <xsd:schema xmlns:xsd="http://www.w3.org/2001/XMLSchema" xmlns:xs="http://www.w3.org/2001/XMLSchema" xmlns:p="http://schemas.microsoft.com/office/2006/metadata/properties" xmlns:ns2="8dbf7540-46e2-4291-999e-80d6200bae7a" xmlns:ns3="2d13a9ec-4dcc-4bf0-b813-bb41ddf201ec" targetNamespace="http://schemas.microsoft.com/office/2006/metadata/properties" ma:root="true" ma:fieldsID="cb2ac017d4fffd6755729870e7ab2953" ns2:_="" ns3:_="">
    <xsd:import namespace="8dbf7540-46e2-4291-999e-80d6200bae7a"/>
    <xsd:import namespace="2d13a9ec-4dcc-4bf0-b813-bb41ddf201e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bf7540-46e2-4291-999e-80d6200bae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e6619b5c-6674-40b7-9c01-33e12ba1bd7c"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d13a9ec-4dcc-4bf0-b813-bb41ddf201ec"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971d825a-e5a3-48fe-8a61-8f749001443e}" ma:internalName="TaxCatchAll" ma:showField="CatchAllData" ma:web="2d13a9ec-4dcc-4bf0-b813-bb41ddf201e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A72C1D-B48C-4C0B-B85E-F7B9BBFB99A5}">
  <ds:schemaRefs>
    <ds:schemaRef ds:uri="2d13a9ec-4dcc-4bf0-b813-bb41ddf201ec"/>
    <ds:schemaRef ds:uri="8dbf7540-46e2-4291-999e-80d6200bae7a"/>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3CC6771-F566-40DF-AE36-D431702C116C}">
  <ds:schemaRefs>
    <ds:schemaRef ds:uri="http://schemas.microsoft.com/sharepoint/v3/contenttype/forms"/>
  </ds:schemaRefs>
</ds:datastoreItem>
</file>

<file path=customXml/itemProps3.xml><?xml version="1.0" encoding="utf-8"?>
<ds:datastoreItem xmlns:ds="http://schemas.openxmlformats.org/officeDocument/2006/customXml" ds:itemID="{49EE2F67-85D7-446D-B6CE-EB01FD81D11C}"/>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49</Slides>
  <Notes>49</Notes>
  <HiddenSlides>0</HiddenSlide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Simple Light</vt:lpstr>
      <vt:lpstr>オフライン版POSサーバ2.0 ignica POS インフラ要件 ＜カスミ様ISHIDA電子棚札対応＞</vt:lpstr>
      <vt:lpstr>目次</vt:lpstr>
      <vt:lpstr>1.オフライン版POSサーバ2.0の 位置づけ</vt:lpstr>
      <vt:lpstr>1-1. オフライン版POSサーバ2.0の役割</vt:lpstr>
      <vt:lpstr>1-2. 通信障害時の業務継続性</vt:lpstr>
      <vt:lpstr>2.インフラ設計方針</vt:lpstr>
      <vt:lpstr>2-1.設計方針</vt:lpstr>
      <vt:lpstr>3.AWSアカウント設計</vt:lpstr>
      <vt:lpstr>3-1.AWSアカウント分割 </vt:lpstr>
      <vt:lpstr>3-2.AWSアカウントを分割する理由 </vt:lpstr>
      <vt:lpstr>4.ネットワーク構成 （既存のオンライン版POSサーバ）</vt:lpstr>
      <vt:lpstr>4-1.オンライン版POSサーバ</vt:lpstr>
      <vt:lpstr>5.ネットワーク構成 （オフライン版POSサーバとUSHM閉域網）</vt:lpstr>
      <vt:lpstr>5-1.スパイク環境</vt:lpstr>
      <vt:lpstr>5-2.オフライン版POSサーバ2.0とUSMH閉域網</vt:lpstr>
      <vt:lpstr>5-3.Direct Connectのトラフィック状況（2025/5/30）</vt:lpstr>
      <vt:lpstr>5-4.帯域検証 </vt:lpstr>
      <vt:lpstr>6.ネットワーク構成 （ルビナオフィス）</vt:lpstr>
      <vt:lpstr>6-1.ルビナオフィスからの接続</vt:lpstr>
      <vt:lpstr>6-2.開発者PC端末からのアクセス</vt:lpstr>
      <vt:lpstr>7.AWSアカウント管理</vt:lpstr>
      <vt:lpstr>7-1.AWSアカウントのオーナー </vt:lpstr>
      <vt:lpstr>7-2.AWSサポートプラン </vt:lpstr>
      <vt:lpstr>8.システム構成</vt:lpstr>
      <vt:lpstr>8-1.処理フロー </vt:lpstr>
      <vt:lpstr>8-2.外部接続の全体図</vt:lpstr>
      <vt:lpstr>8-3.外部連携マスタの受信経路①</vt:lpstr>
      <vt:lpstr>8-4.外部連携マスタの受信経路②</vt:lpstr>
      <vt:lpstr>8-5.POSマスタ連携方法について（PUSH・PULL型） </vt:lpstr>
      <vt:lpstr>8-6.POSマスタ連携 ISHIDA（フェーズ1）  </vt:lpstr>
      <vt:lpstr>8-7.POSマスタ連携：ISHIDA（フェーズ2 a案） </vt:lpstr>
      <vt:lpstr>8-8.POSマスタ連携：ISHIDA（フェーズ2 b案）</vt:lpstr>
      <vt:lpstr>8-9.Step①マスタ受信（OC） </vt:lpstr>
      <vt:lpstr>8-10.Step②マスタ受信（中継サーバ）  </vt:lpstr>
      <vt:lpstr>8-11.Step②POSマスタ作成（共通）</vt:lpstr>
      <vt:lpstr>8-12.③ISHIDAへの送信（共通）    </vt:lpstr>
      <vt:lpstr>9.AWSサービス共通</vt:lpstr>
      <vt:lpstr>9-1.S3バケット構成  </vt:lpstr>
      <vt:lpstr>9-2.データベース</vt:lpstr>
      <vt:lpstr>9-3.バックアップ </vt:lpstr>
      <vt:lpstr>10.監視</vt:lpstr>
      <vt:lpstr>10-1.監視のAWS構成図</vt:lpstr>
      <vt:lpstr>10-2.アプリのエラーログの一覧 ※確認中※</vt:lpstr>
      <vt:lpstr>11.セキュリティ対策</vt:lpstr>
      <vt:lpstr>11-1.検知 </vt:lpstr>
      <vt:lpstr>11-2.セキュリティ関連のAWS見積    </vt:lpstr>
      <vt:lpstr>11-3.EC2に対するセキュリティ対策 </vt:lpstr>
      <vt:lpstr>12.CICD</vt:lpstr>
      <vt:lpstr>12-1.デプロイ環境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2025-12-04T03:19:30Z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0x010100362C55BE5E260749AE179ACE10276E66</vt:lpwstr>
  </property>
  <property fmtid="{D5CDD505-2E9C-101B-9397-08002B2CF9AE}" pid="3" name="MediaServiceImageTags">
    <vt:lpwstr/>
  </property>
</Properties>
</file>