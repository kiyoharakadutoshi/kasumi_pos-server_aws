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382" r:id="rId5"/>
    <p:sldId id="383" r:id="rId6"/>
    <p:sldId id="384" r:id="rId7"/>
  </p:sldIdLst>
  <p:sldSz cx="9906000" cy="6858000" type="A4"/>
  <p:notesSz cx="10234613" cy="71040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作成者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3120"/>
    <a:srgbClr val="86D0ED"/>
    <a:srgbClr val="00744D"/>
    <a:srgbClr val="E60012"/>
    <a:srgbClr val="40B172"/>
    <a:srgbClr val="F2DCDB"/>
    <a:srgbClr val="C00000"/>
    <a:srgbClr val="FFE1E1"/>
    <a:srgbClr val="CCECFF"/>
    <a:srgbClr val="F7E7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E20A73-3F40-4131-AE8A-0FC244CBECA7}" v="1" dt="2024-05-15T04:12:05.928"/>
  </p1510:revLst>
</p1510:revInfo>
</file>

<file path=ppt/tableStyles.xml><?xml version="1.0" encoding="utf-8"?>
<a:tblStyleLst xmlns:a="http://schemas.openxmlformats.org/drawingml/2006/main" def="{5C22544A-7EE6-4342-B048-85BDC9FD1C3A}"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間スタイル 4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中間スタイル 4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A107856-5554-42FB-B03E-39F5DBC370BA}" styleName="中間スタイル 4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792" autoAdjust="0"/>
    <p:restoredTop sz="70982" autoAdjust="0"/>
  </p:normalViewPr>
  <p:slideViewPr>
    <p:cSldViewPr>
      <p:cViewPr varScale="1">
        <p:scale>
          <a:sx n="110" d="100"/>
          <a:sy n="110" d="100"/>
        </p:scale>
        <p:origin x="1890" y="11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-44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8" d="100"/>
          <a:sy n="118" d="100"/>
        </p:scale>
        <p:origin x="120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/>
          <a:lstStyle>
            <a:lvl1pPr algn="l">
              <a:defRPr sz="13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797022" y="0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/>
          <a:lstStyle>
            <a:lvl1pPr algn="r">
              <a:defRPr sz="1300"/>
            </a:lvl1pPr>
          </a:lstStyle>
          <a:p>
            <a:fld id="{0D11254A-35F0-4387-BD63-57CE2757674D}" type="datetimeFigureOut">
              <a:rPr kumimoji="1" lang="ja-JP" altLang="en-US" smtClean="0"/>
              <a:pPr/>
              <a:t>2024/5/15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6747757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 anchor="b"/>
          <a:lstStyle>
            <a:lvl1pPr algn="l">
              <a:defRPr sz="1300"/>
            </a:lvl1pPr>
          </a:lstStyle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797022" y="6747757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 anchor="b"/>
          <a:lstStyle>
            <a:lvl1pPr algn="r">
              <a:defRPr sz="1300"/>
            </a:lvl1pPr>
          </a:lstStyle>
          <a:p>
            <a:fld id="{9C269975-7BE2-4E87-802B-58439506061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822295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/>
          <a:lstStyle>
            <a:lvl1pPr algn="l">
              <a:defRPr sz="15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7" y="0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/>
          <a:lstStyle>
            <a:lvl1pPr algn="r">
              <a:defRPr sz="1500"/>
            </a:lvl1pPr>
          </a:lstStyle>
          <a:p>
            <a:fld id="{D7387CCE-2FF8-4C4F-814C-EE6E76026263}" type="datetimeFigureOut">
              <a:rPr lang="en-US" smtClean="0"/>
              <a:pPr/>
              <a:t>5/15/2024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92463" y="531813"/>
            <a:ext cx="3849687" cy="2665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3" tIns="49521" rIns="99043" bIns="4952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5" y="3374432"/>
            <a:ext cx="8187689" cy="3196828"/>
          </a:xfrm>
          <a:prstGeom prst="rect">
            <a:avLst/>
          </a:prstGeom>
        </p:spPr>
        <p:txBody>
          <a:bodyPr vert="horz" lIns="99043" tIns="49521" rIns="99043" bIns="4952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747629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 anchor="b"/>
          <a:lstStyle>
            <a:lvl1pPr algn="l">
              <a:defRPr sz="15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7" y="6747629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 anchor="b"/>
          <a:lstStyle>
            <a:lvl1pPr algn="r">
              <a:defRPr sz="1500"/>
            </a:lvl1pPr>
          </a:lstStyle>
          <a:p>
            <a:fld id="{084ACCD1-6A07-4099-ACBF-2EA3310362E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295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rot="5400000">
            <a:off x="2662436" y="-2662436"/>
            <a:ext cx="4581128" cy="990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Isosceles Triangle 4"/>
          <p:cNvSpPr/>
          <p:nvPr userDrawn="1"/>
        </p:nvSpPr>
        <p:spPr>
          <a:xfrm>
            <a:off x="662523" y="4349120"/>
            <a:ext cx="312035" cy="2400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662522" y="1196752"/>
            <a:ext cx="8556604" cy="2016224"/>
          </a:xfrm>
        </p:spPr>
        <p:txBody>
          <a:bodyPr anchor="t"/>
          <a:lstStyle>
            <a:lvl1pPr algn="l">
              <a:defRPr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664497" y="4911219"/>
            <a:ext cx="6472746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rgbClr val="C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6" name="図形グループ 15"/>
          <p:cNvGrpSpPr/>
          <p:nvPr userDrawn="1"/>
        </p:nvGrpSpPr>
        <p:grpSpPr>
          <a:xfrm>
            <a:off x="7527286" y="4045673"/>
            <a:ext cx="2106234" cy="391438"/>
            <a:chOff x="6516216" y="3933056"/>
            <a:chExt cx="2503572" cy="504056"/>
          </a:xfrm>
        </p:grpSpPr>
        <p:pic>
          <p:nvPicPr>
            <p:cNvPr id="11" name="図 10" descr="Logo_9001.jpg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6216" y="3933056"/>
              <a:ext cx="760016" cy="494068"/>
            </a:xfrm>
            <a:prstGeom prst="rect">
              <a:avLst/>
            </a:prstGeom>
          </p:spPr>
        </p:pic>
        <p:pic>
          <p:nvPicPr>
            <p:cNvPr id="13" name="図 12" descr="Logo_27001.jpg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0312" y="3933056"/>
              <a:ext cx="775381" cy="504056"/>
            </a:xfrm>
            <a:prstGeom prst="rect">
              <a:avLst/>
            </a:prstGeom>
          </p:spPr>
        </p:pic>
        <p:pic>
          <p:nvPicPr>
            <p:cNvPr id="14" name="図 13" descr="CMMI3.jpg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4408" y="3933056"/>
              <a:ext cx="775380" cy="504056"/>
            </a:xfrm>
            <a:prstGeom prst="rect">
              <a:avLst/>
            </a:prstGeom>
          </p:spPr>
        </p:pic>
      </p:grpSp>
      <p:pic>
        <p:nvPicPr>
          <p:cNvPr id="15" name="図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989" y="4725145"/>
            <a:ext cx="2077233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rot="5400000">
            <a:off x="2662436" y="-2662436"/>
            <a:ext cx="4581128" cy="990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522" y="1196752"/>
            <a:ext cx="8580000" cy="1008112"/>
          </a:xfrm>
        </p:spPr>
        <p:txBody>
          <a:bodyPr anchor="b"/>
          <a:lstStyle>
            <a:lvl1pPr algn="l">
              <a:defRPr baseline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4496" y="2204865"/>
            <a:ext cx="8578981" cy="786547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baseline="0">
                <a:solidFill>
                  <a:schemeClr val="accent2">
                    <a:lumMod val="40000"/>
                    <a:lumOff val="60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Isosceles Triangle 4"/>
          <p:cNvSpPr/>
          <p:nvPr userDrawn="1"/>
        </p:nvSpPr>
        <p:spPr>
          <a:xfrm>
            <a:off x="662523" y="4349120"/>
            <a:ext cx="312035" cy="2400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4775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541" y="240396"/>
            <a:ext cx="8592159" cy="1066129"/>
          </a:xfrm>
        </p:spPr>
        <p:txBody>
          <a:bodyPr/>
          <a:lstStyle>
            <a:lvl1pPr algn="l"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541" y="1484785"/>
            <a:ext cx="8592159" cy="4525963"/>
          </a:xfrm>
        </p:spPr>
        <p:txBody>
          <a:bodyPr>
            <a:normAutofit/>
          </a:bodyPr>
          <a:lstStyle>
            <a:lvl1pPr>
              <a:defRPr sz="24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>
              <a:defRPr sz="18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800"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lowchart: Off-page Connector 9"/>
          <p:cNvSpPr/>
          <p:nvPr userDrawn="1"/>
        </p:nvSpPr>
        <p:spPr>
          <a:xfrm>
            <a:off x="9228428" y="188641"/>
            <a:ext cx="410869" cy="297731"/>
          </a:xfrm>
          <a:prstGeom prst="flowChartOffpageConnector">
            <a:avLst/>
          </a:prstGeom>
          <a:solidFill>
            <a:srgbClr val="D1493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9558FA8-0178-4D27-850C-8B57201BA605}" type="slidenum">
              <a:rPr lang="es-HN" sz="1200" b="1" smtClean="0">
                <a:latin typeface="Yu Gothic UI" panose="020B0500000000000000" pitchFamily="50" charset="-128"/>
                <a:ea typeface="Yu Gothic UI" panose="020B0500000000000000" pitchFamily="50" charset="-128"/>
              </a:rPr>
              <a:pPr algn="ctr"/>
              <a:t>‹#›</a:t>
            </a:fld>
            <a:endParaRPr lang="en-US" sz="1200" b="1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4581128"/>
            <a:ext cx="9906000" cy="22768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050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AEFDCD1-C7A1-4E9F-AA09-39CD61F98800}"/>
              </a:ext>
            </a:extLst>
          </p:cNvPr>
          <p:cNvSpPr/>
          <p:nvPr userDrawn="1"/>
        </p:nvSpPr>
        <p:spPr>
          <a:xfrm>
            <a:off x="432000" y="864000"/>
            <a:ext cx="9000000" cy="5760000"/>
          </a:xfrm>
          <a:prstGeom prst="rect">
            <a:avLst/>
          </a:prstGeom>
          <a:gradFill>
            <a:gsLst>
              <a:gs pos="0">
                <a:srgbClr val="FFEBEB"/>
              </a:gs>
              <a:gs pos="80000">
                <a:schemeClr val="bg1"/>
              </a:gs>
              <a:gs pos="20000">
                <a:schemeClr val="bg1"/>
              </a:gs>
              <a:gs pos="100000">
                <a:srgbClr val="FFE1E1"/>
              </a:gs>
            </a:gsLst>
            <a:lin ang="5400000" scaled="0"/>
          </a:gradFill>
          <a:ln>
            <a:solidFill>
              <a:srgbClr val="C00000"/>
            </a:solidFill>
          </a:ln>
        </p:spPr>
        <p:txBody>
          <a:bodyPr vert="horz" wrap="none" lIns="72000" tIns="0" rIns="72000" bIns="0" rtlCol="0">
            <a:normAutofit/>
          </a:bodyPr>
          <a:lstStyle/>
          <a:p>
            <a:pPr>
              <a:spcBef>
                <a:spcPct val="20000"/>
              </a:spcBef>
            </a:pPr>
            <a:endParaRPr kumimoji="1" lang="ja-JP" altLang="en-US" sz="12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240397"/>
            <a:ext cx="8993444" cy="596316"/>
          </a:xfrm>
        </p:spPr>
        <p:txBody>
          <a:bodyPr wrap="none">
            <a:noAutofit/>
          </a:bodyPr>
          <a:lstStyle>
            <a:lvl1pPr algn="l">
              <a:defRPr sz="2200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lowchart: Off-page Connector 9"/>
          <p:cNvSpPr/>
          <p:nvPr userDrawn="1"/>
        </p:nvSpPr>
        <p:spPr>
          <a:xfrm>
            <a:off x="9228428" y="188643"/>
            <a:ext cx="410869" cy="297731"/>
          </a:xfrm>
          <a:prstGeom prst="flowChartOffpageConnector">
            <a:avLst/>
          </a:prstGeom>
          <a:solidFill>
            <a:srgbClr val="D1493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9558FA8-0178-4D27-850C-8B57201BA605}" type="slidenum">
              <a:rPr lang="es-HN" sz="1000" b="1" baseline="0" smtClean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ctr"/>
              <a:t>‹#›</a:t>
            </a:fld>
            <a:endParaRPr lang="en-US" sz="1000" b="1" baseline="0" dirty="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0"/>
            <a:ext cx="467502" cy="6858000"/>
            <a:chOff x="0" y="0"/>
            <a:chExt cx="431540" cy="685800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0"/>
              <a:ext cx="251520" cy="6858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62" baseline="0" dirty="0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0" name="Isosceles Triangle 9"/>
            <p:cNvSpPr/>
            <p:nvPr userDrawn="1"/>
          </p:nvSpPr>
          <p:spPr>
            <a:xfrm rot="5400000">
              <a:off x="233518" y="638690"/>
              <a:ext cx="216024" cy="18002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62" baseline="0" dirty="0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</p:grpSp>
      <p:sp>
        <p:nvSpPr>
          <p:cNvPr id="8" name="Isosceles Triangle 9">
            <a:extLst>
              <a:ext uri="{FF2B5EF4-FFF2-40B4-BE49-F238E27FC236}">
                <a16:creationId xmlns:a16="http://schemas.microsoft.com/office/drawing/2014/main" id="{3D95FF19-0180-4042-BF48-03063A2CD4AE}"/>
              </a:ext>
            </a:extLst>
          </p:cNvPr>
          <p:cNvSpPr/>
          <p:nvPr userDrawn="1"/>
        </p:nvSpPr>
        <p:spPr>
          <a:xfrm rot="5400000">
            <a:off x="4930142" y="-3807043"/>
            <a:ext cx="45719" cy="907148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62" baseline="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90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2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anchor="b"/>
          <a:lstStyle>
            <a:lvl1pPr algn="r">
              <a:defRPr sz="1400" b="1">
                <a:solidFill>
                  <a:srgbClr val="C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luvina.net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31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3200" b="1" kern="1200">
          <a:solidFill>
            <a:srgbClr val="C00000"/>
          </a:solidFill>
          <a:latin typeface="Yu Gothic UI" panose="020B0500000000000000" pitchFamily="50" charset="-128"/>
          <a:ea typeface="Yu Gothic UI" panose="020B0500000000000000" pitchFamily="50" charset="-128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svg"/><Relationship Id="rId21" Type="http://schemas.openxmlformats.org/officeDocument/2006/relationships/image" Target="../media/image25.svg"/><Relationship Id="rId34" Type="http://schemas.openxmlformats.org/officeDocument/2006/relationships/image" Target="../media/image38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5" Type="http://schemas.openxmlformats.org/officeDocument/2006/relationships/image" Target="../media/image29.svg"/><Relationship Id="rId33" Type="http://schemas.openxmlformats.org/officeDocument/2006/relationships/image" Target="../media/image37.sv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23" Type="http://schemas.openxmlformats.org/officeDocument/2006/relationships/image" Target="../media/image27.sv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svg"/><Relationship Id="rId31" Type="http://schemas.openxmlformats.org/officeDocument/2006/relationships/image" Target="../media/image35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svg"/><Relationship Id="rId30" Type="http://schemas.openxmlformats.org/officeDocument/2006/relationships/image" Target="../media/image34.png"/><Relationship Id="rId35" Type="http://schemas.openxmlformats.org/officeDocument/2006/relationships/image" Target="../media/image39.svg"/><Relationship Id="rId8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svg"/><Relationship Id="rId21" Type="http://schemas.openxmlformats.org/officeDocument/2006/relationships/image" Target="../media/image25.svg"/><Relationship Id="rId34" Type="http://schemas.openxmlformats.org/officeDocument/2006/relationships/image" Target="../media/image38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5" Type="http://schemas.openxmlformats.org/officeDocument/2006/relationships/image" Target="../media/image29.svg"/><Relationship Id="rId33" Type="http://schemas.openxmlformats.org/officeDocument/2006/relationships/image" Target="../media/image37.sv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23" Type="http://schemas.openxmlformats.org/officeDocument/2006/relationships/image" Target="../media/image27.sv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svg"/><Relationship Id="rId31" Type="http://schemas.openxmlformats.org/officeDocument/2006/relationships/image" Target="../media/image35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svg"/><Relationship Id="rId30" Type="http://schemas.openxmlformats.org/officeDocument/2006/relationships/image" Target="../media/image34.png"/><Relationship Id="rId35" Type="http://schemas.openxmlformats.org/officeDocument/2006/relationships/image" Target="../media/image39.sv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1D2392-628E-C43C-4860-3CB4507E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サーバー システム構成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全体イメージ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CDC4AAB-6AA9-9B89-3F85-1746A324B4C0}"/>
              </a:ext>
            </a:extLst>
          </p:cNvPr>
          <p:cNvSpPr/>
          <p:nvPr/>
        </p:nvSpPr>
        <p:spPr>
          <a:xfrm>
            <a:off x="694285" y="1016161"/>
            <a:ext cx="8409053" cy="586216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  <a:r>
              <a:rPr kumimoji="1" lang="ja-JP" altLang="en-US" sz="1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を使用する方向で検討</a:t>
            </a:r>
          </a:p>
        </p:txBody>
      </p:sp>
      <p:sp>
        <p:nvSpPr>
          <p:cNvPr id="10" name="Rectangle 54">
            <a:extLst>
              <a:ext uri="{FF2B5EF4-FFF2-40B4-BE49-F238E27FC236}">
                <a16:creationId xmlns:a16="http://schemas.microsoft.com/office/drawing/2014/main" id="{8BDE53A0-53F5-F91E-0A77-0EBF6D33A15D}"/>
              </a:ext>
            </a:extLst>
          </p:cNvPr>
          <p:cNvSpPr/>
          <p:nvPr/>
        </p:nvSpPr>
        <p:spPr>
          <a:xfrm>
            <a:off x="720000" y="2304000"/>
            <a:ext cx="7120680" cy="4284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11" name="Graphic 55" descr="AWS Cloud group icon with AWS logo.">
            <a:extLst>
              <a:ext uri="{FF2B5EF4-FFF2-40B4-BE49-F238E27FC236}">
                <a16:creationId xmlns:a16="http://schemas.microsoft.com/office/drawing/2014/main" id="{DEECB6E1-7179-643B-55DC-7C363ABDE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0000" y="2304000"/>
            <a:ext cx="216000" cy="216000"/>
          </a:xfrm>
          <a:prstGeom prst="rect">
            <a:avLst/>
          </a:prstGeom>
        </p:spPr>
      </p:pic>
      <p:sp>
        <p:nvSpPr>
          <p:cNvPr id="13" name="Rectangle 60" descr="Region group">
            <a:extLst>
              <a:ext uri="{FF2B5EF4-FFF2-40B4-BE49-F238E27FC236}">
                <a16:creationId xmlns:a16="http://schemas.microsoft.com/office/drawing/2014/main" id="{64EAA69F-4F11-66D2-620D-8DCA26DC860C}"/>
              </a:ext>
            </a:extLst>
          </p:cNvPr>
          <p:cNvSpPr/>
          <p:nvPr/>
        </p:nvSpPr>
        <p:spPr>
          <a:xfrm>
            <a:off x="792000" y="2880000"/>
            <a:ext cx="6954000" cy="3672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</a:p>
        </p:txBody>
      </p:sp>
      <p:pic>
        <p:nvPicPr>
          <p:cNvPr id="14" name="Graphic 61" descr="Region group icon.">
            <a:extLst>
              <a:ext uri="{FF2B5EF4-FFF2-40B4-BE49-F238E27FC236}">
                <a16:creationId xmlns:a16="http://schemas.microsoft.com/office/drawing/2014/main" id="{257F7A0E-507C-BB79-FFA3-2E0C19330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92000" y="2880000"/>
            <a:ext cx="216000" cy="216000"/>
          </a:xfrm>
          <a:prstGeom prst="rect">
            <a:avLst/>
          </a:prstGeom>
        </p:spPr>
      </p:pic>
      <p:sp>
        <p:nvSpPr>
          <p:cNvPr id="15" name="Rectangle 62" descr="Availability Zone group.">
            <a:extLst>
              <a:ext uri="{FF2B5EF4-FFF2-40B4-BE49-F238E27FC236}">
                <a16:creationId xmlns:a16="http://schemas.microsoft.com/office/drawing/2014/main" id="{388D1146-D6D9-BC31-04CF-FE6617E8CBD1}"/>
              </a:ext>
            </a:extLst>
          </p:cNvPr>
          <p:cNvSpPr/>
          <p:nvPr/>
        </p:nvSpPr>
        <p:spPr>
          <a:xfrm>
            <a:off x="1116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16" name="Rectangle 62" descr="Availability Zone group.">
            <a:extLst>
              <a:ext uri="{FF2B5EF4-FFF2-40B4-BE49-F238E27FC236}">
                <a16:creationId xmlns:a16="http://schemas.microsoft.com/office/drawing/2014/main" id="{91952523-C518-B78D-B450-70827B58B17E}"/>
              </a:ext>
            </a:extLst>
          </p:cNvPr>
          <p:cNvSpPr/>
          <p:nvPr/>
        </p:nvSpPr>
        <p:spPr>
          <a:xfrm>
            <a:off x="3456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20" name="Rectangle 69">
            <a:extLst>
              <a:ext uri="{FF2B5EF4-FFF2-40B4-BE49-F238E27FC236}">
                <a16:creationId xmlns:a16="http://schemas.microsoft.com/office/drawing/2014/main" id="{0FFB246B-2AC9-05DD-E590-94C16E98D8C3}"/>
              </a:ext>
            </a:extLst>
          </p:cNvPr>
          <p:cNvSpPr/>
          <p:nvPr/>
        </p:nvSpPr>
        <p:spPr>
          <a:xfrm>
            <a:off x="864000" y="3636000"/>
            <a:ext cx="6609280" cy="2808000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private cloud (VPC)</a:t>
            </a:r>
          </a:p>
        </p:txBody>
      </p:sp>
      <p:pic>
        <p:nvPicPr>
          <p:cNvPr id="22" name="Graphic 70" descr="VPC group icon. ">
            <a:extLst>
              <a:ext uri="{FF2B5EF4-FFF2-40B4-BE49-F238E27FC236}">
                <a16:creationId xmlns:a16="http://schemas.microsoft.com/office/drawing/2014/main" id="{184139C7-32D8-8B41-78E2-B53B26CE9A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64000" y="3636000"/>
            <a:ext cx="216000" cy="216000"/>
          </a:xfrm>
          <a:prstGeom prst="rect">
            <a:avLst/>
          </a:prstGeom>
        </p:spPr>
      </p:pic>
      <p:sp>
        <p:nvSpPr>
          <p:cNvPr id="25" name="Rectangle 71">
            <a:extLst>
              <a:ext uri="{FF2B5EF4-FFF2-40B4-BE49-F238E27FC236}">
                <a16:creationId xmlns:a16="http://schemas.microsoft.com/office/drawing/2014/main" id="{9D034DFA-2FBF-971A-C979-CF5587F54F17}"/>
              </a:ext>
            </a:extLst>
          </p:cNvPr>
          <p:cNvSpPr/>
          <p:nvPr/>
        </p:nvSpPr>
        <p:spPr>
          <a:xfrm>
            <a:off x="1187999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6" name="Graphic 72" descr="Private subnet group icon. ">
            <a:extLst>
              <a:ext uri="{FF2B5EF4-FFF2-40B4-BE49-F238E27FC236}">
                <a16:creationId xmlns:a16="http://schemas.microsoft.com/office/drawing/2014/main" id="{9AE2F508-AAF6-E54E-CB9E-82233440AF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187999" y="4788000"/>
            <a:ext cx="216000" cy="216000"/>
          </a:xfrm>
          <a:prstGeom prst="rect">
            <a:avLst/>
          </a:prstGeom>
        </p:spPr>
      </p:pic>
      <p:sp>
        <p:nvSpPr>
          <p:cNvPr id="36" name="Rectangle 73">
            <a:extLst>
              <a:ext uri="{FF2B5EF4-FFF2-40B4-BE49-F238E27FC236}">
                <a16:creationId xmlns:a16="http://schemas.microsoft.com/office/drawing/2014/main" id="{3CC4E49C-A079-4680-87CD-3DBFB32F10B1}"/>
              </a:ext>
            </a:extLst>
          </p:cNvPr>
          <p:cNvSpPr/>
          <p:nvPr/>
        </p:nvSpPr>
        <p:spPr>
          <a:xfrm>
            <a:off x="1187999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37" name="Graphic 74" descr="Public subnet group icon. ">
            <a:extLst>
              <a:ext uri="{FF2B5EF4-FFF2-40B4-BE49-F238E27FC236}">
                <a16:creationId xmlns:a16="http://schemas.microsoft.com/office/drawing/2014/main" id="{5E41B786-BF76-3A05-AB5C-AC3333A3BE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187999" y="3960000"/>
            <a:ext cx="216000" cy="216000"/>
          </a:xfrm>
          <a:prstGeom prst="rect">
            <a:avLst/>
          </a:prstGeom>
        </p:spPr>
      </p:pic>
      <p:pic>
        <p:nvPicPr>
          <p:cNvPr id="43" name="Graphic 23" descr="Users resource icon for the General Icons category.">
            <a:extLst>
              <a:ext uri="{FF2B5EF4-FFF2-40B4-BE49-F238E27FC236}">
                <a16:creationId xmlns:a16="http://schemas.microsoft.com/office/drawing/2014/main" id="{0C82758F-04B1-D359-4A11-1AC00EDE7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 flipH="1">
            <a:off x="2280435" y="1729077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Box 40">
            <a:extLst>
              <a:ext uri="{FF2B5EF4-FFF2-40B4-BE49-F238E27FC236}">
                <a16:creationId xmlns:a16="http://schemas.microsoft.com/office/drawing/2014/main" id="{0FBE9BD9-CB25-47CE-4015-962730846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6383" y="1962377"/>
            <a:ext cx="48603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</a:p>
        </p:txBody>
      </p:sp>
      <p:pic>
        <p:nvPicPr>
          <p:cNvPr id="45" name="Graphic 77" descr="Server resource icon for the General Icons category.">
            <a:extLst>
              <a:ext uri="{FF2B5EF4-FFF2-40B4-BE49-F238E27FC236}">
                <a16:creationId xmlns:a16="http://schemas.microsoft.com/office/drawing/2014/main" id="{A99FB1E8-E3A0-EACC-110E-A0048A39886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46280" y="4477371"/>
            <a:ext cx="430521" cy="430521"/>
          </a:xfrm>
          <a:prstGeom prst="rect">
            <a:avLst/>
          </a:prstGeom>
        </p:spPr>
      </p:pic>
      <p:sp>
        <p:nvSpPr>
          <p:cNvPr id="48" name="Rectangle 77">
            <a:extLst>
              <a:ext uri="{FF2B5EF4-FFF2-40B4-BE49-F238E27FC236}">
                <a16:creationId xmlns:a16="http://schemas.microsoft.com/office/drawing/2014/main" id="{C8061041-2633-1197-C765-2B8DFEFF151D}"/>
              </a:ext>
            </a:extLst>
          </p:cNvPr>
          <p:cNvSpPr/>
          <p:nvPr/>
        </p:nvSpPr>
        <p:spPr>
          <a:xfrm>
            <a:off x="7890000" y="4140000"/>
            <a:ext cx="1440000" cy="792000"/>
          </a:xfrm>
          <a:prstGeom prst="rect">
            <a:avLst/>
          </a:prstGeom>
          <a:noFill/>
          <a:ln w="15875">
            <a:solidFill>
              <a:srgbClr val="7D89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data center</a:t>
            </a:r>
          </a:p>
        </p:txBody>
      </p:sp>
      <p:pic>
        <p:nvPicPr>
          <p:cNvPr id="51" name="Graphic 78" descr="Corporate data center group icon. ">
            <a:extLst>
              <a:ext uri="{FF2B5EF4-FFF2-40B4-BE49-F238E27FC236}">
                <a16:creationId xmlns:a16="http://schemas.microsoft.com/office/drawing/2014/main" id="{B394DCF5-59DF-3FCC-869C-8BF21984CC9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7890001" y="4140000"/>
            <a:ext cx="216000" cy="216000"/>
          </a:xfrm>
          <a:prstGeom prst="rect">
            <a:avLst/>
          </a:prstGeom>
        </p:spPr>
      </p:pic>
      <p:pic>
        <p:nvPicPr>
          <p:cNvPr id="52" name="Graphic 77" descr="Server resource icon for the General Icons category.">
            <a:extLst>
              <a:ext uri="{FF2B5EF4-FFF2-40B4-BE49-F238E27FC236}">
                <a16:creationId xmlns:a16="http://schemas.microsoft.com/office/drawing/2014/main" id="{BE0352FE-0D34-902C-8D6F-5B2A08EA862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06640" y="4477371"/>
            <a:ext cx="430521" cy="430521"/>
          </a:xfrm>
          <a:prstGeom prst="rect">
            <a:avLst/>
          </a:prstGeom>
        </p:spPr>
      </p:pic>
      <p:pic>
        <p:nvPicPr>
          <p:cNvPr id="53" name="Graphic 77" descr="Server resource icon for the General Icons category.">
            <a:extLst>
              <a:ext uri="{FF2B5EF4-FFF2-40B4-BE49-F238E27FC236}">
                <a16:creationId xmlns:a16="http://schemas.microsoft.com/office/drawing/2014/main" id="{B6EB681F-D151-E129-96DD-7F5A281C4F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586481" y="4477371"/>
            <a:ext cx="430521" cy="430521"/>
          </a:xfrm>
          <a:prstGeom prst="rect">
            <a:avLst/>
          </a:prstGeom>
        </p:spPr>
      </p:pic>
      <p:pic>
        <p:nvPicPr>
          <p:cNvPr id="54" name="Graphic 21" descr="Amazon Route 53 service icon.">
            <a:extLst>
              <a:ext uri="{FF2B5EF4-FFF2-40B4-BE49-F238E27FC236}">
                <a16:creationId xmlns:a16="http://schemas.microsoft.com/office/drawing/2014/main" id="{4B155731-1130-F160-F2F9-8F3E968DE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1872000" y="237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TextBox 12">
            <a:extLst>
              <a:ext uri="{FF2B5EF4-FFF2-40B4-BE49-F238E27FC236}">
                <a16:creationId xmlns:a16="http://schemas.microsoft.com/office/drawing/2014/main" id="{1C370F5A-5BB4-CDC8-1F2B-EC2568AE6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9629" y="2628000"/>
            <a:ext cx="65274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53</a:t>
            </a:r>
          </a:p>
        </p:txBody>
      </p:sp>
      <p:pic>
        <p:nvPicPr>
          <p:cNvPr id="56" name="Graphic 19" descr="Amazon CloudFront service icon.">
            <a:extLst>
              <a:ext uri="{FF2B5EF4-FFF2-40B4-BE49-F238E27FC236}">
                <a16:creationId xmlns:a16="http://schemas.microsoft.com/office/drawing/2014/main" id="{93DA8BA0-9893-001C-4118-9739CFD5A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2718652" y="237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TextBox 11">
            <a:extLst>
              <a:ext uri="{FF2B5EF4-FFF2-40B4-BE49-F238E27FC236}">
                <a16:creationId xmlns:a16="http://schemas.microsoft.com/office/drawing/2014/main" id="{AD46B6E8-7360-1801-7D83-55B0AC50C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985" y="2628000"/>
            <a:ext cx="75533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CloudFront</a:t>
            </a:r>
          </a:p>
        </p:txBody>
      </p:sp>
      <p:pic>
        <p:nvPicPr>
          <p:cNvPr id="58" name="Graphic 8" descr="Amazon Simple Storage Service (Amazon S3) service icon.">
            <a:extLst>
              <a:ext uri="{FF2B5EF4-FFF2-40B4-BE49-F238E27FC236}">
                <a16:creationId xmlns:a16="http://schemas.microsoft.com/office/drawing/2014/main" id="{DB8A2ACD-DABB-2CCD-0A6F-3D3BDEBAD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 bwMode="auto">
          <a:xfrm>
            <a:off x="4212000" y="291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extBox 9">
            <a:extLst>
              <a:ext uri="{FF2B5EF4-FFF2-40B4-BE49-F238E27FC236}">
                <a16:creationId xmlns:a16="http://schemas.microsoft.com/office/drawing/2014/main" id="{CA5D307C-F8B5-D8A9-3F88-A2568385C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5509" y="3168000"/>
            <a:ext cx="78098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S3</a:t>
            </a:r>
          </a:p>
        </p:txBody>
      </p:sp>
      <p:sp>
        <p:nvSpPr>
          <p:cNvPr id="63" name="TextBox 12">
            <a:extLst>
              <a:ext uri="{FF2B5EF4-FFF2-40B4-BE49-F238E27FC236}">
                <a16:creationId xmlns:a16="http://schemas.microsoft.com/office/drawing/2014/main" id="{6427E318-E9E1-2EE4-B2D5-B8E8472CF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9520" y="3729168"/>
            <a:ext cx="103746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65" name="Graphic 6" descr="Elastic Load Balancing service icon.">
            <a:extLst>
              <a:ext uri="{FF2B5EF4-FFF2-40B4-BE49-F238E27FC236}">
                <a16:creationId xmlns:a16="http://schemas.microsoft.com/office/drawing/2014/main" id="{AE1EE17E-6ECA-941D-99EA-CD8F9B26B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 bwMode="auto">
          <a:xfrm>
            <a:off x="3034251" y="4140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TextBox 12">
            <a:extLst>
              <a:ext uri="{FF2B5EF4-FFF2-40B4-BE49-F238E27FC236}">
                <a16:creationId xmlns:a16="http://schemas.microsoft.com/office/drawing/2014/main" id="{DF935FAA-B71C-99E7-AAC1-8697E78B3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30" y="4392000"/>
            <a:ext cx="8130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Load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Balancing</a:t>
            </a:r>
          </a:p>
        </p:txBody>
      </p:sp>
      <p:sp>
        <p:nvSpPr>
          <p:cNvPr id="70" name="TextBox 6">
            <a:extLst>
              <a:ext uri="{FF2B5EF4-FFF2-40B4-BE49-F238E27FC236}">
                <a16:creationId xmlns:a16="http://schemas.microsoft.com/office/drawing/2014/main" id="{8EA6238C-C2F4-6FF6-678C-61252875B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sp>
        <p:nvSpPr>
          <p:cNvPr id="73" name="TextBox 6">
            <a:extLst>
              <a:ext uri="{FF2B5EF4-FFF2-40B4-BE49-F238E27FC236}">
                <a16:creationId xmlns:a16="http://schemas.microsoft.com/office/drawing/2014/main" id="{742EAB10-B954-F471-B6AD-B2AB51B6B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3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sp>
        <p:nvSpPr>
          <p:cNvPr id="76" name="TextBox 9">
            <a:extLst>
              <a:ext uri="{FF2B5EF4-FFF2-40B4-BE49-F238E27FC236}">
                <a16:creationId xmlns:a16="http://schemas.microsoft.com/office/drawing/2014/main" id="{5B21EED1-DBA5-8FFE-0499-9CCD0F760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4213" y="6120000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sp>
        <p:nvSpPr>
          <p:cNvPr id="79" name="TextBox 9">
            <a:extLst>
              <a:ext uri="{FF2B5EF4-FFF2-40B4-BE49-F238E27FC236}">
                <a16:creationId xmlns:a16="http://schemas.microsoft.com/office/drawing/2014/main" id="{5F45BDBF-6DBA-FA25-E23F-52AE3FE0A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4213" y="6120000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pic>
        <p:nvPicPr>
          <p:cNvPr id="80" name="Graphic 65" descr="VPN gateway resource icon for the Amazon VPC service.&#10;">
            <a:extLst>
              <a:ext uri="{FF2B5EF4-FFF2-40B4-BE49-F238E27FC236}">
                <a16:creationId xmlns:a16="http://schemas.microsoft.com/office/drawing/2014/main" id="{593D0E47-EB78-2282-D482-16DAE80F3D1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314873" y="4495334"/>
            <a:ext cx="288000" cy="288000"/>
          </a:xfrm>
          <a:prstGeom prst="rect">
            <a:avLst/>
          </a:prstGeom>
        </p:spPr>
      </p:pic>
      <p:sp>
        <p:nvSpPr>
          <p:cNvPr id="81" name="TextBox 15">
            <a:extLst>
              <a:ext uri="{FF2B5EF4-FFF2-40B4-BE49-F238E27FC236}">
                <a16:creationId xmlns:a16="http://schemas.microsoft.com/office/drawing/2014/main" id="{FC1C2147-30EE-039A-609D-6E3509FBD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6739" y="4751999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VPN gateway</a:t>
            </a:r>
          </a:p>
        </p:txBody>
      </p: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02C0BB4E-F850-6ABE-FDB6-AFE09A0897A1}"/>
              </a:ext>
            </a:extLst>
          </p:cNvPr>
          <p:cNvCxnSpPr>
            <a:stCxn id="43" idx="1"/>
            <a:endCxn id="56" idx="0"/>
          </p:cNvCxnSpPr>
          <p:nvPr/>
        </p:nvCxnSpPr>
        <p:spPr>
          <a:xfrm>
            <a:off x="2568435" y="1873077"/>
            <a:ext cx="294217" cy="5029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コネクタ: カギ線 83">
            <a:extLst>
              <a:ext uri="{FF2B5EF4-FFF2-40B4-BE49-F238E27FC236}">
                <a16:creationId xmlns:a16="http://schemas.microsoft.com/office/drawing/2014/main" id="{0759A624-03A0-463C-83F8-B4E104A976AB}"/>
              </a:ext>
            </a:extLst>
          </p:cNvPr>
          <p:cNvCxnSpPr>
            <a:cxnSpLocks/>
            <a:stCxn id="43" idx="3"/>
            <a:endCxn id="54" idx="0"/>
          </p:cNvCxnSpPr>
          <p:nvPr/>
        </p:nvCxnSpPr>
        <p:spPr>
          <a:xfrm rot="10800000" flipV="1">
            <a:off x="2016001" y="1873076"/>
            <a:ext cx="264435" cy="5029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コネクタ: カギ線 89">
            <a:extLst>
              <a:ext uri="{FF2B5EF4-FFF2-40B4-BE49-F238E27FC236}">
                <a16:creationId xmlns:a16="http://schemas.microsoft.com/office/drawing/2014/main" id="{B9EA0DB8-F576-41CC-4BFE-3D11A3768916}"/>
              </a:ext>
            </a:extLst>
          </p:cNvPr>
          <p:cNvCxnSpPr>
            <a:cxnSpLocks/>
            <a:stCxn id="56" idx="3"/>
            <a:endCxn id="58" idx="0"/>
          </p:cNvCxnSpPr>
          <p:nvPr/>
        </p:nvCxnSpPr>
        <p:spPr>
          <a:xfrm>
            <a:off x="3006652" y="2520000"/>
            <a:ext cx="1349348" cy="396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コネクタ: カギ線 98">
            <a:extLst>
              <a:ext uri="{FF2B5EF4-FFF2-40B4-BE49-F238E27FC236}">
                <a16:creationId xmlns:a16="http://schemas.microsoft.com/office/drawing/2014/main" id="{2193FAA4-733A-9B90-0B15-58065DF6CE6C}"/>
              </a:ext>
            </a:extLst>
          </p:cNvPr>
          <p:cNvCxnSpPr>
            <a:cxnSpLocks/>
            <a:stCxn id="56" idx="3"/>
            <a:endCxn id="62" idx="0"/>
          </p:cNvCxnSpPr>
          <p:nvPr/>
        </p:nvCxnSpPr>
        <p:spPr>
          <a:xfrm>
            <a:off x="3006652" y="2520000"/>
            <a:ext cx="171599" cy="972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コネクタ: カギ線 101">
            <a:extLst>
              <a:ext uri="{FF2B5EF4-FFF2-40B4-BE49-F238E27FC236}">
                <a16:creationId xmlns:a16="http://schemas.microsoft.com/office/drawing/2014/main" id="{7F04BF6E-89C7-FBD0-1A02-F9B8EAB64346}"/>
              </a:ext>
            </a:extLst>
          </p:cNvPr>
          <p:cNvCxnSpPr>
            <a:cxnSpLocks/>
            <a:stCxn id="62" idx="2"/>
            <a:endCxn id="65" idx="0"/>
          </p:cNvCxnSpPr>
          <p:nvPr/>
        </p:nvCxnSpPr>
        <p:spPr>
          <a:xfrm>
            <a:off x="3178251" y="378000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2" name="Graphic 10" descr="Internet gateway resource icon for the Amazon VPC service.">
            <a:extLst>
              <a:ext uri="{FF2B5EF4-FFF2-40B4-BE49-F238E27FC236}">
                <a16:creationId xmlns:a16="http://schemas.microsoft.com/office/drawing/2014/main" id="{AD9C51A0-D3D0-D25E-9876-588959F7E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 bwMode="auto">
          <a:xfrm>
            <a:off x="3034251" y="349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8" name="コネクタ: カギ線 107">
            <a:extLst>
              <a:ext uri="{FF2B5EF4-FFF2-40B4-BE49-F238E27FC236}">
                <a16:creationId xmlns:a16="http://schemas.microsoft.com/office/drawing/2014/main" id="{1531D77E-B16C-8B19-9685-AF31F08660A1}"/>
              </a:ext>
            </a:extLst>
          </p:cNvPr>
          <p:cNvCxnSpPr>
            <a:cxnSpLocks/>
            <a:stCxn id="65" idx="3"/>
            <a:endCxn id="71" idx="0"/>
          </p:cNvCxnSpPr>
          <p:nvPr/>
        </p:nvCxnSpPr>
        <p:spPr>
          <a:xfrm>
            <a:off x="3322251" y="4284000"/>
            <a:ext cx="1033749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コネクタ: カギ線 110">
            <a:extLst>
              <a:ext uri="{FF2B5EF4-FFF2-40B4-BE49-F238E27FC236}">
                <a16:creationId xmlns:a16="http://schemas.microsoft.com/office/drawing/2014/main" id="{6C03AEAB-D1EE-09C8-AB66-F82E64411219}"/>
              </a:ext>
            </a:extLst>
          </p:cNvPr>
          <p:cNvCxnSpPr>
            <a:cxnSpLocks/>
            <a:stCxn id="65" idx="1"/>
            <a:endCxn id="69" idx="0"/>
          </p:cNvCxnSpPr>
          <p:nvPr/>
        </p:nvCxnSpPr>
        <p:spPr>
          <a:xfrm rot="10800000" flipV="1">
            <a:off x="2016001" y="4284000"/>
            <a:ext cx="1018251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コネクタ: カギ線 113">
            <a:extLst>
              <a:ext uri="{FF2B5EF4-FFF2-40B4-BE49-F238E27FC236}">
                <a16:creationId xmlns:a16="http://schemas.microsoft.com/office/drawing/2014/main" id="{07639397-ED96-7516-BE71-EF9A52E4926A}"/>
              </a:ext>
            </a:extLst>
          </p:cNvPr>
          <p:cNvCxnSpPr>
            <a:cxnSpLocks/>
            <a:stCxn id="71" idx="2"/>
            <a:endCxn id="74" idx="0"/>
          </p:cNvCxnSpPr>
          <p:nvPr/>
        </p:nvCxnSpPr>
        <p:spPr>
          <a:xfrm rot="5400000">
            <a:off x="2970000" y="4446000"/>
            <a:ext cx="432000" cy="2340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9" name="Graphic 5" descr="Amazon Elastic Compute Cloud (Amazon EC2) service icon.">
            <a:extLst>
              <a:ext uri="{FF2B5EF4-FFF2-40B4-BE49-F238E27FC236}">
                <a16:creationId xmlns:a16="http://schemas.microsoft.com/office/drawing/2014/main" id="{A8655A41-7235-52A9-5D10-85E3D0B89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1872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Graphic 5" descr="Amazon Elastic Compute Cloud (Amazon EC2) service icon.">
            <a:extLst>
              <a:ext uri="{FF2B5EF4-FFF2-40B4-BE49-F238E27FC236}">
                <a16:creationId xmlns:a16="http://schemas.microsoft.com/office/drawing/2014/main" id="{C5A69348-FA7B-AC6D-3651-D1B21B67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4212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24FC3D36-A954-162A-BD71-9E981416A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1872000" y="583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AEE9D04A-001F-80AF-FBD2-124931F76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4212000" y="583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25621291-6A0E-B6FE-467F-B0B0EF855DC6}"/>
              </a:ext>
            </a:extLst>
          </p:cNvPr>
          <p:cNvCxnSpPr>
            <a:cxnSpLocks/>
            <a:stCxn id="69" idx="2"/>
            <a:endCxn id="74" idx="0"/>
          </p:cNvCxnSpPr>
          <p:nvPr/>
        </p:nvCxnSpPr>
        <p:spPr>
          <a:xfrm>
            <a:off x="2016000" y="5400000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コネクタ: カギ線 117">
            <a:extLst>
              <a:ext uri="{FF2B5EF4-FFF2-40B4-BE49-F238E27FC236}">
                <a16:creationId xmlns:a16="http://schemas.microsoft.com/office/drawing/2014/main" id="{5683305D-E7CF-7D4C-C10B-2E7D548F37A8}"/>
              </a:ext>
            </a:extLst>
          </p:cNvPr>
          <p:cNvCxnSpPr>
            <a:cxnSpLocks/>
            <a:stCxn id="74" idx="3"/>
            <a:endCxn id="77" idx="1"/>
          </p:cNvCxnSpPr>
          <p:nvPr/>
        </p:nvCxnSpPr>
        <p:spPr>
          <a:xfrm>
            <a:off x="2160000" y="5976000"/>
            <a:ext cx="205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コネクタ: カギ線 123">
            <a:extLst>
              <a:ext uri="{FF2B5EF4-FFF2-40B4-BE49-F238E27FC236}">
                <a16:creationId xmlns:a16="http://schemas.microsoft.com/office/drawing/2014/main" id="{8384D735-13D5-2B2E-CE49-36F68D7B3752}"/>
              </a:ext>
            </a:extLst>
          </p:cNvPr>
          <p:cNvCxnSpPr>
            <a:cxnSpLocks/>
            <a:stCxn id="48" idx="1"/>
            <a:endCxn id="80" idx="3"/>
          </p:cNvCxnSpPr>
          <p:nvPr/>
        </p:nvCxnSpPr>
        <p:spPr>
          <a:xfrm rot="10800000" flipV="1">
            <a:off x="7602874" y="4536000"/>
            <a:ext cx="287127" cy="1033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Rectangle 40">
            <a:extLst>
              <a:ext uri="{FF2B5EF4-FFF2-40B4-BE49-F238E27FC236}">
                <a16:creationId xmlns:a16="http://schemas.microsoft.com/office/drawing/2014/main" id="{11FCBB81-DBC0-F3C9-E95F-81F9C298F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60000" y="5076000"/>
            <a:ext cx="3852000" cy="648000"/>
          </a:xfrm>
          <a:prstGeom prst="rect">
            <a:avLst/>
          </a:prstGeom>
          <a:noFill/>
          <a:ln w="15875">
            <a:solidFill>
              <a:srgbClr val="ED71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129" name="Graphic 39">
            <a:extLst>
              <a:ext uri="{FF2B5EF4-FFF2-40B4-BE49-F238E27FC236}">
                <a16:creationId xmlns:a16="http://schemas.microsoft.com/office/drawing/2014/main" id="{F40D4595-8EB3-6927-ED0D-92C2F5B7C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3093825" y="5077899"/>
            <a:ext cx="180000" cy="180000"/>
          </a:xfrm>
          <a:prstGeom prst="rect">
            <a:avLst/>
          </a:prstGeom>
        </p:spPr>
      </p:pic>
      <p:sp>
        <p:nvSpPr>
          <p:cNvPr id="132" name="Rectangle 62" descr="Availability Zone group.">
            <a:extLst>
              <a:ext uri="{FF2B5EF4-FFF2-40B4-BE49-F238E27FC236}">
                <a16:creationId xmlns:a16="http://schemas.microsoft.com/office/drawing/2014/main" id="{41F722BD-3EB5-9BDA-68B1-8D122F6E2732}"/>
              </a:ext>
            </a:extLst>
          </p:cNvPr>
          <p:cNvSpPr/>
          <p:nvPr/>
        </p:nvSpPr>
        <p:spPr>
          <a:xfrm>
            <a:off x="5364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136" name="TextBox 6">
            <a:extLst>
              <a:ext uri="{FF2B5EF4-FFF2-40B4-BE49-F238E27FC236}">
                <a16:creationId xmlns:a16="http://schemas.microsoft.com/office/drawing/2014/main" id="{498CC661-DB7C-B26E-5838-75174E4AC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1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pic>
        <p:nvPicPr>
          <p:cNvPr id="137" name="Graphic 5" descr="Amazon Elastic Compute Cloud (Amazon EC2) service icon.">
            <a:extLst>
              <a:ext uri="{FF2B5EF4-FFF2-40B4-BE49-F238E27FC236}">
                <a16:creationId xmlns:a16="http://schemas.microsoft.com/office/drawing/2014/main" id="{0CFF3352-5907-F97A-8468-086DA742E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6120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ACECA3A3-BC97-FB4E-E54F-B55B54A954DE}"/>
              </a:ext>
            </a:extLst>
          </p:cNvPr>
          <p:cNvSpPr/>
          <p:nvPr/>
        </p:nvSpPr>
        <p:spPr>
          <a:xfrm>
            <a:off x="972000" y="4731667"/>
            <a:ext cx="4248873" cy="1043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0" name="四角形: 角を丸くする 139">
            <a:extLst>
              <a:ext uri="{FF2B5EF4-FFF2-40B4-BE49-F238E27FC236}">
                <a16:creationId xmlns:a16="http://schemas.microsoft.com/office/drawing/2014/main" id="{B747ABE4-0551-D0DC-C923-27C695ABC882}"/>
              </a:ext>
            </a:extLst>
          </p:cNvPr>
          <p:cNvSpPr/>
          <p:nvPr/>
        </p:nvSpPr>
        <p:spPr>
          <a:xfrm>
            <a:off x="936000" y="4532209"/>
            <a:ext cx="902175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Web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系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695CB314-9468-68BD-4C1E-6A432227A9BD}"/>
              </a:ext>
            </a:extLst>
          </p:cNvPr>
          <p:cNvSpPr/>
          <p:nvPr/>
        </p:nvSpPr>
        <p:spPr>
          <a:xfrm>
            <a:off x="5384408" y="4744833"/>
            <a:ext cx="1764140" cy="1043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2" name="四角形: 角を丸くする 141">
            <a:extLst>
              <a:ext uri="{FF2B5EF4-FFF2-40B4-BE49-F238E27FC236}">
                <a16:creationId xmlns:a16="http://schemas.microsoft.com/office/drawing/2014/main" id="{F58CE214-7DC9-37EA-3431-D7F25AF84E23}"/>
              </a:ext>
            </a:extLst>
          </p:cNvPr>
          <p:cNvSpPr/>
          <p:nvPr/>
        </p:nvSpPr>
        <p:spPr>
          <a:xfrm>
            <a:off x="5348407" y="4545375"/>
            <a:ext cx="1126332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バッチ・集計系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3" name="TextBox 9">
            <a:extLst>
              <a:ext uri="{FF2B5EF4-FFF2-40B4-BE49-F238E27FC236}">
                <a16:creationId xmlns:a16="http://schemas.microsoft.com/office/drawing/2014/main" id="{424C8153-626D-7605-E8AC-1339A071C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213" y="6114971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pic>
        <p:nvPicPr>
          <p:cNvPr id="14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84B907C9-5758-2625-62AC-C85859100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6120000" y="5826971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5" name="コネクタ: カギ線 117">
            <a:extLst>
              <a:ext uri="{FF2B5EF4-FFF2-40B4-BE49-F238E27FC236}">
                <a16:creationId xmlns:a16="http://schemas.microsoft.com/office/drawing/2014/main" id="{54CCAB8D-97D8-3ACD-C800-4E7929D522C6}"/>
              </a:ext>
            </a:extLst>
          </p:cNvPr>
          <p:cNvCxnSpPr>
            <a:cxnSpLocks/>
            <a:stCxn id="136" idx="0"/>
            <a:endCxn id="144" idx="0"/>
          </p:cNvCxnSpPr>
          <p:nvPr/>
        </p:nvCxnSpPr>
        <p:spPr>
          <a:xfrm flipH="1">
            <a:off x="6264000" y="5364000"/>
            <a:ext cx="1" cy="462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928B1CD-FD81-DC54-799B-C0208E6FD159}"/>
              </a:ext>
            </a:extLst>
          </p:cNvPr>
          <p:cNvCxnSpPr>
            <a:cxnSpLocks/>
            <a:stCxn id="65" idx="3"/>
            <a:endCxn id="137" idx="0"/>
          </p:cNvCxnSpPr>
          <p:nvPr/>
        </p:nvCxnSpPr>
        <p:spPr>
          <a:xfrm>
            <a:off x="3322251" y="4284000"/>
            <a:ext cx="2941749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71">
            <a:extLst>
              <a:ext uri="{FF2B5EF4-FFF2-40B4-BE49-F238E27FC236}">
                <a16:creationId xmlns:a16="http://schemas.microsoft.com/office/drawing/2014/main" id="{BCC10540-5AE4-C65D-C535-19ED811A02E5}"/>
              </a:ext>
            </a:extLst>
          </p:cNvPr>
          <p:cNvSpPr/>
          <p:nvPr/>
        </p:nvSpPr>
        <p:spPr>
          <a:xfrm>
            <a:off x="3528000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4" name="Graphic 72" descr="Private subnet group icon. ">
            <a:extLst>
              <a:ext uri="{FF2B5EF4-FFF2-40B4-BE49-F238E27FC236}">
                <a16:creationId xmlns:a16="http://schemas.microsoft.com/office/drawing/2014/main" id="{A62E84B3-02CE-D080-3515-607C5AF2B0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528000" y="4788000"/>
            <a:ext cx="216000" cy="216000"/>
          </a:xfrm>
          <a:prstGeom prst="rect">
            <a:avLst/>
          </a:prstGeom>
        </p:spPr>
      </p:pic>
      <p:sp>
        <p:nvSpPr>
          <p:cNvPr id="5" name="Rectangle 73">
            <a:extLst>
              <a:ext uri="{FF2B5EF4-FFF2-40B4-BE49-F238E27FC236}">
                <a16:creationId xmlns:a16="http://schemas.microsoft.com/office/drawing/2014/main" id="{DC0E90BA-9B8C-D033-B5CE-D8DFC1E7F918}"/>
              </a:ext>
            </a:extLst>
          </p:cNvPr>
          <p:cNvSpPr/>
          <p:nvPr/>
        </p:nvSpPr>
        <p:spPr>
          <a:xfrm>
            <a:off x="3528000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6" name="Graphic 74" descr="Public subnet group icon. ">
            <a:extLst>
              <a:ext uri="{FF2B5EF4-FFF2-40B4-BE49-F238E27FC236}">
                <a16:creationId xmlns:a16="http://schemas.microsoft.com/office/drawing/2014/main" id="{2118DEA4-DECF-75F7-2772-FC13AE5134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528000" y="3960000"/>
            <a:ext cx="216000" cy="216000"/>
          </a:xfrm>
          <a:prstGeom prst="rect">
            <a:avLst/>
          </a:prstGeom>
        </p:spPr>
      </p:pic>
      <p:sp>
        <p:nvSpPr>
          <p:cNvPr id="7" name="Rectangle 71">
            <a:extLst>
              <a:ext uri="{FF2B5EF4-FFF2-40B4-BE49-F238E27FC236}">
                <a16:creationId xmlns:a16="http://schemas.microsoft.com/office/drawing/2014/main" id="{6BA8C4BA-DD1E-6DCC-20B4-51AED0CB3A01}"/>
              </a:ext>
            </a:extLst>
          </p:cNvPr>
          <p:cNvSpPr/>
          <p:nvPr/>
        </p:nvSpPr>
        <p:spPr>
          <a:xfrm>
            <a:off x="5436000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8" name="Graphic 72" descr="Private subnet group icon. ">
            <a:extLst>
              <a:ext uri="{FF2B5EF4-FFF2-40B4-BE49-F238E27FC236}">
                <a16:creationId xmlns:a16="http://schemas.microsoft.com/office/drawing/2014/main" id="{9A38AC53-F5BF-980C-90AD-44835568ED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436000" y="4788000"/>
            <a:ext cx="216000" cy="216000"/>
          </a:xfrm>
          <a:prstGeom prst="rect">
            <a:avLst/>
          </a:prstGeom>
        </p:spPr>
      </p:pic>
      <p:sp>
        <p:nvSpPr>
          <p:cNvPr id="9" name="Rectangle 73">
            <a:extLst>
              <a:ext uri="{FF2B5EF4-FFF2-40B4-BE49-F238E27FC236}">
                <a16:creationId xmlns:a16="http://schemas.microsoft.com/office/drawing/2014/main" id="{53E107E9-3DE5-C49B-D797-5EE641FF178A}"/>
              </a:ext>
            </a:extLst>
          </p:cNvPr>
          <p:cNvSpPr/>
          <p:nvPr/>
        </p:nvSpPr>
        <p:spPr>
          <a:xfrm>
            <a:off x="5436000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2" name="Graphic 74" descr="Public subnet group icon. ">
            <a:extLst>
              <a:ext uri="{FF2B5EF4-FFF2-40B4-BE49-F238E27FC236}">
                <a16:creationId xmlns:a16="http://schemas.microsoft.com/office/drawing/2014/main" id="{D8C4481D-8DD2-4D9A-31BE-6BD9FD113C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436000" y="3960000"/>
            <a:ext cx="21600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11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37EDF0-E42D-B7B2-CC8B-B7D502542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概算見積で。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4F7B26-18E1-A9E6-D95D-66875FFC635C}"/>
              </a:ext>
            </a:extLst>
          </p:cNvPr>
          <p:cNvSpPr txBox="1"/>
          <p:nvPr/>
        </p:nvSpPr>
        <p:spPr>
          <a:xfrm>
            <a:off x="1208584" y="1556792"/>
            <a:ext cx="676819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●初期</a:t>
            </a:r>
            <a:endParaRPr kumimoji="1" lang="en-US" altLang="ja-JP" dirty="0"/>
          </a:p>
          <a:p>
            <a:r>
              <a:rPr kumimoji="1" lang="ja-JP" altLang="en-US" dirty="0"/>
              <a:t>開発環境・・・・・月額２０万円程度　規模が大きくなると、５０万円程度</a:t>
            </a:r>
            <a:endParaRPr kumimoji="1" lang="en-US" altLang="ja-JP" dirty="0"/>
          </a:p>
          <a:p>
            <a:r>
              <a:rPr kumimoji="1" lang="ja-JP" altLang="en-US" dirty="0"/>
              <a:t>検証環境・・・・・開発環境と同様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本番環境・・・・１６，０００台対応　３００万～５００万円程度を予想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3FC1149-F1A7-536A-9D2E-E660DA1A5509}"/>
              </a:ext>
            </a:extLst>
          </p:cNvPr>
          <p:cNvSpPr txBox="1"/>
          <p:nvPr/>
        </p:nvSpPr>
        <p:spPr>
          <a:xfrm>
            <a:off x="1213560" y="3754199"/>
            <a:ext cx="692952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●ご精算方法</a:t>
            </a:r>
            <a:endParaRPr kumimoji="1" lang="en-US" altLang="ja-JP" dirty="0"/>
          </a:p>
          <a:p>
            <a:r>
              <a:rPr kumimoji="1" lang="ja-JP" altLang="en-US" dirty="0"/>
              <a:t>実費（</a:t>
            </a:r>
            <a:r>
              <a:rPr kumimoji="1" lang="en-US" altLang="ja-JP" dirty="0"/>
              <a:t>AWS</a:t>
            </a:r>
            <a:r>
              <a:rPr kumimoji="1" lang="ja-JP" altLang="en-US" dirty="0"/>
              <a:t>からの請求書＋明細付）＋</a:t>
            </a:r>
            <a:r>
              <a:rPr kumimoji="1" lang="en-US" altLang="ja-JP" dirty="0"/>
              <a:t>15</a:t>
            </a:r>
            <a:r>
              <a:rPr kumimoji="1" lang="ja-JP" altLang="en-US" dirty="0"/>
              <a:t>％（運用管理費（調整中））を、</a:t>
            </a:r>
            <a:endParaRPr kumimoji="1" lang="en-US" altLang="ja-JP" dirty="0"/>
          </a:p>
          <a:p>
            <a:r>
              <a:rPr kumimoji="1" lang="ja-JP" altLang="en-US" dirty="0"/>
              <a:t>月末締めの翌月末払いのご請求書にて請求にしたい。</a:t>
            </a:r>
            <a:endParaRPr kumimoji="1" lang="en-US" altLang="ja-JP" dirty="0"/>
          </a:p>
          <a:p>
            <a:r>
              <a:rPr kumimoji="1" lang="ja-JP" altLang="en-US" dirty="0"/>
              <a:t>既存の開発費とは別です。</a:t>
            </a:r>
            <a:endParaRPr kumimoji="1" lang="en-US" altLang="ja-JP" dirty="0"/>
          </a:p>
          <a:p>
            <a:r>
              <a:rPr kumimoji="1" lang="en-US" altLang="ja-JP" dirty="0"/>
              <a:t>※</a:t>
            </a:r>
            <a:r>
              <a:rPr kumimoji="1" lang="ja-JP" altLang="en-US" dirty="0"/>
              <a:t>明朗会計を希望。</a:t>
            </a:r>
            <a:br>
              <a:rPr kumimoji="1" lang="en-US" altLang="ja-JP" dirty="0"/>
            </a:b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61679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1D2392-628E-C43C-4860-3CB4507E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サーバー システム構成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全体イメージ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CDC4AAB-6AA9-9B89-3F85-1746A324B4C0}"/>
              </a:ext>
            </a:extLst>
          </p:cNvPr>
          <p:cNvSpPr/>
          <p:nvPr/>
        </p:nvSpPr>
        <p:spPr>
          <a:xfrm>
            <a:off x="694285" y="1016161"/>
            <a:ext cx="8409053" cy="586216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  <a:r>
              <a:rPr kumimoji="1" lang="ja-JP" altLang="en-US" sz="1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を使用する方向で検討</a:t>
            </a:r>
          </a:p>
        </p:txBody>
      </p:sp>
      <p:sp>
        <p:nvSpPr>
          <p:cNvPr id="10" name="Rectangle 54">
            <a:extLst>
              <a:ext uri="{FF2B5EF4-FFF2-40B4-BE49-F238E27FC236}">
                <a16:creationId xmlns:a16="http://schemas.microsoft.com/office/drawing/2014/main" id="{8BDE53A0-53F5-F91E-0A77-0EBF6D33A15D}"/>
              </a:ext>
            </a:extLst>
          </p:cNvPr>
          <p:cNvSpPr/>
          <p:nvPr/>
        </p:nvSpPr>
        <p:spPr>
          <a:xfrm>
            <a:off x="720000" y="2304000"/>
            <a:ext cx="7120680" cy="4284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11" name="Graphic 55" descr="AWS Cloud group icon with AWS logo.">
            <a:extLst>
              <a:ext uri="{FF2B5EF4-FFF2-40B4-BE49-F238E27FC236}">
                <a16:creationId xmlns:a16="http://schemas.microsoft.com/office/drawing/2014/main" id="{DEECB6E1-7179-643B-55DC-7C363ABDE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0000" y="2304000"/>
            <a:ext cx="216000" cy="216000"/>
          </a:xfrm>
          <a:prstGeom prst="rect">
            <a:avLst/>
          </a:prstGeom>
        </p:spPr>
      </p:pic>
      <p:sp>
        <p:nvSpPr>
          <p:cNvPr id="13" name="Rectangle 60" descr="Region group">
            <a:extLst>
              <a:ext uri="{FF2B5EF4-FFF2-40B4-BE49-F238E27FC236}">
                <a16:creationId xmlns:a16="http://schemas.microsoft.com/office/drawing/2014/main" id="{64EAA69F-4F11-66D2-620D-8DCA26DC860C}"/>
              </a:ext>
            </a:extLst>
          </p:cNvPr>
          <p:cNvSpPr/>
          <p:nvPr/>
        </p:nvSpPr>
        <p:spPr>
          <a:xfrm>
            <a:off x="792000" y="2880000"/>
            <a:ext cx="6954000" cy="3672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</a:p>
        </p:txBody>
      </p:sp>
      <p:pic>
        <p:nvPicPr>
          <p:cNvPr id="14" name="Graphic 61" descr="Region group icon.">
            <a:extLst>
              <a:ext uri="{FF2B5EF4-FFF2-40B4-BE49-F238E27FC236}">
                <a16:creationId xmlns:a16="http://schemas.microsoft.com/office/drawing/2014/main" id="{257F7A0E-507C-BB79-FFA3-2E0C19330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92000" y="2880000"/>
            <a:ext cx="216000" cy="216000"/>
          </a:xfrm>
          <a:prstGeom prst="rect">
            <a:avLst/>
          </a:prstGeom>
        </p:spPr>
      </p:pic>
      <p:sp>
        <p:nvSpPr>
          <p:cNvPr id="15" name="Rectangle 62" descr="Availability Zone group.">
            <a:extLst>
              <a:ext uri="{FF2B5EF4-FFF2-40B4-BE49-F238E27FC236}">
                <a16:creationId xmlns:a16="http://schemas.microsoft.com/office/drawing/2014/main" id="{388D1146-D6D9-BC31-04CF-FE6617E8CBD1}"/>
              </a:ext>
            </a:extLst>
          </p:cNvPr>
          <p:cNvSpPr/>
          <p:nvPr/>
        </p:nvSpPr>
        <p:spPr>
          <a:xfrm>
            <a:off x="1116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16" name="Rectangle 62" descr="Availability Zone group.">
            <a:extLst>
              <a:ext uri="{FF2B5EF4-FFF2-40B4-BE49-F238E27FC236}">
                <a16:creationId xmlns:a16="http://schemas.microsoft.com/office/drawing/2014/main" id="{91952523-C518-B78D-B450-70827B58B17E}"/>
              </a:ext>
            </a:extLst>
          </p:cNvPr>
          <p:cNvSpPr/>
          <p:nvPr/>
        </p:nvSpPr>
        <p:spPr>
          <a:xfrm>
            <a:off x="3456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20" name="Rectangle 69">
            <a:extLst>
              <a:ext uri="{FF2B5EF4-FFF2-40B4-BE49-F238E27FC236}">
                <a16:creationId xmlns:a16="http://schemas.microsoft.com/office/drawing/2014/main" id="{0FFB246B-2AC9-05DD-E590-94C16E98D8C3}"/>
              </a:ext>
            </a:extLst>
          </p:cNvPr>
          <p:cNvSpPr/>
          <p:nvPr/>
        </p:nvSpPr>
        <p:spPr>
          <a:xfrm>
            <a:off x="864000" y="3636000"/>
            <a:ext cx="6609280" cy="2808000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private cloud (VPC)</a:t>
            </a:r>
          </a:p>
        </p:txBody>
      </p:sp>
      <p:pic>
        <p:nvPicPr>
          <p:cNvPr id="22" name="Graphic 70" descr="VPC group icon. ">
            <a:extLst>
              <a:ext uri="{FF2B5EF4-FFF2-40B4-BE49-F238E27FC236}">
                <a16:creationId xmlns:a16="http://schemas.microsoft.com/office/drawing/2014/main" id="{184139C7-32D8-8B41-78E2-B53B26CE9A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64000" y="3636000"/>
            <a:ext cx="216000" cy="216000"/>
          </a:xfrm>
          <a:prstGeom prst="rect">
            <a:avLst/>
          </a:prstGeom>
        </p:spPr>
      </p:pic>
      <p:sp>
        <p:nvSpPr>
          <p:cNvPr id="25" name="Rectangle 71">
            <a:extLst>
              <a:ext uri="{FF2B5EF4-FFF2-40B4-BE49-F238E27FC236}">
                <a16:creationId xmlns:a16="http://schemas.microsoft.com/office/drawing/2014/main" id="{9D034DFA-2FBF-971A-C979-CF5587F54F17}"/>
              </a:ext>
            </a:extLst>
          </p:cNvPr>
          <p:cNvSpPr/>
          <p:nvPr/>
        </p:nvSpPr>
        <p:spPr>
          <a:xfrm>
            <a:off x="1187999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6" name="Graphic 72" descr="Private subnet group icon. ">
            <a:extLst>
              <a:ext uri="{FF2B5EF4-FFF2-40B4-BE49-F238E27FC236}">
                <a16:creationId xmlns:a16="http://schemas.microsoft.com/office/drawing/2014/main" id="{9AE2F508-AAF6-E54E-CB9E-82233440AF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187999" y="4788000"/>
            <a:ext cx="216000" cy="216000"/>
          </a:xfrm>
          <a:prstGeom prst="rect">
            <a:avLst/>
          </a:prstGeom>
        </p:spPr>
      </p:pic>
      <p:sp>
        <p:nvSpPr>
          <p:cNvPr id="36" name="Rectangle 73">
            <a:extLst>
              <a:ext uri="{FF2B5EF4-FFF2-40B4-BE49-F238E27FC236}">
                <a16:creationId xmlns:a16="http://schemas.microsoft.com/office/drawing/2014/main" id="{3CC4E49C-A079-4680-87CD-3DBFB32F10B1}"/>
              </a:ext>
            </a:extLst>
          </p:cNvPr>
          <p:cNvSpPr/>
          <p:nvPr/>
        </p:nvSpPr>
        <p:spPr>
          <a:xfrm>
            <a:off x="1187999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37" name="Graphic 74" descr="Public subnet group icon. ">
            <a:extLst>
              <a:ext uri="{FF2B5EF4-FFF2-40B4-BE49-F238E27FC236}">
                <a16:creationId xmlns:a16="http://schemas.microsoft.com/office/drawing/2014/main" id="{5E41B786-BF76-3A05-AB5C-AC3333A3BE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187999" y="3960000"/>
            <a:ext cx="216000" cy="216000"/>
          </a:xfrm>
          <a:prstGeom prst="rect">
            <a:avLst/>
          </a:prstGeom>
        </p:spPr>
      </p:pic>
      <p:pic>
        <p:nvPicPr>
          <p:cNvPr id="43" name="Graphic 23" descr="Users resource icon for the General Icons category.">
            <a:extLst>
              <a:ext uri="{FF2B5EF4-FFF2-40B4-BE49-F238E27FC236}">
                <a16:creationId xmlns:a16="http://schemas.microsoft.com/office/drawing/2014/main" id="{0C82758F-04B1-D359-4A11-1AC00EDE7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 flipH="1">
            <a:off x="2280435" y="1729077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Box 40">
            <a:extLst>
              <a:ext uri="{FF2B5EF4-FFF2-40B4-BE49-F238E27FC236}">
                <a16:creationId xmlns:a16="http://schemas.microsoft.com/office/drawing/2014/main" id="{0FBE9BD9-CB25-47CE-4015-962730846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6383" y="1962377"/>
            <a:ext cx="48603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</a:p>
        </p:txBody>
      </p:sp>
      <p:pic>
        <p:nvPicPr>
          <p:cNvPr id="45" name="Graphic 77" descr="Server resource icon for the General Icons category.">
            <a:extLst>
              <a:ext uri="{FF2B5EF4-FFF2-40B4-BE49-F238E27FC236}">
                <a16:creationId xmlns:a16="http://schemas.microsoft.com/office/drawing/2014/main" id="{A99FB1E8-E3A0-EACC-110E-A0048A39886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46280" y="4477371"/>
            <a:ext cx="430521" cy="430521"/>
          </a:xfrm>
          <a:prstGeom prst="rect">
            <a:avLst/>
          </a:prstGeom>
        </p:spPr>
      </p:pic>
      <p:sp>
        <p:nvSpPr>
          <p:cNvPr id="48" name="Rectangle 77">
            <a:extLst>
              <a:ext uri="{FF2B5EF4-FFF2-40B4-BE49-F238E27FC236}">
                <a16:creationId xmlns:a16="http://schemas.microsoft.com/office/drawing/2014/main" id="{C8061041-2633-1197-C765-2B8DFEFF151D}"/>
              </a:ext>
            </a:extLst>
          </p:cNvPr>
          <p:cNvSpPr/>
          <p:nvPr/>
        </p:nvSpPr>
        <p:spPr>
          <a:xfrm>
            <a:off x="7890000" y="4140000"/>
            <a:ext cx="1440000" cy="792000"/>
          </a:xfrm>
          <a:prstGeom prst="rect">
            <a:avLst/>
          </a:prstGeom>
          <a:noFill/>
          <a:ln w="15875">
            <a:solidFill>
              <a:srgbClr val="7D89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data center</a:t>
            </a:r>
          </a:p>
        </p:txBody>
      </p:sp>
      <p:pic>
        <p:nvPicPr>
          <p:cNvPr id="51" name="Graphic 78" descr="Corporate data center group icon. ">
            <a:extLst>
              <a:ext uri="{FF2B5EF4-FFF2-40B4-BE49-F238E27FC236}">
                <a16:creationId xmlns:a16="http://schemas.microsoft.com/office/drawing/2014/main" id="{B394DCF5-59DF-3FCC-869C-8BF21984CC9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7890001" y="4140000"/>
            <a:ext cx="216000" cy="216000"/>
          </a:xfrm>
          <a:prstGeom prst="rect">
            <a:avLst/>
          </a:prstGeom>
        </p:spPr>
      </p:pic>
      <p:pic>
        <p:nvPicPr>
          <p:cNvPr id="52" name="Graphic 77" descr="Server resource icon for the General Icons category.">
            <a:extLst>
              <a:ext uri="{FF2B5EF4-FFF2-40B4-BE49-F238E27FC236}">
                <a16:creationId xmlns:a16="http://schemas.microsoft.com/office/drawing/2014/main" id="{BE0352FE-0D34-902C-8D6F-5B2A08EA862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06640" y="4477371"/>
            <a:ext cx="430521" cy="430521"/>
          </a:xfrm>
          <a:prstGeom prst="rect">
            <a:avLst/>
          </a:prstGeom>
        </p:spPr>
      </p:pic>
      <p:pic>
        <p:nvPicPr>
          <p:cNvPr id="53" name="Graphic 77" descr="Server resource icon for the General Icons category.">
            <a:extLst>
              <a:ext uri="{FF2B5EF4-FFF2-40B4-BE49-F238E27FC236}">
                <a16:creationId xmlns:a16="http://schemas.microsoft.com/office/drawing/2014/main" id="{B6EB681F-D151-E129-96DD-7F5A281C4F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586481" y="4477371"/>
            <a:ext cx="430521" cy="430521"/>
          </a:xfrm>
          <a:prstGeom prst="rect">
            <a:avLst/>
          </a:prstGeom>
        </p:spPr>
      </p:pic>
      <p:pic>
        <p:nvPicPr>
          <p:cNvPr id="54" name="Graphic 21" descr="Amazon Route 53 service icon.">
            <a:extLst>
              <a:ext uri="{FF2B5EF4-FFF2-40B4-BE49-F238E27FC236}">
                <a16:creationId xmlns:a16="http://schemas.microsoft.com/office/drawing/2014/main" id="{4B155731-1130-F160-F2F9-8F3E968DE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1872000" y="237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TextBox 12">
            <a:extLst>
              <a:ext uri="{FF2B5EF4-FFF2-40B4-BE49-F238E27FC236}">
                <a16:creationId xmlns:a16="http://schemas.microsoft.com/office/drawing/2014/main" id="{1C370F5A-5BB4-CDC8-1F2B-EC2568AE6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9629" y="2628000"/>
            <a:ext cx="65274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53</a:t>
            </a:r>
          </a:p>
        </p:txBody>
      </p:sp>
      <p:pic>
        <p:nvPicPr>
          <p:cNvPr id="56" name="Graphic 19" descr="Amazon CloudFront service icon.">
            <a:extLst>
              <a:ext uri="{FF2B5EF4-FFF2-40B4-BE49-F238E27FC236}">
                <a16:creationId xmlns:a16="http://schemas.microsoft.com/office/drawing/2014/main" id="{93DA8BA0-9893-001C-4118-9739CFD5A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2718652" y="237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TextBox 11">
            <a:extLst>
              <a:ext uri="{FF2B5EF4-FFF2-40B4-BE49-F238E27FC236}">
                <a16:creationId xmlns:a16="http://schemas.microsoft.com/office/drawing/2014/main" id="{AD46B6E8-7360-1801-7D83-55B0AC50C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985" y="2628000"/>
            <a:ext cx="75533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CloudFront</a:t>
            </a:r>
          </a:p>
        </p:txBody>
      </p:sp>
      <p:pic>
        <p:nvPicPr>
          <p:cNvPr id="58" name="Graphic 8" descr="Amazon Simple Storage Service (Amazon S3) service icon.">
            <a:extLst>
              <a:ext uri="{FF2B5EF4-FFF2-40B4-BE49-F238E27FC236}">
                <a16:creationId xmlns:a16="http://schemas.microsoft.com/office/drawing/2014/main" id="{DB8A2ACD-DABB-2CCD-0A6F-3D3BDEBAD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 bwMode="auto">
          <a:xfrm>
            <a:off x="4212000" y="291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extBox 9">
            <a:extLst>
              <a:ext uri="{FF2B5EF4-FFF2-40B4-BE49-F238E27FC236}">
                <a16:creationId xmlns:a16="http://schemas.microsoft.com/office/drawing/2014/main" id="{CA5D307C-F8B5-D8A9-3F88-A2568385C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5509" y="3168000"/>
            <a:ext cx="78098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S3</a:t>
            </a:r>
          </a:p>
        </p:txBody>
      </p:sp>
      <p:sp>
        <p:nvSpPr>
          <p:cNvPr id="63" name="TextBox 12">
            <a:extLst>
              <a:ext uri="{FF2B5EF4-FFF2-40B4-BE49-F238E27FC236}">
                <a16:creationId xmlns:a16="http://schemas.microsoft.com/office/drawing/2014/main" id="{6427E318-E9E1-2EE4-B2D5-B8E8472CF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9520" y="3729168"/>
            <a:ext cx="103746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65" name="Graphic 6" descr="Elastic Load Balancing service icon.">
            <a:extLst>
              <a:ext uri="{FF2B5EF4-FFF2-40B4-BE49-F238E27FC236}">
                <a16:creationId xmlns:a16="http://schemas.microsoft.com/office/drawing/2014/main" id="{AE1EE17E-6ECA-941D-99EA-CD8F9B26B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 bwMode="auto">
          <a:xfrm>
            <a:off x="3034251" y="4140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TextBox 12">
            <a:extLst>
              <a:ext uri="{FF2B5EF4-FFF2-40B4-BE49-F238E27FC236}">
                <a16:creationId xmlns:a16="http://schemas.microsoft.com/office/drawing/2014/main" id="{DF935FAA-B71C-99E7-AAC1-8697E78B3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30" y="4392000"/>
            <a:ext cx="8130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Load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Balancing</a:t>
            </a:r>
          </a:p>
        </p:txBody>
      </p:sp>
      <p:sp>
        <p:nvSpPr>
          <p:cNvPr id="70" name="TextBox 6">
            <a:extLst>
              <a:ext uri="{FF2B5EF4-FFF2-40B4-BE49-F238E27FC236}">
                <a16:creationId xmlns:a16="http://schemas.microsoft.com/office/drawing/2014/main" id="{8EA6238C-C2F4-6FF6-678C-61252875B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sp>
        <p:nvSpPr>
          <p:cNvPr id="73" name="TextBox 6">
            <a:extLst>
              <a:ext uri="{FF2B5EF4-FFF2-40B4-BE49-F238E27FC236}">
                <a16:creationId xmlns:a16="http://schemas.microsoft.com/office/drawing/2014/main" id="{742EAB10-B954-F471-B6AD-B2AB51B6B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3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sp>
        <p:nvSpPr>
          <p:cNvPr id="76" name="TextBox 9">
            <a:extLst>
              <a:ext uri="{FF2B5EF4-FFF2-40B4-BE49-F238E27FC236}">
                <a16:creationId xmlns:a16="http://schemas.microsoft.com/office/drawing/2014/main" id="{5B21EED1-DBA5-8FFE-0499-9CCD0F760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4213" y="6120000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sp>
        <p:nvSpPr>
          <p:cNvPr id="79" name="TextBox 9">
            <a:extLst>
              <a:ext uri="{FF2B5EF4-FFF2-40B4-BE49-F238E27FC236}">
                <a16:creationId xmlns:a16="http://schemas.microsoft.com/office/drawing/2014/main" id="{5F45BDBF-6DBA-FA25-E23F-52AE3FE0A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4213" y="6120000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pic>
        <p:nvPicPr>
          <p:cNvPr id="80" name="Graphic 65" descr="VPN gateway resource icon for the Amazon VPC service.&#10;">
            <a:extLst>
              <a:ext uri="{FF2B5EF4-FFF2-40B4-BE49-F238E27FC236}">
                <a16:creationId xmlns:a16="http://schemas.microsoft.com/office/drawing/2014/main" id="{593D0E47-EB78-2282-D482-16DAE80F3D1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314873" y="4495334"/>
            <a:ext cx="288000" cy="288000"/>
          </a:xfrm>
          <a:prstGeom prst="rect">
            <a:avLst/>
          </a:prstGeom>
        </p:spPr>
      </p:pic>
      <p:sp>
        <p:nvSpPr>
          <p:cNvPr id="81" name="TextBox 15">
            <a:extLst>
              <a:ext uri="{FF2B5EF4-FFF2-40B4-BE49-F238E27FC236}">
                <a16:creationId xmlns:a16="http://schemas.microsoft.com/office/drawing/2014/main" id="{FC1C2147-30EE-039A-609D-6E3509FBD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6739" y="4751999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VPN gateway</a:t>
            </a:r>
          </a:p>
        </p:txBody>
      </p: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02C0BB4E-F850-6ABE-FDB6-AFE09A0897A1}"/>
              </a:ext>
            </a:extLst>
          </p:cNvPr>
          <p:cNvCxnSpPr>
            <a:stCxn id="43" idx="1"/>
            <a:endCxn id="56" idx="0"/>
          </p:cNvCxnSpPr>
          <p:nvPr/>
        </p:nvCxnSpPr>
        <p:spPr>
          <a:xfrm>
            <a:off x="2568435" y="1873077"/>
            <a:ext cx="294217" cy="5029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コネクタ: カギ線 83">
            <a:extLst>
              <a:ext uri="{FF2B5EF4-FFF2-40B4-BE49-F238E27FC236}">
                <a16:creationId xmlns:a16="http://schemas.microsoft.com/office/drawing/2014/main" id="{0759A624-03A0-463C-83F8-B4E104A976AB}"/>
              </a:ext>
            </a:extLst>
          </p:cNvPr>
          <p:cNvCxnSpPr>
            <a:cxnSpLocks/>
            <a:stCxn id="43" idx="3"/>
            <a:endCxn id="54" idx="0"/>
          </p:cNvCxnSpPr>
          <p:nvPr/>
        </p:nvCxnSpPr>
        <p:spPr>
          <a:xfrm rot="10800000" flipV="1">
            <a:off x="2016001" y="1873076"/>
            <a:ext cx="264435" cy="5029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コネクタ: カギ線 89">
            <a:extLst>
              <a:ext uri="{FF2B5EF4-FFF2-40B4-BE49-F238E27FC236}">
                <a16:creationId xmlns:a16="http://schemas.microsoft.com/office/drawing/2014/main" id="{B9EA0DB8-F576-41CC-4BFE-3D11A3768916}"/>
              </a:ext>
            </a:extLst>
          </p:cNvPr>
          <p:cNvCxnSpPr>
            <a:cxnSpLocks/>
            <a:stCxn id="56" idx="3"/>
            <a:endCxn id="58" idx="0"/>
          </p:cNvCxnSpPr>
          <p:nvPr/>
        </p:nvCxnSpPr>
        <p:spPr>
          <a:xfrm>
            <a:off x="3006652" y="2520000"/>
            <a:ext cx="1349348" cy="396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コネクタ: カギ線 98">
            <a:extLst>
              <a:ext uri="{FF2B5EF4-FFF2-40B4-BE49-F238E27FC236}">
                <a16:creationId xmlns:a16="http://schemas.microsoft.com/office/drawing/2014/main" id="{2193FAA4-733A-9B90-0B15-58065DF6CE6C}"/>
              </a:ext>
            </a:extLst>
          </p:cNvPr>
          <p:cNvCxnSpPr>
            <a:cxnSpLocks/>
            <a:stCxn id="56" idx="3"/>
            <a:endCxn id="62" idx="0"/>
          </p:cNvCxnSpPr>
          <p:nvPr/>
        </p:nvCxnSpPr>
        <p:spPr>
          <a:xfrm>
            <a:off x="3006652" y="2520000"/>
            <a:ext cx="171599" cy="972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コネクタ: カギ線 101">
            <a:extLst>
              <a:ext uri="{FF2B5EF4-FFF2-40B4-BE49-F238E27FC236}">
                <a16:creationId xmlns:a16="http://schemas.microsoft.com/office/drawing/2014/main" id="{7F04BF6E-89C7-FBD0-1A02-F9B8EAB64346}"/>
              </a:ext>
            </a:extLst>
          </p:cNvPr>
          <p:cNvCxnSpPr>
            <a:cxnSpLocks/>
            <a:stCxn id="62" idx="2"/>
            <a:endCxn id="65" idx="0"/>
          </p:cNvCxnSpPr>
          <p:nvPr/>
        </p:nvCxnSpPr>
        <p:spPr>
          <a:xfrm>
            <a:off x="3178251" y="378000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2" name="Graphic 10" descr="Internet gateway resource icon for the Amazon VPC service.">
            <a:extLst>
              <a:ext uri="{FF2B5EF4-FFF2-40B4-BE49-F238E27FC236}">
                <a16:creationId xmlns:a16="http://schemas.microsoft.com/office/drawing/2014/main" id="{AD9C51A0-D3D0-D25E-9876-588959F7E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 bwMode="auto">
          <a:xfrm>
            <a:off x="3034251" y="349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8" name="コネクタ: カギ線 107">
            <a:extLst>
              <a:ext uri="{FF2B5EF4-FFF2-40B4-BE49-F238E27FC236}">
                <a16:creationId xmlns:a16="http://schemas.microsoft.com/office/drawing/2014/main" id="{1531D77E-B16C-8B19-9685-AF31F08660A1}"/>
              </a:ext>
            </a:extLst>
          </p:cNvPr>
          <p:cNvCxnSpPr>
            <a:cxnSpLocks/>
            <a:stCxn id="65" idx="3"/>
            <a:endCxn id="71" idx="0"/>
          </p:cNvCxnSpPr>
          <p:nvPr/>
        </p:nvCxnSpPr>
        <p:spPr>
          <a:xfrm>
            <a:off x="3322251" y="4284000"/>
            <a:ext cx="1033749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コネクタ: カギ線 110">
            <a:extLst>
              <a:ext uri="{FF2B5EF4-FFF2-40B4-BE49-F238E27FC236}">
                <a16:creationId xmlns:a16="http://schemas.microsoft.com/office/drawing/2014/main" id="{6C03AEAB-D1EE-09C8-AB66-F82E64411219}"/>
              </a:ext>
            </a:extLst>
          </p:cNvPr>
          <p:cNvCxnSpPr>
            <a:cxnSpLocks/>
            <a:stCxn id="65" idx="1"/>
            <a:endCxn id="69" idx="0"/>
          </p:cNvCxnSpPr>
          <p:nvPr/>
        </p:nvCxnSpPr>
        <p:spPr>
          <a:xfrm rot="10800000" flipV="1">
            <a:off x="2016001" y="4284000"/>
            <a:ext cx="1018251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コネクタ: カギ線 113">
            <a:extLst>
              <a:ext uri="{FF2B5EF4-FFF2-40B4-BE49-F238E27FC236}">
                <a16:creationId xmlns:a16="http://schemas.microsoft.com/office/drawing/2014/main" id="{07639397-ED96-7516-BE71-EF9A52E4926A}"/>
              </a:ext>
            </a:extLst>
          </p:cNvPr>
          <p:cNvCxnSpPr>
            <a:cxnSpLocks/>
            <a:stCxn id="71" idx="2"/>
            <a:endCxn id="74" idx="0"/>
          </p:cNvCxnSpPr>
          <p:nvPr/>
        </p:nvCxnSpPr>
        <p:spPr>
          <a:xfrm rot="5400000">
            <a:off x="2970000" y="4446000"/>
            <a:ext cx="432000" cy="2340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9" name="Graphic 5" descr="Amazon Elastic Compute Cloud (Amazon EC2) service icon.">
            <a:extLst>
              <a:ext uri="{FF2B5EF4-FFF2-40B4-BE49-F238E27FC236}">
                <a16:creationId xmlns:a16="http://schemas.microsoft.com/office/drawing/2014/main" id="{A8655A41-7235-52A9-5D10-85E3D0B89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1872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Graphic 5" descr="Amazon Elastic Compute Cloud (Amazon EC2) service icon.">
            <a:extLst>
              <a:ext uri="{FF2B5EF4-FFF2-40B4-BE49-F238E27FC236}">
                <a16:creationId xmlns:a16="http://schemas.microsoft.com/office/drawing/2014/main" id="{C5A69348-FA7B-AC6D-3651-D1B21B67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4212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24FC3D36-A954-162A-BD71-9E981416A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1872000" y="583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AEE9D04A-001F-80AF-FBD2-124931F76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4212000" y="583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25621291-6A0E-B6FE-467F-B0B0EF855DC6}"/>
              </a:ext>
            </a:extLst>
          </p:cNvPr>
          <p:cNvCxnSpPr>
            <a:cxnSpLocks/>
            <a:stCxn id="69" idx="2"/>
            <a:endCxn id="74" idx="0"/>
          </p:cNvCxnSpPr>
          <p:nvPr/>
        </p:nvCxnSpPr>
        <p:spPr>
          <a:xfrm>
            <a:off x="2016000" y="5400000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コネクタ: カギ線 117">
            <a:extLst>
              <a:ext uri="{FF2B5EF4-FFF2-40B4-BE49-F238E27FC236}">
                <a16:creationId xmlns:a16="http://schemas.microsoft.com/office/drawing/2014/main" id="{5683305D-E7CF-7D4C-C10B-2E7D548F37A8}"/>
              </a:ext>
            </a:extLst>
          </p:cNvPr>
          <p:cNvCxnSpPr>
            <a:cxnSpLocks/>
            <a:stCxn id="74" idx="3"/>
            <a:endCxn id="77" idx="1"/>
          </p:cNvCxnSpPr>
          <p:nvPr/>
        </p:nvCxnSpPr>
        <p:spPr>
          <a:xfrm>
            <a:off x="2160000" y="5976000"/>
            <a:ext cx="205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コネクタ: カギ線 123">
            <a:extLst>
              <a:ext uri="{FF2B5EF4-FFF2-40B4-BE49-F238E27FC236}">
                <a16:creationId xmlns:a16="http://schemas.microsoft.com/office/drawing/2014/main" id="{8384D735-13D5-2B2E-CE49-36F68D7B3752}"/>
              </a:ext>
            </a:extLst>
          </p:cNvPr>
          <p:cNvCxnSpPr>
            <a:cxnSpLocks/>
            <a:stCxn id="48" idx="1"/>
            <a:endCxn id="80" idx="3"/>
          </p:cNvCxnSpPr>
          <p:nvPr/>
        </p:nvCxnSpPr>
        <p:spPr>
          <a:xfrm rot="10800000" flipV="1">
            <a:off x="7602874" y="4536000"/>
            <a:ext cx="287127" cy="1033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Rectangle 40">
            <a:extLst>
              <a:ext uri="{FF2B5EF4-FFF2-40B4-BE49-F238E27FC236}">
                <a16:creationId xmlns:a16="http://schemas.microsoft.com/office/drawing/2014/main" id="{11FCBB81-DBC0-F3C9-E95F-81F9C298F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60000" y="5076000"/>
            <a:ext cx="3852000" cy="648000"/>
          </a:xfrm>
          <a:prstGeom prst="rect">
            <a:avLst/>
          </a:prstGeom>
          <a:noFill/>
          <a:ln w="15875">
            <a:solidFill>
              <a:srgbClr val="ED71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129" name="Graphic 39">
            <a:extLst>
              <a:ext uri="{FF2B5EF4-FFF2-40B4-BE49-F238E27FC236}">
                <a16:creationId xmlns:a16="http://schemas.microsoft.com/office/drawing/2014/main" id="{F40D4595-8EB3-6927-ED0D-92C2F5B7C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3093825" y="5077899"/>
            <a:ext cx="180000" cy="180000"/>
          </a:xfrm>
          <a:prstGeom prst="rect">
            <a:avLst/>
          </a:prstGeom>
        </p:spPr>
      </p:pic>
      <p:sp>
        <p:nvSpPr>
          <p:cNvPr id="132" name="Rectangle 62" descr="Availability Zone group.">
            <a:extLst>
              <a:ext uri="{FF2B5EF4-FFF2-40B4-BE49-F238E27FC236}">
                <a16:creationId xmlns:a16="http://schemas.microsoft.com/office/drawing/2014/main" id="{41F722BD-3EB5-9BDA-68B1-8D122F6E2732}"/>
              </a:ext>
            </a:extLst>
          </p:cNvPr>
          <p:cNvSpPr/>
          <p:nvPr/>
        </p:nvSpPr>
        <p:spPr>
          <a:xfrm>
            <a:off x="5364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136" name="TextBox 6">
            <a:extLst>
              <a:ext uri="{FF2B5EF4-FFF2-40B4-BE49-F238E27FC236}">
                <a16:creationId xmlns:a16="http://schemas.microsoft.com/office/drawing/2014/main" id="{498CC661-DB7C-B26E-5838-75174E4AC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1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pic>
        <p:nvPicPr>
          <p:cNvPr id="137" name="Graphic 5" descr="Amazon Elastic Compute Cloud (Amazon EC2) service icon.">
            <a:extLst>
              <a:ext uri="{FF2B5EF4-FFF2-40B4-BE49-F238E27FC236}">
                <a16:creationId xmlns:a16="http://schemas.microsoft.com/office/drawing/2014/main" id="{0CFF3352-5907-F97A-8468-086DA742E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6120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ACECA3A3-BC97-FB4E-E54F-B55B54A954DE}"/>
              </a:ext>
            </a:extLst>
          </p:cNvPr>
          <p:cNvSpPr/>
          <p:nvPr/>
        </p:nvSpPr>
        <p:spPr>
          <a:xfrm>
            <a:off x="972000" y="4731667"/>
            <a:ext cx="4248873" cy="1043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0" name="四角形: 角を丸くする 139">
            <a:extLst>
              <a:ext uri="{FF2B5EF4-FFF2-40B4-BE49-F238E27FC236}">
                <a16:creationId xmlns:a16="http://schemas.microsoft.com/office/drawing/2014/main" id="{B747ABE4-0551-D0DC-C923-27C695ABC882}"/>
              </a:ext>
            </a:extLst>
          </p:cNvPr>
          <p:cNvSpPr/>
          <p:nvPr/>
        </p:nvSpPr>
        <p:spPr>
          <a:xfrm>
            <a:off x="936000" y="4532209"/>
            <a:ext cx="902175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Web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系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695CB314-9468-68BD-4C1E-6A432227A9BD}"/>
              </a:ext>
            </a:extLst>
          </p:cNvPr>
          <p:cNvSpPr/>
          <p:nvPr/>
        </p:nvSpPr>
        <p:spPr>
          <a:xfrm>
            <a:off x="5384408" y="4744833"/>
            <a:ext cx="1764140" cy="1043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2" name="四角形: 角を丸くする 141">
            <a:extLst>
              <a:ext uri="{FF2B5EF4-FFF2-40B4-BE49-F238E27FC236}">
                <a16:creationId xmlns:a16="http://schemas.microsoft.com/office/drawing/2014/main" id="{F58CE214-7DC9-37EA-3431-D7F25AF84E23}"/>
              </a:ext>
            </a:extLst>
          </p:cNvPr>
          <p:cNvSpPr/>
          <p:nvPr/>
        </p:nvSpPr>
        <p:spPr>
          <a:xfrm>
            <a:off x="5348407" y="4545375"/>
            <a:ext cx="1126332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バッチ・集計系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3" name="TextBox 9">
            <a:extLst>
              <a:ext uri="{FF2B5EF4-FFF2-40B4-BE49-F238E27FC236}">
                <a16:creationId xmlns:a16="http://schemas.microsoft.com/office/drawing/2014/main" id="{424C8153-626D-7605-E8AC-1339A071C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213" y="6114971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pic>
        <p:nvPicPr>
          <p:cNvPr id="14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84B907C9-5758-2625-62AC-C85859100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6120000" y="5826971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5" name="コネクタ: カギ線 117">
            <a:extLst>
              <a:ext uri="{FF2B5EF4-FFF2-40B4-BE49-F238E27FC236}">
                <a16:creationId xmlns:a16="http://schemas.microsoft.com/office/drawing/2014/main" id="{54CCAB8D-97D8-3ACD-C800-4E7929D522C6}"/>
              </a:ext>
            </a:extLst>
          </p:cNvPr>
          <p:cNvCxnSpPr>
            <a:cxnSpLocks/>
            <a:stCxn id="136" idx="0"/>
            <a:endCxn id="144" idx="0"/>
          </p:cNvCxnSpPr>
          <p:nvPr/>
        </p:nvCxnSpPr>
        <p:spPr>
          <a:xfrm flipH="1">
            <a:off x="6264000" y="5364000"/>
            <a:ext cx="1" cy="462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928B1CD-FD81-DC54-799B-C0208E6FD159}"/>
              </a:ext>
            </a:extLst>
          </p:cNvPr>
          <p:cNvCxnSpPr>
            <a:cxnSpLocks/>
            <a:stCxn id="65" idx="3"/>
            <a:endCxn id="137" idx="0"/>
          </p:cNvCxnSpPr>
          <p:nvPr/>
        </p:nvCxnSpPr>
        <p:spPr>
          <a:xfrm>
            <a:off x="3322251" y="4284000"/>
            <a:ext cx="2941749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71">
            <a:extLst>
              <a:ext uri="{FF2B5EF4-FFF2-40B4-BE49-F238E27FC236}">
                <a16:creationId xmlns:a16="http://schemas.microsoft.com/office/drawing/2014/main" id="{BCC10540-5AE4-C65D-C535-19ED811A02E5}"/>
              </a:ext>
            </a:extLst>
          </p:cNvPr>
          <p:cNvSpPr/>
          <p:nvPr/>
        </p:nvSpPr>
        <p:spPr>
          <a:xfrm>
            <a:off x="3528000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4" name="Graphic 72" descr="Private subnet group icon. ">
            <a:extLst>
              <a:ext uri="{FF2B5EF4-FFF2-40B4-BE49-F238E27FC236}">
                <a16:creationId xmlns:a16="http://schemas.microsoft.com/office/drawing/2014/main" id="{A62E84B3-02CE-D080-3515-607C5AF2B0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528000" y="4788000"/>
            <a:ext cx="216000" cy="216000"/>
          </a:xfrm>
          <a:prstGeom prst="rect">
            <a:avLst/>
          </a:prstGeom>
        </p:spPr>
      </p:pic>
      <p:sp>
        <p:nvSpPr>
          <p:cNvPr id="5" name="Rectangle 73">
            <a:extLst>
              <a:ext uri="{FF2B5EF4-FFF2-40B4-BE49-F238E27FC236}">
                <a16:creationId xmlns:a16="http://schemas.microsoft.com/office/drawing/2014/main" id="{DC0E90BA-9B8C-D033-B5CE-D8DFC1E7F918}"/>
              </a:ext>
            </a:extLst>
          </p:cNvPr>
          <p:cNvSpPr/>
          <p:nvPr/>
        </p:nvSpPr>
        <p:spPr>
          <a:xfrm>
            <a:off x="3528000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6" name="Graphic 74" descr="Public subnet group icon. ">
            <a:extLst>
              <a:ext uri="{FF2B5EF4-FFF2-40B4-BE49-F238E27FC236}">
                <a16:creationId xmlns:a16="http://schemas.microsoft.com/office/drawing/2014/main" id="{2118DEA4-DECF-75F7-2772-FC13AE5134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528000" y="3960000"/>
            <a:ext cx="216000" cy="216000"/>
          </a:xfrm>
          <a:prstGeom prst="rect">
            <a:avLst/>
          </a:prstGeom>
        </p:spPr>
      </p:pic>
      <p:sp>
        <p:nvSpPr>
          <p:cNvPr id="7" name="Rectangle 71">
            <a:extLst>
              <a:ext uri="{FF2B5EF4-FFF2-40B4-BE49-F238E27FC236}">
                <a16:creationId xmlns:a16="http://schemas.microsoft.com/office/drawing/2014/main" id="{6BA8C4BA-DD1E-6DCC-20B4-51AED0CB3A01}"/>
              </a:ext>
            </a:extLst>
          </p:cNvPr>
          <p:cNvSpPr/>
          <p:nvPr/>
        </p:nvSpPr>
        <p:spPr>
          <a:xfrm>
            <a:off x="5436000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8" name="Graphic 72" descr="Private subnet group icon. ">
            <a:extLst>
              <a:ext uri="{FF2B5EF4-FFF2-40B4-BE49-F238E27FC236}">
                <a16:creationId xmlns:a16="http://schemas.microsoft.com/office/drawing/2014/main" id="{9A38AC53-F5BF-980C-90AD-44835568ED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436000" y="4788000"/>
            <a:ext cx="216000" cy="216000"/>
          </a:xfrm>
          <a:prstGeom prst="rect">
            <a:avLst/>
          </a:prstGeom>
        </p:spPr>
      </p:pic>
      <p:sp>
        <p:nvSpPr>
          <p:cNvPr id="9" name="Rectangle 73">
            <a:extLst>
              <a:ext uri="{FF2B5EF4-FFF2-40B4-BE49-F238E27FC236}">
                <a16:creationId xmlns:a16="http://schemas.microsoft.com/office/drawing/2014/main" id="{53E107E9-3DE5-C49B-D797-5EE641FF178A}"/>
              </a:ext>
            </a:extLst>
          </p:cNvPr>
          <p:cNvSpPr/>
          <p:nvPr/>
        </p:nvSpPr>
        <p:spPr>
          <a:xfrm>
            <a:off x="5436000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2" name="Graphic 74" descr="Public subnet group icon. ">
            <a:extLst>
              <a:ext uri="{FF2B5EF4-FFF2-40B4-BE49-F238E27FC236}">
                <a16:creationId xmlns:a16="http://schemas.microsoft.com/office/drawing/2014/main" id="{D8C4481D-8DD2-4D9A-31BE-6BD9FD113C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436000" y="3960000"/>
            <a:ext cx="21600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456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a0992f-8328-4daf-870b-3d2b13d3e940">
      <Terms xmlns="http://schemas.microsoft.com/office/infopath/2007/PartnerControls"/>
    </lcf76f155ced4ddcb4097134ff3c332f>
    <TaxCatchAll xmlns="4a37abda-15dd-4e37-8275-3b7fb2897b6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92F6DA-ECF2-44EC-8105-773C2C9D611C}"/>
</file>

<file path=customXml/itemProps2.xml><?xml version="1.0" encoding="utf-8"?>
<ds:datastoreItem xmlns:ds="http://schemas.openxmlformats.org/officeDocument/2006/customXml" ds:itemID="{28CCEF71-4DE4-4376-9794-E02C8ECB6C3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0D6FA0F-7047-4DED-9BCC-8A0BCAF078A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278</Words>
  <Application>Microsoft Office PowerPoint</Application>
  <PresentationFormat>A4 210 x 297 mm</PresentationFormat>
  <Paragraphs>77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Meiryo UI</vt:lpstr>
      <vt:lpstr>Yu Gothic UI</vt:lpstr>
      <vt:lpstr>Arial</vt:lpstr>
      <vt:lpstr>Calibri</vt:lpstr>
      <vt:lpstr>Office Theme</vt:lpstr>
      <vt:lpstr>POSサーバー システム構成(全体イメージ)</vt:lpstr>
      <vt:lpstr>概算見積で。</vt:lpstr>
      <vt:lpstr>POSサーバー システム構成(全体イメージ)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2021-10-28T06:38:14Z</dcterms:created>
  <dcterms:modified xsi:type="dcterms:W3CDTF">2024-05-15T04:12:16Z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