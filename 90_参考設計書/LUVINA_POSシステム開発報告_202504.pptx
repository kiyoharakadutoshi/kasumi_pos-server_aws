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71" r:id="rId6"/>
    <p:sldId id="257" r:id="rId7"/>
    <p:sldId id="284" r:id="rId8"/>
    <p:sldId id="282" r:id="rId9"/>
    <p:sldId id="283" r:id="rId10"/>
    <p:sldId id="280" r:id="rId11"/>
    <p:sldId id="278" r:id="rId12"/>
    <p:sldId id="285" r:id="rId13"/>
    <p:sldId id="286" r:id="rId14"/>
    <p:sldId id="287" r:id="rId15"/>
    <p:sldId id="267" r:id="rId16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uyen Tien Huy" initials="NH" lastIdx="10" clrIdx="0">
    <p:extLst>
      <p:ext uri="{19B8F6BF-5375-455C-9EA6-DF929625EA0E}">
        <p15:presenceInfo xmlns:p15="http://schemas.microsoft.com/office/powerpoint/2012/main" userId="S::nguyentienhuy@luvina.net::deb8f3e3-36ea-4811-9ddb-0fcae6355f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4477E-AF0D-41C6-9522-872FA9B930B7}" v="10" dt="2025-05-05T11:10:44.538"/>
    <p1510:client id="{439B9247-ECC5-461E-8785-4A66D3491D9B}" v="103" dt="2025-05-05T03:05:04.480"/>
    <p1510:client id="{4F48D4DE-B55F-CFD5-D104-5375AB335C82}" v="132" dt="2025-05-05T03:21:31.881"/>
    <p1510:client id="{941A63E5-B264-4DA8-A586-A51B32AC93CD}" v="8" dt="2025-05-05T03:47:42.897"/>
    <p1510:client id="{DF172B96-7161-13E3-99B7-2A2EC5433AB7}" v="102" dt="2025-05-05T04:06:04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88080-553C-4112-B9E7-4F5D17E18C0F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93F9E-C1BD-46BA-83CF-6D0134A65F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01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5B1D-7CE7-89D5-07B0-D6494350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35BC3E-DE7F-4EDA-2441-6700F6C46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0C833E-D6E3-86FC-CAF3-FDE68A8C5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E1F516C-99A9-B39F-3828-A1147FB93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00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F2F2-7B3F-DD80-5A15-F7D475E9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57F498F-554F-44BA-4A2F-F20DEE483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19D71EE-5136-2FCD-4F2F-AE01D5C47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FBFDED-A326-4997-07DA-F473752C9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051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5D9B-D7CA-EC35-0273-00D2831C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ECF1704-A1B9-B081-857D-AF43241E5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4FEEB9-EB7E-A857-D25E-4B9394978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728BB7-B2EA-C028-796A-4FF39ACD3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26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A839-C8F3-231C-2FB0-9EB5EAE7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1D8B9DE-DF95-447A-9802-37DBD5DC4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047D20-3F41-521C-BDAB-D1FC09BC6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8B791D-9FC9-D935-3F53-C2BC2BCFF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515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E4BD-0826-A945-7CCC-DB4789A2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C02DB4E-1C02-D686-7918-46A9DDED3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6B7C803-FADA-9D33-6202-00210D182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07990F-D075-528C-BD18-231898868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93F9E-C1BD-46BA-83CF-6D0134A65F7E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418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0782C0-77AA-BCD2-1F7E-CC3DC74AA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D6FC34F-1562-D16B-9F66-3F1AF0E8B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65BED3-7759-391A-5706-7CFABCD3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F9BA0A86-D068-4B12-8994-1AAEBF6B5B7B}" type="datetimeFigureOut">
              <a:rPr kumimoji="1" lang="ja-JP" altLang="en-US" smtClean="0"/>
              <a:t>2025/5/5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53CEFF-D6B3-EE4D-1CBB-A1544B72B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337E37-1395-511D-323D-EB57F1EB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/>
          <a:lstStyle/>
          <a:p>
            <a:fld id="{DA6C7065-810F-4A19-A013-6CBC3F4FB2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1E4CD341-28A8-9F62-CD70-FE33AA6D56E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4A973284-795E-7DF9-A16A-31FBF4E5450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C487A7EE-F1E9-8E47-5809-C8B6DEAE386D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323082"/>
            <a:ext cx="9906000" cy="3271420"/>
          </a:xfrm>
          <a:prstGeom prst="rect">
            <a:avLst/>
          </a:prstGeom>
        </p:spPr>
      </p:pic>
      <p:pic>
        <p:nvPicPr>
          <p:cNvPr id="10" name="object 8">
            <a:extLst>
              <a:ext uri="{FF2B5EF4-FFF2-40B4-BE49-F238E27FC236}">
                <a16:creationId xmlns:a16="http://schemas.microsoft.com/office/drawing/2014/main" id="{02363694-F652-C695-A244-6678966339F4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980000"/>
            <a:ext cx="9900000" cy="3240000"/>
          </a:xfrm>
          <a:prstGeom prst="rect">
            <a:avLst/>
          </a:prstGeom>
        </p:spPr>
      </p:pic>
      <p:grpSp>
        <p:nvGrpSpPr>
          <p:cNvPr id="13" name="object 14">
            <a:extLst>
              <a:ext uri="{FF2B5EF4-FFF2-40B4-BE49-F238E27FC236}">
                <a16:creationId xmlns:a16="http://schemas.microsoft.com/office/drawing/2014/main" id="{4F1BDD21-3767-32FF-F9E3-78438BAB06F9}"/>
              </a:ext>
            </a:extLst>
          </p:cNvPr>
          <p:cNvGrpSpPr/>
          <p:nvPr userDrawn="1"/>
        </p:nvGrpSpPr>
        <p:grpSpPr>
          <a:xfrm>
            <a:off x="4166715" y="1179030"/>
            <a:ext cx="1572570" cy="4499940"/>
            <a:chOff x="9199552" y="1158331"/>
            <a:chExt cx="3191510" cy="9132570"/>
          </a:xfrm>
        </p:grpSpPr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B613258E-8AE9-D190-AA04-9647638C7E46}"/>
                </a:ext>
              </a:extLst>
            </p:cNvPr>
            <p:cNvSpPr/>
            <p:nvPr/>
          </p:nvSpPr>
          <p:spPr>
            <a:xfrm>
              <a:off x="9230965" y="118974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9364D7A7-3AC8-0427-07D7-4F695A8F8069}"/>
                </a:ext>
              </a:extLst>
            </p:cNvPr>
            <p:cNvSpPr/>
            <p:nvPr/>
          </p:nvSpPr>
          <p:spPr>
            <a:xfrm>
              <a:off x="9231006" y="768499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ln w="41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E5097659-C75F-FCED-DF8D-7DF634927F99}"/>
                </a:ext>
              </a:extLst>
            </p:cNvPr>
            <p:cNvSpPr/>
            <p:nvPr/>
          </p:nvSpPr>
          <p:spPr>
            <a:xfrm>
              <a:off x="9220494" y="1179273"/>
              <a:ext cx="3138805" cy="2666365"/>
            </a:xfrm>
            <a:custGeom>
              <a:avLst/>
              <a:gdLst/>
              <a:ahLst/>
              <a:cxnLst/>
              <a:rect l="l" t="t" r="r" b="b"/>
              <a:pathLst>
                <a:path w="3138804" h="2666365">
                  <a:moveTo>
                    <a:pt x="3138606" y="2534729"/>
                  </a:moveTo>
                  <a:lnTo>
                    <a:pt x="3138249" y="0"/>
                  </a:lnTo>
                  <a:lnTo>
                    <a:pt x="0" y="1937637"/>
                  </a:lnTo>
                  <a:lnTo>
                    <a:pt x="0" y="2666013"/>
                  </a:lnTo>
                </a:path>
              </a:pathLst>
            </a:custGeom>
            <a:ln w="41883">
              <a:solidFill>
                <a:srgbClr val="F9D3DE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C4CCFE07-B22B-C812-E522-B5ADF55BF311}"/>
                </a:ext>
              </a:extLst>
            </p:cNvPr>
            <p:cNvSpPr/>
            <p:nvPr/>
          </p:nvSpPr>
          <p:spPr>
            <a:xfrm>
              <a:off x="9220536" y="7674520"/>
              <a:ext cx="3138805" cy="2585085"/>
            </a:xfrm>
            <a:custGeom>
              <a:avLst/>
              <a:gdLst/>
              <a:ahLst/>
              <a:cxnLst/>
              <a:rect l="l" t="t" r="r" b="b"/>
              <a:pathLst>
                <a:path w="3138804" h="2585084">
                  <a:moveTo>
                    <a:pt x="0" y="10942"/>
                  </a:moveTo>
                  <a:lnTo>
                    <a:pt x="0" y="2584916"/>
                  </a:lnTo>
                  <a:lnTo>
                    <a:pt x="3138606" y="646964"/>
                  </a:lnTo>
                  <a:lnTo>
                    <a:pt x="3138511" y="0"/>
                  </a:lnTo>
                </a:path>
              </a:pathLst>
            </a:custGeom>
            <a:ln w="41883">
              <a:solidFill>
                <a:srgbClr val="F9D3DE"/>
              </a:solidFill>
            </a:ln>
          </p:spPr>
          <p:txBody>
            <a:bodyPr wrap="square" lIns="0" tIns="0" rIns="0" bIns="0" rtlCol="0"/>
            <a:lstStyle/>
            <a:p>
              <a:endParaRPr sz="473"/>
            </a:p>
          </p:txBody>
        </p:sp>
      </p:grpSp>
      <p:pic>
        <p:nvPicPr>
          <p:cNvPr id="23" name="グラフィックス 22">
            <a:extLst>
              <a:ext uri="{FF2B5EF4-FFF2-40B4-BE49-F238E27FC236}">
                <a16:creationId xmlns:a16="http://schemas.microsoft.com/office/drawing/2014/main" id="{3AAE68D7-114B-1664-23B6-7528C81AEF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000" y="180000"/>
            <a:ext cx="10136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2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395D780-FB09-F45B-E659-7AAC1ED26817}"/>
              </a:ext>
            </a:extLst>
          </p:cNvPr>
          <p:cNvSpPr/>
          <p:nvPr userDrawn="1"/>
        </p:nvSpPr>
        <p:spPr>
          <a:xfrm>
            <a:off x="360000" y="864000"/>
            <a:ext cx="9252000" cy="5760000"/>
          </a:xfrm>
          <a:prstGeom prst="rect">
            <a:avLst/>
          </a:prstGeom>
          <a:gradFill>
            <a:gsLst>
              <a:gs pos="0">
                <a:srgbClr val="FFEBEB">
                  <a:alpha val="50000"/>
                </a:srgbClr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8C9E8C46-4147-34C4-4BC0-B98C442EE26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60000" y="864000"/>
            <a:ext cx="9252000" cy="576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AC91D8A-7C6E-7D85-FD03-9328F682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88000"/>
            <a:ext cx="8543925" cy="432000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3" name="object 2271">
            <a:extLst>
              <a:ext uri="{FF2B5EF4-FFF2-40B4-BE49-F238E27FC236}">
                <a16:creationId xmlns:a16="http://schemas.microsoft.com/office/drawing/2014/main" id="{3AB14737-1F88-4423-6FFA-E2CF9F23225C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600000" cy="2160000"/>
          </a:xfrm>
          <a:prstGeom prst="rect">
            <a:avLst/>
          </a:prstGeom>
        </p:spPr>
      </p:pic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3DF0B4BB-9B01-7B5C-CA0F-E694108FD6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64000" y="72000"/>
            <a:ext cx="864000" cy="432000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2423A6F-9630-9F0D-561D-1413B77A118D}"/>
              </a:ext>
            </a:extLst>
          </p:cNvPr>
          <p:cNvCxnSpPr/>
          <p:nvPr userDrawn="1"/>
        </p:nvCxnSpPr>
        <p:spPr>
          <a:xfrm>
            <a:off x="0" y="756000"/>
            <a:ext cx="990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chart: Off-page Connector 9">
            <a:extLst>
              <a:ext uri="{FF2B5EF4-FFF2-40B4-BE49-F238E27FC236}">
                <a16:creationId xmlns:a16="http://schemas.microsoft.com/office/drawing/2014/main" id="{FF03694E-48BC-2A95-7388-B0EAE607514C}"/>
              </a:ext>
            </a:extLst>
          </p:cNvPr>
          <p:cNvSpPr/>
          <p:nvPr userDrawn="1"/>
        </p:nvSpPr>
        <p:spPr>
          <a:xfrm>
            <a:off x="9228428" y="6560269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507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396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843F27-5AC3-D40B-23E9-5916F2C8A9AD}"/>
              </a:ext>
            </a:extLst>
          </p:cNvPr>
          <p:cNvSpPr txBox="1"/>
          <p:nvPr/>
        </p:nvSpPr>
        <p:spPr>
          <a:xfrm>
            <a:off x="214903" y="705531"/>
            <a:ext cx="682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ユナイテッド・スーパーマーケット・ホールディングス株式会社 御中</a:t>
            </a:r>
            <a:endParaRPr kumimoji="1" lang="ja-JP" altLang="en-US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3844D4-B39A-54E5-413C-B79A6F7E3492}"/>
              </a:ext>
            </a:extLst>
          </p:cNvPr>
          <p:cNvSpPr txBox="1"/>
          <p:nvPr/>
        </p:nvSpPr>
        <p:spPr>
          <a:xfrm>
            <a:off x="2591616" y="2951947"/>
            <a:ext cx="47227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28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システム開発　進捗報告</a:t>
            </a:r>
            <a:endParaRPr lang="en-US" altLang="ja-JP" sz="28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２０２</a:t>
            </a:r>
            <a:r>
              <a:rPr lang="en-US" altLang="ja-JP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28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2800" b="0" i="0">
                <a:solidFill>
                  <a:schemeClr val="bg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</a:t>
            </a:r>
            <a:endParaRPr lang="en-US" altLang="ja-JP" sz="2800" b="0" i="0">
              <a:solidFill>
                <a:schemeClr val="bg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62D9281-116B-8935-B19E-919560EF7F9A}"/>
              </a:ext>
            </a:extLst>
          </p:cNvPr>
          <p:cNvSpPr txBox="1">
            <a:spLocks/>
          </p:cNvSpPr>
          <p:nvPr/>
        </p:nvSpPr>
        <p:spPr>
          <a:xfrm>
            <a:off x="360000" y="5544000"/>
            <a:ext cx="6858000" cy="936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000" b="1" kern="1200">
                <a:solidFill>
                  <a:schemeClr val="bg1"/>
                </a:solidFill>
                <a:latin typeface="Arial" panose="020B0604020202020204" pitchFamily="34" charset="0"/>
                <a:ea typeface="BIZ UDPゴシック" panose="020B0400000000000000" pitchFamily="50" charset="-128"/>
                <a:cs typeface="Arial" panose="020B0604020202020204" pitchFamily="34" charset="0"/>
              </a:defRPr>
            </a:lvl1pPr>
            <a:lvl2pPr marL="495285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800">
                <a:latin typeface="BIZ UDPゴシック" panose="020B0400000000000000" pitchFamily="50" charset="-128"/>
              </a:rPr>
              <a:t>2025</a:t>
            </a:r>
            <a:r>
              <a:rPr lang="ja-JP" altLang="en-US" sz="1800">
                <a:latin typeface="BIZ UDPゴシック" panose="020B0400000000000000" pitchFamily="50" charset="-128"/>
              </a:rPr>
              <a:t>年</a:t>
            </a:r>
            <a:r>
              <a:rPr lang="en-US" altLang="ja-JP" sz="1800">
                <a:latin typeface="BIZ UDPゴシック" panose="020B0400000000000000" pitchFamily="50" charset="-128"/>
              </a:rPr>
              <a:t>4</a:t>
            </a:r>
            <a:r>
              <a:rPr lang="ja-JP" altLang="en-US" sz="1800">
                <a:latin typeface="BIZ UDPゴシック" panose="020B0400000000000000" pitchFamily="50" charset="-128"/>
              </a:rPr>
              <a:t>月</a:t>
            </a:r>
            <a:r>
              <a:rPr lang="en-US" altLang="ja-JP" sz="1800">
                <a:latin typeface="BIZ UDPゴシック" panose="020B0400000000000000" pitchFamily="50" charset="-128"/>
              </a:rPr>
              <a:t>30</a:t>
            </a:r>
            <a:r>
              <a:rPr lang="ja-JP" altLang="en-US" sz="1800">
                <a:latin typeface="BIZ UDPゴシック" panose="020B0400000000000000" pitchFamily="50" charset="-128"/>
              </a:rPr>
              <a:t>日</a:t>
            </a:r>
            <a:endParaRPr lang="en-US" sz="1800">
              <a:latin typeface="BIZ UDPゴシック" panose="020B0400000000000000" pitchFamily="50" charset="-128"/>
            </a:endParaRPr>
          </a:p>
          <a:p>
            <a:r>
              <a:rPr lang="en-US" sz="1800" err="1">
                <a:latin typeface="BIZ UDPゴシック" panose="020B0400000000000000" pitchFamily="50" charset="-128"/>
              </a:rPr>
              <a:t>Luvina</a:t>
            </a:r>
            <a:r>
              <a:rPr lang="en-US" sz="1800">
                <a:latin typeface="BIZ UDPゴシック" panose="020B0400000000000000" pitchFamily="50" charset="-128"/>
              </a:rPr>
              <a:t> Software Joint Stock Company</a:t>
            </a:r>
          </a:p>
        </p:txBody>
      </p:sp>
    </p:spTree>
    <p:extLst>
      <p:ext uri="{BB962C8B-B14F-4D97-AF65-F5344CB8AC3E}">
        <p14:creationId xmlns:p14="http://schemas.microsoft.com/office/powerpoint/2010/main" val="1905902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C812-C999-033F-D413-1A9AD62C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E22C4132-B174-2A0A-E5E6-E75481FE285B}"/>
              </a:ext>
            </a:extLst>
          </p:cNvPr>
          <p:cNvSpPr/>
          <p:nvPr/>
        </p:nvSpPr>
        <p:spPr>
          <a:xfrm>
            <a:off x="1080000" y="2303998"/>
            <a:ext cx="3852000" cy="2117853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F6D84B8-3274-83EF-61D2-BE35B6BFF5BD}"/>
              </a:ext>
            </a:extLst>
          </p:cNvPr>
          <p:cNvSpPr/>
          <p:nvPr/>
        </p:nvSpPr>
        <p:spPr>
          <a:xfrm>
            <a:off x="5772422" y="1224000"/>
            <a:ext cx="3600000" cy="3420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BF44BC9C-3B58-1D3D-2391-647FAF946EF4}"/>
              </a:ext>
            </a:extLst>
          </p:cNvPr>
          <p:cNvSpPr/>
          <p:nvPr/>
        </p:nvSpPr>
        <p:spPr>
          <a:xfrm>
            <a:off x="2700000" y="3168000"/>
            <a:ext cx="6624000" cy="117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F75C205-E046-A3A5-3D97-32EB69836058}"/>
              </a:ext>
            </a:extLst>
          </p:cNvPr>
          <p:cNvSpPr/>
          <p:nvPr/>
        </p:nvSpPr>
        <p:spPr>
          <a:xfrm>
            <a:off x="5760000" y="1079999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いなげや様店舗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D2B2DA1-7956-DADE-C875-849F17E021F2}"/>
              </a:ext>
            </a:extLst>
          </p:cNvPr>
          <p:cNvSpPr/>
          <p:nvPr/>
        </p:nvSpPr>
        <p:spPr>
          <a:xfrm>
            <a:off x="576000" y="1223999"/>
            <a:ext cx="3852000" cy="864000"/>
          </a:xfrm>
          <a:prstGeom prst="roundRect">
            <a:avLst>
              <a:gd name="adj" fmla="val 9121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35AE663-91DA-C017-0793-4BEF337F3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最終目標地点（概念）</a:t>
            </a:r>
            <a:r>
              <a:rPr lang="ja-JP" altLang="en-US"/>
              <a:t>・いなげや様オフライン対応（優先①）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FFC3364-6119-A437-0006-946805415672}"/>
              </a:ext>
            </a:extLst>
          </p:cNvPr>
          <p:cNvSpPr/>
          <p:nvPr/>
        </p:nvSpPr>
        <p:spPr>
          <a:xfrm>
            <a:off x="648000" y="144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029F97-BDCB-8D08-463B-75B9EFD4CA82}"/>
              </a:ext>
            </a:extLst>
          </p:cNvPr>
          <p:cNvSpPr/>
          <p:nvPr/>
        </p:nvSpPr>
        <p:spPr>
          <a:xfrm>
            <a:off x="2952000" y="144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FE659E1-8AA7-43BE-C12C-ABBD51BB693C}"/>
              </a:ext>
            </a:extLst>
          </p:cNvPr>
          <p:cNvSpPr/>
          <p:nvPr/>
        </p:nvSpPr>
        <p:spPr>
          <a:xfrm>
            <a:off x="2952000" y="252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6BAD6E7-D285-8901-4311-ACDCC033F322}"/>
              </a:ext>
            </a:extLst>
          </p:cNvPr>
          <p:cNvSpPr/>
          <p:nvPr/>
        </p:nvSpPr>
        <p:spPr>
          <a:xfrm>
            <a:off x="2952000" y="3744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POS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02FC115-C84E-D815-9332-BAAA3302EF0E}"/>
              </a:ext>
            </a:extLst>
          </p:cNvPr>
          <p:cNvSpPr/>
          <p:nvPr/>
        </p:nvSpPr>
        <p:spPr>
          <a:xfrm>
            <a:off x="6624000" y="144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0E06C1-F06E-7FC4-EDA0-4DB74832716C}"/>
              </a:ext>
            </a:extLst>
          </p:cNvPr>
          <p:cNvSpPr/>
          <p:nvPr/>
        </p:nvSpPr>
        <p:spPr>
          <a:xfrm>
            <a:off x="7154351" y="3241080"/>
            <a:ext cx="1433623" cy="46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bg2">
                  <a:lumMod val="9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Windows-POS</a:t>
            </a:r>
          </a:p>
          <a:p>
            <a:pPr algn="ctr"/>
            <a:r>
              <a:rPr lang="ja-JP" altLang="en-US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第１期：</a:t>
            </a:r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bg2">
                    <a:lumMod val="9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6B23D17-0DEA-8D74-A155-576D936A891D}"/>
              </a:ext>
            </a:extLst>
          </p:cNvPr>
          <p:cNvSpPr/>
          <p:nvPr/>
        </p:nvSpPr>
        <p:spPr>
          <a:xfrm>
            <a:off x="6624000" y="2520000"/>
            <a:ext cx="1224000" cy="46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</a:t>
            </a:r>
          </a:p>
        </p:txBody>
      </p:sp>
      <p:sp>
        <p:nvSpPr>
          <p:cNvPr id="11" name="雲 10">
            <a:extLst>
              <a:ext uri="{FF2B5EF4-FFF2-40B4-BE49-F238E27FC236}">
                <a16:creationId xmlns:a16="http://schemas.microsoft.com/office/drawing/2014/main" id="{E718F024-C453-00EF-F3CB-ED1F2FC440C4}"/>
              </a:ext>
            </a:extLst>
          </p:cNvPr>
          <p:cNvSpPr/>
          <p:nvPr/>
        </p:nvSpPr>
        <p:spPr>
          <a:xfrm>
            <a:off x="346151" y="3171902"/>
            <a:ext cx="963695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閉域網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FBFCEBB-2AD2-BF7A-E1C9-8CFDF137C655}"/>
              </a:ext>
            </a:extLst>
          </p:cNvPr>
          <p:cNvSpPr/>
          <p:nvPr/>
        </p:nvSpPr>
        <p:spPr>
          <a:xfrm>
            <a:off x="576000" y="1079999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雲 15">
            <a:extLst>
              <a:ext uri="{FF2B5EF4-FFF2-40B4-BE49-F238E27FC236}">
                <a16:creationId xmlns:a16="http://schemas.microsoft.com/office/drawing/2014/main" id="{A6C7DE61-EB6A-AE32-108E-682650E6C53C}"/>
              </a:ext>
            </a:extLst>
          </p:cNvPr>
          <p:cNvSpPr/>
          <p:nvPr/>
        </p:nvSpPr>
        <p:spPr>
          <a:xfrm>
            <a:off x="5112000" y="1440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閉域網</a:t>
            </a:r>
          </a:p>
        </p:txBody>
      </p:sp>
      <p:sp>
        <p:nvSpPr>
          <p:cNvPr id="17" name="雲 16">
            <a:extLst>
              <a:ext uri="{FF2B5EF4-FFF2-40B4-BE49-F238E27FC236}">
                <a16:creationId xmlns:a16="http://schemas.microsoft.com/office/drawing/2014/main" id="{184D2DA4-9FFF-C4F9-1DC8-29C6B1E06062}"/>
              </a:ext>
            </a:extLst>
          </p:cNvPr>
          <p:cNvSpPr/>
          <p:nvPr/>
        </p:nvSpPr>
        <p:spPr>
          <a:xfrm>
            <a:off x="5112000" y="2520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インターネット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A805561-4778-6DAF-8CD3-669FBF9B061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872000" y="1674000"/>
            <a:ext cx="10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EB3E87F-89EE-B748-0BCD-4F00BD4BD0FE}"/>
              </a:ext>
            </a:extLst>
          </p:cNvPr>
          <p:cNvCxnSpPr>
            <a:cxnSpLocks/>
            <a:stCxn id="4" idx="3"/>
            <a:endCxn id="16" idx="2"/>
          </p:cNvCxnSpPr>
          <p:nvPr/>
        </p:nvCxnSpPr>
        <p:spPr>
          <a:xfrm>
            <a:off x="4176000" y="1674000"/>
            <a:ext cx="939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D28EF6B-AA9C-98AA-571D-84F27DD70CF7}"/>
              </a:ext>
            </a:extLst>
          </p:cNvPr>
          <p:cNvCxnSpPr>
            <a:cxnSpLocks/>
            <a:stCxn id="16" idx="0"/>
            <a:endCxn id="7" idx="1"/>
          </p:cNvCxnSpPr>
          <p:nvPr/>
        </p:nvCxnSpPr>
        <p:spPr>
          <a:xfrm>
            <a:off x="6334980" y="1674000"/>
            <a:ext cx="2890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696AB40-CFFD-E349-8E97-ED42C586F390}"/>
              </a:ext>
            </a:extLst>
          </p:cNvPr>
          <p:cNvCxnSpPr>
            <a:cxnSpLocks/>
            <a:stCxn id="5" idx="3"/>
            <a:endCxn id="17" idx="2"/>
          </p:cNvCxnSpPr>
          <p:nvPr/>
        </p:nvCxnSpPr>
        <p:spPr>
          <a:xfrm>
            <a:off x="4176000" y="2754000"/>
            <a:ext cx="939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7644AD0-11F1-32FD-70D0-62BAA9645D37}"/>
              </a:ext>
            </a:extLst>
          </p:cNvPr>
          <p:cNvCxnSpPr>
            <a:cxnSpLocks/>
            <a:stCxn id="17" idx="0"/>
            <a:endCxn id="10" idx="1"/>
          </p:cNvCxnSpPr>
          <p:nvPr/>
        </p:nvCxnSpPr>
        <p:spPr>
          <a:xfrm>
            <a:off x="6334980" y="2754000"/>
            <a:ext cx="289020" cy="0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フローチャート: 磁気ディスク 59">
            <a:extLst>
              <a:ext uri="{FF2B5EF4-FFF2-40B4-BE49-F238E27FC236}">
                <a16:creationId xmlns:a16="http://schemas.microsoft.com/office/drawing/2014/main" id="{3345D6E7-ED7A-2B99-9369-37F3844371B8}"/>
              </a:ext>
            </a:extLst>
          </p:cNvPr>
          <p:cNvSpPr/>
          <p:nvPr/>
        </p:nvSpPr>
        <p:spPr>
          <a:xfrm>
            <a:off x="648000" y="1980000"/>
            <a:ext cx="360000" cy="21600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2" name="直線コネクタ 54">
            <a:extLst>
              <a:ext uri="{FF2B5EF4-FFF2-40B4-BE49-F238E27FC236}">
                <a16:creationId xmlns:a16="http://schemas.microsoft.com/office/drawing/2014/main" id="{63927B88-5945-9B08-C479-1CBF1D92C121}"/>
              </a:ext>
            </a:extLst>
          </p:cNvPr>
          <p:cNvCxnSpPr>
            <a:cxnSpLocks/>
            <a:stCxn id="60" idx="3"/>
            <a:endCxn id="11" idx="3"/>
          </p:cNvCxnSpPr>
          <p:nvPr/>
        </p:nvCxnSpPr>
        <p:spPr>
          <a:xfrm rot="5400000">
            <a:off x="326670" y="2697330"/>
            <a:ext cx="1002660" cy="1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B0A3D9D9-6203-6C2C-DB9B-FA9B491AD5BE}"/>
              </a:ext>
            </a:extLst>
          </p:cNvPr>
          <p:cNvSpPr/>
          <p:nvPr/>
        </p:nvSpPr>
        <p:spPr>
          <a:xfrm>
            <a:off x="1224000" y="2195999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（東京）</a:t>
            </a:r>
          </a:p>
        </p:txBody>
      </p:sp>
      <p:sp>
        <p:nvSpPr>
          <p:cNvPr id="75" name="雲 74">
            <a:extLst>
              <a:ext uri="{FF2B5EF4-FFF2-40B4-BE49-F238E27FC236}">
                <a16:creationId xmlns:a16="http://schemas.microsoft.com/office/drawing/2014/main" id="{B0AC365A-42D6-7552-0B39-C3606B07677A}"/>
              </a:ext>
            </a:extLst>
          </p:cNvPr>
          <p:cNvSpPr/>
          <p:nvPr/>
        </p:nvSpPr>
        <p:spPr>
          <a:xfrm>
            <a:off x="5112000" y="3744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いなげや様閉域網</a:t>
            </a:r>
            <a:endParaRPr lang="en-US" altLang="ja-JP" sz="900" u="sng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 u="sng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経由）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581F5A2F-C33E-AA39-D213-CBF7BF5CA7C1}"/>
              </a:ext>
            </a:extLst>
          </p:cNvPr>
          <p:cNvCxnSpPr>
            <a:cxnSpLocks/>
            <a:stCxn id="6" idx="3"/>
            <a:endCxn id="75" idx="2"/>
          </p:cNvCxnSpPr>
          <p:nvPr/>
        </p:nvCxnSpPr>
        <p:spPr>
          <a:xfrm>
            <a:off x="4176000" y="3978000"/>
            <a:ext cx="939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7C7E42D7-576E-9852-5C1C-4EA6B66D2446}"/>
              </a:ext>
            </a:extLst>
          </p:cNvPr>
          <p:cNvCxnSpPr>
            <a:cxnSpLocks/>
            <a:stCxn id="75" idx="0"/>
            <a:endCxn id="31" idx="1"/>
          </p:cNvCxnSpPr>
          <p:nvPr/>
        </p:nvCxnSpPr>
        <p:spPr>
          <a:xfrm>
            <a:off x="6334980" y="3978000"/>
            <a:ext cx="831793" cy="15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85934602-FCAA-C95D-9640-1EE6768AB454}"/>
              </a:ext>
            </a:extLst>
          </p:cNvPr>
          <p:cNvCxnSpPr>
            <a:cxnSpLocks/>
            <a:stCxn id="17" idx="1"/>
            <a:endCxn id="31" idx="1"/>
          </p:cNvCxnSpPr>
          <p:nvPr/>
        </p:nvCxnSpPr>
        <p:spPr>
          <a:xfrm>
            <a:off x="5724000" y="2987502"/>
            <a:ext cx="1442773" cy="1006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雲 93">
            <a:extLst>
              <a:ext uri="{FF2B5EF4-FFF2-40B4-BE49-F238E27FC236}">
                <a16:creationId xmlns:a16="http://schemas.microsoft.com/office/drawing/2014/main" id="{007DEAAA-DF9D-A90F-6E57-225C69E12FD8}"/>
              </a:ext>
            </a:extLst>
          </p:cNvPr>
          <p:cNvSpPr/>
          <p:nvPr/>
        </p:nvSpPr>
        <p:spPr>
          <a:xfrm>
            <a:off x="7896422" y="2514474"/>
            <a:ext cx="1224000" cy="4680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いなげや様での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導入未定</a:t>
            </a:r>
          </a:p>
        </p:txBody>
      </p:sp>
      <p:sp>
        <p:nvSpPr>
          <p:cNvPr id="97" name="四角形: 角を丸くする 96">
            <a:extLst>
              <a:ext uri="{FF2B5EF4-FFF2-40B4-BE49-F238E27FC236}">
                <a16:creationId xmlns:a16="http://schemas.microsoft.com/office/drawing/2014/main" id="{8286957E-1EB8-095B-34C2-615C30B02E46}"/>
              </a:ext>
            </a:extLst>
          </p:cNvPr>
          <p:cNvSpPr/>
          <p:nvPr/>
        </p:nvSpPr>
        <p:spPr>
          <a:xfrm>
            <a:off x="3264472" y="55080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8" name="四角形: 角を丸くする 97">
            <a:extLst>
              <a:ext uri="{FF2B5EF4-FFF2-40B4-BE49-F238E27FC236}">
                <a16:creationId xmlns:a16="http://schemas.microsoft.com/office/drawing/2014/main" id="{C1A17344-0CFE-CAF1-2CFF-09F7A169C69D}"/>
              </a:ext>
            </a:extLst>
          </p:cNvPr>
          <p:cNvSpPr/>
          <p:nvPr/>
        </p:nvSpPr>
        <p:spPr>
          <a:xfrm>
            <a:off x="3336254" y="5364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VINX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E309C2C8-B14F-C8D4-E7B0-D1EFFE52D371}"/>
              </a:ext>
            </a:extLst>
          </p:cNvPr>
          <p:cNvSpPr/>
          <p:nvPr/>
        </p:nvSpPr>
        <p:spPr>
          <a:xfrm>
            <a:off x="3877272" y="57600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VINX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Satisfa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</a:p>
        </p:txBody>
      </p:sp>
      <p:sp>
        <p:nvSpPr>
          <p:cNvPr id="104" name="四角形: 角を丸くする 103">
            <a:extLst>
              <a:ext uri="{FF2B5EF4-FFF2-40B4-BE49-F238E27FC236}">
                <a16:creationId xmlns:a16="http://schemas.microsoft.com/office/drawing/2014/main" id="{CC4EDEF2-727B-3E0C-CB0D-51EE21F3FF08}"/>
              </a:ext>
            </a:extLst>
          </p:cNvPr>
          <p:cNvSpPr/>
          <p:nvPr/>
        </p:nvSpPr>
        <p:spPr>
          <a:xfrm>
            <a:off x="5208653" y="55080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0A5DF1B2-C67E-B42E-C7A2-CC8091CC6EFC}"/>
              </a:ext>
            </a:extLst>
          </p:cNvPr>
          <p:cNvSpPr/>
          <p:nvPr/>
        </p:nvSpPr>
        <p:spPr>
          <a:xfrm>
            <a:off x="5280435" y="5364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SSOL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F3CD1171-23F2-EC41-D0A6-F21161AD7A5B}"/>
              </a:ext>
            </a:extLst>
          </p:cNvPr>
          <p:cNvSpPr/>
          <p:nvPr/>
        </p:nvSpPr>
        <p:spPr>
          <a:xfrm>
            <a:off x="5821453" y="57600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SSOL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カード決済サーバー</a:t>
            </a:r>
          </a:p>
        </p:txBody>
      </p:sp>
      <p:cxnSp>
        <p:nvCxnSpPr>
          <p:cNvPr id="108" name="直線コネクタ 99">
            <a:extLst>
              <a:ext uri="{FF2B5EF4-FFF2-40B4-BE49-F238E27FC236}">
                <a16:creationId xmlns:a16="http://schemas.microsoft.com/office/drawing/2014/main" id="{C662F525-727C-21D8-1BED-697B26F95E21}"/>
              </a:ext>
            </a:extLst>
          </p:cNvPr>
          <p:cNvCxnSpPr>
            <a:cxnSpLocks/>
            <a:stCxn id="75" idx="1"/>
            <a:endCxn id="106" idx="0"/>
          </p:cNvCxnSpPr>
          <p:nvPr/>
        </p:nvCxnSpPr>
        <p:spPr>
          <a:xfrm rot="16200000" flipH="1">
            <a:off x="5304477" y="4631024"/>
            <a:ext cx="1548498" cy="70945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雲 110">
            <a:extLst>
              <a:ext uri="{FF2B5EF4-FFF2-40B4-BE49-F238E27FC236}">
                <a16:creationId xmlns:a16="http://schemas.microsoft.com/office/drawing/2014/main" id="{C88C3417-C0C8-53D2-406E-D219A3717B26}"/>
              </a:ext>
            </a:extLst>
          </p:cNvPr>
          <p:cNvSpPr/>
          <p:nvPr/>
        </p:nvSpPr>
        <p:spPr>
          <a:xfrm>
            <a:off x="6624000" y="4536000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インターネット</a:t>
            </a:r>
          </a:p>
        </p:txBody>
      </p:sp>
      <p:cxnSp>
        <p:nvCxnSpPr>
          <p:cNvPr id="112" name="直線コネクタ 99">
            <a:extLst>
              <a:ext uri="{FF2B5EF4-FFF2-40B4-BE49-F238E27FC236}">
                <a16:creationId xmlns:a16="http://schemas.microsoft.com/office/drawing/2014/main" id="{1051CDF8-7AB2-68A7-CC39-94C6829A04C9}"/>
              </a:ext>
            </a:extLst>
          </p:cNvPr>
          <p:cNvCxnSpPr>
            <a:cxnSpLocks/>
            <a:stCxn id="31" idx="1"/>
            <a:endCxn id="111" idx="2"/>
          </p:cNvCxnSpPr>
          <p:nvPr/>
        </p:nvCxnSpPr>
        <p:spPr>
          <a:xfrm rot="10800000" flipV="1">
            <a:off x="6627797" y="3993800"/>
            <a:ext cx="538976" cy="776199"/>
          </a:xfrm>
          <a:prstGeom prst="bentConnector3">
            <a:avLst>
              <a:gd name="adj1" fmla="val 143118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C63397C4-53A2-5E27-B473-12230E6278BD}"/>
              </a:ext>
            </a:extLst>
          </p:cNvPr>
          <p:cNvSpPr/>
          <p:nvPr/>
        </p:nvSpPr>
        <p:spPr>
          <a:xfrm>
            <a:off x="7127198" y="55080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0D1B61BD-9BBE-92AF-E354-4DB74CECF594}"/>
              </a:ext>
            </a:extLst>
          </p:cNvPr>
          <p:cNvSpPr/>
          <p:nvPr/>
        </p:nvSpPr>
        <p:spPr>
          <a:xfrm>
            <a:off x="7198980" y="5364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AFS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DC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2A939B68-55F1-ED66-A462-AF77AAA8C965}"/>
              </a:ext>
            </a:extLst>
          </p:cNvPr>
          <p:cNvSpPr/>
          <p:nvPr/>
        </p:nvSpPr>
        <p:spPr>
          <a:xfrm>
            <a:off x="7739998" y="57600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AFS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QR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決済サーバー</a:t>
            </a:r>
          </a:p>
        </p:txBody>
      </p:sp>
      <p:cxnSp>
        <p:nvCxnSpPr>
          <p:cNvPr id="122" name="直線コネクタ 99">
            <a:extLst>
              <a:ext uri="{FF2B5EF4-FFF2-40B4-BE49-F238E27FC236}">
                <a16:creationId xmlns:a16="http://schemas.microsoft.com/office/drawing/2014/main" id="{BC74C57A-316A-43F2-046C-CDCC56C2A3D7}"/>
              </a:ext>
            </a:extLst>
          </p:cNvPr>
          <p:cNvCxnSpPr>
            <a:cxnSpLocks/>
            <a:stCxn id="111" idx="0"/>
            <a:endCxn id="117" idx="0"/>
          </p:cNvCxnSpPr>
          <p:nvPr/>
        </p:nvCxnSpPr>
        <p:spPr>
          <a:xfrm>
            <a:off x="7846980" y="4770000"/>
            <a:ext cx="505018" cy="990000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53EE61DE-D291-0B6A-0687-E176CCEE0298}"/>
              </a:ext>
            </a:extLst>
          </p:cNvPr>
          <p:cNvSpPr/>
          <p:nvPr/>
        </p:nvSpPr>
        <p:spPr>
          <a:xfrm>
            <a:off x="2947688" y="3074924"/>
            <a:ext cx="1080000" cy="288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弊社開発領域</a:t>
            </a:r>
          </a:p>
        </p:txBody>
      </p: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C170B54D-3825-60AA-DB40-73293EBA3B9E}"/>
              </a:ext>
            </a:extLst>
          </p:cNvPr>
          <p:cNvCxnSpPr>
            <a:cxnSpLocks/>
            <a:stCxn id="75" idx="1"/>
            <a:endCxn id="99" idx="0"/>
          </p:cNvCxnSpPr>
          <p:nvPr/>
        </p:nvCxnSpPr>
        <p:spPr>
          <a:xfrm rot="5400000">
            <a:off x="4332387" y="4368387"/>
            <a:ext cx="1548498" cy="12347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雲 134">
            <a:extLst>
              <a:ext uri="{FF2B5EF4-FFF2-40B4-BE49-F238E27FC236}">
                <a16:creationId xmlns:a16="http://schemas.microsoft.com/office/drawing/2014/main" id="{3DDBF16A-B1A7-8A26-3017-335EF30D7163}"/>
              </a:ext>
            </a:extLst>
          </p:cNvPr>
          <p:cNvSpPr/>
          <p:nvPr/>
        </p:nvSpPr>
        <p:spPr>
          <a:xfrm>
            <a:off x="468000" y="4629869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Kasumi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閉塞網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6" name="雲 135">
            <a:extLst>
              <a:ext uri="{FF2B5EF4-FFF2-40B4-BE49-F238E27FC236}">
                <a16:creationId xmlns:a16="http://schemas.microsoft.com/office/drawing/2014/main" id="{99FF1673-E7BC-C491-6CC9-208B7E9B2B0B}"/>
              </a:ext>
            </a:extLst>
          </p:cNvPr>
          <p:cNvSpPr/>
          <p:nvPr/>
        </p:nvSpPr>
        <p:spPr>
          <a:xfrm>
            <a:off x="468000" y="5177851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MV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関東様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閉塞網</a:t>
            </a:r>
          </a:p>
        </p:txBody>
      </p:sp>
      <p:sp>
        <p:nvSpPr>
          <p:cNvPr id="137" name="雲 136">
            <a:extLst>
              <a:ext uri="{FF2B5EF4-FFF2-40B4-BE49-F238E27FC236}">
                <a16:creationId xmlns:a16="http://schemas.microsoft.com/office/drawing/2014/main" id="{C27D1D59-DF35-5DFC-8D0B-B3332C010FED}"/>
              </a:ext>
            </a:extLst>
          </p:cNvPr>
          <p:cNvSpPr/>
          <p:nvPr/>
        </p:nvSpPr>
        <p:spPr>
          <a:xfrm>
            <a:off x="468000" y="5713382"/>
            <a:ext cx="1224000" cy="468000"/>
          </a:xfrm>
          <a:prstGeom prst="cloud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マルエツ様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閉塞網</a:t>
            </a:r>
          </a:p>
        </p:txBody>
      </p:sp>
      <p:cxnSp>
        <p:nvCxnSpPr>
          <p:cNvPr id="138" name="直線コネクタ 54">
            <a:extLst>
              <a:ext uri="{FF2B5EF4-FFF2-40B4-BE49-F238E27FC236}">
                <a16:creationId xmlns:a16="http://schemas.microsoft.com/office/drawing/2014/main" id="{74FF4263-D33D-F443-E519-90733E774BAC}"/>
              </a:ext>
            </a:extLst>
          </p:cNvPr>
          <p:cNvCxnSpPr>
            <a:cxnSpLocks/>
            <a:stCxn id="137" idx="2"/>
            <a:endCxn id="11" idx="1"/>
          </p:cNvCxnSpPr>
          <p:nvPr/>
        </p:nvCxnSpPr>
        <p:spPr>
          <a:xfrm rot="10800000" flipH="1">
            <a:off x="471797" y="3639404"/>
            <a:ext cx="356202" cy="2307978"/>
          </a:xfrm>
          <a:prstGeom prst="bentConnector4">
            <a:avLst>
              <a:gd name="adj1" fmla="val -64177"/>
              <a:gd name="adj2" fmla="val 66264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線コネクタ 54">
            <a:extLst>
              <a:ext uri="{FF2B5EF4-FFF2-40B4-BE49-F238E27FC236}">
                <a16:creationId xmlns:a16="http://schemas.microsoft.com/office/drawing/2014/main" id="{4698AC99-B551-4CBC-2BDF-BF23954A2F9B}"/>
              </a:ext>
            </a:extLst>
          </p:cNvPr>
          <p:cNvCxnSpPr>
            <a:cxnSpLocks/>
            <a:stCxn id="136" idx="2"/>
            <a:endCxn id="11" idx="1"/>
          </p:cNvCxnSpPr>
          <p:nvPr/>
        </p:nvCxnSpPr>
        <p:spPr>
          <a:xfrm rot="10800000" flipH="1">
            <a:off x="471797" y="3639405"/>
            <a:ext cx="356202" cy="1772447"/>
          </a:xfrm>
          <a:prstGeom prst="bentConnector4">
            <a:avLst>
              <a:gd name="adj1" fmla="val -64177"/>
              <a:gd name="adj2" fmla="val 56587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線コネクタ 54">
            <a:extLst>
              <a:ext uri="{FF2B5EF4-FFF2-40B4-BE49-F238E27FC236}">
                <a16:creationId xmlns:a16="http://schemas.microsoft.com/office/drawing/2014/main" id="{960EEB32-643C-7C63-A5CD-C2EEFEC75120}"/>
              </a:ext>
            </a:extLst>
          </p:cNvPr>
          <p:cNvCxnSpPr>
            <a:cxnSpLocks/>
            <a:stCxn id="135" idx="2"/>
            <a:endCxn id="11" idx="1"/>
          </p:cNvCxnSpPr>
          <p:nvPr/>
        </p:nvCxnSpPr>
        <p:spPr>
          <a:xfrm rot="10800000" flipH="1">
            <a:off x="471797" y="3639405"/>
            <a:ext cx="356202" cy="1224465"/>
          </a:xfrm>
          <a:prstGeom prst="bentConnector4">
            <a:avLst>
              <a:gd name="adj1" fmla="val -64177"/>
              <a:gd name="adj2" fmla="val 37660"/>
            </a:avLst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8DA0B39-9BCF-594A-7C2B-1D2668174120}"/>
              </a:ext>
            </a:extLst>
          </p:cNvPr>
          <p:cNvSpPr/>
          <p:nvPr/>
        </p:nvSpPr>
        <p:spPr>
          <a:xfrm>
            <a:off x="2169745" y="4634400"/>
            <a:ext cx="1872800" cy="648000"/>
          </a:xfrm>
          <a:prstGeom prst="roundRect">
            <a:avLst>
              <a:gd name="adj" fmla="val 512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76265BCE-24A4-41FC-80A6-D745032ADEFF}"/>
              </a:ext>
            </a:extLst>
          </p:cNvPr>
          <p:cNvSpPr/>
          <p:nvPr/>
        </p:nvSpPr>
        <p:spPr>
          <a:xfrm>
            <a:off x="2241527" y="44904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富士通様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DAB0DB14-5997-CBD8-5BE7-44FFCD604EF6}"/>
              </a:ext>
            </a:extLst>
          </p:cNvPr>
          <p:cNvSpPr/>
          <p:nvPr/>
        </p:nvSpPr>
        <p:spPr>
          <a:xfrm>
            <a:off x="2782545" y="4886400"/>
            <a:ext cx="1224000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店舗内入金機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棒金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85E3AC6-4208-18F7-010B-A8EDB0573BD4}"/>
              </a:ext>
            </a:extLst>
          </p:cNvPr>
          <p:cNvSpPr/>
          <p:nvPr/>
        </p:nvSpPr>
        <p:spPr>
          <a:xfrm>
            <a:off x="434110" y="6239851"/>
            <a:ext cx="9107054" cy="354298"/>
          </a:xfrm>
          <a:prstGeom prst="rect">
            <a:avLst/>
          </a:prstGeom>
          <a:solidFill>
            <a:srgbClr val="FBE3D6">
              <a:alpha val="20000"/>
            </a:srgbClr>
          </a:solidFill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４月導入時点には問題があり、オフライン対応方向に対応している</a:t>
            </a:r>
          </a:p>
        </p:txBody>
      </p:sp>
      <p:sp>
        <p:nvSpPr>
          <p:cNvPr id="30" name="正方形/長方形 4">
            <a:extLst>
              <a:ext uri="{FF2B5EF4-FFF2-40B4-BE49-F238E27FC236}">
                <a16:creationId xmlns:a16="http://schemas.microsoft.com/office/drawing/2014/main" id="{0BB2812C-E8CF-A64F-19D8-39F4EF751A54}"/>
              </a:ext>
            </a:extLst>
          </p:cNvPr>
          <p:cNvSpPr/>
          <p:nvPr/>
        </p:nvSpPr>
        <p:spPr>
          <a:xfrm>
            <a:off x="1603331" y="3197801"/>
            <a:ext cx="808669" cy="4281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変換サーバ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9" name="直線コネクタ 54">
            <a:extLst>
              <a:ext uri="{FF2B5EF4-FFF2-40B4-BE49-F238E27FC236}">
                <a16:creationId xmlns:a16="http://schemas.microsoft.com/office/drawing/2014/main" id="{343F7E1E-DF1F-310E-EFC9-7B75CC88A7F4}"/>
              </a:ext>
            </a:extLst>
          </p:cNvPr>
          <p:cNvCxnSpPr>
            <a:cxnSpLocks/>
            <a:stCxn id="11" idx="0"/>
            <a:endCxn id="30" idx="1"/>
          </p:cNvCxnSpPr>
          <p:nvPr/>
        </p:nvCxnSpPr>
        <p:spPr>
          <a:xfrm>
            <a:off x="1309043" y="3405902"/>
            <a:ext cx="294288" cy="5989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31">
            <a:extLst>
              <a:ext uri="{FF2B5EF4-FFF2-40B4-BE49-F238E27FC236}">
                <a16:creationId xmlns:a16="http://schemas.microsoft.com/office/drawing/2014/main" id="{74858835-C03F-DD10-8F8E-DD593DAFD037}"/>
              </a:ext>
            </a:extLst>
          </p:cNvPr>
          <p:cNvCxnSpPr>
            <a:cxnSpLocks/>
            <a:stCxn id="5" idx="1"/>
            <a:endCxn id="30" idx="0"/>
          </p:cNvCxnSpPr>
          <p:nvPr/>
        </p:nvCxnSpPr>
        <p:spPr>
          <a:xfrm rot="10800000" flipV="1">
            <a:off x="2007666" y="2753999"/>
            <a:ext cx="944334" cy="443801"/>
          </a:xfrm>
          <a:prstGeom prst="bentConnector2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31">
            <a:extLst>
              <a:ext uri="{FF2B5EF4-FFF2-40B4-BE49-F238E27FC236}">
                <a16:creationId xmlns:a16="http://schemas.microsoft.com/office/drawing/2014/main" id="{10206F92-63A9-4E8B-E3D9-C63EF09CA133}"/>
              </a:ext>
            </a:extLst>
          </p:cNvPr>
          <p:cNvCxnSpPr>
            <a:cxnSpLocks/>
            <a:stCxn id="6" idx="1"/>
            <a:endCxn id="30" idx="2"/>
          </p:cNvCxnSpPr>
          <p:nvPr/>
        </p:nvCxnSpPr>
        <p:spPr>
          <a:xfrm rot="10800000">
            <a:off x="2007666" y="3625982"/>
            <a:ext cx="944334" cy="352019"/>
          </a:xfrm>
          <a:prstGeom prst="bentConnector2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四角形: 角を丸くする 124">
            <a:extLst>
              <a:ext uri="{FF2B5EF4-FFF2-40B4-BE49-F238E27FC236}">
                <a16:creationId xmlns:a16="http://schemas.microsoft.com/office/drawing/2014/main" id="{59DA5A35-CBE5-4C97-1696-06E7BAA28C00}"/>
              </a:ext>
            </a:extLst>
          </p:cNvPr>
          <p:cNvSpPr/>
          <p:nvPr/>
        </p:nvSpPr>
        <p:spPr>
          <a:xfrm>
            <a:off x="1435491" y="3034018"/>
            <a:ext cx="8056769" cy="1411484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6" name="四角形: 角を丸くする 125">
            <a:extLst>
              <a:ext uri="{FF2B5EF4-FFF2-40B4-BE49-F238E27FC236}">
                <a16:creationId xmlns:a16="http://schemas.microsoft.com/office/drawing/2014/main" id="{7F17464F-C67E-026E-0DDE-020479CD4368}"/>
              </a:ext>
            </a:extLst>
          </p:cNvPr>
          <p:cNvSpPr/>
          <p:nvPr/>
        </p:nvSpPr>
        <p:spPr>
          <a:xfrm>
            <a:off x="1755665" y="2848464"/>
            <a:ext cx="1080000" cy="28800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オフライン対応</a:t>
            </a:r>
            <a:endParaRPr kumimoji="1" lang="en-US" altLang="ja-JP" sz="9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開発領域</a:t>
            </a:r>
          </a:p>
        </p:txBody>
      </p:sp>
      <p:sp>
        <p:nvSpPr>
          <p:cNvPr id="28" name="テキスト ボックス 64">
            <a:extLst>
              <a:ext uri="{FF2B5EF4-FFF2-40B4-BE49-F238E27FC236}">
                <a16:creationId xmlns:a16="http://schemas.microsoft.com/office/drawing/2014/main" id="{C0F184D6-8B4C-11D8-E490-FD37F8B2A1C2}"/>
              </a:ext>
            </a:extLst>
          </p:cNvPr>
          <p:cNvSpPr txBox="1"/>
          <p:nvPr/>
        </p:nvSpPr>
        <p:spPr>
          <a:xfrm>
            <a:off x="3625333" y="3526219"/>
            <a:ext cx="1105131" cy="279042"/>
          </a:xfrm>
          <a:prstGeom prst="rect">
            <a:avLst/>
          </a:prstGeom>
          <a:solidFill>
            <a:srgbClr val="FF0000">
              <a:alpha val="20000"/>
            </a:srgb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1000" b="1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インフラ見直し中</a:t>
            </a:r>
          </a:p>
        </p:txBody>
      </p:sp>
      <p:sp>
        <p:nvSpPr>
          <p:cNvPr id="18" name="&quot;禁止&quot;マーク 94">
            <a:extLst>
              <a:ext uri="{FF2B5EF4-FFF2-40B4-BE49-F238E27FC236}">
                <a16:creationId xmlns:a16="http://schemas.microsoft.com/office/drawing/2014/main" id="{C38D2613-858B-5BD1-FA16-DA0D149FF504}"/>
              </a:ext>
            </a:extLst>
          </p:cNvPr>
          <p:cNvSpPr/>
          <p:nvPr/>
        </p:nvSpPr>
        <p:spPr>
          <a:xfrm>
            <a:off x="7039262" y="3176782"/>
            <a:ext cx="274320" cy="274320"/>
          </a:xfrm>
          <a:prstGeom prst="noSmoking">
            <a:avLst/>
          </a:prstGeom>
          <a:solidFill>
            <a:srgbClr val="FF0000">
              <a:alpha val="50196"/>
            </a:srgbClr>
          </a:solidFill>
          <a:ln>
            <a:solidFill>
              <a:srgbClr val="FBE3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正方形/長方形 8">
            <a:extLst>
              <a:ext uri="{FF2B5EF4-FFF2-40B4-BE49-F238E27FC236}">
                <a16:creationId xmlns:a16="http://schemas.microsoft.com/office/drawing/2014/main" id="{9E748E81-1177-CEFA-5BE6-632FE7CBFFA9}"/>
              </a:ext>
            </a:extLst>
          </p:cNvPr>
          <p:cNvSpPr/>
          <p:nvPr/>
        </p:nvSpPr>
        <p:spPr>
          <a:xfrm>
            <a:off x="7166773" y="3759801"/>
            <a:ext cx="1417445" cy="46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USMH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様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Windows-POS</a:t>
            </a: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第２期：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ignicaPOS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</a:p>
        </p:txBody>
      </p:sp>
      <p:sp>
        <p:nvSpPr>
          <p:cNvPr id="26" name="雲 93">
            <a:extLst>
              <a:ext uri="{FF2B5EF4-FFF2-40B4-BE49-F238E27FC236}">
                <a16:creationId xmlns:a16="http://schemas.microsoft.com/office/drawing/2014/main" id="{9E89BC4F-1427-B101-4DE0-52D636DB3381}"/>
              </a:ext>
            </a:extLst>
          </p:cNvPr>
          <p:cNvSpPr/>
          <p:nvPr/>
        </p:nvSpPr>
        <p:spPr>
          <a:xfrm>
            <a:off x="8170942" y="3735249"/>
            <a:ext cx="1224000" cy="4680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オフライン対応</a:t>
            </a:r>
          </a:p>
        </p:txBody>
      </p:sp>
      <p:sp>
        <p:nvSpPr>
          <p:cNvPr id="27" name="雲 95">
            <a:extLst>
              <a:ext uri="{FF2B5EF4-FFF2-40B4-BE49-F238E27FC236}">
                <a16:creationId xmlns:a16="http://schemas.microsoft.com/office/drawing/2014/main" id="{18DF8CD3-FE4A-096A-AAB3-E26A27B894FE}"/>
              </a:ext>
            </a:extLst>
          </p:cNvPr>
          <p:cNvSpPr/>
          <p:nvPr/>
        </p:nvSpPr>
        <p:spPr>
          <a:xfrm>
            <a:off x="8142868" y="3180474"/>
            <a:ext cx="1224000" cy="4680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中止</a:t>
            </a:r>
          </a:p>
        </p:txBody>
      </p:sp>
    </p:spTree>
    <p:extLst>
      <p:ext uri="{BB962C8B-B14F-4D97-AF65-F5344CB8AC3E}">
        <p14:creationId xmlns:p14="http://schemas.microsoft.com/office/powerpoint/2010/main" val="37803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正方形/長方形 48">
            <a:extLst>
              <a:ext uri="{FF2B5EF4-FFF2-40B4-BE49-F238E27FC236}">
                <a16:creationId xmlns:a16="http://schemas.microsoft.com/office/drawing/2014/main" id="{7C12B7AD-A5F4-4BB1-E83D-D50E81A86367}"/>
              </a:ext>
            </a:extLst>
          </p:cNvPr>
          <p:cNvSpPr/>
          <p:nvPr/>
        </p:nvSpPr>
        <p:spPr>
          <a:xfrm>
            <a:off x="432000" y="1721872"/>
            <a:ext cx="9144000" cy="4848128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0EA99F-CB8B-1383-DD97-B4E86DB6CB1E}"/>
              </a:ext>
            </a:extLst>
          </p:cNvPr>
          <p:cNvSpPr/>
          <p:nvPr/>
        </p:nvSpPr>
        <p:spPr>
          <a:xfrm>
            <a:off x="208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03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5AF847-C1D7-DC50-8306-7F02658FBE8D}"/>
              </a:ext>
            </a:extLst>
          </p:cNvPr>
          <p:cNvSpPr/>
          <p:nvPr/>
        </p:nvSpPr>
        <p:spPr>
          <a:xfrm>
            <a:off x="266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04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7981DC-39E2-C90F-9E8D-7C1900AC884B}"/>
              </a:ext>
            </a:extLst>
          </p:cNvPr>
          <p:cNvSpPr/>
          <p:nvPr/>
        </p:nvSpPr>
        <p:spPr>
          <a:xfrm>
            <a:off x="324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AABE30-F662-3C9D-1A9F-C9F34CDA3106}"/>
              </a:ext>
            </a:extLst>
          </p:cNvPr>
          <p:cNvSpPr/>
          <p:nvPr/>
        </p:nvSpPr>
        <p:spPr>
          <a:xfrm>
            <a:off x="381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9F0D16C-3A3C-5BB9-E418-E613EDBE8A56}"/>
              </a:ext>
            </a:extLst>
          </p:cNvPr>
          <p:cNvSpPr/>
          <p:nvPr/>
        </p:nvSpPr>
        <p:spPr>
          <a:xfrm>
            <a:off x="439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07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B6CEABE-BD26-C400-4E2A-3F63E6326C05}"/>
              </a:ext>
            </a:extLst>
          </p:cNvPr>
          <p:cNvSpPr/>
          <p:nvPr/>
        </p:nvSpPr>
        <p:spPr>
          <a:xfrm>
            <a:off x="496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08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F009453-3D6D-F48B-A9B3-344A5F16A126}"/>
              </a:ext>
            </a:extLst>
          </p:cNvPr>
          <p:cNvSpPr/>
          <p:nvPr/>
        </p:nvSpPr>
        <p:spPr>
          <a:xfrm>
            <a:off x="554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09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86FC49F-1974-D5D5-3C67-0B4ECD3CEE34}"/>
              </a:ext>
            </a:extLst>
          </p:cNvPr>
          <p:cNvSpPr/>
          <p:nvPr/>
        </p:nvSpPr>
        <p:spPr>
          <a:xfrm>
            <a:off x="612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F790D87-5C71-A9B8-E4C7-11D69AD8D68A}"/>
              </a:ext>
            </a:extLst>
          </p:cNvPr>
          <p:cNvSpPr/>
          <p:nvPr/>
        </p:nvSpPr>
        <p:spPr>
          <a:xfrm>
            <a:off x="669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D823554-B1CF-1F37-F289-BEBFCF8AFA37}"/>
              </a:ext>
            </a:extLst>
          </p:cNvPr>
          <p:cNvSpPr/>
          <p:nvPr/>
        </p:nvSpPr>
        <p:spPr>
          <a:xfrm>
            <a:off x="727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0E2E6C6-A5A8-C6E9-7F51-3C6A152849C9}"/>
              </a:ext>
            </a:extLst>
          </p:cNvPr>
          <p:cNvSpPr/>
          <p:nvPr/>
        </p:nvSpPr>
        <p:spPr>
          <a:xfrm>
            <a:off x="784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C7175BD-80C9-0352-B192-3E29413D2323}"/>
              </a:ext>
            </a:extLst>
          </p:cNvPr>
          <p:cNvSpPr/>
          <p:nvPr/>
        </p:nvSpPr>
        <p:spPr>
          <a:xfrm>
            <a:off x="842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28E2D72-709B-99B3-E78A-7D1BAAC12D71}"/>
              </a:ext>
            </a:extLst>
          </p:cNvPr>
          <p:cNvSpPr/>
          <p:nvPr/>
        </p:nvSpPr>
        <p:spPr>
          <a:xfrm>
            <a:off x="900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A3BAD99-1853-1CD6-0B32-B3D3FF5BE522}"/>
              </a:ext>
            </a:extLst>
          </p:cNvPr>
          <p:cNvSpPr/>
          <p:nvPr/>
        </p:nvSpPr>
        <p:spPr>
          <a:xfrm>
            <a:off x="719999" y="1950350"/>
            <a:ext cx="1368000" cy="432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B2455D78-1DE3-3087-1635-BE1B0BFA99E5}"/>
              </a:ext>
            </a:extLst>
          </p:cNvPr>
          <p:cNvSpPr/>
          <p:nvPr/>
        </p:nvSpPr>
        <p:spPr>
          <a:xfrm>
            <a:off x="3149890" y="1044000"/>
            <a:ext cx="180000" cy="181236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75A404F1-5172-DA0A-780A-4757645C31F4}"/>
              </a:ext>
            </a:extLst>
          </p:cNvPr>
          <p:cNvCxnSpPr>
            <a:cxnSpLocks/>
          </p:cNvCxnSpPr>
          <p:nvPr/>
        </p:nvCxnSpPr>
        <p:spPr>
          <a:xfrm>
            <a:off x="2111950" y="2255221"/>
            <a:ext cx="22860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014704B-0027-671D-3831-1924271921A8}"/>
              </a:ext>
            </a:extLst>
          </p:cNvPr>
          <p:cNvSpPr txBox="1"/>
          <p:nvPr/>
        </p:nvSpPr>
        <p:spPr>
          <a:xfrm>
            <a:off x="2082682" y="2294477"/>
            <a:ext cx="1727002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・要件微調整・課題対応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29EF71EE-7D56-B7CF-59A3-52D9EFF12DDD}"/>
              </a:ext>
            </a:extLst>
          </p:cNvPr>
          <p:cNvSpPr/>
          <p:nvPr/>
        </p:nvSpPr>
        <p:spPr>
          <a:xfrm>
            <a:off x="719999" y="2875420"/>
            <a:ext cx="1368000" cy="3639118"/>
          </a:xfrm>
          <a:prstGeom prst="roundRect">
            <a:avLst>
              <a:gd name="adj" fmla="val 9704"/>
            </a:avLst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オフライン対応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</a:p>
          <a:p>
            <a:pPr algn="ctr"/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3B1EC4E4-2DEA-8D1A-2C79-35FAA0420649}"/>
              </a:ext>
            </a:extLst>
          </p:cNvPr>
          <p:cNvSpPr/>
          <p:nvPr/>
        </p:nvSpPr>
        <p:spPr>
          <a:xfrm>
            <a:off x="719999" y="2413773"/>
            <a:ext cx="1368000" cy="432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E2597B2-17CA-BFD1-F615-24CBD75AF173}"/>
              </a:ext>
            </a:extLst>
          </p:cNvPr>
          <p:cNvSpPr txBox="1"/>
          <p:nvPr/>
        </p:nvSpPr>
        <p:spPr>
          <a:xfrm>
            <a:off x="5912563" y="2311654"/>
            <a:ext cx="339109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いなげや様店舗導入展開</a:t>
            </a:r>
            <a:endParaRPr kumimoji="1"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D47C3D21-70FD-E872-988D-0EE91840C2D1}"/>
              </a:ext>
            </a:extLst>
          </p:cNvPr>
          <p:cNvCxnSpPr>
            <a:cxnSpLocks/>
          </p:cNvCxnSpPr>
          <p:nvPr/>
        </p:nvCxnSpPr>
        <p:spPr>
          <a:xfrm>
            <a:off x="2117682" y="1958869"/>
            <a:ext cx="740664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四角形: 角を丸くする 73">
            <a:extLst>
              <a:ext uri="{FF2B5EF4-FFF2-40B4-BE49-F238E27FC236}">
                <a16:creationId xmlns:a16="http://schemas.microsoft.com/office/drawing/2014/main" id="{0C57D113-E482-BAFA-E74D-5F4F8FB8D045}"/>
              </a:ext>
            </a:extLst>
          </p:cNvPr>
          <p:cNvSpPr/>
          <p:nvPr/>
        </p:nvSpPr>
        <p:spPr>
          <a:xfrm>
            <a:off x="3706510" y="4572133"/>
            <a:ext cx="3070753" cy="932404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売中</a:t>
            </a:r>
          </a:p>
        </p:txBody>
      </p:sp>
      <p:sp>
        <p:nvSpPr>
          <p:cNvPr id="68" name="四角形: 角を丸くする 73">
            <a:extLst>
              <a:ext uri="{FF2B5EF4-FFF2-40B4-BE49-F238E27FC236}">
                <a16:creationId xmlns:a16="http://schemas.microsoft.com/office/drawing/2014/main" id="{30FEF3CC-39E7-DE29-9D2F-F382DEE63BA5}"/>
              </a:ext>
            </a:extLst>
          </p:cNvPr>
          <p:cNvSpPr/>
          <p:nvPr/>
        </p:nvSpPr>
        <p:spPr>
          <a:xfrm>
            <a:off x="2531425" y="2822815"/>
            <a:ext cx="3869376" cy="1712760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売前</a:t>
            </a:r>
          </a:p>
        </p:txBody>
      </p:sp>
      <p:sp>
        <p:nvSpPr>
          <p:cNvPr id="19" name="星: 5 pt 18">
            <a:extLst>
              <a:ext uri="{FF2B5EF4-FFF2-40B4-BE49-F238E27FC236}">
                <a16:creationId xmlns:a16="http://schemas.microsoft.com/office/drawing/2014/main" id="{99900773-58F6-A64F-4562-06552473BFBA}"/>
              </a:ext>
            </a:extLst>
          </p:cNvPr>
          <p:cNvSpPr/>
          <p:nvPr/>
        </p:nvSpPr>
        <p:spPr>
          <a:xfrm>
            <a:off x="5809047" y="1044000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3" name="直線矢印コネクタ 23">
            <a:extLst>
              <a:ext uri="{FF2B5EF4-FFF2-40B4-BE49-F238E27FC236}">
                <a16:creationId xmlns:a16="http://schemas.microsoft.com/office/drawing/2014/main" id="{4B6A342A-EE30-433F-7345-D9F13CF3EB61}"/>
              </a:ext>
            </a:extLst>
          </p:cNvPr>
          <p:cNvCxnSpPr>
            <a:cxnSpLocks/>
          </p:cNvCxnSpPr>
          <p:nvPr/>
        </p:nvCxnSpPr>
        <p:spPr>
          <a:xfrm flipV="1">
            <a:off x="2682927" y="2981651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5">
            <a:extLst>
              <a:ext uri="{FF2B5EF4-FFF2-40B4-BE49-F238E27FC236}">
                <a16:creationId xmlns:a16="http://schemas.microsoft.com/office/drawing/2014/main" id="{CF2B56B3-0CC6-A407-8792-5E4D60F7E35D}"/>
              </a:ext>
            </a:extLst>
          </p:cNvPr>
          <p:cNvCxnSpPr>
            <a:cxnSpLocks/>
          </p:cNvCxnSpPr>
          <p:nvPr/>
        </p:nvCxnSpPr>
        <p:spPr>
          <a:xfrm>
            <a:off x="9509492" y="1222550"/>
            <a:ext cx="0" cy="54000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星: 5 pt 18">
            <a:extLst>
              <a:ext uri="{FF2B5EF4-FFF2-40B4-BE49-F238E27FC236}">
                <a16:creationId xmlns:a16="http://schemas.microsoft.com/office/drawing/2014/main" id="{95CB59A4-868B-94FD-C3C9-BB90C07E041A}"/>
              </a:ext>
            </a:extLst>
          </p:cNvPr>
          <p:cNvSpPr/>
          <p:nvPr/>
        </p:nvSpPr>
        <p:spPr>
          <a:xfrm>
            <a:off x="9417019" y="1048295"/>
            <a:ext cx="180000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5" name="テキスト ボックス 35">
            <a:extLst>
              <a:ext uri="{FF2B5EF4-FFF2-40B4-BE49-F238E27FC236}">
                <a16:creationId xmlns:a16="http://schemas.microsoft.com/office/drawing/2014/main" id="{7D11244A-8C79-7942-67E8-525C3D0CCC5B}"/>
              </a:ext>
            </a:extLst>
          </p:cNvPr>
          <p:cNvSpPr txBox="1"/>
          <p:nvPr/>
        </p:nvSpPr>
        <p:spPr>
          <a:xfrm>
            <a:off x="2677070" y="3019751"/>
            <a:ext cx="197594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Scan&amp;Go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からマスタのコピー</a:t>
            </a:r>
          </a:p>
        </p:txBody>
      </p:sp>
      <p:sp>
        <p:nvSpPr>
          <p:cNvPr id="143" name="テキスト ボックス 24">
            <a:extLst>
              <a:ext uri="{FF2B5EF4-FFF2-40B4-BE49-F238E27FC236}">
                <a16:creationId xmlns:a16="http://schemas.microsoft.com/office/drawing/2014/main" id="{51EE7B60-54B7-41B1-1F51-58CF749D8F38}"/>
              </a:ext>
            </a:extLst>
          </p:cNvPr>
          <p:cNvSpPr txBox="1"/>
          <p:nvPr/>
        </p:nvSpPr>
        <p:spPr>
          <a:xfrm>
            <a:off x="8728966" y="844168"/>
            <a:ext cx="988451" cy="21676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2.0</a:t>
            </a:r>
          </a:p>
        </p:txBody>
      </p:sp>
      <p:sp>
        <p:nvSpPr>
          <p:cNvPr id="147" name="テキスト ボックス 24">
            <a:extLst>
              <a:ext uri="{FF2B5EF4-FFF2-40B4-BE49-F238E27FC236}">
                <a16:creationId xmlns:a16="http://schemas.microsoft.com/office/drawing/2014/main" id="{6E9E3B5C-4750-D5D7-DD62-98E39FD6DA11}"/>
              </a:ext>
            </a:extLst>
          </p:cNvPr>
          <p:cNvSpPr txBox="1"/>
          <p:nvPr/>
        </p:nvSpPr>
        <p:spPr>
          <a:xfrm>
            <a:off x="4457425" y="873594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いなげや様オフライン対応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2" name="星: 5 pt 18">
            <a:extLst>
              <a:ext uri="{FF2B5EF4-FFF2-40B4-BE49-F238E27FC236}">
                <a16:creationId xmlns:a16="http://schemas.microsoft.com/office/drawing/2014/main" id="{E40832DD-3A86-ED90-ACD4-70DA9465D046}"/>
              </a:ext>
            </a:extLst>
          </p:cNvPr>
          <p:cNvSpPr/>
          <p:nvPr/>
        </p:nvSpPr>
        <p:spPr>
          <a:xfrm>
            <a:off x="5454829" y="1048892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3" name="テキスト ボックス 24">
            <a:extLst>
              <a:ext uri="{FF2B5EF4-FFF2-40B4-BE49-F238E27FC236}">
                <a16:creationId xmlns:a16="http://schemas.microsoft.com/office/drawing/2014/main" id="{F496D723-D3F2-585C-396F-CB48EDDB786C}"/>
              </a:ext>
            </a:extLst>
          </p:cNvPr>
          <p:cNvSpPr txBox="1"/>
          <p:nvPr/>
        </p:nvSpPr>
        <p:spPr>
          <a:xfrm>
            <a:off x="6120000" y="869735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LABO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店リリース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35">
            <a:extLst>
              <a:ext uri="{FF2B5EF4-FFF2-40B4-BE49-F238E27FC236}">
                <a16:creationId xmlns:a16="http://schemas.microsoft.com/office/drawing/2014/main" id="{0CACF339-176F-CFAF-DA5A-F416CB7D539E}"/>
              </a:ext>
            </a:extLst>
          </p:cNvPr>
          <p:cNvSpPr txBox="1"/>
          <p:nvPr/>
        </p:nvSpPr>
        <p:spPr>
          <a:xfrm>
            <a:off x="2116100" y="1990321"/>
            <a:ext cx="339109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・本番</a:t>
            </a:r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導入対応</a:t>
            </a:r>
            <a:endParaRPr kumimoji="1"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7B06C4A0-D681-B2F8-9FB1-9CADB32AB113}"/>
              </a:ext>
            </a:extLst>
          </p:cNvPr>
          <p:cNvSpPr txBox="1">
            <a:spLocks/>
          </p:cNvSpPr>
          <p:nvPr/>
        </p:nvSpPr>
        <p:spPr>
          <a:xfrm>
            <a:off x="360000" y="288000"/>
            <a:ext cx="8543925" cy="43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400" b="1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kumimoji="1" lang="ja-JP" altLang="en-US"/>
              <a:t>全体スケジュール</a:t>
            </a:r>
            <a:endParaRPr lang="ja-JP" altLang="en-US"/>
          </a:p>
        </p:txBody>
      </p:sp>
      <p:cxnSp>
        <p:nvCxnSpPr>
          <p:cNvPr id="33" name="直線矢印コネクタ 23">
            <a:extLst>
              <a:ext uri="{FF2B5EF4-FFF2-40B4-BE49-F238E27FC236}">
                <a16:creationId xmlns:a16="http://schemas.microsoft.com/office/drawing/2014/main" id="{CB631DC0-3148-944F-ADA1-FE34210423C9}"/>
              </a:ext>
            </a:extLst>
          </p:cNvPr>
          <p:cNvCxnSpPr>
            <a:cxnSpLocks/>
          </p:cNvCxnSpPr>
          <p:nvPr/>
        </p:nvCxnSpPr>
        <p:spPr>
          <a:xfrm flipV="1">
            <a:off x="5912563" y="2256685"/>
            <a:ext cx="3219109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64">
            <a:extLst>
              <a:ext uri="{FF2B5EF4-FFF2-40B4-BE49-F238E27FC236}">
                <a16:creationId xmlns:a16="http://schemas.microsoft.com/office/drawing/2014/main" id="{269F57A3-8932-C4C5-B4C5-8FF96C967FB9}"/>
              </a:ext>
            </a:extLst>
          </p:cNvPr>
          <p:cNvSpPr txBox="1"/>
          <p:nvPr/>
        </p:nvSpPr>
        <p:spPr>
          <a:xfrm>
            <a:off x="6132150" y="2521877"/>
            <a:ext cx="3310836" cy="203093"/>
          </a:xfrm>
          <a:prstGeom prst="rect">
            <a:avLst/>
          </a:prstGeom>
          <a:solidFill>
            <a:srgbClr val="FF0000">
              <a:alpha val="20000"/>
            </a:srgb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未定</a:t>
            </a:r>
          </a:p>
        </p:txBody>
      </p:sp>
      <p:cxnSp>
        <p:nvCxnSpPr>
          <p:cNvPr id="37" name="直線矢印コネクタ 23">
            <a:extLst>
              <a:ext uri="{FF2B5EF4-FFF2-40B4-BE49-F238E27FC236}">
                <a16:creationId xmlns:a16="http://schemas.microsoft.com/office/drawing/2014/main" id="{01F5B119-458E-0237-E50E-99AED472CF51}"/>
              </a:ext>
            </a:extLst>
          </p:cNvPr>
          <p:cNvCxnSpPr>
            <a:cxnSpLocks/>
          </p:cNvCxnSpPr>
          <p:nvPr/>
        </p:nvCxnSpPr>
        <p:spPr>
          <a:xfrm flipV="1">
            <a:off x="2682927" y="3317258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5">
            <a:extLst>
              <a:ext uri="{FF2B5EF4-FFF2-40B4-BE49-F238E27FC236}">
                <a16:creationId xmlns:a16="http://schemas.microsoft.com/office/drawing/2014/main" id="{D895E519-F69C-71CD-655A-822AD1ACC9A3}"/>
              </a:ext>
            </a:extLst>
          </p:cNvPr>
          <p:cNvSpPr txBox="1"/>
          <p:nvPr/>
        </p:nvSpPr>
        <p:spPr>
          <a:xfrm>
            <a:off x="2677070" y="3355358"/>
            <a:ext cx="1975944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・２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外部連携（マスタ）</a:t>
            </a:r>
          </a:p>
        </p:txBody>
      </p:sp>
      <p:cxnSp>
        <p:nvCxnSpPr>
          <p:cNvPr id="39" name="直線矢印コネクタ 23">
            <a:extLst>
              <a:ext uri="{FF2B5EF4-FFF2-40B4-BE49-F238E27FC236}">
                <a16:creationId xmlns:a16="http://schemas.microsoft.com/office/drawing/2014/main" id="{01E6F134-D733-C91B-717C-EFE76738CCA4}"/>
              </a:ext>
            </a:extLst>
          </p:cNvPr>
          <p:cNvCxnSpPr>
            <a:cxnSpLocks/>
          </p:cNvCxnSpPr>
          <p:nvPr/>
        </p:nvCxnSpPr>
        <p:spPr>
          <a:xfrm flipV="1">
            <a:off x="3260777" y="3668531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四角形: 角を丸くする 73">
            <a:extLst>
              <a:ext uri="{FF2B5EF4-FFF2-40B4-BE49-F238E27FC236}">
                <a16:creationId xmlns:a16="http://schemas.microsoft.com/office/drawing/2014/main" id="{8E320BC2-D236-69EA-7925-BE318C5A4786}"/>
              </a:ext>
            </a:extLst>
          </p:cNvPr>
          <p:cNvSpPr/>
          <p:nvPr/>
        </p:nvSpPr>
        <p:spPr>
          <a:xfrm>
            <a:off x="4327308" y="5550833"/>
            <a:ext cx="2791040" cy="999036"/>
          </a:xfrm>
          <a:prstGeom prst="roundRect">
            <a:avLst>
              <a:gd name="adj" fmla="val 3257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売後</a:t>
            </a:r>
          </a:p>
        </p:txBody>
      </p:sp>
      <p:sp>
        <p:nvSpPr>
          <p:cNvPr id="40" name="テキスト ボックス 35">
            <a:extLst>
              <a:ext uri="{FF2B5EF4-FFF2-40B4-BE49-F238E27FC236}">
                <a16:creationId xmlns:a16="http://schemas.microsoft.com/office/drawing/2014/main" id="{1C6B4A13-D8C4-9BA7-CBDF-BC0EF760F662}"/>
              </a:ext>
            </a:extLst>
          </p:cNvPr>
          <p:cNvSpPr txBox="1"/>
          <p:nvPr/>
        </p:nvSpPr>
        <p:spPr>
          <a:xfrm>
            <a:off x="3254920" y="3706631"/>
            <a:ext cx="12025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・３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マスタコンバート</a:t>
            </a:r>
          </a:p>
        </p:txBody>
      </p:sp>
      <p:cxnSp>
        <p:nvCxnSpPr>
          <p:cNvPr id="41" name="直線矢印コネクタ 23">
            <a:extLst>
              <a:ext uri="{FF2B5EF4-FFF2-40B4-BE49-F238E27FC236}">
                <a16:creationId xmlns:a16="http://schemas.microsoft.com/office/drawing/2014/main" id="{5DF9BCB9-2C37-CDD2-336A-1F9FB9CCCC3F}"/>
              </a:ext>
            </a:extLst>
          </p:cNvPr>
          <p:cNvCxnSpPr>
            <a:cxnSpLocks/>
          </p:cNvCxnSpPr>
          <p:nvPr/>
        </p:nvCxnSpPr>
        <p:spPr>
          <a:xfrm flipV="1">
            <a:off x="3254427" y="3985233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35">
            <a:extLst>
              <a:ext uri="{FF2B5EF4-FFF2-40B4-BE49-F238E27FC236}">
                <a16:creationId xmlns:a16="http://schemas.microsoft.com/office/drawing/2014/main" id="{877AB5D2-8E1A-B8B1-41DD-DC56F88FFBD1}"/>
              </a:ext>
            </a:extLst>
          </p:cNvPr>
          <p:cNvSpPr txBox="1"/>
          <p:nvPr/>
        </p:nvSpPr>
        <p:spPr>
          <a:xfrm>
            <a:off x="3248570" y="4023333"/>
            <a:ext cx="12025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・４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マスタ作成</a:t>
            </a:r>
          </a:p>
        </p:txBody>
      </p:sp>
      <p:cxnSp>
        <p:nvCxnSpPr>
          <p:cNvPr id="44" name="直線矢印コネクタ 23">
            <a:extLst>
              <a:ext uri="{FF2B5EF4-FFF2-40B4-BE49-F238E27FC236}">
                <a16:creationId xmlns:a16="http://schemas.microsoft.com/office/drawing/2014/main" id="{6F5F5433-8ED1-889B-D1B7-51222AA70EA3}"/>
              </a:ext>
            </a:extLst>
          </p:cNvPr>
          <p:cNvCxnSpPr>
            <a:cxnSpLocks/>
          </p:cNvCxnSpPr>
          <p:nvPr/>
        </p:nvCxnSpPr>
        <p:spPr>
          <a:xfrm flipV="1">
            <a:off x="3254427" y="4301935"/>
            <a:ext cx="109728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35">
            <a:extLst>
              <a:ext uri="{FF2B5EF4-FFF2-40B4-BE49-F238E27FC236}">
                <a16:creationId xmlns:a16="http://schemas.microsoft.com/office/drawing/2014/main" id="{4E3A4D67-0C31-3256-2085-AB8B6E718D05}"/>
              </a:ext>
            </a:extLst>
          </p:cNvPr>
          <p:cNvSpPr txBox="1"/>
          <p:nvPr/>
        </p:nvSpPr>
        <p:spPr>
          <a:xfrm>
            <a:off x="3248570" y="4340035"/>
            <a:ext cx="12025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・５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アプリ連携</a:t>
            </a:r>
          </a:p>
        </p:txBody>
      </p:sp>
      <p:cxnSp>
        <p:nvCxnSpPr>
          <p:cNvPr id="46" name="直線矢印コネクタ 23">
            <a:extLst>
              <a:ext uri="{FF2B5EF4-FFF2-40B4-BE49-F238E27FC236}">
                <a16:creationId xmlns:a16="http://schemas.microsoft.com/office/drawing/2014/main" id="{3229E91C-352A-440E-9C1D-7CA8436C9C5E}"/>
              </a:ext>
            </a:extLst>
          </p:cNvPr>
          <p:cNvCxnSpPr>
            <a:cxnSpLocks/>
          </p:cNvCxnSpPr>
          <p:nvPr/>
        </p:nvCxnSpPr>
        <p:spPr>
          <a:xfrm flipV="1">
            <a:off x="3842648" y="4639187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35">
            <a:extLst>
              <a:ext uri="{FF2B5EF4-FFF2-40B4-BE49-F238E27FC236}">
                <a16:creationId xmlns:a16="http://schemas.microsoft.com/office/drawing/2014/main" id="{68EE1B27-DA51-10A3-B678-C3336AD04E3F}"/>
              </a:ext>
            </a:extLst>
          </p:cNvPr>
          <p:cNvSpPr txBox="1"/>
          <p:nvPr/>
        </p:nvSpPr>
        <p:spPr>
          <a:xfrm>
            <a:off x="3836791" y="4677287"/>
            <a:ext cx="11210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・６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売価生成</a:t>
            </a:r>
          </a:p>
        </p:txBody>
      </p:sp>
      <p:cxnSp>
        <p:nvCxnSpPr>
          <p:cNvPr id="48" name="直線矢印コネクタ 23">
            <a:extLst>
              <a:ext uri="{FF2B5EF4-FFF2-40B4-BE49-F238E27FC236}">
                <a16:creationId xmlns:a16="http://schemas.microsoft.com/office/drawing/2014/main" id="{358A2488-E4E3-1C1E-0090-97B7358D1C78}"/>
              </a:ext>
            </a:extLst>
          </p:cNvPr>
          <p:cNvCxnSpPr>
            <a:cxnSpLocks/>
          </p:cNvCxnSpPr>
          <p:nvPr/>
        </p:nvCxnSpPr>
        <p:spPr>
          <a:xfrm flipV="1">
            <a:off x="3839640" y="4970814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35">
            <a:extLst>
              <a:ext uri="{FF2B5EF4-FFF2-40B4-BE49-F238E27FC236}">
                <a16:creationId xmlns:a16="http://schemas.microsoft.com/office/drawing/2014/main" id="{552D2488-26CC-B156-4CDC-D5C06F16CE7B}"/>
              </a:ext>
            </a:extLst>
          </p:cNvPr>
          <p:cNvSpPr txBox="1"/>
          <p:nvPr/>
        </p:nvSpPr>
        <p:spPr>
          <a:xfrm>
            <a:off x="3833783" y="5008914"/>
            <a:ext cx="11210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・７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売上生成</a:t>
            </a:r>
          </a:p>
        </p:txBody>
      </p:sp>
      <p:cxnSp>
        <p:nvCxnSpPr>
          <p:cNvPr id="54" name="直線矢印コネクタ 23">
            <a:extLst>
              <a:ext uri="{FF2B5EF4-FFF2-40B4-BE49-F238E27FC236}">
                <a16:creationId xmlns:a16="http://schemas.microsoft.com/office/drawing/2014/main" id="{DF8A6FB5-5822-13A0-CBCC-AA0F896009C1}"/>
              </a:ext>
            </a:extLst>
          </p:cNvPr>
          <p:cNvCxnSpPr>
            <a:cxnSpLocks/>
          </p:cNvCxnSpPr>
          <p:nvPr/>
        </p:nvCxnSpPr>
        <p:spPr>
          <a:xfrm flipV="1">
            <a:off x="3849431" y="5285069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35">
            <a:extLst>
              <a:ext uri="{FF2B5EF4-FFF2-40B4-BE49-F238E27FC236}">
                <a16:creationId xmlns:a16="http://schemas.microsoft.com/office/drawing/2014/main" id="{89B02477-A840-D96E-F541-A12933782588}"/>
              </a:ext>
            </a:extLst>
          </p:cNvPr>
          <p:cNvSpPr txBox="1"/>
          <p:nvPr/>
        </p:nvSpPr>
        <p:spPr>
          <a:xfrm>
            <a:off x="3843574" y="5323169"/>
            <a:ext cx="112104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・８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実績送信</a:t>
            </a:r>
          </a:p>
        </p:txBody>
      </p:sp>
      <p:cxnSp>
        <p:nvCxnSpPr>
          <p:cNvPr id="59" name="直線矢印コネクタ 23">
            <a:extLst>
              <a:ext uri="{FF2B5EF4-FFF2-40B4-BE49-F238E27FC236}">
                <a16:creationId xmlns:a16="http://schemas.microsoft.com/office/drawing/2014/main" id="{8B1F5526-8101-4410-2355-D03BF250BE27}"/>
              </a:ext>
            </a:extLst>
          </p:cNvPr>
          <p:cNvCxnSpPr>
            <a:cxnSpLocks/>
          </p:cNvCxnSpPr>
          <p:nvPr/>
        </p:nvCxnSpPr>
        <p:spPr>
          <a:xfrm flipV="1">
            <a:off x="4402015" y="5637229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35">
            <a:extLst>
              <a:ext uri="{FF2B5EF4-FFF2-40B4-BE49-F238E27FC236}">
                <a16:creationId xmlns:a16="http://schemas.microsoft.com/office/drawing/2014/main" id="{2E1C7173-01D9-2D59-3116-57081B40C211}"/>
              </a:ext>
            </a:extLst>
          </p:cNvPr>
          <p:cNvSpPr txBox="1"/>
          <p:nvPr/>
        </p:nvSpPr>
        <p:spPr>
          <a:xfrm>
            <a:off x="4396157" y="5675329"/>
            <a:ext cx="148204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９</a:t>
            </a:r>
            <a:r>
              <a:rPr lang="en-US" altLang="zh-TW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実績集計機能</a:t>
            </a:r>
          </a:p>
        </p:txBody>
      </p:sp>
      <p:cxnSp>
        <p:nvCxnSpPr>
          <p:cNvPr id="63" name="直線矢印コネクタ 23">
            <a:extLst>
              <a:ext uri="{FF2B5EF4-FFF2-40B4-BE49-F238E27FC236}">
                <a16:creationId xmlns:a16="http://schemas.microsoft.com/office/drawing/2014/main" id="{DF068B67-3162-E8A1-3849-60BCCAEEF189}"/>
              </a:ext>
            </a:extLst>
          </p:cNvPr>
          <p:cNvCxnSpPr>
            <a:cxnSpLocks/>
          </p:cNvCxnSpPr>
          <p:nvPr/>
        </p:nvCxnSpPr>
        <p:spPr>
          <a:xfrm flipV="1">
            <a:off x="4402015" y="5967381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35">
            <a:extLst>
              <a:ext uri="{FF2B5EF4-FFF2-40B4-BE49-F238E27FC236}">
                <a16:creationId xmlns:a16="http://schemas.microsoft.com/office/drawing/2014/main" id="{CEBD2C16-0BAB-9B8D-5C49-D6B56C0DB6D1}"/>
              </a:ext>
            </a:extLst>
          </p:cNvPr>
          <p:cNvSpPr txBox="1"/>
          <p:nvPr/>
        </p:nvSpPr>
        <p:spPr>
          <a:xfrm>
            <a:off x="4396157" y="6005481"/>
            <a:ext cx="148204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１０</a:t>
            </a:r>
            <a:r>
              <a:rPr lang="en-US" altLang="zh-TW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POS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状態確認機能</a:t>
            </a:r>
          </a:p>
        </p:txBody>
      </p:sp>
      <p:cxnSp>
        <p:nvCxnSpPr>
          <p:cNvPr id="65" name="直線矢印コネクタ 23">
            <a:extLst>
              <a:ext uri="{FF2B5EF4-FFF2-40B4-BE49-F238E27FC236}">
                <a16:creationId xmlns:a16="http://schemas.microsoft.com/office/drawing/2014/main" id="{0E0358DA-E5D6-F6B5-8FF8-9E94630F6D80}"/>
              </a:ext>
            </a:extLst>
          </p:cNvPr>
          <p:cNvCxnSpPr>
            <a:cxnSpLocks/>
          </p:cNvCxnSpPr>
          <p:nvPr/>
        </p:nvCxnSpPr>
        <p:spPr>
          <a:xfrm flipV="1">
            <a:off x="4402015" y="6316934"/>
            <a:ext cx="548640" cy="28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35">
            <a:extLst>
              <a:ext uri="{FF2B5EF4-FFF2-40B4-BE49-F238E27FC236}">
                <a16:creationId xmlns:a16="http://schemas.microsoft.com/office/drawing/2014/main" id="{E7D110D6-E8FD-F601-A84B-BAB8A7F6C8AD}"/>
              </a:ext>
            </a:extLst>
          </p:cNvPr>
          <p:cNvSpPr txBox="1"/>
          <p:nvPr/>
        </p:nvSpPr>
        <p:spPr>
          <a:xfrm>
            <a:off x="4396157" y="6355034"/>
            <a:ext cx="1482049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１１</a:t>
            </a:r>
            <a:r>
              <a:rPr lang="en-US" altLang="zh-TW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zh-TW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外部連携（実績）</a:t>
            </a:r>
          </a:p>
        </p:txBody>
      </p:sp>
      <p:sp>
        <p:nvSpPr>
          <p:cNvPr id="67" name="矢印: 右 41">
            <a:extLst>
              <a:ext uri="{FF2B5EF4-FFF2-40B4-BE49-F238E27FC236}">
                <a16:creationId xmlns:a16="http://schemas.microsoft.com/office/drawing/2014/main" id="{915BCEA8-1627-6F8C-6587-158466F128D6}"/>
              </a:ext>
            </a:extLst>
          </p:cNvPr>
          <p:cNvSpPr/>
          <p:nvPr/>
        </p:nvSpPr>
        <p:spPr>
          <a:xfrm>
            <a:off x="4437896" y="3192112"/>
            <a:ext cx="1049899" cy="1460285"/>
          </a:xfrm>
          <a:prstGeom prst="rightArrow">
            <a:avLst>
              <a:gd name="adj1" fmla="val 79894"/>
              <a:gd name="adj2" fmla="val 36762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テスト開始</a:t>
            </a:r>
            <a:endParaRPr kumimoji="1" lang="en-US" altLang="ja-JP" sz="9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8DC6CA5-42EB-A50D-F18F-03C280C3CF23}"/>
              </a:ext>
            </a:extLst>
          </p:cNvPr>
          <p:cNvCxnSpPr>
            <a:cxnSpLocks/>
          </p:cNvCxnSpPr>
          <p:nvPr/>
        </p:nvCxnSpPr>
        <p:spPr>
          <a:xfrm>
            <a:off x="3240457" y="1227285"/>
            <a:ext cx="0" cy="5400000"/>
          </a:xfrm>
          <a:prstGeom prst="line">
            <a:avLst/>
          </a:prstGeom>
          <a:ln w="9525"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EC015B5-A982-6862-5043-440DAA377C68}"/>
              </a:ext>
            </a:extLst>
          </p:cNvPr>
          <p:cNvCxnSpPr>
            <a:cxnSpLocks/>
          </p:cNvCxnSpPr>
          <p:nvPr/>
        </p:nvCxnSpPr>
        <p:spPr>
          <a:xfrm flipH="1">
            <a:off x="5857277" y="1218255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線コネクタ 15">
            <a:extLst>
              <a:ext uri="{FF2B5EF4-FFF2-40B4-BE49-F238E27FC236}">
                <a16:creationId xmlns:a16="http://schemas.microsoft.com/office/drawing/2014/main" id="{7D246526-0BA7-3C22-9060-CD6712AB3F24}"/>
              </a:ext>
            </a:extLst>
          </p:cNvPr>
          <p:cNvCxnSpPr>
            <a:cxnSpLocks/>
          </p:cNvCxnSpPr>
          <p:nvPr/>
        </p:nvCxnSpPr>
        <p:spPr>
          <a:xfrm flipH="1">
            <a:off x="5503059" y="1223147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8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2FD8-D653-4414-200E-776A422ED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B42DE11-D458-68A2-8BD8-22AAC40F76E9}"/>
              </a:ext>
            </a:extLst>
          </p:cNvPr>
          <p:cNvSpPr/>
          <p:nvPr/>
        </p:nvSpPr>
        <p:spPr>
          <a:xfrm>
            <a:off x="208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03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2FFC377-BCD5-128C-B76C-660D8E8FB2D9}"/>
              </a:ext>
            </a:extLst>
          </p:cNvPr>
          <p:cNvSpPr/>
          <p:nvPr/>
        </p:nvSpPr>
        <p:spPr>
          <a:xfrm>
            <a:off x="266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04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5AE8F8-53D7-DA32-BE22-69F5A759A06B}"/>
              </a:ext>
            </a:extLst>
          </p:cNvPr>
          <p:cNvSpPr/>
          <p:nvPr/>
        </p:nvSpPr>
        <p:spPr>
          <a:xfrm>
            <a:off x="324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05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050A985-103C-B3EF-4C35-6F92577D9D2E}"/>
              </a:ext>
            </a:extLst>
          </p:cNvPr>
          <p:cNvSpPr/>
          <p:nvPr/>
        </p:nvSpPr>
        <p:spPr>
          <a:xfrm>
            <a:off x="381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73D94C-279C-457C-E7CE-B16DDE4C6E7F}"/>
              </a:ext>
            </a:extLst>
          </p:cNvPr>
          <p:cNvSpPr/>
          <p:nvPr/>
        </p:nvSpPr>
        <p:spPr>
          <a:xfrm>
            <a:off x="439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07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E5D6D2E-35E0-2801-13BF-1CECDC19BFBC}"/>
              </a:ext>
            </a:extLst>
          </p:cNvPr>
          <p:cNvSpPr/>
          <p:nvPr/>
        </p:nvSpPr>
        <p:spPr>
          <a:xfrm>
            <a:off x="496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08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CF486F2-73C1-08E1-C2FE-D0A3F2D9B42C}"/>
              </a:ext>
            </a:extLst>
          </p:cNvPr>
          <p:cNvSpPr/>
          <p:nvPr/>
        </p:nvSpPr>
        <p:spPr>
          <a:xfrm>
            <a:off x="554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09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53899BF-1848-85C3-6ABC-6857267543F6}"/>
              </a:ext>
            </a:extLst>
          </p:cNvPr>
          <p:cNvSpPr/>
          <p:nvPr/>
        </p:nvSpPr>
        <p:spPr>
          <a:xfrm>
            <a:off x="612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4712B6-789B-B8B9-9258-E9D5563D7E23}"/>
              </a:ext>
            </a:extLst>
          </p:cNvPr>
          <p:cNvSpPr/>
          <p:nvPr/>
        </p:nvSpPr>
        <p:spPr>
          <a:xfrm>
            <a:off x="6696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118D7F7-B9D1-6DB9-1FC1-10B2E570F00B}"/>
              </a:ext>
            </a:extLst>
          </p:cNvPr>
          <p:cNvSpPr/>
          <p:nvPr/>
        </p:nvSpPr>
        <p:spPr>
          <a:xfrm>
            <a:off x="7272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7EF62C4-691D-1E0B-DFA0-D8180CBC784E}"/>
              </a:ext>
            </a:extLst>
          </p:cNvPr>
          <p:cNvSpPr/>
          <p:nvPr/>
        </p:nvSpPr>
        <p:spPr>
          <a:xfrm>
            <a:off x="7848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3631F07-609A-4A0E-5559-1A3504B801EF}"/>
              </a:ext>
            </a:extLst>
          </p:cNvPr>
          <p:cNvSpPr/>
          <p:nvPr/>
        </p:nvSpPr>
        <p:spPr>
          <a:xfrm>
            <a:off x="8424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16A65A6-F87C-B864-12C8-EBF525CBD9BE}"/>
              </a:ext>
            </a:extLst>
          </p:cNvPr>
          <p:cNvSpPr/>
          <p:nvPr/>
        </p:nvSpPr>
        <p:spPr>
          <a:xfrm>
            <a:off x="9000000" y="1296000"/>
            <a:ext cx="576000" cy="360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1C9E7AD3-5176-3767-035F-8911BA975165}"/>
              </a:ext>
            </a:extLst>
          </p:cNvPr>
          <p:cNvSpPr/>
          <p:nvPr/>
        </p:nvSpPr>
        <p:spPr>
          <a:xfrm>
            <a:off x="3149890" y="1044000"/>
            <a:ext cx="180000" cy="181236"/>
          </a:xfrm>
          <a:prstGeom prst="star5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72F1374-BBBA-0982-89AE-367A01E5835D}"/>
              </a:ext>
            </a:extLst>
          </p:cNvPr>
          <p:cNvSpPr/>
          <p:nvPr/>
        </p:nvSpPr>
        <p:spPr>
          <a:xfrm>
            <a:off x="432000" y="4737091"/>
            <a:ext cx="9144000" cy="837794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POS-Android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4144C21F-06BA-223D-A2A5-11739476F129}"/>
              </a:ext>
            </a:extLst>
          </p:cNvPr>
          <p:cNvSpPr/>
          <p:nvPr/>
        </p:nvSpPr>
        <p:spPr>
          <a:xfrm>
            <a:off x="719999" y="5006737"/>
            <a:ext cx="1368000" cy="432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マルエツ様</a:t>
            </a:r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チャージ専用機</a:t>
            </a: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D9B2552-FE6F-654B-6BFB-8B6F75FECB15}"/>
              </a:ext>
            </a:extLst>
          </p:cNvPr>
          <p:cNvCxnSpPr>
            <a:cxnSpLocks/>
          </p:cNvCxnSpPr>
          <p:nvPr/>
        </p:nvCxnSpPr>
        <p:spPr>
          <a:xfrm>
            <a:off x="2119612" y="5044088"/>
            <a:ext cx="109728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EADC178A-9F6F-E6C5-CB1F-4010F278D233}"/>
              </a:ext>
            </a:extLst>
          </p:cNvPr>
          <p:cNvSpPr txBox="1"/>
          <p:nvPr/>
        </p:nvSpPr>
        <p:spPr>
          <a:xfrm>
            <a:off x="2136229" y="5055592"/>
            <a:ext cx="1442193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・導入準備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5E0BC65-1100-8DC6-E791-243AE1ABCDC7}"/>
              </a:ext>
            </a:extLst>
          </p:cNvPr>
          <p:cNvSpPr/>
          <p:nvPr/>
        </p:nvSpPr>
        <p:spPr>
          <a:xfrm>
            <a:off x="432000" y="1712348"/>
            <a:ext cx="9144000" cy="2935852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C112AB11-1B76-734B-D171-93E05E52BD33}"/>
              </a:ext>
            </a:extLst>
          </p:cNvPr>
          <p:cNvSpPr/>
          <p:nvPr/>
        </p:nvSpPr>
        <p:spPr>
          <a:xfrm>
            <a:off x="713831" y="3754027"/>
            <a:ext cx="1368000" cy="3657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基幹連携</a:t>
            </a:r>
            <a:endParaRPr kumimoji="1" lang="en-US" altLang="ja-JP" sz="9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812F64D6-67A3-A64D-696E-07A6F8BEAA54}"/>
              </a:ext>
            </a:extLst>
          </p:cNvPr>
          <p:cNvCxnSpPr>
            <a:cxnSpLocks/>
          </p:cNvCxnSpPr>
          <p:nvPr/>
        </p:nvCxnSpPr>
        <p:spPr>
          <a:xfrm>
            <a:off x="3264784" y="2324946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4C71407-6DF2-DDEE-CC15-BFA8FABB8A1A}"/>
              </a:ext>
            </a:extLst>
          </p:cNvPr>
          <p:cNvCxnSpPr>
            <a:cxnSpLocks/>
          </p:cNvCxnSpPr>
          <p:nvPr/>
        </p:nvCxnSpPr>
        <p:spPr>
          <a:xfrm>
            <a:off x="3239890" y="1224000"/>
            <a:ext cx="0" cy="5400000"/>
          </a:xfrm>
          <a:prstGeom prst="line">
            <a:avLst/>
          </a:prstGeom>
          <a:ln w="9525">
            <a:solidFill>
              <a:srgbClr val="C0000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28165D5-314E-9692-508C-6FB3FD07737D}"/>
              </a:ext>
            </a:extLst>
          </p:cNvPr>
          <p:cNvCxnSpPr>
            <a:cxnSpLocks/>
          </p:cNvCxnSpPr>
          <p:nvPr/>
        </p:nvCxnSpPr>
        <p:spPr>
          <a:xfrm flipH="1">
            <a:off x="5857277" y="1218255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星: 5 pt 18">
            <a:extLst>
              <a:ext uri="{FF2B5EF4-FFF2-40B4-BE49-F238E27FC236}">
                <a16:creationId xmlns:a16="http://schemas.microsoft.com/office/drawing/2014/main" id="{EDA4D583-3768-11AD-5C01-12014336FE38}"/>
              </a:ext>
            </a:extLst>
          </p:cNvPr>
          <p:cNvSpPr/>
          <p:nvPr/>
        </p:nvSpPr>
        <p:spPr>
          <a:xfrm>
            <a:off x="5809047" y="1044000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0" name="テキスト ボックス 64">
            <a:extLst>
              <a:ext uri="{FF2B5EF4-FFF2-40B4-BE49-F238E27FC236}">
                <a16:creationId xmlns:a16="http://schemas.microsoft.com/office/drawing/2014/main" id="{98565E2D-E360-D75D-8220-F249966B6EA8}"/>
              </a:ext>
            </a:extLst>
          </p:cNvPr>
          <p:cNvSpPr txBox="1"/>
          <p:nvPr/>
        </p:nvSpPr>
        <p:spPr>
          <a:xfrm>
            <a:off x="3769651" y="5121191"/>
            <a:ext cx="1105131" cy="203093"/>
          </a:xfrm>
          <a:prstGeom prst="rect">
            <a:avLst/>
          </a:prstGeom>
          <a:solidFill>
            <a:srgbClr val="FF0000">
              <a:alpha val="20000"/>
            </a:srgbClr>
          </a:solidFill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>
            <a:defPPr>
              <a:defRPr lang="ja-JP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lang="ja-JP" altLang="en-US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月以降？（未定</a:t>
            </a:r>
            <a:r>
              <a:rPr lang="en-US" altLang="ja-JP" sz="9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900" b="1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8" name="直線コネクタ 15">
            <a:extLst>
              <a:ext uri="{FF2B5EF4-FFF2-40B4-BE49-F238E27FC236}">
                <a16:creationId xmlns:a16="http://schemas.microsoft.com/office/drawing/2014/main" id="{CEB291EC-83E1-8C0E-086D-E90286089B7B}"/>
              </a:ext>
            </a:extLst>
          </p:cNvPr>
          <p:cNvCxnSpPr>
            <a:cxnSpLocks/>
          </p:cNvCxnSpPr>
          <p:nvPr/>
        </p:nvCxnSpPr>
        <p:spPr>
          <a:xfrm>
            <a:off x="9509492" y="1222550"/>
            <a:ext cx="0" cy="54000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星: 5 pt 18">
            <a:extLst>
              <a:ext uri="{FF2B5EF4-FFF2-40B4-BE49-F238E27FC236}">
                <a16:creationId xmlns:a16="http://schemas.microsoft.com/office/drawing/2014/main" id="{FEAB6FCD-B64E-6FB1-74F3-138896087CA1}"/>
              </a:ext>
            </a:extLst>
          </p:cNvPr>
          <p:cNvSpPr/>
          <p:nvPr/>
        </p:nvSpPr>
        <p:spPr>
          <a:xfrm>
            <a:off x="9417019" y="1048295"/>
            <a:ext cx="180000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1" name="四角形: 角を丸くする 59">
            <a:extLst>
              <a:ext uri="{FF2B5EF4-FFF2-40B4-BE49-F238E27FC236}">
                <a16:creationId xmlns:a16="http://schemas.microsoft.com/office/drawing/2014/main" id="{7AFEDCEC-488C-DCE1-E3C5-E24E6A3D6076}"/>
              </a:ext>
            </a:extLst>
          </p:cNvPr>
          <p:cNvSpPr/>
          <p:nvPr/>
        </p:nvSpPr>
        <p:spPr>
          <a:xfrm>
            <a:off x="719999" y="4187285"/>
            <a:ext cx="1368000" cy="364944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</a:p>
        </p:txBody>
      </p:sp>
      <p:cxnSp>
        <p:nvCxnSpPr>
          <p:cNvPr id="126" name="直線矢印コネクタ 57">
            <a:extLst>
              <a:ext uri="{FF2B5EF4-FFF2-40B4-BE49-F238E27FC236}">
                <a16:creationId xmlns:a16="http://schemas.microsoft.com/office/drawing/2014/main" id="{82735572-9AEF-7161-2130-F94E8D58B5B2}"/>
              </a:ext>
            </a:extLst>
          </p:cNvPr>
          <p:cNvCxnSpPr>
            <a:cxnSpLocks/>
          </p:cNvCxnSpPr>
          <p:nvPr/>
        </p:nvCxnSpPr>
        <p:spPr>
          <a:xfrm>
            <a:off x="3241584" y="4216693"/>
            <a:ext cx="621792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24">
            <a:extLst>
              <a:ext uri="{FF2B5EF4-FFF2-40B4-BE49-F238E27FC236}">
                <a16:creationId xmlns:a16="http://schemas.microsoft.com/office/drawing/2014/main" id="{753F5EC2-88FE-E698-9056-0FAA5097DEDC}"/>
              </a:ext>
            </a:extLst>
          </p:cNvPr>
          <p:cNvSpPr txBox="1"/>
          <p:nvPr/>
        </p:nvSpPr>
        <p:spPr>
          <a:xfrm>
            <a:off x="8728966" y="844168"/>
            <a:ext cx="988451" cy="21676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2.0</a:t>
            </a:r>
          </a:p>
        </p:txBody>
      </p:sp>
      <p:sp>
        <p:nvSpPr>
          <p:cNvPr id="147" name="テキスト ボックス 24">
            <a:extLst>
              <a:ext uri="{FF2B5EF4-FFF2-40B4-BE49-F238E27FC236}">
                <a16:creationId xmlns:a16="http://schemas.microsoft.com/office/drawing/2014/main" id="{8A2CA0FB-F9FF-8F40-5167-E616272F1F90}"/>
              </a:ext>
            </a:extLst>
          </p:cNvPr>
          <p:cNvSpPr txBox="1"/>
          <p:nvPr/>
        </p:nvSpPr>
        <p:spPr>
          <a:xfrm>
            <a:off x="4457425" y="873594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いなげや様オフライン対応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48" name="直線矢印コネクタ 60">
            <a:extLst>
              <a:ext uri="{FF2B5EF4-FFF2-40B4-BE49-F238E27FC236}">
                <a16:creationId xmlns:a16="http://schemas.microsoft.com/office/drawing/2014/main" id="{CF55CA18-AF0A-2A49-6F9F-DB2AE0BEA2BE}"/>
              </a:ext>
            </a:extLst>
          </p:cNvPr>
          <p:cNvCxnSpPr>
            <a:cxnSpLocks/>
          </p:cNvCxnSpPr>
          <p:nvPr/>
        </p:nvCxnSpPr>
        <p:spPr>
          <a:xfrm>
            <a:off x="3257454" y="3818750"/>
            <a:ext cx="621792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テキスト ボックス 35">
            <a:extLst>
              <a:ext uri="{FF2B5EF4-FFF2-40B4-BE49-F238E27FC236}">
                <a16:creationId xmlns:a16="http://schemas.microsoft.com/office/drawing/2014/main" id="{72007C2D-E4F3-EC95-74ED-6A9D835C6877}"/>
              </a:ext>
            </a:extLst>
          </p:cNvPr>
          <p:cNvSpPr txBox="1"/>
          <p:nvPr/>
        </p:nvSpPr>
        <p:spPr>
          <a:xfrm>
            <a:off x="3282504" y="3849903"/>
            <a:ext cx="22711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・マスタ連携・トラン連携</a:t>
            </a:r>
            <a:endParaRPr kumimoji="1"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1" name="テキスト ボックス 35">
            <a:extLst>
              <a:ext uri="{FF2B5EF4-FFF2-40B4-BE49-F238E27FC236}">
                <a16:creationId xmlns:a16="http://schemas.microsoft.com/office/drawing/2014/main" id="{6861CA7F-F64D-E8DB-5D3B-1B01E0546C6E}"/>
              </a:ext>
            </a:extLst>
          </p:cNvPr>
          <p:cNvSpPr txBox="1"/>
          <p:nvPr/>
        </p:nvSpPr>
        <p:spPr>
          <a:xfrm>
            <a:off x="3260245" y="4252993"/>
            <a:ext cx="2271106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kumimoji="1" lang="ja-JP" altLang="en-US" sz="9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</a:p>
        </p:txBody>
      </p:sp>
      <p:cxnSp>
        <p:nvCxnSpPr>
          <p:cNvPr id="171" name="直線コネクタ 15">
            <a:extLst>
              <a:ext uri="{FF2B5EF4-FFF2-40B4-BE49-F238E27FC236}">
                <a16:creationId xmlns:a16="http://schemas.microsoft.com/office/drawing/2014/main" id="{E4960AC3-0F13-2851-6551-20961F0DBBED}"/>
              </a:ext>
            </a:extLst>
          </p:cNvPr>
          <p:cNvCxnSpPr>
            <a:cxnSpLocks/>
          </p:cNvCxnSpPr>
          <p:nvPr/>
        </p:nvCxnSpPr>
        <p:spPr>
          <a:xfrm flipH="1">
            <a:off x="5503059" y="1223147"/>
            <a:ext cx="36061" cy="5404295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星: 5 pt 18">
            <a:extLst>
              <a:ext uri="{FF2B5EF4-FFF2-40B4-BE49-F238E27FC236}">
                <a16:creationId xmlns:a16="http://schemas.microsoft.com/office/drawing/2014/main" id="{B05912C9-C992-02CE-53E0-1AC122DAE243}"/>
              </a:ext>
            </a:extLst>
          </p:cNvPr>
          <p:cNvSpPr/>
          <p:nvPr/>
        </p:nvSpPr>
        <p:spPr>
          <a:xfrm>
            <a:off x="5454829" y="1048892"/>
            <a:ext cx="163636" cy="181236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3" name="テキスト ボックス 24">
            <a:extLst>
              <a:ext uri="{FF2B5EF4-FFF2-40B4-BE49-F238E27FC236}">
                <a16:creationId xmlns:a16="http://schemas.microsoft.com/office/drawing/2014/main" id="{27EFD3AA-108E-7048-BE65-74B404FFA97A}"/>
              </a:ext>
            </a:extLst>
          </p:cNvPr>
          <p:cNvSpPr txBox="1"/>
          <p:nvPr/>
        </p:nvSpPr>
        <p:spPr>
          <a:xfrm>
            <a:off x="6120000" y="869735"/>
            <a:ext cx="1420781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LABO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店リリース</a:t>
            </a:r>
            <a:endParaRPr lang="en-US" altLang="ja-JP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6BBC8FBC-2265-4899-8775-E2F21290976F}"/>
              </a:ext>
            </a:extLst>
          </p:cNvPr>
          <p:cNvSpPr txBox="1">
            <a:spLocks/>
          </p:cNvSpPr>
          <p:nvPr/>
        </p:nvSpPr>
        <p:spPr>
          <a:xfrm>
            <a:off x="360000" y="288000"/>
            <a:ext cx="8543925" cy="432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400" b="1" kern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</a:lstStyle>
          <a:p>
            <a:r>
              <a:rPr kumimoji="1" lang="ja-JP" altLang="en-US"/>
              <a:t>全体スケジュール</a:t>
            </a:r>
            <a:endParaRPr lang="ja-JP" altLang="en-US"/>
          </a:p>
        </p:txBody>
      </p:sp>
      <p:sp>
        <p:nvSpPr>
          <p:cNvPr id="2" name="四角形: 角を丸くする 59">
            <a:extLst>
              <a:ext uri="{FF2B5EF4-FFF2-40B4-BE49-F238E27FC236}">
                <a16:creationId xmlns:a16="http://schemas.microsoft.com/office/drawing/2014/main" id="{0DD5D920-8B30-20A2-3FD5-6E8C832AF1E1}"/>
              </a:ext>
            </a:extLst>
          </p:cNvPr>
          <p:cNvSpPr/>
          <p:nvPr/>
        </p:nvSpPr>
        <p:spPr>
          <a:xfrm>
            <a:off x="719999" y="1975384"/>
            <a:ext cx="1368000" cy="1709149"/>
          </a:xfrm>
          <a:prstGeom prst="roundRect">
            <a:avLst>
              <a:gd name="adj" fmla="val 6455"/>
            </a:avLst>
          </a:prstGeom>
          <a:solidFill>
            <a:schemeClr val="bg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lang="en-US" altLang="ja-JP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カスミ様</a:t>
            </a:r>
            <a:r>
              <a:rPr lang="en-US" altLang="ja-JP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</a:p>
          <a:p>
            <a:pPr algn="ctr"/>
            <a:r>
              <a:rPr kumimoji="1"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電子棚</a:t>
            </a:r>
            <a:r>
              <a:rPr kumimoji="1" lang="en-GB" altLang="ja-JP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</a:p>
          <a:p>
            <a:pPr algn="ctr"/>
            <a:r>
              <a:rPr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第一期対応</a:t>
            </a:r>
            <a:r>
              <a:rPr lang="ja-JP" altLang="en-US" sz="9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kumimoji="1" lang="ja-JP" altLang="en-US" sz="90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テキスト ボックス 35">
            <a:extLst>
              <a:ext uri="{FF2B5EF4-FFF2-40B4-BE49-F238E27FC236}">
                <a16:creationId xmlns:a16="http://schemas.microsoft.com/office/drawing/2014/main" id="{B005F164-33DC-DC42-B5A1-2C4475862815}"/>
              </a:ext>
            </a:extLst>
          </p:cNvPr>
          <p:cNvSpPr txBox="1"/>
          <p:nvPr/>
        </p:nvSpPr>
        <p:spPr>
          <a:xfrm>
            <a:off x="3257454" y="2359836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・① 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Scan&amp;Go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サーバーからのマスタコピー</a:t>
            </a:r>
          </a:p>
        </p:txBody>
      </p:sp>
      <p:cxnSp>
        <p:nvCxnSpPr>
          <p:cNvPr id="23" name="直線矢印コネクタ 60">
            <a:extLst>
              <a:ext uri="{FF2B5EF4-FFF2-40B4-BE49-F238E27FC236}">
                <a16:creationId xmlns:a16="http://schemas.microsoft.com/office/drawing/2014/main" id="{FBD7D47C-B754-DDB3-6908-652CC160E5F1}"/>
              </a:ext>
            </a:extLst>
          </p:cNvPr>
          <p:cNvCxnSpPr>
            <a:cxnSpLocks/>
          </p:cNvCxnSpPr>
          <p:nvPr/>
        </p:nvCxnSpPr>
        <p:spPr>
          <a:xfrm>
            <a:off x="3252681" y="2683168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35">
            <a:extLst>
              <a:ext uri="{FF2B5EF4-FFF2-40B4-BE49-F238E27FC236}">
                <a16:creationId xmlns:a16="http://schemas.microsoft.com/office/drawing/2014/main" id="{90008CBE-5027-7DDC-753D-3133F933DBA0}"/>
              </a:ext>
            </a:extLst>
          </p:cNvPr>
          <p:cNvSpPr txBox="1"/>
          <p:nvPr/>
        </p:nvSpPr>
        <p:spPr>
          <a:xfrm>
            <a:off x="3245351" y="2718058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GB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②OC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マスタ連携</a:t>
            </a:r>
          </a:p>
        </p:txBody>
      </p:sp>
      <p:cxnSp>
        <p:nvCxnSpPr>
          <p:cNvPr id="30" name="直線矢印コネクタ 60">
            <a:extLst>
              <a:ext uri="{FF2B5EF4-FFF2-40B4-BE49-F238E27FC236}">
                <a16:creationId xmlns:a16="http://schemas.microsoft.com/office/drawing/2014/main" id="{6425660D-29FA-98AA-0B0B-91C3F3B85ACA}"/>
              </a:ext>
            </a:extLst>
          </p:cNvPr>
          <p:cNvCxnSpPr>
            <a:cxnSpLocks/>
          </p:cNvCxnSpPr>
          <p:nvPr/>
        </p:nvCxnSpPr>
        <p:spPr>
          <a:xfrm>
            <a:off x="3256112" y="3041390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5">
            <a:extLst>
              <a:ext uri="{FF2B5EF4-FFF2-40B4-BE49-F238E27FC236}">
                <a16:creationId xmlns:a16="http://schemas.microsoft.com/office/drawing/2014/main" id="{D2588FCA-3094-4B4F-D059-BBBCEECA2E79}"/>
              </a:ext>
            </a:extLst>
          </p:cNvPr>
          <p:cNvSpPr txBox="1"/>
          <p:nvPr/>
        </p:nvSpPr>
        <p:spPr>
          <a:xfrm>
            <a:off x="3248782" y="3076280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・③売価生成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</a:p>
        </p:txBody>
      </p:sp>
      <p:cxnSp>
        <p:nvCxnSpPr>
          <p:cNvPr id="32" name="直線矢印コネクタ 60">
            <a:extLst>
              <a:ext uri="{FF2B5EF4-FFF2-40B4-BE49-F238E27FC236}">
                <a16:creationId xmlns:a16="http://schemas.microsoft.com/office/drawing/2014/main" id="{BB09A061-3F24-9819-949A-2522806E8EC8}"/>
              </a:ext>
            </a:extLst>
          </p:cNvPr>
          <p:cNvCxnSpPr>
            <a:cxnSpLocks/>
          </p:cNvCxnSpPr>
          <p:nvPr/>
        </p:nvCxnSpPr>
        <p:spPr>
          <a:xfrm>
            <a:off x="3260011" y="3393263"/>
            <a:ext cx="137160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5">
            <a:extLst>
              <a:ext uri="{FF2B5EF4-FFF2-40B4-BE49-F238E27FC236}">
                <a16:creationId xmlns:a16="http://schemas.microsoft.com/office/drawing/2014/main" id="{32ED03FC-8A96-6122-DC23-B850B53E184A}"/>
              </a:ext>
            </a:extLst>
          </p:cNvPr>
          <p:cNvSpPr txBox="1"/>
          <p:nvPr/>
        </p:nvSpPr>
        <p:spPr>
          <a:xfrm>
            <a:off x="3252681" y="3428153"/>
            <a:ext cx="2286000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・④商品マスタ・売価連携</a:t>
            </a:r>
          </a:p>
        </p:txBody>
      </p:sp>
      <p:sp>
        <p:nvSpPr>
          <p:cNvPr id="40" name="矢印: 右 41">
            <a:extLst>
              <a:ext uri="{FF2B5EF4-FFF2-40B4-BE49-F238E27FC236}">
                <a16:creationId xmlns:a16="http://schemas.microsoft.com/office/drawing/2014/main" id="{185FA007-0D1A-700B-758A-FEB719E1A987}"/>
              </a:ext>
            </a:extLst>
          </p:cNvPr>
          <p:cNvSpPr/>
          <p:nvPr/>
        </p:nvSpPr>
        <p:spPr>
          <a:xfrm>
            <a:off x="4687972" y="2631779"/>
            <a:ext cx="822417" cy="950575"/>
          </a:xfrm>
          <a:prstGeom prst="rightArrow">
            <a:avLst>
              <a:gd name="adj1" fmla="val 79894"/>
              <a:gd name="adj2" fmla="val 2286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テスト開始</a:t>
            </a:r>
            <a:endParaRPr kumimoji="1" lang="en-US" altLang="ja-JP" sz="9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1" name="直線矢印コネクタ 60">
            <a:extLst>
              <a:ext uri="{FF2B5EF4-FFF2-40B4-BE49-F238E27FC236}">
                <a16:creationId xmlns:a16="http://schemas.microsoft.com/office/drawing/2014/main" id="{5F6C60C6-BDD9-8C36-955A-92B2E6387EEA}"/>
              </a:ext>
            </a:extLst>
          </p:cNvPr>
          <p:cNvCxnSpPr>
            <a:cxnSpLocks/>
          </p:cNvCxnSpPr>
          <p:nvPr/>
        </p:nvCxnSpPr>
        <p:spPr>
          <a:xfrm>
            <a:off x="3258434" y="1969035"/>
            <a:ext cx="1097280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18">
            <a:extLst>
              <a:ext uri="{FF2B5EF4-FFF2-40B4-BE49-F238E27FC236}">
                <a16:creationId xmlns:a16="http://schemas.microsoft.com/office/drawing/2014/main" id="{B0D96DA1-BE10-1AAF-724E-5166CBBCDBBB}"/>
              </a:ext>
            </a:extLst>
          </p:cNvPr>
          <p:cNvSpPr txBox="1"/>
          <p:nvPr/>
        </p:nvSpPr>
        <p:spPr>
          <a:xfrm>
            <a:off x="3247651" y="2000188"/>
            <a:ext cx="2302202" cy="21120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マスタインポート＋</a:t>
            </a:r>
            <a:r>
              <a:rPr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</a:p>
        </p:txBody>
      </p:sp>
    </p:spTree>
    <p:extLst>
      <p:ext uri="{BB962C8B-B14F-4D97-AF65-F5344CB8AC3E}">
        <p14:creationId xmlns:p14="http://schemas.microsoft.com/office/powerpoint/2010/main" val="171487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991E-C39E-554F-8BC3-8240BCE62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982E11C-3584-66DE-6776-FEA80368BAF4}"/>
              </a:ext>
            </a:extLst>
          </p:cNvPr>
          <p:cNvSpPr/>
          <p:nvPr/>
        </p:nvSpPr>
        <p:spPr>
          <a:xfrm>
            <a:off x="468000" y="1118161"/>
            <a:ext cx="9000000" cy="5326182"/>
          </a:xfrm>
          <a:prstGeom prst="rect">
            <a:avLst/>
          </a:prstGeom>
          <a:solidFill>
            <a:srgbClr val="FBE3D6">
              <a:alpha val="20000"/>
            </a:srgbClr>
          </a:solidFill>
          <a:ln w="95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/>
          <a:lstStyle/>
          <a:p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2025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年</a:t>
            </a:r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4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月度実施</a:t>
            </a:r>
            <a:endParaRPr lang="en-US" altLang="ja-JP" sz="14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※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いなげや様　４号店本番導入　（４月１７日に撤去）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→既存問題点を解決の上、再スケジュール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・課題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①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側サーバーのオフライン対応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 ４月１</a:t>
            </a:r>
            <a:r>
              <a:rPr lang="ja-JP" altLang="en-US" sz="1200">
                <a:solidFill>
                  <a:schemeClr val="tx1"/>
                </a:solidFill>
                <a:latin typeface="BIZ UDPゴシック"/>
                <a:ea typeface="BIZ UDPゴシック"/>
              </a:rPr>
              <a:t>５日 改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修済み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②通信エラー時に、お預かり金の返却ができない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 ４月１５日 改修済み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③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側サーバー環境の脆弱性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　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AWS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環境構築に、強力応援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④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内、保守体制・監視体制の脆弱性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　　　　→　監視体制の強化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2025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年</a:t>
            </a:r>
            <a:r>
              <a:rPr lang="en-US" altLang="ja-JP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5</a:t>
            </a:r>
            <a:r>
              <a:rPr lang="ja-JP" altLang="en-US" sz="1400" dirty="0">
                <a:solidFill>
                  <a:schemeClr val="tx1"/>
                </a:solidFill>
                <a:latin typeface="BIZ UDPゴシック"/>
                <a:ea typeface="BIZ UDPゴシック"/>
              </a:rPr>
              <a:t>月度予定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・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POS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アプリのオフライン化対応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 </a:t>
            </a: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　① 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Luvina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側サーバー環境の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AWS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/>
              </a:rPr>
              <a:t>環境の再構築</a:t>
            </a:r>
            <a:endParaRPr lang="en-GB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　・設計見直しを、協力会社とともに実施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②マスタ連携機能の構築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　・いなげや様</a:t>
            </a:r>
            <a:r>
              <a:rPr lang="en-US" altLang="ja-JP" sz="1200" dirty="0" err="1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POSServer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→</a:t>
            </a:r>
            <a:r>
              <a:rPr lang="en-US" altLang="ja-JP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POS</a:t>
            </a:r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アプリへのマスタ系</a:t>
            </a:r>
            <a:endParaRPr lang="en-US" altLang="ja-JP" sz="1200" dirty="0">
              <a:solidFill>
                <a:schemeClr val="tx1"/>
              </a:solidFill>
              <a:latin typeface="BIZ UDPゴシック"/>
              <a:ea typeface="BIZ UDPゴシック" panose="020B0400000000000000" pitchFamily="50" charset="-128"/>
            </a:endParaRPr>
          </a:p>
          <a:p>
            <a:pPr marL="175895"/>
            <a:r>
              <a:rPr lang="ja-JP" altLang="en-US" sz="1200" dirty="0">
                <a:solidFill>
                  <a:schemeClr val="tx1"/>
                </a:solidFill>
                <a:latin typeface="BIZ UDPゴシック"/>
                <a:ea typeface="BIZ UDPゴシック" panose="020B0400000000000000" pitchFamily="50" charset="-128"/>
              </a:rPr>
              <a:t>　　　ファイル連携機能の構築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4C86393-6498-B30B-766D-E0B5F1157758}"/>
              </a:ext>
            </a:extLst>
          </p:cNvPr>
          <p:cNvSpPr/>
          <p:nvPr/>
        </p:nvSpPr>
        <p:spPr>
          <a:xfrm>
            <a:off x="5355350" y="1548069"/>
            <a:ext cx="3687050" cy="3740573"/>
          </a:xfrm>
          <a:prstGeom prst="roundRect">
            <a:avLst>
              <a:gd name="adj" fmla="val 622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9C3AED6-C172-0196-1913-3006E121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全体進捗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A42F755-3D84-CFCE-131E-D5B950D1CA52}"/>
              </a:ext>
            </a:extLst>
          </p:cNvPr>
          <p:cNvSpPr/>
          <p:nvPr/>
        </p:nvSpPr>
        <p:spPr>
          <a:xfrm>
            <a:off x="576000" y="972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WindowsPOS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40157AC-4A85-F0CC-2A0A-BB0EA1E4B17A}"/>
              </a:ext>
            </a:extLst>
          </p:cNvPr>
          <p:cNvSpPr txBox="1"/>
          <p:nvPr/>
        </p:nvSpPr>
        <p:spPr>
          <a:xfrm>
            <a:off x="5651682" y="4381274"/>
            <a:ext cx="3061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３月末と比較し、</a:t>
            </a:r>
            <a:b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全体で、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298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　→　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348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件と　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50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件増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未完了　４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　→　４４件　　　　　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-2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件減</a:t>
            </a:r>
            <a:b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次回リリース時には、０にする。死守。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3CE989E-EA66-EA82-5719-0E99F818D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682" y="1614569"/>
            <a:ext cx="3061062" cy="271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2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41E5-9F67-DB59-8F31-B0D7D7A50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264BE-4DB4-A38C-9136-4860C2ED7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全体進捗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560147B-70D4-8582-9A62-0D32E1A51A57}"/>
              </a:ext>
            </a:extLst>
          </p:cNvPr>
          <p:cNvSpPr/>
          <p:nvPr/>
        </p:nvSpPr>
        <p:spPr>
          <a:xfrm>
            <a:off x="468000" y="1111250"/>
            <a:ext cx="9000000" cy="5353050"/>
          </a:xfrm>
          <a:prstGeom prst="rect">
            <a:avLst/>
          </a:prstGeom>
          <a:solidFill>
            <a:srgbClr val="FBE3D6">
              <a:alpha val="20000"/>
            </a:srgbClr>
          </a:solidFill>
          <a:ln w="95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/>
          <a:lstStyle/>
          <a:p>
            <a:endParaRPr lang="en-US" altLang="ja-JP" sz="14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月度実施</a:t>
            </a:r>
            <a:endParaRPr lang="en-US" altLang="ja-JP" sz="14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・いなげや様の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ignicaPOS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導入に必須な機能の微調整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・ジャーナル検索：レジ番号、会計シート、小計、合計、お客様番号の修正・・・修正完了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連携マニュアルの作成・・・対応完了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2.0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の対応実績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・データベース構成の見直し・修正対応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・商品マスタから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P001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P003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の見直し・・・修正完了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MD_Hierarchy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の修正・・・対応中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・営業日マスタ＆担当者マスタ・・・設計完了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・管理者画面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，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，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定番の変更・・・実装完了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・ジャーナル検索：フィルた追加「レシート区分」「モード」、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PDF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抽出の修正・・・修正完了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・画面課題の対応状態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・対応完了：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14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　　・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・基幹連携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・商品マスタ・商品階層マスタの取込バッチ・・・検証中</a:t>
            </a:r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BIPOROGY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連携・・・完了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・インフラ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・再構築の環境変更・・・対応中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・オフライン対応の構成図設計・・・対応中</a:t>
            </a:r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GB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A68FDF7-94F7-8B8E-4C09-071E9E0B9EFF}"/>
              </a:ext>
            </a:extLst>
          </p:cNvPr>
          <p:cNvSpPr/>
          <p:nvPr/>
        </p:nvSpPr>
        <p:spPr>
          <a:xfrm>
            <a:off x="576000" y="972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四角形: 角を丸くする 9">
            <a:extLst>
              <a:ext uri="{FF2B5EF4-FFF2-40B4-BE49-F238E27FC236}">
                <a16:creationId xmlns:a16="http://schemas.microsoft.com/office/drawing/2014/main" id="{D2D422B4-3A55-8537-D4BE-84DA068B9499}"/>
              </a:ext>
            </a:extLst>
          </p:cNvPr>
          <p:cNvSpPr/>
          <p:nvPr/>
        </p:nvSpPr>
        <p:spPr>
          <a:xfrm>
            <a:off x="6648400" y="1452931"/>
            <a:ext cx="2590850" cy="1252169"/>
          </a:xfrm>
          <a:prstGeom prst="roundRect">
            <a:avLst>
              <a:gd name="adj" fmla="val 622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AF79871-64FF-DAC7-6547-E9D0E520C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48135"/>
              </p:ext>
            </p:extLst>
          </p:nvPr>
        </p:nvGraphicFramePr>
        <p:xfrm>
          <a:off x="6923806" y="1877684"/>
          <a:ext cx="2074143" cy="557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035">
                  <a:extLst>
                    <a:ext uri="{9D8B030D-6E8A-4147-A177-3AD203B41FA5}">
                      <a16:colId xmlns:a16="http://schemas.microsoft.com/office/drawing/2014/main" val="1169557635"/>
                    </a:ext>
                  </a:extLst>
                </a:gridCol>
                <a:gridCol w="648108">
                  <a:extLst>
                    <a:ext uri="{9D8B030D-6E8A-4147-A177-3AD203B41FA5}">
                      <a16:colId xmlns:a16="http://schemas.microsoft.com/office/drawing/2014/main" val="4210362223"/>
                    </a:ext>
                  </a:extLst>
                </a:gridCol>
              </a:tblGrid>
              <a:tr h="278554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対応完了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14</a:t>
                      </a:r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件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11950"/>
                  </a:ext>
                </a:extLst>
              </a:tr>
              <a:tr h="278884">
                <a:tc>
                  <a:txBody>
                    <a:bodyPr/>
                    <a:lstStyle/>
                    <a:p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修正完了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6</a:t>
                      </a:r>
                      <a:r>
                        <a:rPr lang="ja-JP" altLang="en-US" sz="1200" b="0">
                          <a:solidFill>
                            <a:schemeClr val="tx1"/>
                          </a:solidFill>
                          <a:latin typeface="BIZ UDGothic" panose="020B0400000000000000" pitchFamily="33" charset="-128"/>
                          <a:ea typeface="BIZ UDGothic" panose="020B0400000000000000" pitchFamily="33" charset="-128"/>
                        </a:rPr>
                        <a:t>件</a:t>
                      </a:r>
                      <a:endParaRPr lang="en-GB" sz="1200" b="0">
                        <a:solidFill>
                          <a:schemeClr val="tx1"/>
                        </a:solidFill>
                        <a:latin typeface="BIZ UDGothic" panose="020B0400000000000000" pitchFamily="33" charset="-128"/>
                        <a:ea typeface="BIZ UDGothic" panose="020B0400000000000000" pitchFamily="33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25468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837AF09-F4BB-B234-3EB8-DA9FD4E27997}"/>
              </a:ext>
            </a:extLst>
          </p:cNvPr>
          <p:cNvSpPr txBox="1"/>
          <p:nvPr/>
        </p:nvSpPr>
        <p:spPr>
          <a:xfrm>
            <a:off x="6877086" y="1600685"/>
            <a:ext cx="2167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Luvina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画面課題対応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状態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628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E138-9B40-9C0E-0223-5701C95A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974AE-BE0D-9420-0907-CF995852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全体進捗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4B2470-9FE5-AD88-D6B8-975798F5D138}"/>
              </a:ext>
            </a:extLst>
          </p:cNvPr>
          <p:cNvSpPr/>
          <p:nvPr/>
        </p:nvSpPr>
        <p:spPr>
          <a:xfrm>
            <a:off x="468000" y="1110147"/>
            <a:ext cx="9000000" cy="5347804"/>
          </a:xfrm>
          <a:prstGeom prst="rect">
            <a:avLst/>
          </a:prstGeom>
          <a:solidFill>
            <a:srgbClr val="FBE3D6">
              <a:alpha val="20000"/>
            </a:srgbClr>
          </a:solidFill>
          <a:ln w="95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/>
          <a:lstStyle/>
          <a:p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月度予定</a:t>
            </a:r>
            <a:endParaRPr lang="en-US" altLang="ja-JP" sz="14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・いなげや様のオフライン対応に必須な機能の開発継続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・マスタ連携　（レビュー：　連携した結果報告）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・商品階層マスタ　　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・商品マスタ　　　　　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・企画マスタ　　　　　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・特売マスタ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・組合せマスタ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・商品階層自動値引きマスタ（設計のみ）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・さんにち割データ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・営業日マスタの実装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　・担当者マスタの実装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・実績連携（</a:t>
            </a:r>
            <a:r>
              <a:rPr lang="en-US" altLang="ja-JP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 Server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</a:t>
            </a:r>
            <a:r>
              <a:rPr lang="en-US" altLang="ja-JP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API </a:t>
            </a:r>
            <a:r>
              <a:rPr lang="en-US" altLang="ja-JP" sz="12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Scan&amp;Go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）（設計）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・管理画面　（レビュー：　画面操作）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・会社マスタ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・店舗マスタ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・レジマスタ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・ジャーナル検索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・釣り銭器状況照会</a:t>
            </a:r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・エラー対応画面（対応方向に設計する）</a:t>
            </a:r>
          </a:p>
          <a:p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・インフラ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・環境再構築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・オフライン対応</a:t>
            </a:r>
          </a:p>
          <a:p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・スパ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イク環境構築</a:t>
            </a:r>
            <a:endParaRPr lang="ja-JP" altLang="en-US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GB" altLang="ja-JP" sz="1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D912C25-B4FB-320E-DED7-F0EA510E06B9}"/>
              </a:ext>
            </a:extLst>
          </p:cNvPr>
          <p:cNvSpPr/>
          <p:nvPr/>
        </p:nvSpPr>
        <p:spPr>
          <a:xfrm>
            <a:off x="576000" y="972000"/>
            <a:ext cx="1080000" cy="28800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POS-Server</a:t>
            </a:r>
            <a:endParaRPr kumimoji="1" lang="ja-JP" altLang="en-US" sz="9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4DE82-1B70-272D-5BA4-1E1525E7BC0D}"/>
              </a:ext>
            </a:extLst>
          </p:cNvPr>
          <p:cNvSpPr txBox="1"/>
          <p:nvPr/>
        </p:nvSpPr>
        <p:spPr>
          <a:xfrm>
            <a:off x="5264927" y="1533299"/>
            <a:ext cx="41013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・電子棚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の開発（設計）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・マスタインポート＋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</a:t>
            </a:r>
            <a:r>
              <a:rPr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スパイク環境構築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・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からのマスタファイル取込</a:t>
            </a:r>
            <a:b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・商品マスタ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・特売マスタ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・分類マスタ</a:t>
            </a:r>
            <a:b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MD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階層値引マスタ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・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OC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マスタ連携</a:t>
            </a:r>
            <a:endParaRPr lang="en-GB" altLang="ja-JP" sz="12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・商品マスタ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GHPLUM)</a:t>
            </a:r>
          </a:p>
          <a:p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　・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POP</a:t>
            </a:r>
            <a:r>
              <a:rPr lang="ja-JP" altLang="en-US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商品情報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GB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P001)</a:t>
            </a:r>
          </a:p>
        </p:txBody>
      </p:sp>
    </p:spTree>
    <p:extLst>
      <p:ext uri="{BB962C8B-B14F-4D97-AF65-F5344CB8AC3E}">
        <p14:creationId xmlns:p14="http://schemas.microsoft.com/office/powerpoint/2010/main" val="17215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1150-E778-DD5F-B00E-901DD076B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5EF460-6557-5C81-5A7B-36748A5D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5</a:t>
            </a:r>
            <a:r>
              <a:rPr kumimoji="1" lang="ja-JP" altLang="en-US"/>
              <a:t>月度体制</a:t>
            </a:r>
          </a:p>
        </p:txBody>
      </p:sp>
      <p:sp>
        <p:nvSpPr>
          <p:cNvPr id="52" name="Rectangle 18">
            <a:extLst>
              <a:ext uri="{FF2B5EF4-FFF2-40B4-BE49-F238E27FC236}">
                <a16:creationId xmlns:a16="http://schemas.microsoft.com/office/drawing/2014/main" id="{093979D0-388D-24CD-02E9-3A41D6A629B6}"/>
              </a:ext>
            </a:extLst>
          </p:cNvPr>
          <p:cNvSpPr/>
          <p:nvPr/>
        </p:nvSpPr>
        <p:spPr>
          <a:xfrm>
            <a:off x="564241" y="2627061"/>
            <a:ext cx="1943999" cy="428448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Tran Thai Son</a:t>
            </a: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 Chien Thang</a:t>
            </a:r>
            <a:endParaRPr kumimoji="1"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Rectangle 19">
            <a:extLst>
              <a:ext uri="{FF2B5EF4-FFF2-40B4-BE49-F238E27FC236}">
                <a16:creationId xmlns:a16="http://schemas.microsoft.com/office/drawing/2014/main" id="{42773DA1-82E9-FEB4-D9A4-8F4F4C1929B1}"/>
              </a:ext>
            </a:extLst>
          </p:cNvPr>
          <p:cNvSpPr/>
          <p:nvPr/>
        </p:nvSpPr>
        <p:spPr>
          <a:xfrm>
            <a:off x="564241" y="2331995"/>
            <a:ext cx="1943999" cy="292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ｒ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Rounded Rectangle 31">
            <a:extLst>
              <a:ext uri="{FF2B5EF4-FFF2-40B4-BE49-F238E27FC236}">
                <a16:creationId xmlns:a16="http://schemas.microsoft.com/office/drawing/2014/main" id="{2CADD246-0D95-8C0A-2DDE-52001E13B2B9}"/>
              </a:ext>
            </a:extLst>
          </p:cNvPr>
          <p:cNvSpPr/>
          <p:nvPr/>
        </p:nvSpPr>
        <p:spPr>
          <a:xfrm>
            <a:off x="434109" y="942110"/>
            <a:ext cx="6234392" cy="4412809"/>
          </a:xfrm>
          <a:prstGeom prst="roundRect">
            <a:avLst>
              <a:gd name="adj" fmla="val 2767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Rectangle 18">
            <a:extLst>
              <a:ext uri="{FF2B5EF4-FFF2-40B4-BE49-F238E27FC236}">
                <a16:creationId xmlns:a16="http://schemas.microsoft.com/office/drawing/2014/main" id="{1170267F-4A29-6519-A91B-0FA0577532A7}"/>
              </a:ext>
            </a:extLst>
          </p:cNvPr>
          <p:cNvSpPr/>
          <p:nvPr/>
        </p:nvSpPr>
        <p:spPr>
          <a:xfrm>
            <a:off x="3079959" y="232153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Phan Dai Hiep</a:t>
            </a:r>
          </a:p>
        </p:txBody>
      </p:sp>
      <p:sp>
        <p:nvSpPr>
          <p:cNvPr id="57" name="Rectangle 19">
            <a:extLst>
              <a:ext uri="{FF2B5EF4-FFF2-40B4-BE49-F238E27FC236}">
                <a16:creationId xmlns:a16="http://schemas.microsoft.com/office/drawing/2014/main" id="{FDFE1039-66DB-CF6C-DA92-A8B48BA0B787}"/>
              </a:ext>
            </a:extLst>
          </p:cNvPr>
          <p:cNvSpPr/>
          <p:nvPr/>
        </p:nvSpPr>
        <p:spPr>
          <a:xfrm>
            <a:off x="3079959" y="2033538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プロジェクトマネージャー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8" name="Rectangle 18">
            <a:extLst>
              <a:ext uri="{FF2B5EF4-FFF2-40B4-BE49-F238E27FC236}">
                <a16:creationId xmlns:a16="http://schemas.microsoft.com/office/drawing/2014/main" id="{E8AA687E-5DFE-23E3-32B2-217AAC386FFD}"/>
              </a:ext>
            </a:extLst>
          </p:cNvPr>
          <p:cNvSpPr/>
          <p:nvPr/>
        </p:nvSpPr>
        <p:spPr>
          <a:xfrm>
            <a:off x="554651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設計：</a:t>
            </a:r>
            <a:r>
              <a:rPr kumimoji="1" lang="en-GB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開発：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</a:t>
            </a:r>
            <a:r>
              <a:rPr lang="en-GB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</a:t>
            </a:r>
            <a:endParaRPr kumimoji="1"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CA212FB0-0F3D-AF66-3872-2F054AB6DE7D}"/>
              </a:ext>
            </a:extLst>
          </p:cNvPr>
          <p:cNvSpPr/>
          <p:nvPr/>
        </p:nvSpPr>
        <p:spPr>
          <a:xfrm>
            <a:off x="554651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3" name="Rectangle 18">
            <a:extLst>
              <a:ext uri="{FF2B5EF4-FFF2-40B4-BE49-F238E27FC236}">
                <a16:creationId xmlns:a16="http://schemas.microsoft.com/office/drawing/2014/main" id="{A666D4FE-AB28-7300-8256-ADF6BB87010E}"/>
              </a:ext>
            </a:extLst>
          </p:cNvPr>
          <p:cNvSpPr/>
          <p:nvPr/>
        </p:nvSpPr>
        <p:spPr>
          <a:xfrm>
            <a:off x="2120985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設計：５人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開発：</a:t>
            </a:r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５人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5" name="Rectangle 19">
            <a:extLst>
              <a:ext uri="{FF2B5EF4-FFF2-40B4-BE49-F238E27FC236}">
                <a16:creationId xmlns:a16="http://schemas.microsoft.com/office/drawing/2014/main" id="{72EADFEA-9EB3-0C7C-6C5C-044077245B63}"/>
              </a:ext>
            </a:extLst>
          </p:cNvPr>
          <p:cNvSpPr/>
          <p:nvPr/>
        </p:nvSpPr>
        <p:spPr>
          <a:xfrm>
            <a:off x="2120985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06F6A186-5665-A558-FEF8-A6B9018E9805}"/>
              </a:ext>
            </a:extLst>
          </p:cNvPr>
          <p:cNvSpPr/>
          <p:nvPr/>
        </p:nvSpPr>
        <p:spPr>
          <a:xfrm>
            <a:off x="4857006" y="1609590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清原 一敏</a:t>
            </a:r>
            <a:endParaRPr kumimoji="1"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7" name="Rectangle 19">
            <a:extLst>
              <a:ext uri="{FF2B5EF4-FFF2-40B4-BE49-F238E27FC236}">
                <a16:creationId xmlns:a16="http://schemas.microsoft.com/office/drawing/2014/main" id="{FCCDB5FB-7701-8EFC-193F-2B5290E4ABEE}"/>
              </a:ext>
            </a:extLst>
          </p:cNvPr>
          <p:cNvSpPr/>
          <p:nvPr/>
        </p:nvSpPr>
        <p:spPr>
          <a:xfrm>
            <a:off x="4857006" y="1321590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8" name="Rectangle 18">
            <a:extLst>
              <a:ext uri="{FF2B5EF4-FFF2-40B4-BE49-F238E27FC236}">
                <a16:creationId xmlns:a16="http://schemas.microsoft.com/office/drawing/2014/main" id="{00CDC6A1-BFA8-5829-5966-509138D189EE}"/>
              </a:ext>
            </a:extLst>
          </p:cNvPr>
          <p:cNvSpPr/>
          <p:nvPr/>
        </p:nvSpPr>
        <p:spPr>
          <a:xfrm>
            <a:off x="554651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Tran Van Dat</a:t>
            </a: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2F6CFD72-AD05-D728-9A9A-D9EF52B42B72}"/>
              </a:ext>
            </a:extLst>
          </p:cNvPr>
          <p:cNvSpPr/>
          <p:nvPr/>
        </p:nvSpPr>
        <p:spPr>
          <a:xfrm>
            <a:off x="554651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アプリチームリーダー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1" name="Rectangle 18">
            <a:extLst>
              <a:ext uri="{FF2B5EF4-FFF2-40B4-BE49-F238E27FC236}">
                <a16:creationId xmlns:a16="http://schemas.microsoft.com/office/drawing/2014/main" id="{4CC8733E-668E-B7C8-BD7F-8FB63BA15EB4}"/>
              </a:ext>
            </a:extLst>
          </p:cNvPr>
          <p:cNvSpPr/>
          <p:nvPr/>
        </p:nvSpPr>
        <p:spPr>
          <a:xfrm>
            <a:off x="2120985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Do Duc Anh</a:t>
            </a:r>
          </a:p>
          <a:p>
            <a:pPr algn="ctr"/>
            <a:r>
              <a:rPr lang="ja-JP" altLang="ja-JP" sz="900"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 Huu Tuyen</a:t>
            </a:r>
          </a:p>
        </p:txBody>
      </p:sp>
      <p:sp>
        <p:nvSpPr>
          <p:cNvPr id="72" name="Rectangle 19">
            <a:extLst>
              <a:ext uri="{FF2B5EF4-FFF2-40B4-BE49-F238E27FC236}">
                <a16:creationId xmlns:a16="http://schemas.microsoft.com/office/drawing/2014/main" id="{26CCEBC8-B9F0-E772-3AD1-31C1B2C7919E}"/>
              </a:ext>
            </a:extLst>
          </p:cNvPr>
          <p:cNvSpPr/>
          <p:nvPr/>
        </p:nvSpPr>
        <p:spPr>
          <a:xfrm>
            <a:off x="2120985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72000" bIns="4572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サーバーチームリーダー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いなげや</a:t>
            </a:r>
            <a:r>
              <a:rPr 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開発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39EFE4FB-4061-7617-7FCF-1C9376E50DFA}"/>
              </a:ext>
            </a:extLst>
          </p:cNvPr>
          <p:cNvSpPr/>
          <p:nvPr/>
        </p:nvSpPr>
        <p:spPr>
          <a:xfrm>
            <a:off x="498763" y="1007999"/>
            <a:ext cx="1944000" cy="1008000"/>
          </a:xfrm>
          <a:prstGeom prst="round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4" name="カギ線コネクタ 29">
            <a:extLst>
              <a:ext uri="{FF2B5EF4-FFF2-40B4-BE49-F238E27FC236}">
                <a16:creationId xmlns:a16="http://schemas.microsoft.com/office/drawing/2014/main" id="{F16440AB-4C28-2757-D7AB-798767A7ED7F}"/>
              </a:ext>
            </a:extLst>
          </p:cNvPr>
          <p:cNvCxnSpPr>
            <a:cxnSpLocks/>
          </p:cNvCxnSpPr>
          <p:nvPr/>
        </p:nvCxnSpPr>
        <p:spPr>
          <a:xfrm flipH="1" flipV="1">
            <a:off x="6620048" y="4359016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カギ線コネクタ 42">
            <a:extLst>
              <a:ext uri="{FF2B5EF4-FFF2-40B4-BE49-F238E27FC236}">
                <a16:creationId xmlns:a16="http://schemas.microsoft.com/office/drawing/2014/main" id="{358FDB8E-7475-3599-52F9-D4120594AB37}"/>
              </a:ext>
            </a:extLst>
          </p:cNvPr>
          <p:cNvCxnSpPr>
            <a:cxnSpLocks/>
            <a:stCxn id="19" idx="1"/>
            <a:endCxn id="66" idx="3"/>
          </p:cNvCxnSpPr>
          <p:nvPr/>
        </p:nvCxnSpPr>
        <p:spPr>
          <a:xfrm rot="10800000" flipV="1">
            <a:off x="6297007" y="1631268"/>
            <a:ext cx="713165" cy="194321"/>
          </a:xfrm>
          <a:prstGeom prst="bentConnector3">
            <a:avLst>
              <a:gd name="adj1" fmla="val 32192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32">
            <a:extLst>
              <a:ext uri="{FF2B5EF4-FFF2-40B4-BE49-F238E27FC236}">
                <a16:creationId xmlns:a16="http://schemas.microsoft.com/office/drawing/2014/main" id="{B028094A-5CAE-3D04-5F28-8DAF6937B556}"/>
              </a:ext>
            </a:extLst>
          </p:cNvPr>
          <p:cNvSpPr txBox="1"/>
          <p:nvPr/>
        </p:nvSpPr>
        <p:spPr>
          <a:xfrm>
            <a:off x="816188" y="1098590"/>
            <a:ext cx="1309151" cy="25538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000">
                <a:solidFill>
                  <a:schemeClr val="l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開発チーム</a:t>
            </a:r>
          </a:p>
        </p:txBody>
      </p:sp>
      <p:pic>
        <p:nvPicPr>
          <p:cNvPr id="82" name="図 92">
            <a:extLst>
              <a:ext uri="{FF2B5EF4-FFF2-40B4-BE49-F238E27FC236}">
                <a16:creationId xmlns:a16="http://schemas.microsoft.com/office/drawing/2014/main" id="{FD87368C-5813-5CF7-E7A1-46A2FB596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40" y="2658305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3" name="Rectangle 19">
            <a:extLst>
              <a:ext uri="{FF2B5EF4-FFF2-40B4-BE49-F238E27FC236}">
                <a16:creationId xmlns:a16="http://schemas.microsoft.com/office/drawing/2014/main" id="{97DF5C4B-3570-FFD9-7933-BB1F989BA96B}"/>
              </a:ext>
            </a:extLst>
          </p:cNvPr>
          <p:cNvSpPr/>
          <p:nvPr/>
        </p:nvSpPr>
        <p:spPr>
          <a:xfrm>
            <a:off x="8491189" y="4596609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QA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4" name="カギ線コネクタ 29">
            <a:extLst>
              <a:ext uri="{FF2B5EF4-FFF2-40B4-BE49-F238E27FC236}">
                <a16:creationId xmlns:a16="http://schemas.microsoft.com/office/drawing/2014/main" id="{BD8430E6-20C6-2885-D8A7-72361739FC71}"/>
              </a:ext>
            </a:extLst>
          </p:cNvPr>
          <p:cNvCxnSpPr>
            <a:cxnSpLocks/>
          </p:cNvCxnSpPr>
          <p:nvPr/>
        </p:nvCxnSpPr>
        <p:spPr>
          <a:xfrm flipH="1" flipV="1">
            <a:off x="6620048" y="4756444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図 137">
            <a:extLst>
              <a:ext uri="{FF2B5EF4-FFF2-40B4-BE49-F238E27FC236}">
                <a16:creationId xmlns:a16="http://schemas.microsoft.com/office/drawing/2014/main" id="{53C1B72D-92E5-7FD5-E4CD-02C36DA5C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925" y="4622490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6" name="TextBox 32">
            <a:extLst>
              <a:ext uri="{FF2B5EF4-FFF2-40B4-BE49-F238E27FC236}">
                <a16:creationId xmlns:a16="http://schemas.microsoft.com/office/drawing/2014/main" id="{D88638E2-2A23-5087-8A0A-34771F737FB2}"/>
              </a:ext>
            </a:extLst>
          </p:cNvPr>
          <p:cNvSpPr txBox="1"/>
          <p:nvPr/>
        </p:nvSpPr>
        <p:spPr>
          <a:xfrm>
            <a:off x="6852453" y="4596609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ルール、プロセス厳守監視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7" name="Rectangle 19">
            <a:extLst>
              <a:ext uri="{FF2B5EF4-FFF2-40B4-BE49-F238E27FC236}">
                <a16:creationId xmlns:a16="http://schemas.microsoft.com/office/drawing/2014/main" id="{664C2A8D-2BC8-ABA9-D844-E2DD9B6F1594}"/>
              </a:ext>
            </a:extLst>
          </p:cNvPr>
          <p:cNvSpPr/>
          <p:nvPr/>
        </p:nvSpPr>
        <p:spPr>
          <a:xfrm>
            <a:off x="8491189" y="4185593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SD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8" name="TextBox 32">
            <a:extLst>
              <a:ext uri="{FF2B5EF4-FFF2-40B4-BE49-F238E27FC236}">
                <a16:creationId xmlns:a16="http://schemas.microsoft.com/office/drawing/2014/main" id="{5505B130-B520-03E3-A363-1656BE5EADB6}"/>
              </a:ext>
            </a:extLst>
          </p:cNvPr>
          <p:cNvSpPr txBox="1"/>
          <p:nvPr/>
        </p:nvSpPr>
        <p:spPr>
          <a:xfrm>
            <a:off x="6852453" y="4185593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難しい技術課題解決、新しい技術研究の支援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9" name="図 88">
            <a:extLst>
              <a:ext uri="{FF2B5EF4-FFF2-40B4-BE49-F238E27FC236}">
                <a16:creationId xmlns:a16="http://schemas.microsoft.com/office/drawing/2014/main" id="{171739AE-7BB3-A981-29CD-571CB7BAF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668" y="4203070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3" name="図 137">
            <a:extLst>
              <a:ext uri="{FF2B5EF4-FFF2-40B4-BE49-F238E27FC236}">
                <a16:creationId xmlns:a16="http://schemas.microsoft.com/office/drawing/2014/main" id="{B363A78A-992B-5A15-3D64-D76AE826A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75" y="1435079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4" name="TextBox 2">
            <a:extLst>
              <a:ext uri="{FF2B5EF4-FFF2-40B4-BE49-F238E27FC236}">
                <a16:creationId xmlns:a16="http://schemas.microsoft.com/office/drawing/2014/main" id="{69FC59EB-5755-69EB-A960-ABD9D3B12EB0}"/>
              </a:ext>
            </a:extLst>
          </p:cNvPr>
          <p:cNvSpPr txBox="1"/>
          <p:nvPr/>
        </p:nvSpPr>
        <p:spPr>
          <a:xfrm>
            <a:off x="1026877" y="1394447"/>
            <a:ext cx="1129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ベトナム語対応</a:t>
            </a:r>
          </a:p>
        </p:txBody>
      </p:sp>
      <p:pic>
        <p:nvPicPr>
          <p:cNvPr id="96" name="図 138">
            <a:extLst>
              <a:ext uri="{FF2B5EF4-FFF2-40B4-BE49-F238E27FC236}">
                <a16:creationId xmlns:a16="http://schemas.microsoft.com/office/drawing/2014/main" id="{35B571E8-80E8-F34B-6486-883FBF789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75" y="1655323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7" name="TextBox 64">
            <a:extLst>
              <a:ext uri="{FF2B5EF4-FFF2-40B4-BE49-F238E27FC236}">
                <a16:creationId xmlns:a16="http://schemas.microsoft.com/office/drawing/2014/main" id="{736555B4-13EB-5465-268B-8B2130521486}"/>
              </a:ext>
            </a:extLst>
          </p:cNvPr>
          <p:cNvSpPr txBox="1"/>
          <p:nvPr/>
        </p:nvSpPr>
        <p:spPr>
          <a:xfrm>
            <a:off x="1050807" y="1613548"/>
            <a:ext cx="10665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日本語対応</a:t>
            </a:r>
          </a:p>
        </p:txBody>
      </p:sp>
      <p:sp>
        <p:nvSpPr>
          <p:cNvPr id="100" name="Rectangle 19">
            <a:extLst>
              <a:ext uri="{FF2B5EF4-FFF2-40B4-BE49-F238E27FC236}">
                <a16:creationId xmlns:a16="http://schemas.microsoft.com/office/drawing/2014/main" id="{58B8D184-4CF5-B10D-82E9-81ECC398CE5B}"/>
              </a:ext>
            </a:extLst>
          </p:cNvPr>
          <p:cNvSpPr/>
          <p:nvPr/>
        </p:nvSpPr>
        <p:spPr>
          <a:xfrm>
            <a:off x="8491189" y="3748886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PMO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1" name="図 138">
            <a:extLst>
              <a:ext uri="{FF2B5EF4-FFF2-40B4-BE49-F238E27FC236}">
                <a16:creationId xmlns:a16="http://schemas.microsoft.com/office/drawing/2014/main" id="{92638632-34D1-94B3-384C-A40FAAFE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318" y="3945221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2" name="図 139">
            <a:extLst>
              <a:ext uri="{FF2B5EF4-FFF2-40B4-BE49-F238E27FC236}">
                <a16:creationId xmlns:a16="http://schemas.microsoft.com/office/drawing/2014/main" id="{C3E07828-C5AA-EFE9-1D2F-D7623005B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318" y="376599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03" name="カギ線コネクタ 29">
            <a:extLst>
              <a:ext uri="{FF2B5EF4-FFF2-40B4-BE49-F238E27FC236}">
                <a16:creationId xmlns:a16="http://schemas.microsoft.com/office/drawing/2014/main" id="{FB485624-23FF-D9D9-6C40-73598F519957}"/>
              </a:ext>
            </a:extLst>
          </p:cNvPr>
          <p:cNvCxnSpPr>
            <a:cxnSpLocks/>
          </p:cNvCxnSpPr>
          <p:nvPr/>
        </p:nvCxnSpPr>
        <p:spPr>
          <a:xfrm flipH="1" flipV="1">
            <a:off x="6620048" y="3910809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32">
            <a:extLst>
              <a:ext uri="{FF2B5EF4-FFF2-40B4-BE49-F238E27FC236}">
                <a16:creationId xmlns:a16="http://schemas.microsoft.com/office/drawing/2014/main" id="{BD5D2FB4-9FD1-D326-EE13-EDD506F7FF29}"/>
              </a:ext>
            </a:extLst>
          </p:cNvPr>
          <p:cNvSpPr txBox="1"/>
          <p:nvPr/>
        </p:nvSpPr>
        <p:spPr>
          <a:xfrm>
            <a:off x="6852453" y="3748886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のマネジメントを監視・支援・アドバイザー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5" name="図 81">
            <a:extLst>
              <a:ext uri="{FF2B5EF4-FFF2-40B4-BE49-F238E27FC236}">
                <a16:creationId xmlns:a16="http://schemas.microsoft.com/office/drawing/2014/main" id="{8A96B7B6-63A8-255C-5604-F298F13FF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27" y="4827332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6" name="図 81">
            <a:extLst>
              <a:ext uri="{FF2B5EF4-FFF2-40B4-BE49-F238E27FC236}">
                <a16:creationId xmlns:a16="http://schemas.microsoft.com/office/drawing/2014/main" id="{185A432A-B13B-D2AF-22A3-BB69C8DE0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06" y="4827332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7" name="図 80">
            <a:extLst>
              <a:ext uri="{FF2B5EF4-FFF2-40B4-BE49-F238E27FC236}">
                <a16:creationId xmlns:a16="http://schemas.microsoft.com/office/drawing/2014/main" id="{DBDCBB4A-6677-500E-5D94-FC5285F40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633" y="2825941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8" name="Rectangle 19">
            <a:extLst>
              <a:ext uri="{FF2B5EF4-FFF2-40B4-BE49-F238E27FC236}">
                <a16:creationId xmlns:a16="http://schemas.microsoft.com/office/drawing/2014/main" id="{889737CB-4D45-F52B-88C0-1919BA8D026F}"/>
              </a:ext>
            </a:extLst>
          </p:cNvPr>
          <p:cNvSpPr/>
          <p:nvPr/>
        </p:nvSpPr>
        <p:spPr>
          <a:xfrm>
            <a:off x="8491189" y="3348705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AMO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9" name="カギ線コネクタ 29">
            <a:extLst>
              <a:ext uri="{FF2B5EF4-FFF2-40B4-BE49-F238E27FC236}">
                <a16:creationId xmlns:a16="http://schemas.microsoft.com/office/drawing/2014/main" id="{3092DDC8-82D6-CFB4-AE45-75F7E58CC86C}"/>
              </a:ext>
            </a:extLst>
          </p:cNvPr>
          <p:cNvCxnSpPr>
            <a:cxnSpLocks/>
          </p:cNvCxnSpPr>
          <p:nvPr/>
        </p:nvCxnSpPr>
        <p:spPr>
          <a:xfrm flipH="1">
            <a:off x="6620048" y="3530101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図 138">
            <a:extLst>
              <a:ext uri="{FF2B5EF4-FFF2-40B4-BE49-F238E27FC236}">
                <a16:creationId xmlns:a16="http://schemas.microsoft.com/office/drawing/2014/main" id="{FEA92C35-0755-0BCD-16DF-ECFEE6C6C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950" y="3541405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1" name="図 139">
            <a:extLst>
              <a:ext uri="{FF2B5EF4-FFF2-40B4-BE49-F238E27FC236}">
                <a16:creationId xmlns:a16="http://schemas.microsoft.com/office/drawing/2014/main" id="{E132B683-3B23-FAC8-037E-56E12837A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7950" y="3368531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2" name="TextBox 32">
            <a:extLst>
              <a:ext uri="{FF2B5EF4-FFF2-40B4-BE49-F238E27FC236}">
                <a16:creationId xmlns:a16="http://schemas.microsoft.com/office/drawing/2014/main" id="{16C5AD08-0654-FEE4-6DCD-020EB5E03EA5}"/>
              </a:ext>
            </a:extLst>
          </p:cNvPr>
          <p:cNvSpPr txBox="1"/>
          <p:nvPr/>
        </p:nvSpPr>
        <p:spPr>
          <a:xfrm>
            <a:off x="6852453" y="3348705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契約・請求・事務支援</a:t>
            </a:r>
          </a:p>
        </p:txBody>
      </p:sp>
      <p:cxnSp>
        <p:nvCxnSpPr>
          <p:cNvPr id="113" name="カギ線コネクタ 42">
            <a:extLst>
              <a:ext uri="{FF2B5EF4-FFF2-40B4-BE49-F238E27FC236}">
                <a16:creationId xmlns:a16="http://schemas.microsoft.com/office/drawing/2014/main" id="{B26FC498-5AE9-00D1-B518-D3FF3C58AEAD}"/>
              </a:ext>
            </a:extLst>
          </p:cNvPr>
          <p:cNvCxnSpPr>
            <a:cxnSpLocks/>
            <a:stCxn id="13" idx="1"/>
            <a:endCxn id="108" idx="0"/>
          </p:cNvCxnSpPr>
          <p:nvPr/>
        </p:nvCxnSpPr>
        <p:spPr>
          <a:xfrm rot="10800000" flipH="1" flipV="1">
            <a:off x="7010171" y="1182531"/>
            <a:ext cx="2021018" cy="2166173"/>
          </a:xfrm>
          <a:prstGeom prst="bentConnector4">
            <a:avLst>
              <a:gd name="adj1" fmla="val -11311"/>
              <a:gd name="adj2" fmla="val 62656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カギ線コネクタ 42">
            <a:extLst>
              <a:ext uri="{FF2B5EF4-FFF2-40B4-BE49-F238E27FC236}">
                <a16:creationId xmlns:a16="http://schemas.microsoft.com/office/drawing/2014/main" id="{5E146C13-E8F0-E045-4D3C-F761B4B69DDF}"/>
              </a:ext>
            </a:extLst>
          </p:cNvPr>
          <p:cNvCxnSpPr>
            <a:cxnSpLocks/>
            <a:stCxn id="68" idx="2"/>
            <a:endCxn id="59" idx="0"/>
          </p:cNvCxnSpPr>
          <p:nvPr/>
        </p:nvCxnSpPr>
        <p:spPr>
          <a:xfrm>
            <a:off x="1274651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カギ線コネクタ 42">
            <a:extLst>
              <a:ext uri="{FF2B5EF4-FFF2-40B4-BE49-F238E27FC236}">
                <a16:creationId xmlns:a16="http://schemas.microsoft.com/office/drawing/2014/main" id="{C6012850-FC3D-B736-E792-1E58358313D0}"/>
              </a:ext>
            </a:extLst>
          </p:cNvPr>
          <p:cNvCxnSpPr>
            <a:cxnSpLocks/>
            <a:stCxn id="71" idx="2"/>
            <a:endCxn id="65" idx="0"/>
          </p:cNvCxnSpPr>
          <p:nvPr/>
        </p:nvCxnSpPr>
        <p:spPr>
          <a:xfrm>
            <a:off x="2840985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カギ線コネクタ 42">
            <a:extLst>
              <a:ext uri="{FF2B5EF4-FFF2-40B4-BE49-F238E27FC236}">
                <a16:creationId xmlns:a16="http://schemas.microsoft.com/office/drawing/2014/main" id="{3B5EFFCB-728C-F4D6-BB81-088BA4F419B0}"/>
              </a:ext>
            </a:extLst>
          </p:cNvPr>
          <p:cNvCxnSpPr>
            <a:cxnSpLocks/>
            <a:stCxn id="56" idx="2"/>
            <a:endCxn id="52" idx="3"/>
          </p:cNvCxnSpPr>
          <p:nvPr/>
        </p:nvCxnSpPr>
        <p:spPr>
          <a:xfrm rot="5400000">
            <a:off x="3110227" y="2151553"/>
            <a:ext cx="87746" cy="1291719"/>
          </a:xfrm>
          <a:prstGeom prst="bentConnector2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図 92">
            <a:extLst>
              <a:ext uri="{FF2B5EF4-FFF2-40B4-BE49-F238E27FC236}">
                <a16:creationId xmlns:a16="http://schemas.microsoft.com/office/drawing/2014/main" id="{F33986D3-ADC8-3F87-320D-6CE03C772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27" y="39619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9" name="図 80">
            <a:extLst>
              <a:ext uri="{FF2B5EF4-FFF2-40B4-BE49-F238E27FC236}">
                <a16:creationId xmlns:a16="http://schemas.microsoft.com/office/drawing/2014/main" id="{C88D76F4-BA87-7F48-D8FB-0AF972AD2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833" y="1637336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87155339-5049-4C38-896A-4330ECF233A6}"/>
              </a:ext>
            </a:extLst>
          </p:cNvPr>
          <p:cNvSpPr/>
          <p:nvPr/>
        </p:nvSpPr>
        <p:spPr>
          <a:xfrm>
            <a:off x="434110" y="5452044"/>
            <a:ext cx="9107054" cy="1027811"/>
          </a:xfrm>
          <a:prstGeom prst="rect">
            <a:avLst/>
          </a:prstGeom>
          <a:solidFill>
            <a:srgbClr val="FBE3D6">
              <a:alpha val="20000"/>
            </a:srgbClr>
          </a:solidFill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人事変更</a:t>
            </a:r>
            <a:endParaRPr lang="en-GB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追加： </a:t>
            </a:r>
            <a:endParaRPr lang="en-GB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・インフラチーム（担当：大谷　雅味）</a:t>
            </a:r>
            <a:endParaRPr lang="en-GB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 ・サーバーチーム（</a:t>
            </a:r>
            <a:r>
              <a:rPr 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カスミ開発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）</a:t>
            </a:r>
            <a:r>
              <a:rPr lang="zh-CN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（担当：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Nguyen Van Tien</a:t>
            </a:r>
            <a:r>
              <a:rPr lang="zh-CN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  <a:p>
            <a:endParaRPr lang="en-US" altLang="ja-JP"/>
          </a:p>
        </p:txBody>
      </p:sp>
      <p:pic>
        <p:nvPicPr>
          <p:cNvPr id="121" name="図 92">
            <a:extLst>
              <a:ext uri="{FF2B5EF4-FFF2-40B4-BE49-F238E27FC236}">
                <a16:creationId xmlns:a16="http://schemas.microsoft.com/office/drawing/2014/main" id="{228D6EEF-45BB-1A64-ED10-D53597EB9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269" y="2366955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2" name="図 80">
            <a:extLst>
              <a:ext uri="{FF2B5EF4-FFF2-40B4-BE49-F238E27FC236}">
                <a16:creationId xmlns:a16="http://schemas.microsoft.com/office/drawing/2014/main" id="{668968B4-6C2B-335B-51E0-68977F1D6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662" y="2551423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23" name="カギ線コネクタ 42">
            <a:extLst>
              <a:ext uri="{FF2B5EF4-FFF2-40B4-BE49-F238E27FC236}">
                <a16:creationId xmlns:a16="http://schemas.microsoft.com/office/drawing/2014/main" id="{A600A9E9-A1CB-E115-980A-6C15AE08B3C5}"/>
              </a:ext>
            </a:extLst>
          </p:cNvPr>
          <p:cNvCxnSpPr>
            <a:cxnSpLocks/>
            <a:stCxn id="56" idx="2"/>
            <a:endCxn id="70" idx="0"/>
          </p:cNvCxnSpPr>
          <p:nvPr/>
        </p:nvCxnSpPr>
        <p:spPr>
          <a:xfrm rot="5400000">
            <a:off x="2092247" y="1935943"/>
            <a:ext cx="890117" cy="2525308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カギ線コネクタ 42">
            <a:extLst>
              <a:ext uri="{FF2B5EF4-FFF2-40B4-BE49-F238E27FC236}">
                <a16:creationId xmlns:a16="http://schemas.microsoft.com/office/drawing/2014/main" id="{BD9EFBF0-5B19-9F6C-9F3A-7D96B9047C43}"/>
              </a:ext>
            </a:extLst>
          </p:cNvPr>
          <p:cNvCxnSpPr>
            <a:cxnSpLocks/>
            <a:stCxn id="56" idx="2"/>
            <a:endCxn id="72" idx="0"/>
          </p:cNvCxnSpPr>
          <p:nvPr/>
        </p:nvCxnSpPr>
        <p:spPr>
          <a:xfrm rot="5400000">
            <a:off x="2875414" y="2719110"/>
            <a:ext cx="890117" cy="958974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図 92">
            <a:extLst>
              <a:ext uri="{FF2B5EF4-FFF2-40B4-BE49-F238E27FC236}">
                <a16:creationId xmlns:a16="http://schemas.microsoft.com/office/drawing/2014/main" id="{2D8E3B7F-3141-D7D5-6848-AF71467C3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06" y="39619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7" name="Rectangle 18">
            <a:extLst>
              <a:ext uri="{FF2B5EF4-FFF2-40B4-BE49-F238E27FC236}">
                <a16:creationId xmlns:a16="http://schemas.microsoft.com/office/drawing/2014/main" id="{5EE69BAC-9A84-8852-ECC0-B88C455A54D5}"/>
              </a:ext>
            </a:extLst>
          </p:cNvPr>
          <p:cNvSpPr/>
          <p:nvPr/>
        </p:nvSpPr>
        <p:spPr>
          <a:xfrm>
            <a:off x="3079959" y="1412601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Le Thi Xoa</a:t>
            </a:r>
          </a:p>
        </p:txBody>
      </p:sp>
      <p:sp>
        <p:nvSpPr>
          <p:cNvPr id="128" name="Rectangle 19">
            <a:extLst>
              <a:ext uri="{FF2B5EF4-FFF2-40B4-BE49-F238E27FC236}">
                <a16:creationId xmlns:a16="http://schemas.microsoft.com/office/drawing/2014/main" id="{7A0EF48E-BBD9-F2AD-C61A-873650272DF3}"/>
              </a:ext>
            </a:extLst>
          </p:cNvPr>
          <p:cNvSpPr/>
          <p:nvPr/>
        </p:nvSpPr>
        <p:spPr>
          <a:xfrm>
            <a:off x="3079959" y="1124601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開発部長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9" name="図 92">
            <a:extLst>
              <a:ext uri="{FF2B5EF4-FFF2-40B4-BE49-F238E27FC236}">
                <a16:creationId xmlns:a16="http://schemas.microsoft.com/office/drawing/2014/main" id="{47DE394C-7584-EAD3-461B-A3123202F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269" y="144531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30" name="図 80">
            <a:extLst>
              <a:ext uri="{FF2B5EF4-FFF2-40B4-BE49-F238E27FC236}">
                <a16:creationId xmlns:a16="http://schemas.microsoft.com/office/drawing/2014/main" id="{AE90B923-7A31-E3EF-BFC7-3B2DEC0DE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269" y="1629785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131" name="カギ線コネクタ 42">
            <a:extLst>
              <a:ext uri="{FF2B5EF4-FFF2-40B4-BE49-F238E27FC236}">
                <a16:creationId xmlns:a16="http://schemas.microsoft.com/office/drawing/2014/main" id="{22F2AE7B-E59A-E7C1-A2AF-A913430C3697}"/>
              </a:ext>
            </a:extLst>
          </p:cNvPr>
          <p:cNvCxnSpPr>
            <a:cxnSpLocks/>
            <a:stCxn id="127" idx="2"/>
            <a:endCxn id="57" idx="0"/>
          </p:cNvCxnSpPr>
          <p:nvPr/>
        </p:nvCxnSpPr>
        <p:spPr>
          <a:xfrm>
            <a:off x="3799959" y="1844601"/>
            <a:ext cx="0" cy="188937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9">
            <a:extLst>
              <a:ext uri="{FF2B5EF4-FFF2-40B4-BE49-F238E27FC236}">
                <a16:creationId xmlns:a16="http://schemas.microsoft.com/office/drawing/2014/main" id="{278B42EB-7835-A89C-0F0D-57EE7047D04B}"/>
              </a:ext>
            </a:extLst>
          </p:cNvPr>
          <p:cNvSpPr/>
          <p:nvPr/>
        </p:nvSpPr>
        <p:spPr>
          <a:xfrm>
            <a:off x="8491380" y="5003756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日本語指導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カギ線コネクタ 29">
            <a:extLst>
              <a:ext uri="{FF2B5EF4-FFF2-40B4-BE49-F238E27FC236}">
                <a16:creationId xmlns:a16="http://schemas.microsoft.com/office/drawing/2014/main" id="{18714929-001D-DBE7-92F0-36847CD0DC60}"/>
              </a:ext>
            </a:extLst>
          </p:cNvPr>
          <p:cNvCxnSpPr>
            <a:cxnSpLocks/>
          </p:cNvCxnSpPr>
          <p:nvPr/>
        </p:nvCxnSpPr>
        <p:spPr>
          <a:xfrm flipH="1" flipV="1">
            <a:off x="6620239" y="5163591"/>
            <a:ext cx="16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図 137">
            <a:extLst>
              <a:ext uri="{FF2B5EF4-FFF2-40B4-BE49-F238E27FC236}">
                <a16:creationId xmlns:a16="http://schemas.microsoft.com/office/drawing/2014/main" id="{72CB5779-3C4A-D44D-5347-6E29181D8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116" y="51752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7" name="TextBox 32">
            <a:extLst>
              <a:ext uri="{FF2B5EF4-FFF2-40B4-BE49-F238E27FC236}">
                <a16:creationId xmlns:a16="http://schemas.microsoft.com/office/drawing/2014/main" id="{6CE9B53F-FC12-D707-DE18-687B3AC181E9}"/>
              </a:ext>
            </a:extLst>
          </p:cNvPr>
          <p:cNvSpPr txBox="1"/>
          <p:nvPr/>
        </p:nvSpPr>
        <p:spPr>
          <a:xfrm>
            <a:off x="6852644" y="5003756"/>
            <a:ext cx="1584000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日本語のサポート</a:t>
            </a:r>
            <a:endParaRPr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8" name="図 80">
            <a:extLst>
              <a:ext uri="{FF2B5EF4-FFF2-40B4-BE49-F238E27FC236}">
                <a16:creationId xmlns:a16="http://schemas.microsoft.com/office/drawing/2014/main" id="{5D77610D-8343-1EBB-E8D0-E4BFF7976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950" y="5009512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0" name="Rectangle 18">
            <a:extLst>
              <a:ext uri="{FF2B5EF4-FFF2-40B4-BE49-F238E27FC236}">
                <a16:creationId xmlns:a16="http://schemas.microsoft.com/office/drawing/2014/main" id="{74D433E0-2BA3-BC4A-5379-DC253A754C0A}"/>
              </a:ext>
            </a:extLst>
          </p:cNvPr>
          <p:cNvSpPr/>
          <p:nvPr/>
        </p:nvSpPr>
        <p:spPr>
          <a:xfrm>
            <a:off x="5099088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※Cresco</a:t>
            </a:r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社サポート</a:t>
            </a:r>
            <a:endParaRPr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２名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45A96FBB-13CE-77DF-23C5-0E07F7795202}"/>
              </a:ext>
            </a:extLst>
          </p:cNvPr>
          <p:cNvSpPr/>
          <p:nvPr/>
        </p:nvSpPr>
        <p:spPr>
          <a:xfrm>
            <a:off x="5099088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インフラチーム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B0C5C448-B9F8-2EDE-E5D5-080375BC8A3B}"/>
              </a:ext>
            </a:extLst>
          </p:cNvPr>
          <p:cNvSpPr/>
          <p:nvPr/>
        </p:nvSpPr>
        <p:spPr>
          <a:xfrm>
            <a:off x="5099088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大谷　雅味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28D207AD-F2E1-34FD-A13D-25CA3395E347}"/>
              </a:ext>
            </a:extLst>
          </p:cNvPr>
          <p:cNvSpPr/>
          <p:nvPr/>
        </p:nvSpPr>
        <p:spPr>
          <a:xfrm>
            <a:off x="5099088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インフラチームリーダー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5" name="カギ線コネクタ 42">
            <a:extLst>
              <a:ext uri="{FF2B5EF4-FFF2-40B4-BE49-F238E27FC236}">
                <a16:creationId xmlns:a16="http://schemas.microsoft.com/office/drawing/2014/main" id="{FC7C7F21-7184-0F38-F6E3-D9DF017FCC0C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5819088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図 80">
            <a:extLst>
              <a:ext uri="{FF2B5EF4-FFF2-40B4-BE49-F238E27FC236}">
                <a16:creationId xmlns:a16="http://schemas.microsoft.com/office/drawing/2014/main" id="{3561F709-DB5F-5E1D-4560-4B5D802F9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446" y="3961987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8" name="図 80">
            <a:extLst>
              <a:ext uri="{FF2B5EF4-FFF2-40B4-BE49-F238E27FC236}">
                <a16:creationId xmlns:a16="http://schemas.microsoft.com/office/drawing/2014/main" id="{A420D920-348A-1832-7DB6-A555D1CCF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446" y="4827332"/>
            <a:ext cx="216394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29" name="カギ線コネクタ 42">
            <a:extLst>
              <a:ext uri="{FF2B5EF4-FFF2-40B4-BE49-F238E27FC236}">
                <a16:creationId xmlns:a16="http://schemas.microsoft.com/office/drawing/2014/main" id="{726E0037-BA08-A0C1-DF7C-C162B358DE77}"/>
              </a:ext>
            </a:extLst>
          </p:cNvPr>
          <p:cNvCxnSpPr>
            <a:cxnSpLocks/>
            <a:stCxn id="56" idx="2"/>
            <a:endCxn id="23" idx="0"/>
          </p:cNvCxnSpPr>
          <p:nvPr/>
        </p:nvCxnSpPr>
        <p:spPr>
          <a:xfrm rot="16200000" flipH="1">
            <a:off x="4364465" y="2189032"/>
            <a:ext cx="890117" cy="2019129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カギ線コネクタ 42">
            <a:extLst>
              <a:ext uri="{FF2B5EF4-FFF2-40B4-BE49-F238E27FC236}">
                <a16:creationId xmlns:a16="http://schemas.microsoft.com/office/drawing/2014/main" id="{AC22C863-BC47-77F8-B1D7-051B75016332}"/>
              </a:ext>
            </a:extLst>
          </p:cNvPr>
          <p:cNvCxnSpPr>
            <a:cxnSpLocks/>
            <a:stCxn id="56" idx="3"/>
            <a:endCxn id="108" idx="0"/>
          </p:cNvCxnSpPr>
          <p:nvPr/>
        </p:nvCxnSpPr>
        <p:spPr>
          <a:xfrm>
            <a:off x="4519959" y="2537539"/>
            <a:ext cx="4511230" cy="811166"/>
          </a:xfrm>
          <a:prstGeom prst="bentConnector2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カギ線コネクタ 42">
            <a:extLst>
              <a:ext uri="{FF2B5EF4-FFF2-40B4-BE49-F238E27FC236}">
                <a16:creationId xmlns:a16="http://schemas.microsoft.com/office/drawing/2014/main" id="{1B80BCCA-1B38-952C-41C3-CD61F7CB7E63}"/>
              </a:ext>
            </a:extLst>
          </p:cNvPr>
          <p:cNvCxnSpPr>
            <a:cxnSpLocks/>
            <a:stCxn id="66" idx="2"/>
            <a:endCxn id="56" idx="3"/>
          </p:cNvCxnSpPr>
          <p:nvPr/>
        </p:nvCxnSpPr>
        <p:spPr>
          <a:xfrm rot="5400000">
            <a:off x="4800509" y="1761041"/>
            <a:ext cx="495949" cy="1057047"/>
          </a:xfrm>
          <a:prstGeom prst="bentConnector2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8">
            <a:extLst>
              <a:ext uri="{FF2B5EF4-FFF2-40B4-BE49-F238E27FC236}">
                <a16:creationId xmlns:a16="http://schemas.microsoft.com/office/drawing/2014/main" id="{D8921E34-6FB7-E3C6-3473-DC703815085C}"/>
              </a:ext>
            </a:extLst>
          </p:cNvPr>
          <p:cNvSpPr/>
          <p:nvPr/>
        </p:nvSpPr>
        <p:spPr>
          <a:xfrm>
            <a:off x="3604352" y="4797129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設計：３人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開発：１人</a:t>
            </a:r>
            <a:endParaRPr kumimoji="1" lang="en-US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F670BFA-D3CC-F557-E0FF-245ADD48B2E2}"/>
              </a:ext>
            </a:extLst>
          </p:cNvPr>
          <p:cNvSpPr/>
          <p:nvPr/>
        </p:nvSpPr>
        <p:spPr>
          <a:xfrm>
            <a:off x="3604352" y="4509129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7200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9711FFE-24B7-FF7E-A921-138B8332B4B9}"/>
              </a:ext>
            </a:extLst>
          </p:cNvPr>
          <p:cNvSpPr/>
          <p:nvPr/>
        </p:nvSpPr>
        <p:spPr>
          <a:xfrm>
            <a:off x="3604352" y="3931656"/>
            <a:ext cx="1440000" cy="432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72000" bIns="45720" rtlCol="0" anchor="ctr"/>
          <a:lstStyle/>
          <a:p>
            <a:pPr algn="ctr"/>
            <a:r>
              <a:rPr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Nguyen Van Tien</a:t>
            </a:r>
            <a:endParaRPr lang="en-US" altLang="ja-JP" sz="900"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B0530536-302E-DA58-F838-1B502955323E}"/>
              </a:ext>
            </a:extLst>
          </p:cNvPr>
          <p:cNvSpPr/>
          <p:nvPr/>
        </p:nvSpPr>
        <p:spPr>
          <a:xfrm>
            <a:off x="3604352" y="3643656"/>
            <a:ext cx="1440000" cy="28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45720" rIns="72000" bIns="4572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サーバーチームリーダー</a:t>
            </a:r>
            <a:endParaRPr kumimoji="1" lang="en-GB" altLang="ja-JP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/>
              </a:rPr>
              <a:t>カスミ開発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/>
            </a:endParaRPr>
          </a:p>
        </p:txBody>
      </p:sp>
      <p:pic>
        <p:nvPicPr>
          <p:cNvPr id="7" name="図 81">
            <a:extLst>
              <a:ext uri="{FF2B5EF4-FFF2-40B4-BE49-F238E27FC236}">
                <a16:creationId xmlns:a16="http://schemas.microsoft.com/office/drawing/2014/main" id="{964C80D9-7E27-1FFE-F1AD-298DE1C96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73" y="4827332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8" name="カギ線コネクタ 42">
            <a:extLst>
              <a:ext uri="{FF2B5EF4-FFF2-40B4-BE49-F238E27FC236}">
                <a16:creationId xmlns:a16="http://schemas.microsoft.com/office/drawing/2014/main" id="{8DF7C73D-4482-DC7C-01F4-AB19E136C3C5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4324352" y="4363656"/>
            <a:ext cx="0" cy="145473"/>
          </a:xfrm>
          <a:prstGeom prst="straightConnector1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92">
            <a:extLst>
              <a:ext uri="{FF2B5EF4-FFF2-40B4-BE49-F238E27FC236}">
                <a16:creationId xmlns:a16="http://schemas.microsoft.com/office/drawing/2014/main" id="{1CF68BB2-ECED-0561-5A3C-B28B46DE4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73" y="3961987"/>
            <a:ext cx="217180" cy="14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E8D024-D4AD-5C9A-E21E-42E3AF495BA8}"/>
              </a:ext>
            </a:extLst>
          </p:cNvPr>
          <p:cNvSpPr txBox="1"/>
          <p:nvPr/>
        </p:nvSpPr>
        <p:spPr>
          <a:xfrm>
            <a:off x="4609498" y="5602798"/>
            <a:ext cx="42944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変更：</a:t>
            </a:r>
            <a:endParaRPr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BrSE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 Mai Anh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Chien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Thang</a:t>
            </a:r>
          </a:p>
          <a:p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 </a:t>
            </a:r>
            <a:r>
              <a:rPr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Nguyen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GB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Tien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GB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Huy</a:t>
            </a:r>
            <a:r>
              <a:rPr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 </a:t>
            </a:r>
            <a:r>
              <a:rPr lang="en-GB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Phan Dai Hiep</a:t>
            </a: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C7ABAD8D-FA6D-F186-378E-041E04954A04}"/>
              </a:ext>
            </a:extLst>
          </p:cNvPr>
          <p:cNvSpPr/>
          <p:nvPr/>
        </p:nvSpPr>
        <p:spPr>
          <a:xfrm>
            <a:off x="7010171" y="1002532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安藤様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1D30947D-3FC8-53B8-0713-86C372C6D39A}"/>
              </a:ext>
            </a:extLst>
          </p:cNvPr>
          <p:cNvSpPr/>
          <p:nvPr/>
        </p:nvSpPr>
        <p:spPr>
          <a:xfrm>
            <a:off x="7010171" y="1451269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杉本様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DB0A934B-1B41-D8CF-AFFE-D7DBDCFC68C4}"/>
              </a:ext>
            </a:extLst>
          </p:cNvPr>
          <p:cNvSpPr/>
          <p:nvPr/>
        </p:nvSpPr>
        <p:spPr>
          <a:xfrm>
            <a:off x="7010171" y="1900007"/>
            <a:ext cx="1080000" cy="3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 柿崎様</a:t>
            </a:r>
            <a:endParaRPr 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4" name="TextBox 32">
            <a:extLst>
              <a:ext uri="{FF2B5EF4-FFF2-40B4-BE49-F238E27FC236}">
                <a16:creationId xmlns:a16="http://schemas.microsoft.com/office/drawing/2014/main" id="{2B935C30-8574-25BF-747C-5E86523AE4A2}"/>
              </a:ext>
            </a:extLst>
          </p:cNvPr>
          <p:cNvSpPr txBox="1"/>
          <p:nvPr/>
        </p:nvSpPr>
        <p:spPr>
          <a:xfrm>
            <a:off x="8565807" y="2711873"/>
            <a:ext cx="930763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契約・請求</a:t>
            </a:r>
          </a:p>
        </p:txBody>
      </p:sp>
      <p:cxnSp>
        <p:nvCxnSpPr>
          <p:cNvPr id="30" name="カギ線コネクタ 42">
            <a:extLst>
              <a:ext uri="{FF2B5EF4-FFF2-40B4-BE49-F238E27FC236}">
                <a16:creationId xmlns:a16="http://schemas.microsoft.com/office/drawing/2014/main" id="{B7B7590B-0B62-FF45-388B-4D01C81DDE07}"/>
              </a:ext>
            </a:extLst>
          </p:cNvPr>
          <p:cNvCxnSpPr>
            <a:cxnSpLocks/>
            <a:stCxn id="13" idx="1"/>
            <a:endCxn id="66" idx="3"/>
          </p:cNvCxnSpPr>
          <p:nvPr/>
        </p:nvCxnSpPr>
        <p:spPr>
          <a:xfrm rot="10800000" flipV="1">
            <a:off x="6297007" y="1182532"/>
            <a:ext cx="713165" cy="643058"/>
          </a:xfrm>
          <a:prstGeom prst="bentConnector3">
            <a:avLst>
              <a:gd name="adj1" fmla="val 32192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42">
            <a:extLst>
              <a:ext uri="{FF2B5EF4-FFF2-40B4-BE49-F238E27FC236}">
                <a16:creationId xmlns:a16="http://schemas.microsoft.com/office/drawing/2014/main" id="{96E96E09-771E-4857-003B-3689E1EFCB02}"/>
              </a:ext>
            </a:extLst>
          </p:cNvPr>
          <p:cNvCxnSpPr>
            <a:cxnSpLocks/>
            <a:stCxn id="24" idx="1"/>
            <a:endCxn id="66" idx="3"/>
          </p:cNvCxnSpPr>
          <p:nvPr/>
        </p:nvCxnSpPr>
        <p:spPr>
          <a:xfrm rot="10800000">
            <a:off x="6297007" y="1825591"/>
            <a:ext cx="713165" cy="254417"/>
          </a:xfrm>
          <a:prstGeom prst="bentConnector3">
            <a:avLst>
              <a:gd name="adj1" fmla="val 32192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32">
            <a:extLst>
              <a:ext uri="{FF2B5EF4-FFF2-40B4-BE49-F238E27FC236}">
                <a16:creationId xmlns:a16="http://schemas.microsoft.com/office/drawing/2014/main" id="{F48C4B2A-A0C1-F3C8-18AA-BEF9B7876E81}"/>
              </a:ext>
            </a:extLst>
          </p:cNvPr>
          <p:cNvSpPr txBox="1"/>
          <p:nvPr/>
        </p:nvSpPr>
        <p:spPr>
          <a:xfrm>
            <a:off x="8147050" y="1011435"/>
            <a:ext cx="1416012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要件定義のサポート</a:t>
            </a:r>
          </a:p>
        </p:txBody>
      </p:sp>
      <p:sp>
        <p:nvSpPr>
          <p:cNvPr id="49" name="TextBox 32">
            <a:extLst>
              <a:ext uri="{FF2B5EF4-FFF2-40B4-BE49-F238E27FC236}">
                <a16:creationId xmlns:a16="http://schemas.microsoft.com/office/drawing/2014/main" id="{09AE4A6C-7F28-447A-16EE-6D3FA4E0E5C1}"/>
              </a:ext>
            </a:extLst>
          </p:cNvPr>
          <p:cNvSpPr txBox="1"/>
          <p:nvPr/>
        </p:nvSpPr>
        <p:spPr>
          <a:xfrm>
            <a:off x="8155177" y="1438610"/>
            <a:ext cx="1416012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機能詳細のサポート</a:t>
            </a:r>
          </a:p>
        </p:txBody>
      </p:sp>
      <p:sp>
        <p:nvSpPr>
          <p:cNvPr id="50" name="TextBox 32">
            <a:extLst>
              <a:ext uri="{FF2B5EF4-FFF2-40B4-BE49-F238E27FC236}">
                <a16:creationId xmlns:a16="http://schemas.microsoft.com/office/drawing/2014/main" id="{96D068F0-6CE9-CA4A-D865-F4F8E73BDC9F}"/>
              </a:ext>
            </a:extLst>
          </p:cNvPr>
          <p:cNvSpPr txBox="1"/>
          <p:nvPr/>
        </p:nvSpPr>
        <p:spPr>
          <a:xfrm>
            <a:off x="8155177" y="1902187"/>
            <a:ext cx="1416012" cy="36000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>
              <a:defRPr kumimoji="1" sz="10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デモ会の参加</a:t>
            </a:r>
          </a:p>
        </p:txBody>
      </p:sp>
    </p:spTree>
    <p:extLst>
      <p:ext uri="{BB962C8B-B14F-4D97-AF65-F5344CB8AC3E}">
        <p14:creationId xmlns:p14="http://schemas.microsoft.com/office/powerpoint/2010/main" val="258311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9527E-C163-1920-4B17-5B27A071A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F7F863-1B9D-720C-395F-2BEAC7AD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5</a:t>
            </a:r>
            <a:r>
              <a:rPr kumimoji="1" lang="ja-JP" altLang="en-US"/>
              <a:t>月作業</a:t>
            </a:r>
            <a:r>
              <a:rPr lang="ja-JP" altLang="en-US"/>
              <a:t>見積</a:t>
            </a:r>
            <a:endParaRPr kumimoji="1" lang="ja-JP" alt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FCA8AC0-9F51-7F2D-1275-4D559DC36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533486"/>
              </p:ext>
            </p:extLst>
          </p:nvPr>
        </p:nvGraphicFramePr>
        <p:xfrm>
          <a:off x="360000" y="869221"/>
          <a:ext cx="9253783" cy="576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211200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・タスクによる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80517"/>
                  </a:ext>
                </a:extLst>
              </a:tr>
              <a:tr h="452570">
                <a:tc vMerge="1">
                  <a:txBody>
                    <a:bodyPr/>
                    <a:lstStyle/>
                    <a:p>
                      <a:pPr algn="l"/>
                      <a:endParaRPr lang="ja-JP" altLang="en-US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・いなげや様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Server→POS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アプリへのマスタ系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・ファイル連携機能の構築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SFTP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アプリ用）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6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7675"/>
                  </a:ext>
                </a:extLst>
              </a:tr>
              <a:tr h="211200">
                <a:tc vMerge="1">
                  <a:txBody>
                    <a:bodyPr/>
                    <a:lstStyle/>
                    <a:p>
                      <a:pPr algn="l"/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アプリの起動を調整する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・アプリデモ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６人月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22350"/>
                  </a:ext>
                </a:extLst>
              </a:tr>
              <a:tr h="1055998">
                <a:tc rowSpan="4">
                  <a:txBody>
                    <a:bodyPr/>
                    <a:lstStyle/>
                    <a:p>
                      <a:pPr algn="l"/>
                      <a:r>
                        <a:rPr kumimoji="1"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  <a:endParaRPr kumimoji="1"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l"/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・商品階層マスタの実装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・企画マスタの実装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・特売マスタの実装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・組合せマスタの実装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・さんにち割データの実装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・営業日マスタの実装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・担当者マスタの実装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・マスタテスト結果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１０人月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5719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pPr algn="l"/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・商品階層自動値引きマスタ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・実績連携（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Server→API Scan&amp;Go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）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9785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Luvina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側サーバー環境の</a:t>
                      </a: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AWS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環境の再構築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設計見直しを、協力会社とともに実施</a:t>
                      </a:r>
                      <a:endParaRPr lang="en-US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83302"/>
                  </a:ext>
                </a:extLst>
              </a:tr>
              <a:tr h="693942">
                <a:tc vMerge="1">
                  <a:txBody>
                    <a:bodyPr/>
                    <a:lstStyle/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・会社マスタ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・店舗マスタ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・レジマスタ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・ジャーナル検索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・釣り銭器状況照会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・画面デモ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４人月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59812"/>
                  </a:ext>
                </a:extLst>
              </a:tr>
              <a:tr h="935312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</a:p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（カスミ開発）</a:t>
                      </a:r>
                    </a:p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電子棚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の開発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・①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Scan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＆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からのマスタファイル取込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　　　　　　　　　   ・分類マスタ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・特売マスタ　　　　　　　　　 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MD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階層値引マスタ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・②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OC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(GHPLUM)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POP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商品情報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(P001)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・③売価生成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・④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商品マスタ・売価連携</a:t>
                      </a:r>
                      <a:endParaRPr lang="en-US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・連携したマスタファイル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・コンバートする設計書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777432"/>
                  </a:ext>
                </a:extLst>
              </a:tr>
              <a:tr h="331885">
                <a:tc rowSpan="2"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インフラチーム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電子棚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の開発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・マスタインポート＋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連携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・スパイク環境構築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・インフラ構成図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別会計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956749"/>
                  </a:ext>
                </a:extLst>
              </a:tr>
              <a:tr h="573255">
                <a:tc vMerge="1">
                  <a:txBody>
                    <a:bodyPr/>
                    <a:lstStyle/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スパイク環境構築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・マスタを受け取る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・マスタをコンバートする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・マスタを転送する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・インフラ構成図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924245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４２人月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01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E1C5A-F743-9956-63A1-F37D8256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16662F-C27D-99F0-4E33-FCD74D08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発注書３枚分ける場合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F7DE5B9-2F72-5BCC-C834-70EBFB7A2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91715"/>
              </p:ext>
            </p:extLst>
          </p:nvPr>
        </p:nvGraphicFramePr>
        <p:xfrm>
          <a:off x="360000" y="1146164"/>
          <a:ext cx="9253783" cy="1950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2112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・本番</a:t>
                      </a:r>
                      <a:r>
                        <a:rPr kumimoji="1"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導入対応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・タスクによる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80517"/>
                  </a:ext>
                </a:extLst>
              </a:tr>
              <a:tr h="452570">
                <a:tc vMerge="1">
                  <a:txBody>
                    <a:bodyPr/>
                    <a:lstStyle/>
                    <a:p>
                      <a:pPr algn="l"/>
                      <a:endParaRPr lang="ja-JP" altLang="en-US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・いなげや様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Server→POS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アプリへのマスタ系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・ファイル連携機能の構築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SFTP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en-US" altLang="ja-JP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アプリ用）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6</a:t>
                      </a: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7675"/>
                  </a:ext>
                </a:extLst>
              </a:tr>
              <a:tr h="693942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</a:p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管理画面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・会社マスタ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・店舗マスタ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・レジマスタ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・ジャーナル検索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・釣り銭器状況照会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・画面デモ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４人月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359812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altLang="ja-JP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14</a:t>
                      </a:r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D0782F7-057A-B081-95FC-9EB5CC021D20}"/>
              </a:ext>
            </a:extLst>
          </p:cNvPr>
          <p:cNvSpPr txBox="1"/>
          <p:nvPr/>
        </p:nvSpPr>
        <p:spPr>
          <a:xfrm>
            <a:off x="360000" y="869165"/>
            <a:ext cx="7938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en-GB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1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枚目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7CE4C4-95F3-9868-6A81-E7063C65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999657"/>
              </p:ext>
            </p:extLst>
          </p:nvPr>
        </p:nvGraphicFramePr>
        <p:xfrm>
          <a:off x="360000" y="3897204"/>
          <a:ext cx="9253783" cy="23438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2112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kumimoji="1" lang="ja-JP" altLang="en-US" sz="800" kern="12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  <a:cs typeface="+mn-cs"/>
                        </a:rPr>
                        <a:t>アプリチーム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Window</a:t>
                      </a:r>
                      <a:r>
                        <a:rPr lang="en-GB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 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アプリの起動を調整する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・アプリデモ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６人月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422350"/>
                  </a:ext>
                </a:extLst>
              </a:tr>
              <a:tr h="606507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  <a:endParaRPr kumimoji="1"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l"/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・商品階層マスタの実装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・企画マスタの実装　　　　　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・特売マスタの実装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・マスタテスト結果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5719"/>
                  </a:ext>
                </a:extLst>
              </a:tr>
              <a:tr h="935312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</a:p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（カスミ開発）</a:t>
                      </a:r>
                    </a:p>
                    <a:p>
                      <a:pPr algn="l"/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電子棚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の開発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・①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Scan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＆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からのマスタファイル取込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　　　　　　　　　   ・分類マスタ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・特売マスタ　　　　　　　　　 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MD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階層値引マスタ</a:t>
                      </a:r>
                      <a:b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</a:b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・②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OC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・商品マスタ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(GHPLUM)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  ・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POP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商品情報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(P001)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・③売価生成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・④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商品マスタ・売価連携</a:t>
                      </a:r>
                      <a:endParaRPr lang="en-US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・連携したマスタファイル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・コンバートしたマスタファイル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・コンバートする設計書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777432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１４人月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105F67-7641-F57A-0457-F3985ADF71B1}"/>
              </a:ext>
            </a:extLst>
          </p:cNvPr>
          <p:cNvSpPr txBox="1"/>
          <p:nvPr/>
        </p:nvSpPr>
        <p:spPr>
          <a:xfrm>
            <a:off x="360000" y="3622705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２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枚目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184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F03F-388A-D218-5FD5-E799D573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627C45-24F2-BE11-495F-D0C4243B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発注書３枚分ける場合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345AB-D456-80E8-A3EF-2AD7F96B58C3}"/>
              </a:ext>
            </a:extLst>
          </p:cNvPr>
          <p:cNvSpPr txBox="1"/>
          <p:nvPr/>
        </p:nvSpPr>
        <p:spPr>
          <a:xfrm>
            <a:off x="360000" y="869165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●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３</a:t>
            </a:r>
            <a:r>
              <a:rPr lang="ja-JP" altLang="en-US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枚目</a:t>
            </a:r>
            <a:r>
              <a:rPr kumimoji="1" lang="en-US" altLang="ja-JP" sz="12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 </a:t>
            </a:r>
            <a:endParaRPr kumimoji="1" lang="ja-JP" altLang="en-US" sz="1200">
              <a:solidFill>
                <a:schemeClr val="tx1"/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96C377-3AB7-EEE4-732F-778D415AB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423736"/>
              </p:ext>
            </p:extLst>
          </p:nvPr>
        </p:nvGraphicFramePr>
        <p:xfrm>
          <a:off x="360000" y="1194341"/>
          <a:ext cx="9253783" cy="2493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120">
                  <a:extLst>
                    <a:ext uri="{9D8B030D-6E8A-4147-A177-3AD203B41FA5}">
                      <a16:colId xmlns:a16="http://schemas.microsoft.com/office/drawing/2014/main" val="688229276"/>
                    </a:ext>
                  </a:extLst>
                </a:gridCol>
                <a:gridCol w="1002453">
                  <a:extLst>
                    <a:ext uri="{9D8B030D-6E8A-4147-A177-3AD203B41FA5}">
                      <a16:colId xmlns:a16="http://schemas.microsoft.com/office/drawing/2014/main" val="18365528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4073284023"/>
                    </a:ext>
                  </a:extLst>
                </a:gridCol>
                <a:gridCol w="3237654">
                  <a:extLst>
                    <a:ext uri="{9D8B030D-6E8A-4147-A177-3AD203B41FA5}">
                      <a16:colId xmlns:a16="http://schemas.microsoft.com/office/drawing/2014/main" val="424177522"/>
                    </a:ext>
                  </a:extLst>
                </a:gridCol>
                <a:gridCol w="1273386">
                  <a:extLst>
                    <a:ext uri="{9D8B030D-6E8A-4147-A177-3AD203B41FA5}">
                      <a16:colId xmlns:a16="http://schemas.microsoft.com/office/drawing/2014/main" val="3675973456"/>
                    </a:ext>
                  </a:extLst>
                </a:gridCol>
                <a:gridCol w="1336770">
                  <a:extLst>
                    <a:ext uri="{9D8B030D-6E8A-4147-A177-3AD203B41FA5}">
                      <a16:colId xmlns:a16="http://schemas.microsoft.com/office/drawing/2014/main" val="751323572"/>
                    </a:ext>
                  </a:extLst>
                </a:gridCol>
              </a:tblGrid>
              <a:tr h="331885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対応チーム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タスク　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内容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提出物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工数（人月）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（設計・開発・テスト含む）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987071"/>
                  </a:ext>
                </a:extLst>
              </a:tr>
              <a:tr h="664939">
                <a:tc rowSpan="3">
                  <a:txBody>
                    <a:bodyPr/>
                    <a:lstStyle/>
                    <a:p>
                      <a:pPr algn="l"/>
                      <a:r>
                        <a:rPr kumimoji="1"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サーバーチーム</a:t>
                      </a:r>
                      <a:endParaRPr kumimoji="1"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l"/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（いなげや開発）</a:t>
                      </a:r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マスタ連携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・組合せマスタの実装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・さんにち割データの実装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・営業日マスタの実装</a:t>
                      </a:r>
                    </a:p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・担当者マスタの実装</a:t>
                      </a:r>
                      <a:endParaRPr lang="en-GB" altLang="ja-JP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・マスタファイル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・マスタテスト結果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65719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pPr algn="l"/>
                      <a:endParaRPr 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・商品階層自動値引きマスタ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・実績連携（</a:t>
                      </a:r>
                      <a:r>
                        <a:rPr lang="en-US" altLang="ja-JP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Server→API Scan&amp;Go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）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・設計書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５人月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（</a:t>
                      </a: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設計）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299785"/>
                  </a:ext>
                </a:extLst>
              </a:tr>
              <a:tr h="33188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Luvina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側サーバー環境の</a:t>
                      </a:r>
                      <a:r>
                        <a:rPr lang="en-US" altLang="ja-JP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AWS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環境の再構築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設計見直しを、協力会社とともに実施</a:t>
                      </a:r>
                      <a:endParaRPr lang="en-US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83302"/>
                  </a:ext>
                </a:extLst>
              </a:tr>
              <a:tr h="573255">
                <a:tc>
                  <a:txBody>
                    <a:bodyPr/>
                    <a:lstStyle/>
                    <a:p>
                      <a:pPr algn="l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インフラチーム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POS Server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いなげや様オフライン対応</a:t>
                      </a: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スパイク環境構築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・マスタを受け取る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・マスタをコンバートする</a:t>
                      </a:r>
                      <a:endParaRPr lang="en-GB" altLang="ja-JP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　　・マスタを転送する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・インフラ構成図</a:t>
                      </a:r>
                      <a:endParaRPr lang="en-GB" altLang="ja-JP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・設定した環境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8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３人月</a:t>
                      </a:r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924245"/>
                  </a:ext>
                </a:extLst>
              </a:tr>
              <a:tr h="239764">
                <a:tc gridSpan="5">
                  <a:txBody>
                    <a:bodyPr/>
                    <a:lstStyle/>
                    <a:p>
                      <a:pPr algn="r"/>
                      <a:r>
                        <a:rPr lang="ja-JP" altLang="en-US" sz="8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合計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ja-JP" altLang="en-US" sz="80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8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b="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１４人月</a:t>
                      </a:r>
                      <a:endParaRPr lang="en-GB" sz="1000" b="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19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595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426701-CDEB-C929-F284-FB644C0BAD5F}"/>
              </a:ext>
            </a:extLst>
          </p:cNvPr>
          <p:cNvSpPr txBox="1"/>
          <p:nvPr/>
        </p:nvSpPr>
        <p:spPr>
          <a:xfrm>
            <a:off x="1358900" y="3105834"/>
            <a:ext cx="7188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今後とも、よろしくお願いします。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次回、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2025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年５月末に更新版にて、改めてご報告させていただきます。</a:t>
            </a:r>
          </a:p>
        </p:txBody>
      </p:sp>
    </p:spTree>
    <p:extLst>
      <p:ext uri="{BB962C8B-B14F-4D97-AF65-F5344CB8AC3E}">
        <p14:creationId xmlns:p14="http://schemas.microsoft.com/office/powerpoint/2010/main" val="3250663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3BF951-CDF3-47FC-B68B-E94559C79E8B}">
  <ds:schemaRefs>
    <ds:schemaRef ds:uri="1a061277-4544-44b5-aa35-148cda3b8e6b"/>
    <ds:schemaRef ds:uri="5de495b9-8774-4338-a5e9-d0d1545702c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77E9AC9-DEF7-43A8-AB21-E18633D842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EB9B98-0933-48DF-95B7-362EC58F1CEE}"/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3976</Words>
  <Application>Microsoft Office PowerPoint</Application>
  <PresentationFormat>A4 Paper (210x297 mm)</PresentationFormat>
  <Paragraphs>547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BIZ UDGothic</vt:lpstr>
      <vt:lpstr>BIZ UDPゴシック</vt:lpstr>
      <vt:lpstr>BIZ UDPゴシック</vt:lpstr>
      <vt:lpstr>游ゴシック</vt:lpstr>
      <vt:lpstr>Yu Gothic UI</vt:lpstr>
      <vt:lpstr>Arial</vt:lpstr>
      <vt:lpstr>Office テーマ</vt:lpstr>
      <vt:lpstr>PowerPoint Presentation</vt:lpstr>
      <vt:lpstr>最終目標地点（概念）・いなげや様オフライン対応（優先①）</vt:lpstr>
      <vt:lpstr>PowerPoint Presentation</vt:lpstr>
      <vt:lpstr>PowerPoint Presentation</vt:lpstr>
      <vt:lpstr>全体進捗</vt:lpstr>
      <vt:lpstr>全体進捗</vt:lpstr>
      <vt:lpstr>全体進捗</vt:lpstr>
      <vt:lpstr>5月度体制</vt:lpstr>
      <vt:lpstr>5月作業見積</vt:lpstr>
      <vt:lpstr>発注書３枚分ける場合</vt:lpstr>
      <vt:lpstr>発注書３枚分ける場合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Crux03_Luvina</dc:creator>
  <cp:lastModifiedBy>Phan Dai Hiep</cp:lastModifiedBy>
  <cp:revision>9</cp:revision>
  <dcterms:created xsi:type="dcterms:W3CDTF">2024-03-26T08:11:34Z</dcterms:created>
  <dcterms:modified xsi:type="dcterms:W3CDTF">2025-05-05T19:24:43Z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