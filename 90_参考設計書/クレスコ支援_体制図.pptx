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58" r:id="rId5"/>
  </p:sldMasterIdLst>
  <p:notesMasterIdLst>
    <p:notesMasterId r:id="rId7"/>
  </p:notesMasterIdLst>
  <p:handoutMasterIdLst>
    <p:handoutMasterId r:id="rId8"/>
  </p:handoutMasterIdLst>
  <p:sldIdLst>
    <p:sldId id="354" r:id="rId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8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6876AC1-0BB4-4E06-8846-411199084A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A9E1F6-E5D5-409A-9D69-D761A18057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E8813-2AC7-4164-88EF-D54B994206B4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16B02F-DCF4-4AD1-9086-8D95A4A94A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FDD066-0D9E-45B5-AC24-6921F12C4D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19C6F-6FEE-4C59-8BE0-A4107FD477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6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B1C4C-D59C-457D-ACC3-3F531BBD79EE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21844-47FC-4A07-AE86-BC69E5FCF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7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図形&#10;&#10;中程度の精度で自動的に生成された説明">
            <a:extLst>
              <a:ext uri="{FF2B5EF4-FFF2-40B4-BE49-F238E27FC236}">
                <a16:creationId xmlns:a16="http://schemas.microsoft.com/office/drawing/2014/main" id="{E02E9073-92E3-4934-8912-3F50AB0B95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8" y="4586085"/>
            <a:ext cx="2714929" cy="77104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4378A25-106C-4BBA-BDEA-A9CD15291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6D111DC-E715-4831-9ABA-FF5E1023EA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021" y="2741144"/>
            <a:ext cx="8482500" cy="621503"/>
          </a:xfrm>
        </p:spPr>
        <p:txBody>
          <a:bodyPr anchor="ctr" anchorCtr="0">
            <a:noAutofit/>
          </a:bodyPr>
          <a:lstStyle>
            <a:lvl1pPr algn="l">
              <a:defRPr sz="3200"/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664747-CBE6-4C7F-A0A2-A3D1607712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020" y="3412419"/>
            <a:ext cx="8482499" cy="360000"/>
          </a:xfrm>
        </p:spPr>
        <p:txBody>
          <a:bodyPr lIns="0" tIns="72000" rIns="0" bIns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C3D01C-1C21-46AE-B5AB-C3F30D96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08333" y="4213031"/>
            <a:ext cx="1724161" cy="252000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algn="r">
              <a:defRPr sz="1400" b="1">
                <a:latin typeface="+mj-ea"/>
                <a:ea typeface="+mj-ea"/>
              </a:defRPr>
            </a:lvl1pPr>
          </a:lstStyle>
          <a:p>
            <a:r>
              <a:rPr lang="en-US" altLang="ja-JP"/>
              <a:t>202●</a:t>
            </a:r>
            <a:r>
              <a:rPr lang="ja-JP" altLang="en-US"/>
              <a:t>年●月●●日</a:t>
            </a:r>
          </a:p>
        </p:txBody>
      </p:sp>
    </p:spTree>
    <p:extLst>
      <p:ext uri="{BB962C8B-B14F-4D97-AF65-F5344CB8AC3E}">
        <p14:creationId xmlns:p14="http://schemas.microsoft.com/office/powerpoint/2010/main" val="77062519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9497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1">
    <p:bg>
      <p:bgPr>
        <a:solidFill>
          <a:srgbClr val="FF6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06"/>
          <a:stretch/>
        </p:blipFill>
        <p:spPr>
          <a:xfrm>
            <a:off x="1" y="6480537"/>
            <a:ext cx="9905997" cy="3905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804B1C9-8DDE-427C-9F86-24616F287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02B473-0FD5-4CED-BDF6-52B6F498A98F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335689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67"/>
          <a:stretch/>
        </p:blipFill>
        <p:spPr>
          <a:xfrm>
            <a:off x="1" y="6481287"/>
            <a:ext cx="9905997" cy="400050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F4C0D35A-6612-2048-8986-63EE42F415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902EF1-47CE-4DD0-95EE-9E64E999070D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414642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EA884A0-2E72-489E-B359-C5E6F5AF9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pic>
        <p:nvPicPr>
          <p:cNvPr id="8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F35D2E46-A04E-4ECF-8392-7D40C7626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89" y="5352492"/>
            <a:ext cx="2349676" cy="66730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BA4F5B-2DEA-4EF9-9C59-1868188646EC}"/>
              </a:ext>
            </a:extLst>
          </p:cNvPr>
          <p:cNvSpPr txBox="1"/>
          <p:nvPr userDrawn="1"/>
        </p:nvSpPr>
        <p:spPr>
          <a:xfrm>
            <a:off x="3445328" y="5028065"/>
            <a:ext cx="607429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【</a:t>
            </a:r>
            <a:r>
              <a:rPr kumimoji="1" lang="ja-JP" altLang="en-US" sz="1200">
                <a:latin typeface="+mn-ea"/>
              </a:rPr>
              <a:t>注意事項</a:t>
            </a:r>
            <a:r>
              <a:rPr kumimoji="1" lang="en-US" altLang="ja-JP" sz="1200">
                <a:latin typeface="+mn-ea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本資料上の当社（株式会社クレスコ）ブランドマークは、登録商標です。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本資料のデザインおよび内容の著作権は、当社に帰属します。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は信頼できると思われる各種データを使用して作成しておりますが、当社が当該情報全ての正確性を保証するものではありません。本資料はステークホルダーの皆様への情報提供を目的としており、この目的から生じた結果や資料の信頼性に起因する損害について、当社は一切の責任を負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283277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8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4B9C9F-288F-49E1-9A05-6902BC09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  <a:prstGeom prst="rect">
            <a:avLst/>
          </a:prstGeom>
        </p:spPr>
        <p:txBody>
          <a:bodyPr vert="horz" wrap="none" lIns="0" tIns="108000" rIns="0" bIns="0" rtlCol="0" anchor="ctr">
            <a:noAutofit/>
          </a:bodyPr>
          <a:lstStyle/>
          <a:p>
            <a:r>
              <a:rPr kumimoji="1" lang="ja-JP" altLang="en-US"/>
              <a:t>ここにタイトルが入ります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CBE53-9E83-4BD7-8F58-B026F3103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59" y="1089645"/>
            <a:ext cx="9272249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</a:t>
            </a:r>
            <a:r>
              <a:rPr kumimoji="1" lang="en-US" altLang="ja-JP"/>
              <a:t>2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</a:t>
            </a:r>
            <a:r>
              <a:rPr kumimoji="1" lang="en-US" altLang="ja-JP"/>
              <a:t>3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</a:t>
            </a:r>
            <a:r>
              <a:rPr kumimoji="1" lang="en-US" altLang="ja-JP"/>
              <a:t>4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</a:t>
            </a:r>
            <a:r>
              <a:rPr kumimoji="1" lang="en-US" altLang="ja-JP"/>
              <a:t>5</a:t>
            </a:r>
            <a:r>
              <a:rPr kumimoji="1" lang="ja-JP" altLang="en-US"/>
              <a:t>レベル</a:t>
            </a:r>
            <a:r>
              <a:rPr kumimoji="1" lang="en-US" altLang="ja-JP"/>
              <a:t>v</a:t>
            </a:r>
            <a:endParaRPr kumimoji="1" lang="ja-JP" altLang="en-US"/>
          </a:p>
        </p:txBody>
      </p:sp>
      <p:pic>
        <p:nvPicPr>
          <p:cNvPr id="7" name="図 6" descr="図形&#10;&#10;中程度の精度で自動的に生成された説明">
            <a:extLst>
              <a:ext uri="{FF2B5EF4-FFF2-40B4-BE49-F238E27FC236}">
                <a16:creationId xmlns:a16="http://schemas.microsoft.com/office/drawing/2014/main" id="{3A3E1FC3-B323-4638-8A01-A5D8021F874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411" y="6497580"/>
            <a:ext cx="1235543" cy="35089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5C6E31-8AD8-451F-84B5-253C32D75962}"/>
              </a:ext>
            </a:extLst>
          </p:cNvPr>
          <p:cNvSpPr txBox="1"/>
          <p:nvPr userDrawn="1"/>
        </p:nvSpPr>
        <p:spPr>
          <a:xfrm>
            <a:off x="35959" y="6572461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176567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32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52000" algn="l" defTabSz="7200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tabLst>
          <a:tab pos="36000" algn="l"/>
        </a:tabLst>
        <a:defRPr kumimoji="1" sz="2800" b="1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080000" indent="-216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2200" b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144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980000" indent="-108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0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名刺, テキスト が含まれている画像&#10;&#10;自動的に生成された説明">
            <a:extLst>
              <a:ext uri="{FF2B5EF4-FFF2-40B4-BE49-F238E27FC236}">
                <a16:creationId xmlns:a16="http://schemas.microsoft.com/office/drawing/2014/main" id="{37941D14-8B08-4CC8-8B64-C0BCC07B6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11"/>
            <a:ext cx="9906000" cy="687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6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33EF9C0-8034-B939-0514-C0D9C56E5F42}"/>
              </a:ext>
            </a:extLst>
          </p:cNvPr>
          <p:cNvSpPr/>
          <p:nvPr/>
        </p:nvSpPr>
        <p:spPr>
          <a:xfrm>
            <a:off x="5384800" y="1516447"/>
            <a:ext cx="4281706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弊社体制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AE3F277-C6B0-0C96-DC08-14E2539D288F}"/>
              </a:ext>
            </a:extLst>
          </p:cNvPr>
          <p:cNvSpPr/>
          <p:nvPr/>
        </p:nvSpPr>
        <p:spPr>
          <a:xfrm>
            <a:off x="2843864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ルビナ社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66DDD2-89E5-8331-1F9F-C5D5BF1F3B6F}"/>
              </a:ext>
            </a:extLst>
          </p:cNvPr>
          <p:cNvSpPr txBox="1"/>
          <p:nvPr/>
        </p:nvSpPr>
        <p:spPr>
          <a:xfrm>
            <a:off x="3348055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インフラ責任者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大谷様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B1A41C-CF2F-7970-952A-41EFBB7588DE}"/>
              </a:ext>
            </a:extLst>
          </p:cNvPr>
          <p:cNvSpPr txBox="1"/>
          <p:nvPr/>
        </p:nvSpPr>
        <p:spPr>
          <a:xfrm>
            <a:off x="3348055" y="1935019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lang="en-US" altLang="ja-JP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PM</a:t>
            </a: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ファン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66DD63A-C36E-28FF-D493-F4459B88BF23}"/>
              </a:ext>
            </a:extLst>
          </p:cNvPr>
          <p:cNvSpPr/>
          <p:nvPr/>
        </p:nvSpPr>
        <p:spPr>
          <a:xfrm>
            <a:off x="7639361" y="2448309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畠 俊一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C8AB265-8889-01CE-B2FD-7E5463315D98}"/>
              </a:ext>
            </a:extLst>
          </p:cNvPr>
          <p:cNvSpPr/>
          <p:nvPr/>
        </p:nvSpPr>
        <p:spPr>
          <a:xfrm>
            <a:off x="7639361" y="3059190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ビジネス事業部第一部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佐々木 英幸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AE4D4F0-91E1-00C5-BCA2-DCAE434B9E6F}"/>
              </a:ext>
            </a:extLst>
          </p:cNvPr>
          <p:cNvSpPr/>
          <p:nvPr/>
        </p:nvSpPr>
        <p:spPr>
          <a:xfrm>
            <a:off x="7639108" y="4246608"/>
            <a:ext cx="1789777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インフラリーダー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山本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1E2D255-93DF-B3A2-07B4-F4DE02F5C001}"/>
              </a:ext>
            </a:extLst>
          </p:cNvPr>
          <p:cNvCxnSpPr>
            <a:cxnSpLocks/>
          </p:cNvCxnSpPr>
          <p:nvPr/>
        </p:nvCxnSpPr>
        <p:spPr>
          <a:xfrm>
            <a:off x="8533996" y="2898432"/>
            <a:ext cx="0" cy="160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B34A29E-023F-390A-BF4E-19261592865C}"/>
              </a:ext>
            </a:extLst>
          </p:cNvPr>
          <p:cNvCxnSpPr>
            <a:cxnSpLocks/>
          </p:cNvCxnSpPr>
          <p:nvPr/>
        </p:nvCxnSpPr>
        <p:spPr>
          <a:xfrm flipH="1">
            <a:off x="8533989" y="3509313"/>
            <a:ext cx="561" cy="164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図 32" descr="図形&#10;&#10;中程度の精度で自動的に生成された説明">
            <a:extLst>
              <a:ext uri="{FF2B5EF4-FFF2-40B4-BE49-F238E27FC236}">
                <a16:creationId xmlns:a16="http://schemas.microsoft.com/office/drawing/2014/main" id="{F2071247-4A5F-E3E1-4271-F9F85B5CA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698" y="1523550"/>
            <a:ext cx="842415" cy="239246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F636BE-3F5A-F8A0-D8F8-D7D354EC319F}"/>
              </a:ext>
            </a:extLst>
          </p:cNvPr>
          <p:cNvSpPr/>
          <p:nvPr/>
        </p:nvSpPr>
        <p:spPr>
          <a:xfrm>
            <a:off x="7638842" y="3682283"/>
            <a:ext cx="1790309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プロジェクトマネージャー</a:t>
            </a:r>
            <a:r>
              <a:rPr lang="en-US" altLang="ja-JP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営業</a:t>
            </a:r>
            <a:endParaRPr lang="en-US" altLang="ja-JP" sz="731" b="1" u="sng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武居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CBE56428-4773-B251-F67F-85E7D74F2194}"/>
              </a:ext>
            </a:extLst>
          </p:cNvPr>
          <p:cNvSpPr/>
          <p:nvPr/>
        </p:nvSpPr>
        <p:spPr>
          <a:xfrm>
            <a:off x="7639108" y="4839333"/>
            <a:ext cx="1789777" cy="4143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インフラメンバー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毎田 智彦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大浦 未優</a:t>
            </a:r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CF3304D3-BCEC-C2C9-9203-BBB39876B6BC}"/>
              </a:ext>
            </a:extLst>
          </p:cNvPr>
          <p:cNvCxnSpPr>
            <a:cxnSpLocks/>
          </p:cNvCxnSpPr>
          <p:nvPr/>
        </p:nvCxnSpPr>
        <p:spPr>
          <a:xfrm>
            <a:off x="8533996" y="4696732"/>
            <a:ext cx="0" cy="142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F6E39D4-CF02-3E4C-3AA8-B6BEEE078355}"/>
              </a:ext>
            </a:extLst>
          </p:cNvPr>
          <p:cNvSpPr/>
          <p:nvPr/>
        </p:nvSpPr>
        <p:spPr>
          <a:xfrm>
            <a:off x="7639361" y="1790241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デジタルモダナイゼーション本部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副本部長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黒木 哲也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00610ED-3471-EAAD-610C-1C2ABD260919}"/>
              </a:ext>
            </a:extLst>
          </p:cNvPr>
          <p:cNvCxnSpPr>
            <a:cxnSpLocks/>
          </p:cNvCxnSpPr>
          <p:nvPr/>
        </p:nvCxnSpPr>
        <p:spPr>
          <a:xfrm>
            <a:off x="8533170" y="2240365"/>
            <a:ext cx="0" cy="207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517AC16-1BF9-9197-ED5C-BBFA7189FD08}"/>
              </a:ext>
            </a:extLst>
          </p:cNvPr>
          <p:cNvSpPr/>
          <p:nvPr/>
        </p:nvSpPr>
        <p:spPr>
          <a:xfrm>
            <a:off x="6547810" y="4216938"/>
            <a:ext cx="3048099" cy="1199365"/>
          </a:xfrm>
          <a:prstGeom prst="roundRect">
            <a:avLst>
              <a:gd name="adj" fmla="val 2499"/>
            </a:avLst>
          </a:prstGeom>
          <a:noFill/>
          <a:ln w="254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1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プロジェクト体制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59F912F-E6C6-0639-D0B2-59D6ECC5B27A}"/>
              </a:ext>
            </a:extLst>
          </p:cNvPr>
          <p:cNvCxnSpPr>
            <a:cxnSpLocks/>
          </p:cNvCxnSpPr>
          <p:nvPr/>
        </p:nvCxnSpPr>
        <p:spPr>
          <a:xfrm>
            <a:off x="8533863" y="4123469"/>
            <a:ext cx="0" cy="123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6C231D-C016-C7A9-D56B-BD9DE9FE6203}"/>
              </a:ext>
            </a:extLst>
          </p:cNvPr>
          <p:cNvSpPr/>
          <p:nvPr/>
        </p:nvSpPr>
        <p:spPr>
          <a:xfrm>
            <a:off x="5586751" y="3051077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金融ビジネス本部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遠藤 幸二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54E8AE-9B49-F37C-F7E2-0948F991823E}"/>
              </a:ext>
            </a:extLst>
          </p:cNvPr>
          <p:cNvSpPr txBox="1"/>
          <p:nvPr/>
        </p:nvSpPr>
        <p:spPr>
          <a:xfrm>
            <a:off x="3348055" y="2484264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アプリ担当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キヨハラ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E49186E-4FE8-4740-4F5E-2F73EF61A539}"/>
              </a:ext>
            </a:extLst>
          </p:cNvPr>
          <p:cNvSpPr/>
          <p:nvPr/>
        </p:nvSpPr>
        <p:spPr>
          <a:xfrm>
            <a:off x="177078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USMH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653629-C778-DE8E-9195-5AE94A7E130B}"/>
              </a:ext>
            </a:extLst>
          </p:cNvPr>
          <p:cNvSpPr txBox="1"/>
          <p:nvPr/>
        </p:nvSpPr>
        <p:spPr>
          <a:xfrm>
            <a:off x="627709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統括マネージャー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角野 泰次様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E4BD098-7730-0623-F449-DE7BF3C6B6F8}"/>
              </a:ext>
            </a:extLst>
          </p:cNvPr>
          <p:cNvSpPr txBox="1"/>
          <p:nvPr/>
        </p:nvSpPr>
        <p:spPr>
          <a:xfrm>
            <a:off x="627709" y="4246608"/>
            <a:ext cx="1367367" cy="9454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プロジェクトメンバー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安藤 元一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杉本 茂和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渡辺 健太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新川 太陽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1DE208F-C49B-E1D4-28D4-591C6B4530F7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1311393" y="3527190"/>
            <a:ext cx="0" cy="719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タイトル 1">
            <a:extLst>
              <a:ext uri="{FF2B5EF4-FFF2-40B4-BE49-F238E27FC236}">
                <a16:creationId xmlns:a16="http://schemas.microsoft.com/office/drawing/2014/main" id="{B1C774D2-30B9-AEC8-43A4-CC717935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</p:spPr>
        <p:txBody>
          <a:bodyPr/>
          <a:lstStyle/>
          <a:p>
            <a:r>
              <a:rPr kumimoji="1" lang="ja-JP" altLang="en-US" dirty="0"/>
              <a:t>４．体制図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6E546E1-27CE-704B-7A32-665BF90DE73C}"/>
              </a:ext>
            </a:extLst>
          </p:cNvPr>
          <p:cNvCxnSpPr>
            <a:stCxn id="22" idx="3"/>
            <a:endCxn id="6" idx="1"/>
          </p:cNvCxnSpPr>
          <p:nvPr/>
        </p:nvCxnSpPr>
        <p:spPr>
          <a:xfrm>
            <a:off x="1995076" y="3293190"/>
            <a:ext cx="135297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3DCDAA75-43C1-5AC5-467A-8028287FF60C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4715422" y="3293190"/>
            <a:ext cx="2923686" cy="1178480"/>
          </a:xfrm>
          <a:prstGeom prst="bentConnector3">
            <a:avLst>
              <a:gd name="adj1" fmla="val 858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89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Cresco４">
      <a:dk1>
        <a:srgbClr val="000000"/>
      </a:dk1>
      <a:lt1>
        <a:srgbClr val="FFFFFF"/>
      </a:lt1>
      <a:dk2>
        <a:srgbClr val="FF643C"/>
      </a:dk2>
      <a:lt2>
        <a:srgbClr val="FFFFFF"/>
      </a:lt2>
      <a:accent1>
        <a:srgbClr val="AEBDCC"/>
      </a:accent1>
      <a:accent2>
        <a:srgbClr val="FF643C"/>
      </a:accent2>
      <a:accent3>
        <a:srgbClr val="FF2D4B"/>
      </a:accent3>
      <a:accent4>
        <a:srgbClr val="FFC300"/>
      </a:accent4>
      <a:accent5>
        <a:srgbClr val="3CD278"/>
      </a:accent5>
      <a:accent6>
        <a:srgbClr val="0078F0"/>
      </a:accent6>
      <a:hlink>
        <a:srgbClr val="0078F0"/>
      </a:hlink>
      <a:folHlink>
        <a:srgbClr val="AEBDCC"/>
      </a:folHlink>
    </a:clrScheme>
    <a:fontScheme name="Cresc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esco_PPT_Template_A4_A.pptx" id="{BD657E54-838A-48ED-9972-8E8D4AFFBE53}" vid="{6CFBC0B7-3212-4A5F-AB38-C33B36D311BB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EBD88B-F5BB-479A-9852-EC2CF317BB98}"/>
</file>

<file path=customXml/itemProps2.xml><?xml version="1.0" encoding="utf-8"?>
<ds:datastoreItem xmlns:ds="http://schemas.openxmlformats.org/officeDocument/2006/customXml" ds:itemID="{A2F89D39-7C0C-4135-A86C-4273DDC47D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AA8465-A0EC-455F-A868-E4535A2DAFB6}">
  <ds:schemaRefs>
    <ds:schemaRef ds:uri="3985ffb3-52ac-4a5c-9da1-3144f3084e90"/>
    <ds:schemaRef ds:uri="39fff5b6-b453-4afe-b6c0-67af6e060b2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PPTテンプレート_A4_A</Template>
  <TotalTime>0</TotalTime>
  <Words>79</Words>
  <Application>Microsoft Office PowerPoint</Application>
  <PresentationFormat>A4 210 x 297 mm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Meiryo UI</vt:lpstr>
      <vt:lpstr>メイリオ</vt:lpstr>
      <vt:lpstr>游ゴシック</vt:lpstr>
      <vt:lpstr>Arial</vt:lpstr>
      <vt:lpstr>Verdana</vt:lpstr>
      <vt:lpstr>Wingdings</vt:lpstr>
      <vt:lpstr>Office テーマ</vt:lpstr>
      <vt:lpstr>1_デザインの設定</vt:lpstr>
      <vt:lpstr>４．体制図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プロジェクトタイトル</dc:title>
  <dc:creator>広報 榎本 悠</dc:creator>
  <cp:lastModifiedBy>CB-1 山本 大生</cp:lastModifiedBy>
  <cp:revision>4</cp:revision>
  <dcterms:created xsi:type="dcterms:W3CDTF">2022-03-25T10:56:14Z</dcterms:created>
  <dcterms:modified xsi:type="dcterms:W3CDTF">2025-05-15T10:56:11Z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